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2/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9728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554480"/>
            <a:ext cx="5029200" cy="2926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KORXONA STRATEGIYASINI ISHLAB CHIQISH BOSQICHLARI VA STRATEGIK REJALASHTIRISH</a:t>
            </a:r>
            <a:endParaRPr lang="en-US" sz="30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Strategik rejalashtirish tushunchasi, mohiyati va rivojlanish tarixi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Korxona strategiyasini ishlab chiqish bosqichlari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Strategik tahlil usullari: SWOT, PEST va Porterning “besh kuch” modeli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Strategik muqobillarni tanlash va strategiyani amalga oshirish</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Strategik nazorat va natijalarni baholash</a:t>
            </a:r>
            <a:endParaRPr lang="en-US" sz="1600" dirty="0"/>
          </a:p>
        </p:txBody>
      </p:sp>
      <p:pic>
        <p:nvPicPr>
          <p:cNvPr id="28" name="Image 5" descr="img2/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Strategik rejalashtirish tushunchasi va tarixi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500" b="1" dirty="0">
                <a:solidFill>
                  <a:srgbClr val="0E9F9A"/>
                </a:solidFill>
                <a:latin typeface="Calibri" pitchFamily="34" charset="0"/>
                <a:ea typeface="Calibri" pitchFamily="34" charset="-122"/>
                <a:cs typeface="Calibri" pitchFamily="34" charset="-120"/>
              </a:rPr>
              <a:t>Strategik rejalashtirish</a:t>
            </a:r>
            <a:pPr indent="0" marL="0">
              <a:spcAft>
                <a:spcPts val="600"/>
              </a:spcAft>
              <a:buNone/>
            </a:pPr>
            <a:r>
              <a:rPr lang="en-US" sz="1500" dirty="0">
                <a:solidFill>
                  <a:srgbClr val="1B2A3A"/>
                </a:solidFill>
                <a:latin typeface="Calibri" pitchFamily="34" charset="0"/>
                <a:ea typeface="Calibri" pitchFamily="34" charset="-122"/>
                <a:cs typeface="Calibri" pitchFamily="34" charset="-120"/>
              </a:rPr>
              <a:t> – korxona rahbariyati tomonidan uzoq muddatli maqsadlarni belgilash, ularga erishish strategiyasini tanlash hamda resurslarni taqsimlash bo‘yicha amalga oshiriladigan izchil boshqaruv jarayonidir. U “korxona hozir qayerda?”, “qayerga borishni xohlaydi?” va “u yerga qanday yetib boradi?” degan uch asosiy savolga javob beradi.</a:t>
            </a:r>
            <a:endParaRPr lang="en-US" sz="1500" dirty="0"/>
          </a:p>
        </p:txBody>
      </p:sp>
      <p:sp>
        <p:nvSpPr>
          <p:cNvPr id="4" name="Shape 2"/>
          <p:cNvSpPr/>
          <p:nvPr/>
        </p:nvSpPr>
        <p:spPr>
          <a:xfrm>
            <a:off x="548640" y="3246120"/>
            <a:ext cx="1143000" cy="566928"/>
          </a:xfrm>
          <a:prstGeom prst="roundRect">
            <a:avLst>
              <a:gd name="adj" fmla="val 16129"/>
            </a:avLst>
          </a:prstGeom>
          <a:solidFill>
            <a:srgbClr val="0E9F9A"/>
          </a:solidFill>
          <a:ln w="12700">
            <a:solidFill>
              <a:srgbClr val="0E9F9A"/>
            </a:solidFill>
            <a:prstDash val="solid"/>
          </a:ln>
        </p:spPr>
      </p:sp>
      <p:sp>
        <p:nvSpPr>
          <p:cNvPr id="5" name="Text 3"/>
          <p:cNvSpPr txBox="1"/>
          <p:nvPr/>
        </p:nvSpPr>
        <p:spPr>
          <a:xfrm>
            <a:off x="548640" y="3246120"/>
            <a:ext cx="11430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1950-y.</a:t>
            </a:r>
            <a:endParaRPr lang="en-US" sz="1600" dirty="0"/>
          </a:p>
        </p:txBody>
      </p:sp>
      <p:sp>
        <p:nvSpPr>
          <p:cNvPr id="6" name="Text 4"/>
          <p:cNvSpPr txBox="1"/>
          <p:nvPr/>
        </p:nvSpPr>
        <p:spPr>
          <a:xfrm>
            <a:off x="1874520" y="3246120"/>
            <a:ext cx="544068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Byudjet rejalashtirish – </a:t>
            </a:r>
            <a:pPr indent="0" marL="0">
              <a:buNone/>
            </a:pPr>
            <a:r>
              <a:rPr lang="en-US" sz="1500" dirty="0">
                <a:solidFill>
                  <a:srgbClr val="1B2A3A"/>
                </a:solidFill>
                <a:latin typeface="Calibri" pitchFamily="34" charset="0"/>
                <a:ea typeface="Calibri" pitchFamily="34" charset="-122"/>
                <a:cs typeface="Calibri" pitchFamily="34" charset="-120"/>
              </a:rPr>
              <a:t>moliyaviy nazorat va yillik smetalarga asoslangan qisqa muddatli rejalar</a:t>
            </a:r>
            <a:endParaRPr lang="en-US" sz="1500" dirty="0"/>
          </a:p>
        </p:txBody>
      </p:sp>
      <p:sp>
        <p:nvSpPr>
          <p:cNvPr id="7" name="Shape 5"/>
          <p:cNvSpPr/>
          <p:nvPr/>
        </p:nvSpPr>
        <p:spPr>
          <a:xfrm>
            <a:off x="548640" y="4005072"/>
            <a:ext cx="1143000" cy="566928"/>
          </a:xfrm>
          <a:prstGeom prst="roundRect">
            <a:avLst>
              <a:gd name="adj" fmla="val 16129"/>
            </a:avLst>
          </a:prstGeom>
          <a:solidFill>
            <a:srgbClr val="0D2F4F"/>
          </a:solidFill>
          <a:ln w="12700">
            <a:solidFill>
              <a:srgbClr val="0D2F4F"/>
            </a:solidFill>
            <a:prstDash val="solid"/>
          </a:ln>
        </p:spPr>
      </p:sp>
      <p:sp>
        <p:nvSpPr>
          <p:cNvPr id="8" name="Text 6"/>
          <p:cNvSpPr txBox="1"/>
          <p:nvPr/>
        </p:nvSpPr>
        <p:spPr>
          <a:xfrm>
            <a:off x="548640" y="4005072"/>
            <a:ext cx="11430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1960-y.</a:t>
            </a:r>
            <a:endParaRPr lang="en-US" sz="1600" dirty="0"/>
          </a:p>
        </p:txBody>
      </p:sp>
      <p:sp>
        <p:nvSpPr>
          <p:cNvPr id="9" name="Text 7"/>
          <p:cNvSpPr txBox="1"/>
          <p:nvPr/>
        </p:nvSpPr>
        <p:spPr>
          <a:xfrm>
            <a:off x="1874520" y="4005072"/>
            <a:ext cx="544068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Uzoq muddatli rejalashtirish – </a:t>
            </a:r>
            <a:pPr indent="0" marL="0">
              <a:buNone/>
            </a:pPr>
            <a:r>
              <a:rPr lang="en-US" sz="1500" dirty="0">
                <a:solidFill>
                  <a:srgbClr val="1B2A3A"/>
                </a:solidFill>
                <a:latin typeface="Calibri" pitchFamily="34" charset="0"/>
                <a:ea typeface="Calibri" pitchFamily="34" charset="-122"/>
                <a:cs typeface="Calibri" pitchFamily="34" charset="-120"/>
              </a:rPr>
              <a:t>o‘tgan davr tendensiyalarini kelajakka ekstrapolyatsiya qilish</a:t>
            </a:r>
            <a:endParaRPr lang="en-US" sz="1500" dirty="0"/>
          </a:p>
        </p:txBody>
      </p:sp>
      <p:sp>
        <p:nvSpPr>
          <p:cNvPr id="10" name="Shape 8"/>
          <p:cNvSpPr/>
          <p:nvPr/>
        </p:nvSpPr>
        <p:spPr>
          <a:xfrm>
            <a:off x="548640" y="4764024"/>
            <a:ext cx="1143000" cy="566928"/>
          </a:xfrm>
          <a:prstGeom prst="roundRect">
            <a:avLst>
              <a:gd name="adj" fmla="val 16129"/>
            </a:avLst>
          </a:prstGeom>
          <a:solidFill>
            <a:srgbClr val="0E9F9A"/>
          </a:solidFill>
          <a:ln w="12700">
            <a:solidFill>
              <a:srgbClr val="0E9F9A"/>
            </a:solidFill>
            <a:prstDash val="solid"/>
          </a:ln>
        </p:spPr>
      </p:sp>
      <p:sp>
        <p:nvSpPr>
          <p:cNvPr id="11" name="Text 9"/>
          <p:cNvSpPr txBox="1"/>
          <p:nvPr/>
        </p:nvSpPr>
        <p:spPr>
          <a:xfrm>
            <a:off x="548640" y="4764024"/>
            <a:ext cx="11430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1970-y.</a:t>
            </a:r>
            <a:endParaRPr lang="en-US" sz="1600" dirty="0"/>
          </a:p>
        </p:txBody>
      </p:sp>
      <p:sp>
        <p:nvSpPr>
          <p:cNvPr id="12" name="Text 10"/>
          <p:cNvSpPr txBox="1"/>
          <p:nvPr/>
        </p:nvSpPr>
        <p:spPr>
          <a:xfrm>
            <a:off x="1874520" y="4764024"/>
            <a:ext cx="544068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Strategik rejalashtirish – </a:t>
            </a:r>
            <a:pPr indent="0" marL="0">
              <a:buNone/>
            </a:pPr>
            <a:r>
              <a:rPr lang="en-US" sz="1500" dirty="0">
                <a:solidFill>
                  <a:srgbClr val="1B2A3A"/>
                </a:solidFill>
                <a:latin typeface="Calibri" pitchFamily="34" charset="0"/>
                <a:ea typeface="Calibri" pitchFamily="34" charset="-122"/>
                <a:cs typeface="Calibri" pitchFamily="34" charset="-120"/>
              </a:rPr>
              <a:t>tashqi muhit o‘zgarishlarini tahlil qilish, portfel tahlili (BCG matritsasi)</a:t>
            </a:r>
            <a:endParaRPr lang="en-US" sz="1500" dirty="0"/>
          </a:p>
        </p:txBody>
      </p:sp>
      <p:sp>
        <p:nvSpPr>
          <p:cNvPr id="13" name="Shape 11"/>
          <p:cNvSpPr/>
          <p:nvPr/>
        </p:nvSpPr>
        <p:spPr>
          <a:xfrm>
            <a:off x="548640" y="5522976"/>
            <a:ext cx="1143000" cy="566928"/>
          </a:xfrm>
          <a:prstGeom prst="roundRect">
            <a:avLst>
              <a:gd name="adj" fmla="val 16129"/>
            </a:avLst>
          </a:prstGeom>
          <a:solidFill>
            <a:srgbClr val="0D2F4F"/>
          </a:solidFill>
          <a:ln w="12700">
            <a:solidFill>
              <a:srgbClr val="0D2F4F"/>
            </a:solidFill>
            <a:prstDash val="solid"/>
          </a:ln>
        </p:spPr>
      </p:sp>
      <p:sp>
        <p:nvSpPr>
          <p:cNvPr id="14" name="Text 12"/>
          <p:cNvSpPr txBox="1"/>
          <p:nvPr/>
        </p:nvSpPr>
        <p:spPr>
          <a:xfrm>
            <a:off x="548640" y="5522976"/>
            <a:ext cx="11430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1980-y.+</a:t>
            </a:r>
            <a:endParaRPr lang="en-US" sz="1600" dirty="0"/>
          </a:p>
        </p:txBody>
      </p:sp>
      <p:sp>
        <p:nvSpPr>
          <p:cNvPr id="15" name="Text 13"/>
          <p:cNvSpPr txBox="1"/>
          <p:nvPr/>
        </p:nvSpPr>
        <p:spPr>
          <a:xfrm>
            <a:off x="1874520" y="5522976"/>
            <a:ext cx="5440680" cy="640080"/>
          </a:xfrm>
          <a:prstGeom prst="rect">
            <a:avLst/>
          </a:prstGeom>
          <a:noFill/>
          <a:ln/>
        </p:spPr>
        <p:txBody>
          <a:bodyPr wrap="square" lIns="0" tIns="0" rIns="0" bIns="0" rtlCol="0" anchor="ctr"/>
          <a:lstStyle/>
          <a:p>
            <a:pPr indent="0" marL="0">
              <a:buNone/>
            </a:pPr>
            <a:r>
              <a:rPr lang="en-US" sz="1500" b="1" dirty="0">
                <a:solidFill>
                  <a:srgbClr val="0D2F4F"/>
                </a:solidFill>
                <a:latin typeface="Calibri" pitchFamily="34" charset="0"/>
                <a:ea typeface="Calibri" pitchFamily="34" charset="-122"/>
                <a:cs typeface="Calibri" pitchFamily="34" charset="-120"/>
              </a:rPr>
              <a:t>Strategik menejment – </a:t>
            </a:r>
            <a:pPr indent="0" marL="0">
              <a:buNone/>
            </a:pPr>
            <a:r>
              <a:rPr lang="en-US" sz="1500" dirty="0">
                <a:solidFill>
                  <a:srgbClr val="1B2A3A"/>
                </a:solidFill>
                <a:latin typeface="Calibri" pitchFamily="34" charset="0"/>
                <a:ea typeface="Calibri" pitchFamily="34" charset="-122"/>
                <a:cs typeface="Calibri" pitchFamily="34" charset="-120"/>
              </a:rPr>
              <a:t>rejalashtirish, amalga oshirish va nazoratni yagona tizimga birlashtirish</a:t>
            </a:r>
            <a:endParaRPr lang="en-US" sz="1500" dirty="0"/>
          </a:p>
        </p:txBody>
      </p:sp>
      <p:pic>
        <p:nvPicPr>
          <p:cNvPr id="16" name="Image 0" descr="img2/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08760"/>
          </a:xfrm>
          <a:prstGeom prst="roundRect">
            <a:avLst>
              <a:gd name="adj" fmla="val 7273"/>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709160"/>
            <a:ext cx="3566160" cy="1325880"/>
          </a:xfrm>
          <a:prstGeom prst="rect">
            <a:avLst/>
          </a:prstGeom>
          <a:noFill/>
          <a:ln/>
        </p:spPr>
        <p:txBody>
          <a:bodyPr wrap="square" lIns="0" tIns="0" rIns="0" bIns="0" rtlCol="0" anchor="ctr"/>
          <a:lstStyle/>
          <a:p>
            <a:pPr indent="0" marL="0">
              <a:spcAft>
                <a:spcPts val="400"/>
              </a:spcAft>
              <a:buNone/>
            </a:pPr>
            <a:r>
              <a:rPr lang="en-US" sz="1400" i="1" dirty="0">
                <a:solidFill>
                  <a:srgbClr val="1B2A3A"/>
                </a:solidFill>
                <a:latin typeface="Calibri" pitchFamily="34" charset="0"/>
                <a:ea typeface="Calibri" pitchFamily="34" charset="-122"/>
                <a:cs typeface="Calibri" pitchFamily="34" charset="-120"/>
              </a:rPr>
              <a:t>“Rejalashtirish – bu kelajakni bashorat qilish emas, balki bugungi qarorlarning kelajakdagi oqibatlarini anglashdir.”</a:t>
            </a:r>
            <a:endParaRPr lang="en-US" sz="1400" dirty="0"/>
          </a:p>
          <a:p>
            <a:pPr indent="0" marL="0">
              <a:spcAft>
                <a:spcPts val="400"/>
              </a:spcAft>
              <a:buNone/>
            </a:pPr>
            <a:r>
              <a:rPr lang="en-US" sz="1200" dirty="0">
                <a:solidFill>
                  <a:srgbClr val="4A5B6C"/>
                </a:solidFill>
                <a:latin typeface="Calibri" pitchFamily="34" charset="0"/>
                <a:ea typeface="Calibri" pitchFamily="34" charset="-122"/>
                <a:cs typeface="Calibri" pitchFamily="34" charset="-120"/>
              </a:rPr>
              <a:t>— P. Druker g‘oyasi asosida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Strategik rejalashtirishning mohiyati</a:t>
            </a:r>
            <a:endParaRPr lang="en-US" sz="3000" dirty="0"/>
          </a:p>
        </p:txBody>
      </p:sp>
      <p:pic>
        <p:nvPicPr>
          <p:cNvPr id="3" name="Image 0" descr="img2/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Strategik rejalashtirish korxonaga noaniqlik sharoitida harakat yo‘nalishini belgilash, raqobatchilardan oldinda bo‘lish, resurslarni ustuvor yo‘nalishlarga jamlash va barcha bo‘linmalar faoliyatini muvofiqlashtirish imkonini beradi.</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t"/>
          <a:lstStyle/>
          <a:p>
            <a:pPr indent="0" marL="0">
              <a:spcAft>
                <a:spcPts val="600"/>
              </a:spcAft>
              <a:buNone/>
            </a:pPr>
            <a:r>
              <a:rPr lang="en-US" sz="1600" b="1" dirty="0">
                <a:solidFill>
                  <a:srgbClr val="0D2F4F"/>
                </a:solidFill>
                <a:latin typeface="Calibri" pitchFamily="34" charset="0"/>
                <a:ea typeface="Calibri" pitchFamily="34" charset="-122"/>
                <a:cs typeface="Calibri" pitchFamily="34" charset="-120"/>
              </a:rPr>
              <a:t>Strategik va operativ rejalashtirishning farqlari:</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120640" y="1874520"/>
          <a:ext cx="6492240" cy="914400"/>
        </p:xfrm>
        <a:graphic>
          <a:graphicData uri="http://schemas.openxmlformats.org/drawingml/2006/table">
            <a:tbl>
              <a:tblPr/>
              <a:tblGrid>
                <a:gridCol w="1828800"/>
                <a:gridCol w="2377440"/>
                <a:gridCol w="2286000"/>
              </a:tblGrid>
              <a:tr h="566928">
                <a:tc>
                  <a:txBody>
                    <a:bodyPr/>
                    <a:lstStyle/>
                    <a:p>
                      <a:pPr indent="0" marL="0">
                        <a:buNone/>
                      </a:pPr>
                      <a:r>
                        <a:rPr lang="en-US" sz="1400" b="1" dirty="0">
                          <a:solidFill>
                            <a:srgbClr val="FFFFFF"/>
                          </a:solidFill>
                        </a:rPr>
                        <a:t>Mezon</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indent="0" marL="0">
                        <a:buNone/>
                      </a:pPr>
                      <a:r>
                        <a:rPr lang="en-US" sz="1400" b="1" dirty="0">
                          <a:solidFill>
                            <a:srgbClr val="FFFFFF"/>
                          </a:solidFill>
                        </a:rPr>
                        <a:t>Strategik rejalashtirish</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indent="0" marL="0">
                        <a:buNone/>
                      </a:pPr>
                      <a:r>
                        <a:rPr lang="en-US" sz="1400" b="1" dirty="0">
                          <a:solidFill>
                            <a:srgbClr val="FFFFFF"/>
                          </a:solidFill>
                        </a:rPr>
                        <a:t>Operativ rejalashtirish</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66928">
                <a:tc>
                  <a:txBody>
                    <a:bodyPr/>
                    <a:lstStyle/>
                    <a:p>
                      <a:pPr indent="0" marL="0">
                        <a:buNone/>
                      </a:pPr>
                      <a:r>
                        <a:rPr lang="en-US" sz="1400" b="1" dirty="0">
                          <a:solidFill>
                            <a:srgbClr val="1B2A3A"/>
                          </a:solidFill>
                        </a:rPr>
                        <a:t>Muddat</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indent="0" marL="0">
                        <a:buNone/>
                      </a:pPr>
                      <a:r>
                        <a:rPr lang="en-US" sz="1400" dirty="0">
                          <a:solidFill>
                            <a:srgbClr val="1B2A3A"/>
                          </a:solidFill>
                        </a:rPr>
                        <a:t>3–10 yil va undan ortiq</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indent="0" marL="0">
                        <a:buNone/>
                      </a:pPr>
                      <a:r>
                        <a:rPr lang="en-US" sz="1400" dirty="0">
                          <a:solidFill>
                            <a:srgbClr val="1B2A3A"/>
                          </a:solidFill>
                        </a:rPr>
                        <a:t>1 yilgacha (oy, chorak)</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66928">
                <a:tc>
                  <a:txBody>
                    <a:bodyPr/>
                    <a:lstStyle/>
                    <a:p>
                      <a:pPr indent="0" marL="0">
                        <a:buNone/>
                      </a:pPr>
                      <a:r>
                        <a:rPr lang="en-US" sz="1400" b="1" dirty="0">
                          <a:solidFill>
                            <a:srgbClr val="1B2A3A"/>
                          </a:solidFill>
                        </a:rPr>
                        <a:t>Boshqaruv darajasi</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Yuqori rahbariyat</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O‘rta va quyi bo‘g‘in</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A3A"/>
                          </a:solidFill>
                        </a:rPr>
                        <a:t>Asosiy savol</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indent="0" marL="0">
                        <a:buNone/>
                      </a:pPr>
                      <a:r>
                        <a:rPr lang="en-US" sz="1400" dirty="0">
                          <a:solidFill>
                            <a:srgbClr val="1B2A3A"/>
                          </a:solidFill>
                        </a:rPr>
                        <a:t>“Nima qilish kerak?”</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indent="0" marL="0">
                        <a:buNone/>
                      </a:pPr>
                      <a:r>
                        <a:rPr lang="en-US" sz="1400" dirty="0">
                          <a:solidFill>
                            <a:srgbClr val="1B2A3A"/>
                          </a:solidFill>
                        </a:rPr>
                        <a:t>“Qanday qilish kerak?”</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66928">
                <a:tc>
                  <a:txBody>
                    <a:bodyPr/>
                    <a:lstStyle/>
                    <a:p>
                      <a:pPr indent="0" marL="0">
                        <a:buNone/>
                      </a:pPr>
                      <a:r>
                        <a:rPr lang="en-US" sz="1400" b="1" dirty="0">
                          <a:solidFill>
                            <a:srgbClr val="1B2A3A"/>
                          </a:solidFill>
                        </a:rPr>
                        <a:t>Maqsad</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Raqobat ustunligi, o‘sish</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Joriy vazifalarni bajarish</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A3A"/>
                          </a:solidFill>
                        </a:rPr>
                        <a:t>Axborot asosi</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indent="0" marL="0">
                        <a:buNone/>
                      </a:pPr>
                      <a:r>
                        <a:rPr lang="en-US" sz="1400" dirty="0">
                          <a:solidFill>
                            <a:srgbClr val="1B2A3A"/>
                          </a:solidFill>
                        </a:rPr>
                        <a:t>Tashqi muhit, prognozlar</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indent="0" marL="0">
                        <a:buNone/>
                      </a:pPr>
                      <a:r>
                        <a:rPr lang="en-US" sz="1400" dirty="0">
                          <a:solidFill>
                            <a:srgbClr val="1B2A3A"/>
                          </a:solidFill>
                        </a:rPr>
                        <a:t>Ichki hisob ma’lumotlari</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66928">
                <a:tc>
                  <a:txBody>
                    <a:bodyPr/>
                    <a:lstStyle/>
                    <a:p>
                      <a:pPr indent="0" marL="0">
                        <a:buNone/>
                      </a:pPr>
                      <a:r>
                        <a:rPr lang="en-US" sz="1400" b="1" dirty="0">
                          <a:solidFill>
                            <a:srgbClr val="1B2A3A"/>
                          </a:solidFill>
                        </a:rPr>
                        <a:t>Aniqlik darajasi</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Umumiy yo‘nalishlar</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Aniq ko‘rsatkich va topshiriqlar</a:t>
                      </a:r>
                      <a:endParaRPr lang="en-US" sz="1400" dirty="0"/>
                    </a:p>
                  </a:txBody>
                  <a:tcPr marL="73152" marR="73152" marT="73152" marB="73152"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Strategiyani ishlab chiqish bosqichlari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Strategiyani ishlab chiqish – ketma-ket va takrorlanuvchi jarayon bo‘lib, har bir bosqich natijasi keyingisi uchun asos bo‘ladi, nazorat natijalari esa yana boshlang‘ich bosqichlarga qaytariladi (qayta aloqa).</a:t>
            </a:r>
            <a:endParaRPr lang="en-US" sz="1500" dirty="0"/>
          </a:p>
        </p:txBody>
      </p:sp>
      <p:sp>
        <p:nvSpPr>
          <p:cNvPr id="4" name="Shape 2"/>
          <p:cNvSpPr/>
          <p:nvPr/>
        </p:nvSpPr>
        <p:spPr>
          <a:xfrm>
            <a:off x="1097280" y="2606040"/>
            <a:ext cx="9966960" cy="0"/>
          </a:xfrm>
          <a:prstGeom prst="line">
            <a:avLst/>
          </a:prstGeom>
          <a:noFill/>
          <a:ln w="38100">
            <a:solidFill>
              <a:srgbClr val="0E9F9A"/>
            </a:solidFill>
            <a:prstDash val="dash"/>
          </a:ln>
        </p:spPr>
      </p:sp>
      <p:sp>
        <p:nvSpPr>
          <p:cNvPr id="5" name="Shape 3"/>
          <p:cNvSpPr/>
          <p:nvPr/>
        </p:nvSpPr>
        <p:spPr>
          <a:xfrm>
            <a:off x="955548" y="2221992"/>
            <a:ext cx="768096" cy="768096"/>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155253" y="2421697"/>
            <a:ext cx="368686" cy="368686"/>
          </a:xfrm>
          <a:prstGeom prst="rect">
            <a:avLst/>
          </a:prstGeom>
        </p:spPr>
      </p:pic>
      <p:sp>
        <p:nvSpPr>
          <p:cNvPr id="7" name="Shape 4"/>
          <p:cNvSpPr/>
          <p:nvPr/>
        </p:nvSpPr>
        <p:spPr>
          <a:xfrm>
            <a:off x="1504188" y="2103120"/>
            <a:ext cx="329184" cy="329184"/>
          </a:xfrm>
          <a:prstGeom prst="ellipse">
            <a:avLst/>
          </a:prstGeom>
          <a:solidFill>
            <a:srgbClr val="F2A541"/>
          </a:solidFill>
          <a:ln w="19050">
            <a:solidFill>
              <a:srgbClr val="FFFFFF"/>
            </a:solidFill>
            <a:prstDash val="solid"/>
          </a:ln>
        </p:spPr>
      </p:sp>
      <p:sp>
        <p:nvSpPr>
          <p:cNvPr id="8" name="Text 5"/>
          <p:cNvSpPr txBox="1"/>
          <p:nvPr/>
        </p:nvSpPr>
        <p:spPr>
          <a:xfrm>
            <a:off x="1504188"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1</a:t>
            </a:r>
            <a:endParaRPr lang="en-US" sz="1200" dirty="0"/>
          </a:p>
        </p:txBody>
      </p:sp>
      <p:sp>
        <p:nvSpPr>
          <p:cNvPr id="9" name="Shape 6"/>
          <p:cNvSpPr/>
          <p:nvPr/>
        </p:nvSpPr>
        <p:spPr>
          <a:xfrm>
            <a:off x="594360"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Text 7"/>
          <p:cNvSpPr txBox="1"/>
          <p:nvPr/>
        </p:nvSpPr>
        <p:spPr>
          <a:xfrm>
            <a:off x="685800"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Missiya va vizyon</a:t>
            </a:r>
            <a:endParaRPr lang="en-US" sz="1400" dirty="0"/>
          </a:p>
        </p:txBody>
      </p:sp>
      <p:sp>
        <p:nvSpPr>
          <p:cNvPr id="11" name="Text 8"/>
          <p:cNvSpPr txBox="1"/>
          <p:nvPr/>
        </p:nvSpPr>
        <p:spPr>
          <a:xfrm>
            <a:off x="685800"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korxonaning mavjudlik maqsadi va kelajakdagi qiyofasini belgilash</a:t>
            </a:r>
            <a:endParaRPr lang="en-US" sz="1300" dirty="0"/>
          </a:p>
        </p:txBody>
      </p:sp>
      <p:sp>
        <p:nvSpPr>
          <p:cNvPr id="12" name="Shape 9"/>
          <p:cNvSpPr/>
          <p:nvPr/>
        </p:nvSpPr>
        <p:spPr>
          <a:xfrm>
            <a:off x="2537460" y="2221992"/>
            <a:ext cx="768096" cy="768096"/>
          </a:xfrm>
          <a:prstGeom prst="ellipse">
            <a:avLst/>
          </a:prstGeom>
          <a:solidFill>
            <a:srgbClr val="0D2F4F"/>
          </a:solidFill>
          <a:ln w="12700">
            <a:solidFill>
              <a:srgbClr val="0D2F4F"/>
            </a:solidFill>
            <a:prstDash val="solid"/>
          </a:ln>
        </p:spPr>
      </p:sp>
      <p:pic>
        <p:nvPicPr>
          <p:cNvPr id="13" name="Image 1" descr="preencoded.png">    </p:cNvPr>
          <p:cNvPicPr>
            <a:picLocks noChangeAspect="1"/>
          </p:cNvPicPr>
          <p:nvPr/>
        </p:nvPicPr>
        <p:blipFill>
          <a:blip r:embed="rId2"/>
          <a:stretch>
            <a:fillRect/>
          </a:stretch>
        </p:blipFill>
        <p:spPr>
          <a:xfrm>
            <a:off x="2737165" y="2421697"/>
            <a:ext cx="368686" cy="368686"/>
          </a:xfrm>
          <a:prstGeom prst="rect">
            <a:avLst/>
          </a:prstGeom>
        </p:spPr>
      </p:pic>
      <p:sp>
        <p:nvSpPr>
          <p:cNvPr id="14" name="Shape 10"/>
          <p:cNvSpPr/>
          <p:nvPr/>
        </p:nvSpPr>
        <p:spPr>
          <a:xfrm>
            <a:off x="3086100" y="2103120"/>
            <a:ext cx="329184" cy="329184"/>
          </a:xfrm>
          <a:prstGeom prst="ellipse">
            <a:avLst/>
          </a:prstGeom>
          <a:solidFill>
            <a:srgbClr val="F2A541"/>
          </a:solidFill>
          <a:ln w="19050">
            <a:solidFill>
              <a:srgbClr val="FFFFFF"/>
            </a:solidFill>
            <a:prstDash val="solid"/>
          </a:ln>
        </p:spPr>
      </p:sp>
      <p:sp>
        <p:nvSpPr>
          <p:cNvPr id="15" name="Text 11"/>
          <p:cNvSpPr txBox="1"/>
          <p:nvPr/>
        </p:nvSpPr>
        <p:spPr>
          <a:xfrm>
            <a:off x="3086100"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2</a:t>
            </a:r>
            <a:endParaRPr lang="en-US" sz="1200" dirty="0"/>
          </a:p>
        </p:txBody>
      </p:sp>
      <p:sp>
        <p:nvSpPr>
          <p:cNvPr id="16" name="Shape 12"/>
          <p:cNvSpPr/>
          <p:nvPr/>
        </p:nvSpPr>
        <p:spPr>
          <a:xfrm>
            <a:off x="2176272"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Text 13"/>
          <p:cNvSpPr txBox="1"/>
          <p:nvPr/>
        </p:nvSpPr>
        <p:spPr>
          <a:xfrm>
            <a:off x="2267712"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Strategik maqsadlar</a:t>
            </a:r>
            <a:endParaRPr lang="en-US" sz="1400" dirty="0"/>
          </a:p>
        </p:txBody>
      </p:sp>
      <p:sp>
        <p:nvSpPr>
          <p:cNvPr id="18" name="Text 14"/>
          <p:cNvSpPr txBox="1"/>
          <p:nvPr/>
        </p:nvSpPr>
        <p:spPr>
          <a:xfrm>
            <a:off x="2267712"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missiyani aniq, o‘lchanadigan SMART maqsadlarga aylantirish</a:t>
            </a:r>
            <a:endParaRPr lang="en-US" sz="1300" dirty="0"/>
          </a:p>
        </p:txBody>
      </p:sp>
      <p:sp>
        <p:nvSpPr>
          <p:cNvPr id="19" name="Shape 15"/>
          <p:cNvSpPr/>
          <p:nvPr/>
        </p:nvSpPr>
        <p:spPr>
          <a:xfrm>
            <a:off x="4119372" y="2221992"/>
            <a:ext cx="768096" cy="768096"/>
          </a:xfrm>
          <a:prstGeom prst="ellipse">
            <a:avLst/>
          </a:prstGeom>
          <a:solidFill>
            <a:srgbClr val="0E9F9A"/>
          </a:solidFill>
          <a:ln w="12700">
            <a:solidFill>
              <a:srgbClr val="0E9F9A"/>
            </a:solidFill>
            <a:prstDash val="solid"/>
          </a:ln>
        </p:spPr>
      </p:sp>
      <p:pic>
        <p:nvPicPr>
          <p:cNvPr id="20" name="Image 2" descr="preencoded.png">    </p:cNvPr>
          <p:cNvPicPr>
            <a:picLocks noChangeAspect="1"/>
          </p:cNvPicPr>
          <p:nvPr/>
        </p:nvPicPr>
        <p:blipFill>
          <a:blip r:embed="rId3"/>
          <a:stretch>
            <a:fillRect/>
          </a:stretch>
        </p:blipFill>
        <p:spPr>
          <a:xfrm>
            <a:off x="4319077" y="2421697"/>
            <a:ext cx="368686" cy="368686"/>
          </a:xfrm>
          <a:prstGeom prst="rect">
            <a:avLst/>
          </a:prstGeom>
        </p:spPr>
      </p:pic>
      <p:sp>
        <p:nvSpPr>
          <p:cNvPr id="21" name="Shape 16"/>
          <p:cNvSpPr/>
          <p:nvPr/>
        </p:nvSpPr>
        <p:spPr>
          <a:xfrm>
            <a:off x="4668012" y="2103120"/>
            <a:ext cx="329184" cy="329184"/>
          </a:xfrm>
          <a:prstGeom prst="ellipse">
            <a:avLst/>
          </a:prstGeom>
          <a:solidFill>
            <a:srgbClr val="F2A541"/>
          </a:solidFill>
          <a:ln w="19050">
            <a:solidFill>
              <a:srgbClr val="FFFFFF"/>
            </a:solidFill>
            <a:prstDash val="solid"/>
          </a:ln>
        </p:spPr>
      </p:sp>
      <p:sp>
        <p:nvSpPr>
          <p:cNvPr id="22" name="Text 17"/>
          <p:cNvSpPr txBox="1"/>
          <p:nvPr/>
        </p:nvSpPr>
        <p:spPr>
          <a:xfrm>
            <a:off x="4668012"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3</a:t>
            </a:r>
            <a:endParaRPr lang="en-US" sz="1200" dirty="0"/>
          </a:p>
        </p:txBody>
      </p:sp>
      <p:sp>
        <p:nvSpPr>
          <p:cNvPr id="23" name="Shape 18"/>
          <p:cNvSpPr/>
          <p:nvPr/>
        </p:nvSpPr>
        <p:spPr>
          <a:xfrm>
            <a:off x="3758184"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9"/>
          <p:cNvSpPr txBox="1"/>
          <p:nvPr/>
        </p:nvSpPr>
        <p:spPr>
          <a:xfrm>
            <a:off x="3849624"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Tashqi muhit tahlili</a:t>
            </a:r>
            <a:endParaRPr lang="en-US" sz="1400" dirty="0"/>
          </a:p>
        </p:txBody>
      </p:sp>
      <p:sp>
        <p:nvSpPr>
          <p:cNvPr id="25" name="Text 20"/>
          <p:cNvSpPr txBox="1"/>
          <p:nvPr/>
        </p:nvSpPr>
        <p:spPr>
          <a:xfrm>
            <a:off x="3849624"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imkoniyat va tahdidlarni aniqlash (PEST, “besh kuch”)</a:t>
            </a:r>
            <a:endParaRPr lang="en-US" sz="1300" dirty="0"/>
          </a:p>
        </p:txBody>
      </p:sp>
      <p:sp>
        <p:nvSpPr>
          <p:cNvPr id="26" name="Shape 21"/>
          <p:cNvSpPr/>
          <p:nvPr/>
        </p:nvSpPr>
        <p:spPr>
          <a:xfrm>
            <a:off x="5701284" y="2221992"/>
            <a:ext cx="768096" cy="768096"/>
          </a:xfrm>
          <a:prstGeom prst="ellipse">
            <a:avLst/>
          </a:prstGeom>
          <a:solidFill>
            <a:srgbClr val="0D2F4F"/>
          </a:solidFill>
          <a:ln w="12700">
            <a:solidFill>
              <a:srgbClr val="0D2F4F"/>
            </a:solidFill>
            <a:prstDash val="solid"/>
          </a:ln>
        </p:spPr>
      </p:sp>
      <p:pic>
        <p:nvPicPr>
          <p:cNvPr id="27" name="Image 3" descr="preencoded.png">    </p:cNvPr>
          <p:cNvPicPr>
            <a:picLocks noChangeAspect="1"/>
          </p:cNvPicPr>
          <p:nvPr/>
        </p:nvPicPr>
        <p:blipFill>
          <a:blip r:embed="rId4"/>
          <a:stretch>
            <a:fillRect/>
          </a:stretch>
        </p:blipFill>
        <p:spPr>
          <a:xfrm>
            <a:off x="5900989" y="2421697"/>
            <a:ext cx="368686" cy="368686"/>
          </a:xfrm>
          <a:prstGeom prst="rect">
            <a:avLst/>
          </a:prstGeom>
        </p:spPr>
      </p:pic>
      <p:sp>
        <p:nvSpPr>
          <p:cNvPr id="28" name="Shape 22"/>
          <p:cNvSpPr/>
          <p:nvPr/>
        </p:nvSpPr>
        <p:spPr>
          <a:xfrm>
            <a:off x="6249924" y="2103120"/>
            <a:ext cx="329184" cy="329184"/>
          </a:xfrm>
          <a:prstGeom prst="ellipse">
            <a:avLst/>
          </a:prstGeom>
          <a:solidFill>
            <a:srgbClr val="F2A541"/>
          </a:solidFill>
          <a:ln w="19050">
            <a:solidFill>
              <a:srgbClr val="FFFFFF"/>
            </a:solidFill>
            <a:prstDash val="solid"/>
          </a:ln>
        </p:spPr>
      </p:sp>
      <p:sp>
        <p:nvSpPr>
          <p:cNvPr id="29" name="Text 23"/>
          <p:cNvSpPr txBox="1"/>
          <p:nvPr/>
        </p:nvSpPr>
        <p:spPr>
          <a:xfrm>
            <a:off x="6249924"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4</a:t>
            </a:r>
            <a:endParaRPr lang="en-US" sz="1200" dirty="0"/>
          </a:p>
        </p:txBody>
      </p:sp>
      <p:sp>
        <p:nvSpPr>
          <p:cNvPr id="30" name="Shape 24"/>
          <p:cNvSpPr/>
          <p:nvPr/>
        </p:nvSpPr>
        <p:spPr>
          <a:xfrm>
            <a:off x="5340096"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1" name="Text 25"/>
          <p:cNvSpPr txBox="1"/>
          <p:nvPr/>
        </p:nvSpPr>
        <p:spPr>
          <a:xfrm>
            <a:off x="5431536"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Ichki muhit tahlili</a:t>
            </a:r>
            <a:endParaRPr lang="en-US" sz="1400" dirty="0"/>
          </a:p>
        </p:txBody>
      </p:sp>
      <p:sp>
        <p:nvSpPr>
          <p:cNvPr id="32" name="Text 26"/>
          <p:cNvSpPr txBox="1"/>
          <p:nvPr/>
        </p:nvSpPr>
        <p:spPr>
          <a:xfrm>
            <a:off x="5431536"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kuchli va zaif tomonlar, resurs va kompetensiyalarni baholash</a:t>
            </a:r>
            <a:endParaRPr lang="en-US" sz="1300" dirty="0"/>
          </a:p>
        </p:txBody>
      </p:sp>
      <p:sp>
        <p:nvSpPr>
          <p:cNvPr id="33" name="Shape 27"/>
          <p:cNvSpPr/>
          <p:nvPr/>
        </p:nvSpPr>
        <p:spPr>
          <a:xfrm>
            <a:off x="7283196" y="2221992"/>
            <a:ext cx="768096" cy="768096"/>
          </a:xfrm>
          <a:prstGeom prst="ellipse">
            <a:avLst/>
          </a:prstGeom>
          <a:solidFill>
            <a:srgbClr val="0E9F9A"/>
          </a:solidFill>
          <a:ln w="12700">
            <a:solidFill>
              <a:srgbClr val="0E9F9A"/>
            </a:solidFill>
            <a:prstDash val="solid"/>
          </a:ln>
        </p:spPr>
      </p:sp>
      <p:pic>
        <p:nvPicPr>
          <p:cNvPr id="34" name="Image 4" descr="preencoded.png">    </p:cNvPr>
          <p:cNvPicPr>
            <a:picLocks noChangeAspect="1"/>
          </p:cNvPicPr>
          <p:nvPr/>
        </p:nvPicPr>
        <p:blipFill>
          <a:blip r:embed="rId5"/>
          <a:stretch>
            <a:fillRect/>
          </a:stretch>
        </p:blipFill>
        <p:spPr>
          <a:xfrm>
            <a:off x="7482901" y="2421697"/>
            <a:ext cx="368686" cy="368686"/>
          </a:xfrm>
          <a:prstGeom prst="rect">
            <a:avLst/>
          </a:prstGeom>
        </p:spPr>
      </p:pic>
      <p:sp>
        <p:nvSpPr>
          <p:cNvPr id="35" name="Shape 28"/>
          <p:cNvSpPr/>
          <p:nvPr/>
        </p:nvSpPr>
        <p:spPr>
          <a:xfrm>
            <a:off x="7831836" y="2103120"/>
            <a:ext cx="329184" cy="329184"/>
          </a:xfrm>
          <a:prstGeom prst="ellipse">
            <a:avLst/>
          </a:prstGeom>
          <a:solidFill>
            <a:srgbClr val="F2A541"/>
          </a:solidFill>
          <a:ln w="19050">
            <a:solidFill>
              <a:srgbClr val="FFFFFF"/>
            </a:solidFill>
            <a:prstDash val="solid"/>
          </a:ln>
        </p:spPr>
      </p:sp>
      <p:sp>
        <p:nvSpPr>
          <p:cNvPr id="36" name="Text 29"/>
          <p:cNvSpPr txBox="1"/>
          <p:nvPr/>
        </p:nvSpPr>
        <p:spPr>
          <a:xfrm>
            <a:off x="7831836"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5</a:t>
            </a:r>
            <a:endParaRPr lang="en-US" sz="1200" dirty="0"/>
          </a:p>
        </p:txBody>
      </p:sp>
      <p:sp>
        <p:nvSpPr>
          <p:cNvPr id="37" name="Shape 30"/>
          <p:cNvSpPr/>
          <p:nvPr/>
        </p:nvSpPr>
        <p:spPr>
          <a:xfrm>
            <a:off x="6922008"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8" name="Text 31"/>
          <p:cNvSpPr txBox="1"/>
          <p:nvPr/>
        </p:nvSpPr>
        <p:spPr>
          <a:xfrm>
            <a:off x="7013448"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Strategiyani tanlash</a:t>
            </a:r>
            <a:endParaRPr lang="en-US" sz="1400" dirty="0"/>
          </a:p>
        </p:txBody>
      </p:sp>
      <p:sp>
        <p:nvSpPr>
          <p:cNvPr id="39" name="Text 32"/>
          <p:cNvSpPr txBox="1"/>
          <p:nvPr/>
        </p:nvSpPr>
        <p:spPr>
          <a:xfrm>
            <a:off x="7013448"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muqobil variantlarni ishlab chiqish va eng maqbulini tanlash</a:t>
            </a:r>
            <a:endParaRPr lang="en-US" sz="1300" dirty="0"/>
          </a:p>
        </p:txBody>
      </p:sp>
      <p:sp>
        <p:nvSpPr>
          <p:cNvPr id="40" name="Shape 33"/>
          <p:cNvSpPr/>
          <p:nvPr/>
        </p:nvSpPr>
        <p:spPr>
          <a:xfrm>
            <a:off x="8865108" y="2221992"/>
            <a:ext cx="768096" cy="768096"/>
          </a:xfrm>
          <a:prstGeom prst="ellipse">
            <a:avLst/>
          </a:prstGeom>
          <a:solidFill>
            <a:srgbClr val="0D2F4F"/>
          </a:solidFill>
          <a:ln w="12700">
            <a:solidFill>
              <a:srgbClr val="0D2F4F"/>
            </a:solidFill>
            <a:prstDash val="solid"/>
          </a:ln>
        </p:spPr>
      </p:sp>
      <p:pic>
        <p:nvPicPr>
          <p:cNvPr id="41" name="Image 5" descr="preencoded.png">    </p:cNvPr>
          <p:cNvPicPr>
            <a:picLocks noChangeAspect="1"/>
          </p:cNvPicPr>
          <p:nvPr/>
        </p:nvPicPr>
        <p:blipFill>
          <a:blip r:embed="rId6"/>
          <a:stretch>
            <a:fillRect/>
          </a:stretch>
        </p:blipFill>
        <p:spPr>
          <a:xfrm>
            <a:off x="9064813" y="2421697"/>
            <a:ext cx="368686" cy="368686"/>
          </a:xfrm>
          <a:prstGeom prst="rect">
            <a:avLst/>
          </a:prstGeom>
        </p:spPr>
      </p:pic>
      <p:sp>
        <p:nvSpPr>
          <p:cNvPr id="42" name="Shape 34"/>
          <p:cNvSpPr/>
          <p:nvPr/>
        </p:nvSpPr>
        <p:spPr>
          <a:xfrm>
            <a:off x="9413748" y="2103120"/>
            <a:ext cx="329184" cy="329184"/>
          </a:xfrm>
          <a:prstGeom prst="ellipse">
            <a:avLst/>
          </a:prstGeom>
          <a:solidFill>
            <a:srgbClr val="F2A541"/>
          </a:solidFill>
          <a:ln w="19050">
            <a:solidFill>
              <a:srgbClr val="FFFFFF"/>
            </a:solidFill>
            <a:prstDash val="solid"/>
          </a:ln>
        </p:spPr>
      </p:sp>
      <p:sp>
        <p:nvSpPr>
          <p:cNvPr id="43" name="Text 35"/>
          <p:cNvSpPr txBox="1"/>
          <p:nvPr/>
        </p:nvSpPr>
        <p:spPr>
          <a:xfrm>
            <a:off x="9413748"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6</a:t>
            </a:r>
            <a:endParaRPr lang="en-US" sz="1200" dirty="0"/>
          </a:p>
        </p:txBody>
      </p:sp>
      <p:sp>
        <p:nvSpPr>
          <p:cNvPr id="44" name="Shape 36"/>
          <p:cNvSpPr/>
          <p:nvPr/>
        </p:nvSpPr>
        <p:spPr>
          <a:xfrm>
            <a:off x="8503920"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5" name="Text 37"/>
          <p:cNvSpPr txBox="1"/>
          <p:nvPr/>
        </p:nvSpPr>
        <p:spPr>
          <a:xfrm>
            <a:off x="8595360"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Amalga oshirish</a:t>
            </a:r>
            <a:endParaRPr lang="en-US" sz="1400" dirty="0"/>
          </a:p>
        </p:txBody>
      </p:sp>
      <p:sp>
        <p:nvSpPr>
          <p:cNvPr id="46" name="Text 38"/>
          <p:cNvSpPr txBox="1"/>
          <p:nvPr/>
        </p:nvSpPr>
        <p:spPr>
          <a:xfrm>
            <a:off x="8595360"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dasturlar, byudjet, tuzilma va mas’ullarni belgilash</a:t>
            </a:r>
            <a:endParaRPr lang="en-US" sz="1300" dirty="0"/>
          </a:p>
        </p:txBody>
      </p:sp>
      <p:sp>
        <p:nvSpPr>
          <p:cNvPr id="47" name="Shape 39"/>
          <p:cNvSpPr/>
          <p:nvPr/>
        </p:nvSpPr>
        <p:spPr>
          <a:xfrm>
            <a:off x="10447020" y="2221992"/>
            <a:ext cx="768096" cy="768096"/>
          </a:xfrm>
          <a:prstGeom prst="ellipse">
            <a:avLst/>
          </a:prstGeom>
          <a:solidFill>
            <a:srgbClr val="0E9F9A"/>
          </a:solidFill>
          <a:ln w="12700">
            <a:solidFill>
              <a:srgbClr val="0E9F9A"/>
            </a:solidFill>
            <a:prstDash val="solid"/>
          </a:ln>
        </p:spPr>
      </p:sp>
      <p:pic>
        <p:nvPicPr>
          <p:cNvPr id="48" name="Image 6" descr="preencoded.png">    </p:cNvPr>
          <p:cNvPicPr>
            <a:picLocks noChangeAspect="1"/>
          </p:cNvPicPr>
          <p:nvPr/>
        </p:nvPicPr>
        <p:blipFill>
          <a:blip r:embed="rId7"/>
          <a:stretch>
            <a:fillRect/>
          </a:stretch>
        </p:blipFill>
        <p:spPr>
          <a:xfrm>
            <a:off x="10646725" y="2421697"/>
            <a:ext cx="368686" cy="368686"/>
          </a:xfrm>
          <a:prstGeom prst="rect">
            <a:avLst/>
          </a:prstGeom>
        </p:spPr>
      </p:pic>
      <p:sp>
        <p:nvSpPr>
          <p:cNvPr id="49" name="Shape 40"/>
          <p:cNvSpPr/>
          <p:nvPr/>
        </p:nvSpPr>
        <p:spPr>
          <a:xfrm>
            <a:off x="10995660" y="2103120"/>
            <a:ext cx="329184" cy="329184"/>
          </a:xfrm>
          <a:prstGeom prst="ellipse">
            <a:avLst/>
          </a:prstGeom>
          <a:solidFill>
            <a:srgbClr val="F2A541"/>
          </a:solidFill>
          <a:ln w="19050">
            <a:solidFill>
              <a:srgbClr val="FFFFFF"/>
            </a:solidFill>
            <a:prstDash val="solid"/>
          </a:ln>
        </p:spPr>
      </p:sp>
      <p:sp>
        <p:nvSpPr>
          <p:cNvPr id="50" name="Text 41"/>
          <p:cNvSpPr txBox="1"/>
          <p:nvPr/>
        </p:nvSpPr>
        <p:spPr>
          <a:xfrm>
            <a:off x="10995660" y="2103120"/>
            <a:ext cx="329184" cy="329184"/>
          </a:xfrm>
          <a:prstGeom prst="rect">
            <a:avLst/>
          </a:prstGeom>
          <a:noFill/>
          <a:ln/>
        </p:spPr>
        <p:txBody>
          <a:bodyPr wrap="square" lIns="0" tIns="0" rIns="0" bIns="0" rtlCol="0" anchor="ctr"/>
          <a:lstStyle/>
          <a:p>
            <a:pPr algn="ctr" indent="0" marL="0">
              <a:buNone/>
            </a:pPr>
            <a:r>
              <a:rPr lang="en-US" sz="1200" b="1" dirty="0">
                <a:solidFill>
                  <a:srgbClr val="0D2F4F"/>
                </a:solidFill>
              </a:rPr>
              <a:t>7</a:t>
            </a:r>
            <a:endParaRPr lang="en-US" sz="1200" dirty="0"/>
          </a:p>
        </p:txBody>
      </p:sp>
      <p:sp>
        <p:nvSpPr>
          <p:cNvPr id="51" name="Shape 42"/>
          <p:cNvSpPr/>
          <p:nvPr/>
        </p:nvSpPr>
        <p:spPr>
          <a:xfrm>
            <a:off x="10085832" y="3246120"/>
            <a:ext cx="1472184" cy="2148840"/>
          </a:xfrm>
          <a:prstGeom prst="roundRect">
            <a:avLst>
              <a:gd name="adj" fmla="val 745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2" name="Text 43"/>
          <p:cNvSpPr txBox="1"/>
          <p:nvPr/>
        </p:nvSpPr>
        <p:spPr>
          <a:xfrm>
            <a:off x="10177272" y="3337560"/>
            <a:ext cx="1289304" cy="685800"/>
          </a:xfrm>
          <a:prstGeom prst="rect">
            <a:avLst/>
          </a:prstGeom>
          <a:noFill/>
          <a:ln/>
        </p:spPr>
        <p:txBody>
          <a:bodyPr wrap="square" lIns="0" tIns="0" rIns="0" bIns="0" rtlCol="0" anchor="ctr"/>
          <a:lstStyle/>
          <a:p>
            <a:pPr indent="0" marL="0">
              <a:buNone/>
            </a:pPr>
            <a:r>
              <a:rPr lang="en-US" sz="1400" b="1" dirty="0">
                <a:solidFill>
                  <a:srgbClr val="0D2F4F"/>
                </a:solidFill>
              </a:rPr>
              <a:t>Nazorat va baholash</a:t>
            </a:r>
            <a:endParaRPr lang="en-US" sz="1400" dirty="0"/>
          </a:p>
        </p:txBody>
      </p:sp>
      <p:sp>
        <p:nvSpPr>
          <p:cNvPr id="53" name="Text 44"/>
          <p:cNvSpPr txBox="1"/>
          <p:nvPr/>
        </p:nvSpPr>
        <p:spPr>
          <a:xfrm>
            <a:off x="10177272" y="4069080"/>
            <a:ext cx="1289304" cy="128016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natijalarni o‘lchash, og‘ishlarni tuzatish</a:t>
            </a:r>
            <a:endParaRPr lang="en-US" sz="1300" dirty="0"/>
          </a:p>
        </p:txBody>
      </p:sp>
      <p:sp>
        <p:nvSpPr>
          <p:cNvPr id="54" name="Shape 45"/>
          <p:cNvSpPr/>
          <p:nvPr/>
        </p:nvSpPr>
        <p:spPr>
          <a:xfrm>
            <a:off x="594360" y="5577840"/>
            <a:ext cx="1097280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5" name="Shape 46"/>
          <p:cNvSpPr/>
          <p:nvPr/>
        </p:nvSpPr>
        <p:spPr>
          <a:xfrm>
            <a:off x="731520" y="5641848"/>
            <a:ext cx="457200" cy="457200"/>
          </a:xfrm>
          <a:prstGeom prst="ellipse">
            <a:avLst/>
          </a:prstGeom>
          <a:solidFill>
            <a:srgbClr val="0E9F9A"/>
          </a:solidFill>
          <a:ln w="12700">
            <a:solidFill>
              <a:srgbClr val="0E9F9A"/>
            </a:solidFill>
            <a:prstDash val="solid"/>
          </a:ln>
        </p:spPr>
      </p:sp>
      <p:pic>
        <p:nvPicPr>
          <p:cNvPr id="56" name="Image 7" descr="preencoded.png">    </p:cNvPr>
          <p:cNvPicPr>
            <a:picLocks noChangeAspect="1"/>
          </p:cNvPicPr>
          <p:nvPr/>
        </p:nvPicPr>
        <p:blipFill>
          <a:blip r:embed="rId8"/>
          <a:stretch>
            <a:fillRect/>
          </a:stretch>
        </p:blipFill>
        <p:spPr>
          <a:xfrm>
            <a:off x="850392" y="5760720"/>
            <a:ext cx="219456" cy="219456"/>
          </a:xfrm>
          <a:prstGeom prst="rect">
            <a:avLst/>
          </a:prstGeom>
        </p:spPr>
      </p:pic>
      <p:sp>
        <p:nvSpPr>
          <p:cNvPr id="57" name="Text 47"/>
          <p:cNvSpPr txBox="1"/>
          <p:nvPr/>
        </p:nvSpPr>
        <p:spPr>
          <a:xfrm>
            <a:off x="1325880" y="5577840"/>
            <a:ext cx="1014984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Qayta aloqa: </a:t>
            </a:r>
            <a:pPr indent="0" marL="0">
              <a:buNone/>
            </a:pPr>
            <a:r>
              <a:rPr lang="en-US" sz="1400" dirty="0">
                <a:solidFill>
                  <a:srgbClr val="1B2A3A"/>
                </a:solidFill>
                <a:latin typeface="Calibri" pitchFamily="34" charset="0"/>
                <a:ea typeface="Calibri" pitchFamily="34" charset="-122"/>
                <a:cs typeface="Calibri" pitchFamily="34" charset="-120"/>
              </a:rPr>
              <a:t>nazorat natijalari asosida missiya, maqsadlar va strategiya muntazam qayta ko‘rib chiqiladi – jarayon uzluksiz davom etadi.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Missiya, vizyon va maqsadlar ierarxiyasi</a:t>
            </a:r>
            <a:endParaRPr lang="en-US" sz="3000" dirty="0"/>
          </a:p>
        </p:txBody>
      </p:sp>
      <p:sp>
        <p:nvSpPr>
          <p:cNvPr id="3" name="Shape 1"/>
          <p:cNvSpPr/>
          <p:nvPr/>
        </p:nvSpPr>
        <p:spPr>
          <a:xfrm>
            <a:off x="2194560" y="1463040"/>
            <a:ext cx="1737360" cy="777240"/>
          </a:xfrm>
          <a:prstGeom prst="roundRect">
            <a:avLst>
              <a:gd name="adj" fmla="val 9412"/>
            </a:avLst>
          </a:prstGeom>
          <a:solidFill>
            <a:srgbClr val="F2A541"/>
          </a:solidFill>
          <a:ln w="12700">
            <a:solidFill>
              <a:srgbClr val="F2A541"/>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2194560" y="1463040"/>
            <a:ext cx="1737360" cy="777240"/>
          </a:xfrm>
          <a:prstGeom prst="rect">
            <a:avLst/>
          </a:prstGeom>
          <a:noFill/>
          <a:ln/>
        </p:spPr>
        <p:txBody>
          <a:bodyPr wrap="square" lIns="0" tIns="0" rIns="0" bIns="0" rtlCol="0" anchor="ctr"/>
          <a:lstStyle/>
          <a:p>
            <a:pPr algn="ctr" indent="0" marL="0">
              <a:buNone/>
            </a:pPr>
            <a:r>
              <a:rPr lang="en-US" sz="1500" b="1" dirty="0">
                <a:solidFill>
                  <a:srgbClr val="0D2F4F"/>
                </a:solidFill>
              </a:rPr>
              <a:t>Vizyon</a:t>
            </a:r>
            <a:endParaRPr lang="en-US" sz="1500" dirty="0"/>
          </a:p>
        </p:txBody>
      </p:sp>
      <p:sp>
        <p:nvSpPr>
          <p:cNvPr id="5" name="Shape 3"/>
          <p:cNvSpPr/>
          <p:nvPr/>
        </p:nvSpPr>
        <p:spPr>
          <a:xfrm>
            <a:off x="1760220" y="2377440"/>
            <a:ext cx="2606040" cy="777240"/>
          </a:xfrm>
          <a:prstGeom prst="roundRect">
            <a:avLst>
              <a:gd name="adj" fmla="val 9412"/>
            </a:avLst>
          </a:prstGeom>
          <a:solidFill>
            <a:srgbClr val="0D2F4F"/>
          </a:solidFill>
          <a:ln w="12700">
            <a:solidFill>
              <a:srgbClr val="0D2F4F"/>
            </a:solidFill>
            <a:prstDash val="solid"/>
          </a:ln>
          <a:effectLst>
            <a:outerShdw sx="100000" sy="100000" kx="0" ky="0" algn="bl" rotWithShape="0" blurRad="101600" dist="38100" dir="5400000">
              <a:srgbClr val="0D2F4F">
                <a:alpha val="18000"/>
              </a:srgbClr>
            </a:outerShdw>
          </a:effectLst>
        </p:spPr>
      </p:sp>
      <p:sp>
        <p:nvSpPr>
          <p:cNvPr id="6" name="Text 4"/>
          <p:cNvSpPr txBox="1"/>
          <p:nvPr/>
        </p:nvSpPr>
        <p:spPr>
          <a:xfrm>
            <a:off x="1760220" y="2377440"/>
            <a:ext cx="2606040" cy="777240"/>
          </a:xfrm>
          <a:prstGeom prst="rect">
            <a:avLst/>
          </a:prstGeom>
          <a:noFill/>
          <a:ln/>
        </p:spPr>
        <p:txBody>
          <a:bodyPr wrap="square" lIns="0" tIns="0" rIns="0" bIns="0" rtlCol="0" anchor="ctr"/>
          <a:lstStyle/>
          <a:p>
            <a:pPr algn="ctr" indent="0" marL="0">
              <a:buNone/>
            </a:pPr>
            <a:r>
              <a:rPr lang="en-US" sz="1500" b="1" dirty="0">
                <a:solidFill>
                  <a:srgbClr val="FFFFFF"/>
                </a:solidFill>
              </a:rPr>
              <a:t>Missiya</a:t>
            </a:r>
            <a:endParaRPr lang="en-US" sz="1500" dirty="0"/>
          </a:p>
        </p:txBody>
      </p:sp>
      <p:sp>
        <p:nvSpPr>
          <p:cNvPr id="7" name="Shape 5"/>
          <p:cNvSpPr/>
          <p:nvPr/>
        </p:nvSpPr>
        <p:spPr>
          <a:xfrm>
            <a:off x="1325880" y="3291840"/>
            <a:ext cx="3474720" cy="777240"/>
          </a:xfrm>
          <a:prstGeom prst="roundRect">
            <a:avLst>
              <a:gd name="adj" fmla="val 9412"/>
            </a:avLst>
          </a:prstGeom>
          <a:solidFill>
            <a:srgbClr val="0E9F9A"/>
          </a:solidFill>
          <a:ln w="12700">
            <a:solidFill>
              <a:srgbClr val="0E9F9A"/>
            </a:solidFill>
            <a:prstDash val="solid"/>
          </a:ln>
          <a:effectLst>
            <a:outerShdw sx="100000" sy="100000" kx="0" ky="0" algn="bl" rotWithShape="0" blurRad="101600" dist="38100" dir="5400000">
              <a:srgbClr val="0D2F4F">
                <a:alpha val="18000"/>
              </a:srgbClr>
            </a:outerShdw>
          </a:effectLst>
        </p:spPr>
      </p:sp>
      <p:sp>
        <p:nvSpPr>
          <p:cNvPr id="8" name="Text 6"/>
          <p:cNvSpPr txBox="1"/>
          <p:nvPr/>
        </p:nvSpPr>
        <p:spPr>
          <a:xfrm>
            <a:off x="1325880" y="3291840"/>
            <a:ext cx="3474720" cy="777240"/>
          </a:xfrm>
          <a:prstGeom prst="rect">
            <a:avLst/>
          </a:prstGeom>
          <a:noFill/>
          <a:ln/>
        </p:spPr>
        <p:txBody>
          <a:bodyPr wrap="square" lIns="0" tIns="0" rIns="0" bIns="0" rtlCol="0" anchor="ctr"/>
          <a:lstStyle/>
          <a:p>
            <a:pPr algn="ctr" indent="0" marL="0">
              <a:buNone/>
            </a:pPr>
            <a:r>
              <a:rPr lang="en-US" sz="1500" b="1" dirty="0">
                <a:solidFill>
                  <a:srgbClr val="FFFFFF"/>
                </a:solidFill>
              </a:rPr>
              <a:t>Strategik maqsadlar</a:t>
            </a:r>
            <a:endParaRPr lang="en-US" sz="1500" dirty="0"/>
          </a:p>
        </p:txBody>
      </p:sp>
      <p:sp>
        <p:nvSpPr>
          <p:cNvPr id="9" name="Shape 7"/>
          <p:cNvSpPr/>
          <p:nvPr/>
        </p:nvSpPr>
        <p:spPr>
          <a:xfrm>
            <a:off x="891540" y="4206240"/>
            <a:ext cx="4343400" cy="777240"/>
          </a:xfrm>
          <a:prstGeom prst="roundRect">
            <a:avLst>
              <a:gd name="adj" fmla="val 9412"/>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sp>
        <p:nvSpPr>
          <p:cNvPr id="10" name="Text 8"/>
          <p:cNvSpPr txBox="1"/>
          <p:nvPr/>
        </p:nvSpPr>
        <p:spPr>
          <a:xfrm>
            <a:off x="891540" y="4206240"/>
            <a:ext cx="4343400" cy="777240"/>
          </a:xfrm>
          <a:prstGeom prst="rect">
            <a:avLst/>
          </a:prstGeom>
          <a:noFill/>
          <a:ln/>
        </p:spPr>
        <p:txBody>
          <a:bodyPr wrap="square" lIns="0" tIns="0" rIns="0" bIns="0" rtlCol="0" anchor="ctr"/>
          <a:lstStyle/>
          <a:p>
            <a:pPr algn="ctr" indent="0" marL="0">
              <a:buNone/>
            </a:pPr>
            <a:r>
              <a:rPr lang="en-US" sz="1500" b="1" dirty="0">
                <a:solidFill>
                  <a:srgbClr val="FFFFFF"/>
                </a:solidFill>
              </a:rPr>
              <a:t>Taktik maqsadlar</a:t>
            </a:r>
            <a:endParaRPr lang="en-US" sz="1500" dirty="0"/>
          </a:p>
        </p:txBody>
      </p:sp>
      <p:sp>
        <p:nvSpPr>
          <p:cNvPr id="11" name="Shape 9"/>
          <p:cNvSpPr/>
          <p:nvPr/>
        </p:nvSpPr>
        <p:spPr>
          <a:xfrm>
            <a:off x="457200" y="5120640"/>
            <a:ext cx="5212080" cy="777240"/>
          </a:xfrm>
          <a:prstGeom prst="roundRect">
            <a:avLst>
              <a:gd name="adj" fmla="val 9412"/>
            </a:avLst>
          </a:prstGeom>
          <a:solidFill>
            <a:srgbClr val="5FA8B8"/>
          </a:solidFill>
          <a:ln w="12700">
            <a:solidFill>
              <a:srgbClr val="5FA8B8"/>
            </a:solidFill>
            <a:prstDash val="solid"/>
          </a:ln>
          <a:effectLst>
            <a:outerShdw sx="100000" sy="100000" kx="0" ky="0" algn="bl" rotWithShape="0" blurRad="101600" dist="38100" dir="5400000">
              <a:srgbClr val="0D2F4F">
                <a:alpha val="18000"/>
              </a:srgbClr>
            </a:outerShdw>
          </a:effectLst>
        </p:spPr>
      </p:sp>
      <p:sp>
        <p:nvSpPr>
          <p:cNvPr id="12" name="Text 10"/>
          <p:cNvSpPr txBox="1"/>
          <p:nvPr/>
        </p:nvSpPr>
        <p:spPr>
          <a:xfrm>
            <a:off x="457200" y="5120640"/>
            <a:ext cx="5212080" cy="777240"/>
          </a:xfrm>
          <a:prstGeom prst="rect">
            <a:avLst/>
          </a:prstGeom>
          <a:noFill/>
          <a:ln/>
        </p:spPr>
        <p:txBody>
          <a:bodyPr wrap="square" lIns="0" tIns="0" rIns="0" bIns="0" rtlCol="0" anchor="ctr"/>
          <a:lstStyle/>
          <a:p>
            <a:pPr algn="ctr" indent="0" marL="0">
              <a:buNone/>
            </a:pPr>
            <a:r>
              <a:rPr lang="en-US" sz="1500" b="1" dirty="0">
                <a:solidFill>
                  <a:srgbClr val="FFFFFF"/>
                </a:solidFill>
              </a:rPr>
              <a:t>Operativ vazifalar</a:t>
            </a:r>
            <a:endParaRPr lang="en-US" sz="1500" dirty="0"/>
          </a:p>
        </p:txBody>
      </p:sp>
      <p:sp>
        <p:nvSpPr>
          <p:cNvPr id="13" name="Text 11"/>
          <p:cNvSpPr txBox="1"/>
          <p:nvPr/>
        </p:nvSpPr>
        <p:spPr>
          <a:xfrm>
            <a:off x="548640" y="6035040"/>
            <a:ext cx="5029200" cy="274320"/>
          </a:xfrm>
          <a:prstGeom prst="rect">
            <a:avLst/>
          </a:prstGeom>
          <a:noFill/>
          <a:ln/>
        </p:spPr>
        <p:txBody>
          <a:bodyPr wrap="square" lIns="0" tIns="0" rIns="0" bIns="0" rtlCol="0" anchor="ctr"/>
          <a:lstStyle/>
          <a:p>
            <a:pPr algn="ctr" indent="0" marL="0">
              <a:buNone/>
            </a:pPr>
            <a:r>
              <a:rPr lang="en-US" sz="1200" i="1" dirty="0">
                <a:solidFill>
                  <a:srgbClr val="4A5B6C"/>
                </a:solidFill>
              </a:rPr>
              <a:t>Yuqoridan pastga: umumiydan aniqqa</a:t>
            </a:r>
            <a:endParaRPr lang="en-US" sz="1200" dirty="0"/>
          </a:p>
        </p:txBody>
      </p:sp>
      <p:sp>
        <p:nvSpPr>
          <p:cNvPr id="14" name="Text 12"/>
          <p:cNvSpPr txBox="1"/>
          <p:nvPr/>
        </p:nvSpPr>
        <p:spPr>
          <a:xfrm>
            <a:off x="6035040" y="1417320"/>
            <a:ext cx="5577840" cy="365760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Vizyon</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korxonaning 10–15 yildan keyingi orzu qilingan qiyofasi; xodimlarni ilhomlantiruvchi uzoq istiqbol. Masalan: “Mintaqadagi eng ishonchli oziq-ovqat ishlab chiqaruvchisi bo‘lish”.</a:t>
            </a:r>
            <a:endParaRPr lang="en-US" sz="1400" dirty="0"/>
          </a:p>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Missiya</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korxona nima uchun mavjudligi, kimga va qanday qiymat yaratishi haqidagi qisqa bayonot. U korxonani raqobatchilardan ajratib turadi va qarorlar uchun mezon bo‘ladi.</a:t>
            </a:r>
            <a:endParaRPr lang="en-US" sz="1400" dirty="0"/>
          </a:p>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Strategik maqsadlar</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3–5 yillik davrga mo‘ljallangan, o‘lchanadigan natijalar: bozor ulushi, daromad, eksport hajmi, yangi mahsulotlar soni.</a:t>
            </a:r>
            <a:endParaRPr lang="en-US" sz="1400" dirty="0"/>
          </a:p>
          <a:p>
            <a:pPr marL="177800" indent="-177800">
              <a:spcAft>
                <a:spcPts val="1000"/>
              </a:spcAft>
              <a:buSzPct val="100000"/>
              <a:buChar char="•"/>
            </a:pPr>
            <a:r>
              <a:rPr lang="en-US" sz="1400" b="1" dirty="0">
                <a:solidFill>
                  <a:srgbClr val="0E9F9A"/>
                </a:solidFill>
                <a:latin typeface="Calibri" pitchFamily="34" charset="0"/>
                <a:ea typeface="Calibri" pitchFamily="34" charset="-122"/>
                <a:cs typeface="Calibri" pitchFamily="34" charset="-120"/>
              </a:rPr>
              <a:t>Taktik va operativ maqsadlar</a:t>
            </a:r>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 – bo‘limlar va xodimlar uchun yillik, choraklik va oylik aniq topshiriqlar; ular strategik maqsadlarni amalda bajarishni ta’minlaydi.</a:t>
            </a:r>
            <a:endParaRPr lang="en-US" sz="1400" dirty="0"/>
          </a:p>
        </p:txBody>
      </p:sp>
      <p:sp>
        <p:nvSpPr>
          <p:cNvPr id="15" name="Shape 13"/>
          <p:cNvSpPr/>
          <p:nvPr/>
        </p:nvSpPr>
        <p:spPr>
          <a:xfrm>
            <a:off x="6035040" y="5212080"/>
            <a:ext cx="5577840" cy="960120"/>
          </a:xfrm>
          <a:prstGeom prst="roundRect">
            <a:avLst>
              <a:gd name="adj" fmla="val 1142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6" name="Text 14"/>
          <p:cNvSpPr txBox="1"/>
          <p:nvPr/>
        </p:nvSpPr>
        <p:spPr>
          <a:xfrm>
            <a:off x="6217920" y="5257800"/>
            <a:ext cx="521208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Muhim qoida: </a:t>
            </a:r>
            <a:pPr indent="0" marL="0">
              <a:buNone/>
            </a:pPr>
            <a:r>
              <a:rPr lang="en-US" sz="1400" dirty="0">
                <a:solidFill>
                  <a:srgbClr val="1B2A3A"/>
                </a:solidFill>
                <a:latin typeface="Calibri" pitchFamily="34" charset="0"/>
                <a:ea typeface="Calibri" pitchFamily="34" charset="-122"/>
                <a:cs typeface="Calibri" pitchFamily="34" charset="-120"/>
              </a:rPr>
              <a:t>har bir quyi darajadagi maqsad yuqori darajadagi maqsadga xizmat qilishi kerak – bu “maqsadlar daraxti” tamoyilidir.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Strategik tahlil: SWOT usuli</a:t>
            </a:r>
            <a:endParaRPr lang="en-US" sz="3000" dirty="0"/>
          </a:p>
        </p:txBody>
      </p:sp>
      <p:sp>
        <p:nvSpPr>
          <p:cNvPr id="3" name="Text 1"/>
          <p:cNvSpPr txBox="1"/>
          <p:nvPr/>
        </p:nvSpPr>
        <p:spPr>
          <a:xfrm>
            <a:off x="548640" y="1325880"/>
            <a:ext cx="11064240" cy="45720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Calibri" pitchFamily="34" charset="0"/>
                <a:ea typeface="Calibri" pitchFamily="34" charset="-122"/>
                <a:cs typeface="Calibri" pitchFamily="34" charset="-120"/>
              </a:rPr>
              <a:t>SWOT tahlili 1960-yillarda AQShda shakllangan bo‘lib, korxonaning ichki imkoniyatlarini tashqi muhit sharoitlari bilan taqqoslash imkonini beradi.</a:t>
            </a:r>
            <a:endParaRPr lang="en-US" sz="1500" dirty="0"/>
          </a:p>
        </p:txBody>
      </p:sp>
      <p:sp>
        <p:nvSpPr>
          <p:cNvPr id="4" name="Shape 2"/>
          <p:cNvSpPr/>
          <p:nvPr/>
        </p:nvSpPr>
        <p:spPr>
          <a:xfrm>
            <a:off x="548640" y="1920240"/>
            <a:ext cx="3154680" cy="2057400"/>
          </a:xfrm>
          <a:prstGeom prst="roundRect">
            <a:avLst>
              <a:gd name="adj" fmla="val 4444"/>
            </a:avLst>
          </a:prstGeom>
          <a:solidFill>
            <a:srgbClr val="0E9F9A"/>
          </a:solidFill>
          <a:ln w="12700">
            <a:solidFill>
              <a:srgbClr val="0E9F9A"/>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2029968"/>
            <a:ext cx="7315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pic>
        <p:nvPicPr>
          <p:cNvPr id="6" name="Image 0" descr="preencoded.png">    </p:cNvPr>
          <p:cNvPicPr>
            <a:picLocks noChangeAspect="1"/>
          </p:cNvPicPr>
          <p:nvPr/>
        </p:nvPicPr>
        <p:blipFill>
          <a:blip r:embed="rId1"/>
          <a:stretch>
            <a:fillRect/>
          </a:stretch>
        </p:blipFill>
        <p:spPr>
          <a:xfrm>
            <a:off x="3063240" y="2148840"/>
            <a:ext cx="411480" cy="411480"/>
          </a:xfrm>
          <a:prstGeom prst="rect">
            <a:avLst/>
          </a:prstGeom>
        </p:spPr>
      </p:pic>
      <p:sp>
        <p:nvSpPr>
          <p:cNvPr id="7" name="Text 4"/>
          <p:cNvSpPr txBox="1"/>
          <p:nvPr/>
        </p:nvSpPr>
        <p:spPr>
          <a:xfrm>
            <a:off x="731520" y="2788920"/>
            <a:ext cx="2788920" cy="109728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rPr>
              <a:t>Kuchli tomonlar (Strengths)</a:t>
            </a:r>
            <a:endParaRPr lang="en-US" sz="1400" dirty="0"/>
          </a:p>
          <a:p>
            <a:pPr indent="0" marL="0">
              <a:spcAft>
                <a:spcPts val="400"/>
              </a:spcAft>
              <a:buNone/>
            </a:pPr>
            <a:r>
              <a:rPr lang="en-US" sz="1300" dirty="0">
                <a:solidFill>
                  <a:srgbClr val="FFFFFF"/>
                </a:solidFill>
              </a:rPr>
              <a:t>malakali kadrlar, zamonaviy uskunalar, taniqli brend, past tannarx</a:t>
            </a:r>
            <a:endParaRPr lang="en-US" sz="1400" dirty="0"/>
          </a:p>
        </p:txBody>
      </p:sp>
      <p:sp>
        <p:nvSpPr>
          <p:cNvPr id="8" name="Shape 5"/>
          <p:cNvSpPr/>
          <p:nvPr/>
        </p:nvSpPr>
        <p:spPr>
          <a:xfrm>
            <a:off x="3794760" y="1920240"/>
            <a:ext cx="3154680" cy="2057400"/>
          </a:xfrm>
          <a:prstGeom prst="roundRect">
            <a:avLst>
              <a:gd name="adj" fmla="val 4444"/>
            </a:avLst>
          </a:prstGeom>
          <a:solidFill>
            <a:srgbClr val="B5651D"/>
          </a:solidFill>
          <a:ln w="12700">
            <a:solidFill>
              <a:srgbClr val="B5651D"/>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3977640" y="2029968"/>
            <a:ext cx="7315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a:t>
            </a:r>
            <a:endParaRPr lang="en-US" sz="4000" dirty="0"/>
          </a:p>
        </p:txBody>
      </p:sp>
      <p:pic>
        <p:nvPicPr>
          <p:cNvPr id="10" name="Image 1" descr="preencoded.png">    </p:cNvPr>
          <p:cNvPicPr>
            <a:picLocks noChangeAspect="1"/>
          </p:cNvPicPr>
          <p:nvPr/>
        </p:nvPicPr>
        <p:blipFill>
          <a:blip r:embed="rId2"/>
          <a:stretch>
            <a:fillRect/>
          </a:stretch>
        </p:blipFill>
        <p:spPr>
          <a:xfrm>
            <a:off x="6309360" y="2148840"/>
            <a:ext cx="411480" cy="411480"/>
          </a:xfrm>
          <a:prstGeom prst="rect">
            <a:avLst/>
          </a:prstGeom>
        </p:spPr>
      </p:pic>
      <p:sp>
        <p:nvSpPr>
          <p:cNvPr id="11" name="Text 7"/>
          <p:cNvSpPr txBox="1"/>
          <p:nvPr/>
        </p:nvSpPr>
        <p:spPr>
          <a:xfrm>
            <a:off x="3977640" y="2788920"/>
            <a:ext cx="2788920" cy="109728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rPr>
              <a:t>Zaif tomonlar (Weaknesses)</a:t>
            </a:r>
            <a:endParaRPr lang="en-US" sz="1400" dirty="0"/>
          </a:p>
          <a:p>
            <a:pPr indent="0" marL="0">
              <a:spcAft>
                <a:spcPts val="400"/>
              </a:spcAft>
              <a:buNone/>
            </a:pPr>
            <a:r>
              <a:rPr lang="en-US" sz="1300" dirty="0">
                <a:solidFill>
                  <a:srgbClr val="FFFFFF"/>
                </a:solidFill>
              </a:rPr>
              <a:t>eskirgan texnologiya, aylanma mablag‘ yetishmasligi, tor assortiment</a:t>
            </a:r>
            <a:endParaRPr lang="en-US" sz="1400" dirty="0"/>
          </a:p>
        </p:txBody>
      </p:sp>
      <p:sp>
        <p:nvSpPr>
          <p:cNvPr id="12" name="Shape 8"/>
          <p:cNvSpPr/>
          <p:nvPr/>
        </p:nvSpPr>
        <p:spPr>
          <a:xfrm>
            <a:off x="548640" y="4069080"/>
            <a:ext cx="3154680" cy="2057400"/>
          </a:xfrm>
          <a:prstGeom prst="roundRect">
            <a:avLst>
              <a:gd name="adj" fmla="val 4444"/>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sp>
        <p:nvSpPr>
          <p:cNvPr id="13" name="Text 9"/>
          <p:cNvSpPr txBox="1"/>
          <p:nvPr/>
        </p:nvSpPr>
        <p:spPr>
          <a:xfrm>
            <a:off x="731520" y="4178808"/>
            <a:ext cx="7315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a:t>
            </a:r>
            <a:endParaRPr lang="en-US" sz="4000" dirty="0"/>
          </a:p>
        </p:txBody>
      </p:sp>
      <p:pic>
        <p:nvPicPr>
          <p:cNvPr id="14" name="Image 2" descr="preencoded.png">    </p:cNvPr>
          <p:cNvPicPr>
            <a:picLocks noChangeAspect="1"/>
          </p:cNvPicPr>
          <p:nvPr/>
        </p:nvPicPr>
        <p:blipFill>
          <a:blip r:embed="rId3"/>
          <a:stretch>
            <a:fillRect/>
          </a:stretch>
        </p:blipFill>
        <p:spPr>
          <a:xfrm>
            <a:off x="3063240" y="4297680"/>
            <a:ext cx="411480" cy="411480"/>
          </a:xfrm>
          <a:prstGeom prst="rect">
            <a:avLst/>
          </a:prstGeom>
        </p:spPr>
      </p:pic>
      <p:sp>
        <p:nvSpPr>
          <p:cNvPr id="15" name="Text 10"/>
          <p:cNvSpPr txBox="1"/>
          <p:nvPr/>
        </p:nvSpPr>
        <p:spPr>
          <a:xfrm>
            <a:off x="731520" y="4937760"/>
            <a:ext cx="2788920" cy="109728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rPr>
              <a:t>Imkoniyatlar (Opportunities)</a:t>
            </a:r>
            <a:endParaRPr lang="en-US" sz="1400" dirty="0"/>
          </a:p>
          <a:p>
            <a:pPr indent="0" marL="0">
              <a:spcAft>
                <a:spcPts val="400"/>
              </a:spcAft>
              <a:buNone/>
            </a:pPr>
            <a:r>
              <a:rPr lang="en-US" sz="1300" dirty="0">
                <a:solidFill>
                  <a:srgbClr val="FFFFFF"/>
                </a:solidFill>
              </a:rPr>
              <a:t>yangi bozorlar, davlat imtiyozlari, raqamlashtirish, eksport</a:t>
            </a:r>
            <a:endParaRPr lang="en-US" sz="1400" dirty="0"/>
          </a:p>
        </p:txBody>
      </p:sp>
      <p:sp>
        <p:nvSpPr>
          <p:cNvPr id="16" name="Shape 11"/>
          <p:cNvSpPr/>
          <p:nvPr/>
        </p:nvSpPr>
        <p:spPr>
          <a:xfrm>
            <a:off x="3794760" y="4069080"/>
            <a:ext cx="3154680" cy="2057400"/>
          </a:xfrm>
          <a:prstGeom prst="roundRect">
            <a:avLst>
              <a:gd name="adj" fmla="val 4444"/>
            </a:avLst>
          </a:prstGeom>
          <a:solidFill>
            <a:srgbClr val="0D2F4F"/>
          </a:solidFill>
          <a:ln w="12700">
            <a:solidFill>
              <a:srgbClr val="0D2F4F"/>
            </a:solidFill>
            <a:prstDash val="solid"/>
          </a:ln>
          <a:effectLst>
            <a:outerShdw sx="100000" sy="100000" kx="0" ky="0" algn="bl" rotWithShape="0" blurRad="101600" dist="38100" dir="5400000">
              <a:srgbClr val="0D2F4F">
                <a:alpha val="18000"/>
              </a:srgbClr>
            </a:outerShdw>
          </a:effectLst>
        </p:spPr>
      </p:sp>
      <p:sp>
        <p:nvSpPr>
          <p:cNvPr id="17" name="Text 12"/>
          <p:cNvSpPr txBox="1"/>
          <p:nvPr/>
        </p:nvSpPr>
        <p:spPr>
          <a:xfrm>
            <a:off x="3977640" y="4178808"/>
            <a:ext cx="7315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a:t>
            </a:r>
            <a:endParaRPr lang="en-US" sz="4000" dirty="0"/>
          </a:p>
        </p:txBody>
      </p:sp>
      <p:pic>
        <p:nvPicPr>
          <p:cNvPr id="18" name="Image 3" descr="preencoded.png">    </p:cNvPr>
          <p:cNvPicPr>
            <a:picLocks noChangeAspect="1"/>
          </p:cNvPicPr>
          <p:nvPr/>
        </p:nvPicPr>
        <p:blipFill>
          <a:blip r:embed="rId4"/>
          <a:stretch>
            <a:fillRect/>
          </a:stretch>
        </p:blipFill>
        <p:spPr>
          <a:xfrm>
            <a:off x="6309360" y="4297680"/>
            <a:ext cx="411480" cy="411480"/>
          </a:xfrm>
          <a:prstGeom prst="rect">
            <a:avLst/>
          </a:prstGeom>
        </p:spPr>
      </p:pic>
      <p:sp>
        <p:nvSpPr>
          <p:cNvPr id="19" name="Text 13"/>
          <p:cNvSpPr txBox="1"/>
          <p:nvPr/>
        </p:nvSpPr>
        <p:spPr>
          <a:xfrm>
            <a:off x="3977640" y="4937760"/>
            <a:ext cx="2788920" cy="109728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rPr>
              <a:t>Tahdidlar (Threats)</a:t>
            </a:r>
            <a:endParaRPr lang="en-US" sz="1400" dirty="0"/>
          </a:p>
          <a:p>
            <a:pPr indent="0" marL="0">
              <a:spcAft>
                <a:spcPts val="400"/>
              </a:spcAft>
              <a:buNone/>
            </a:pPr>
            <a:r>
              <a:rPr lang="en-US" sz="1300" dirty="0">
                <a:solidFill>
                  <a:srgbClr val="FFFFFF"/>
                </a:solidFill>
              </a:rPr>
              <a:t>kuchli raqobatchilar, inflyatsiya, xomashyo narxi oshishi, qonun o‘zgarishi</a:t>
            </a:r>
            <a:endParaRPr lang="en-US" sz="1400" dirty="0"/>
          </a:p>
        </p:txBody>
      </p:sp>
      <p:sp>
        <p:nvSpPr>
          <p:cNvPr id="20" name="Text 14"/>
          <p:cNvSpPr txBox="1"/>
          <p:nvPr/>
        </p:nvSpPr>
        <p:spPr>
          <a:xfrm>
            <a:off x="7223760" y="1920240"/>
            <a:ext cx="4389120" cy="365760"/>
          </a:xfrm>
          <a:prstGeom prst="rect">
            <a:avLst/>
          </a:prstGeom>
          <a:noFill/>
          <a:ln/>
        </p:spPr>
        <p:txBody>
          <a:bodyPr wrap="square" lIns="0" tIns="0" rIns="0" bIns="0" rtlCol="0" anchor="ctr"/>
          <a:lstStyle/>
          <a:p>
            <a:pPr indent="0" marL="0">
              <a:buNone/>
            </a:pPr>
            <a:r>
              <a:rPr lang="en-US" sz="1600" b="1" dirty="0">
                <a:solidFill>
                  <a:srgbClr val="0D2F4F"/>
                </a:solidFill>
              </a:rPr>
              <a:t>SWOT natijasida shakllanadigan strategiyalar:</a:t>
            </a:r>
            <a:endParaRPr lang="en-US" sz="1600" dirty="0"/>
          </a:p>
        </p:txBody>
      </p:sp>
      <p:sp>
        <p:nvSpPr>
          <p:cNvPr id="21" name="Text 15"/>
          <p:cNvSpPr txBox="1"/>
          <p:nvPr/>
        </p:nvSpPr>
        <p:spPr>
          <a:xfrm>
            <a:off x="7223760" y="2377440"/>
            <a:ext cx="4389120" cy="237744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SO – hujum strategiyasi: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kuchli tomonlar orqali imkoniyatlardan to‘liq foydalanish.</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WO – rivojlanish strategiyasi: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imkoniyatlardan foydalanib, zaif tomonlarni bartaraf etish.</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ST – himoya strategiyasi: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kuchli tomonlar yordamida tahdidlarni yumshatish.</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WT – omon qolish strategiyasi: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zaif tomonlar va tahdidlar ta’sirini minimallashtirish.</a:t>
            </a:r>
            <a:endParaRPr lang="en-US" sz="1400" dirty="0"/>
          </a:p>
        </p:txBody>
      </p:sp>
      <p:pic>
        <p:nvPicPr>
          <p:cNvPr id="22" name="Image 4" descr="img2/swot.png">    </p:cNvPr>
          <p:cNvPicPr>
            <a:picLocks noChangeAspect="1"/>
          </p:cNvPicPr>
          <p:nvPr/>
        </p:nvPicPr>
        <p:blipFill>
          <a:blip r:embed="rId5"/>
          <a:stretch>
            <a:fillRect/>
          </a:stretch>
        </p:blipFill>
        <p:spPr>
          <a:xfrm>
            <a:off x="7223760" y="4754880"/>
            <a:ext cx="1828800" cy="1417320"/>
          </a:xfrm>
          <a:prstGeom prst="rect">
            <a:avLst/>
          </a:prstGeom>
        </p:spPr>
      </p:pic>
      <p:sp>
        <p:nvSpPr>
          <p:cNvPr id="23" name="Text 16"/>
          <p:cNvSpPr txBox="1"/>
          <p:nvPr/>
        </p:nvSpPr>
        <p:spPr>
          <a:xfrm>
            <a:off x="9235440" y="4754880"/>
            <a:ext cx="2377440" cy="1417320"/>
          </a:xfrm>
          <a:prstGeom prst="rect">
            <a:avLst/>
          </a:prstGeom>
          <a:noFill/>
          <a:ln/>
        </p:spPr>
        <p:txBody>
          <a:bodyPr wrap="square" lIns="0" tIns="0" rIns="0" bIns="0" rtlCol="0" anchor="ctr"/>
          <a:lstStyle/>
          <a:p>
            <a:pPr indent="0" marL="0">
              <a:buNone/>
            </a:pPr>
            <a:r>
              <a:rPr lang="en-US" sz="1400" i="1" dirty="0">
                <a:solidFill>
                  <a:srgbClr val="4A5B6C"/>
                </a:solidFill>
              </a:rPr>
              <a:t>S va W – ichki omillar, O va T – tashqi omillar.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PEST tahlili va Porterning “besh kuch” modeli</a:t>
            </a:r>
            <a:endParaRPr lang="en-US" sz="3000" dirty="0"/>
          </a:p>
        </p:txBody>
      </p:sp>
      <p:sp>
        <p:nvSpPr>
          <p:cNvPr id="3" name="Text 1"/>
          <p:cNvSpPr txBox="1"/>
          <p:nvPr/>
        </p:nvSpPr>
        <p:spPr>
          <a:xfrm>
            <a:off x="548640" y="1325880"/>
            <a:ext cx="5394960" cy="365760"/>
          </a:xfrm>
          <a:prstGeom prst="rect">
            <a:avLst/>
          </a:prstGeom>
          <a:noFill/>
          <a:ln/>
        </p:spPr>
        <p:txBody>
          <a:bodyPr wrap="square" lIns="0" tIns="0" rIns="0" bIns="0" rtlCol="0" anchor="ctr"/>
          <a:lstStyle/>
          <a:p>
            <a:pPr indent="0" marL="0">
              <a:buNone/>
            </a:pPr>
            <a:r>
              <a:rPr lang="en-US" sz="1600" b="1" dirty="0">
                <a:solidFill>
                  <a:srgbClr val="0D2F4F"/>
                </a:solidFill>
              </a:rPr>
              <a:t>PEST tahlili (F. Agilar, 1967) – makromuhit omillari:</a:t>
            </a:r>
            <a:endParaRPr lang="en-US" sz="1600" dirty="0"/>
          </a:p>
        </p:txBody>
      </p:sp>
      <p:sp>
        <p:nvSpPr>
          <p:cNvPr id="4" name="Shape 2"/>
          <p:cNvSpPr/>
          <p:nvPr/>
        </p:nvSpPr>
        <p:spPr>
          <a:xfrm>
            <a:off x="548640" y="1783080"/>
            <a:ext cx="5394960" cy="960120"/>
          </a:xfrm>
          <a:prstGeom prst="roundRect">
            <a:avLst>
              <a:gd name="adj" fmla="val 1142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1938528"/>
            <a:ext cx="640080" cy="640080"/>
          </a:xfrm>
          <a:prstGeom prst="ellipse">
            <a:avLst/>
          </a:prstGeom>
          <a:solidFill>
            <a:srgbClr val="0E9F9A"/>
          </a:solidFill>
          <a:ln w="12700">
            <a:solidFill>
              <a:srgbClr val="0E9F9A"/>
            </a:solidFill>
            <a:prstDash val="solid"/>
          </a:ln>
        </p:spPr>
      </p:sp>
      <p:sp>
        <p:nvSpPr>
          <p:cNvPr id="6" name="Text 4"/>
          <p:cNvSpPr txBox="1"/>
          <p:nvPr/>
        </p:nvSpPr>
        <p:spPr>
          <a:xfrm>
            <a:off x="731520" y="193852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a:t>
            </a:r>
            <a:endParaRPr lang="en-US" sz="2400" dirty="0"/>
          </a:p>
        </p:txBody>
      </p:sp>
      <p:sp>
        <p:nvSpPr>
          <p:cNvPr id="7" name="Text 5"/>
          <p:cNvSpPr txBox="1"/>
          <p:nvPr/>
        </p:nvSpPr>
        <p:spPr>
          <a:xfrm>
            <a:off x="1554480" y="1856232"/>
            <a:ext cx="4251960" cy="8229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Siyosiy omillar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davlat siyosati, soliqlar, qonunchilik, siyosiy barqarorlik</a:t>
            </a:r>
            <a:endParaRPr lang="en-US" sz="1400" dirty="0"/>
          </a:p>
        </p:txBody>
      </p:sp>
      <p:sp>
        <p:nvSpPr>
          <p:cNvPr id="8" name="Shape 6"/>
          <p:cNvSpPr/>
          <p:nvPr/>
        </p:nvSpPr>
        <p:spPr>
          <a:xfrm>
            <a:off x="548640" y="2880360"/>
            <a:ext cx="5394960" cy="960120"/>
          </a:xfrm>
          <a:prstGeom prst="roundRect">
            <a:avLst>
              <a:gd name="adj" fmla="val 1142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7"/>
          <p:cNvSpPr/>
          <p:nvPr/>
        </p:nvSpPr>
        <p:spPr>
          <a:xfrm>
            <a:off x="731520" y="3035808"/>
            <a:ext cx="640080" cy="640080"/>
          </a:xfrm>
          <a:prstGeom prst="ellipse">
            <a:avLst/>
          </a:prstGeom>
          <a:solidFill>
            <a:srgbClr val="0D2F4F"/>
          </a:solidFill>
          <a:ln w="12700">
            <a:solidFill>
              <a:srgbClr val="0D2F4F"/>
            </a:solidFill>
            <a:prstDash val="solid"/>
          </a:ln>
        </p:spPr>
      </p:sp>
      <p:sp>
        <p:nvSpPr>
          <p:cNvPr id="10" name="Text 8"/>
          <p:cNvSpPr txBox="1"/>
          <p:nvPr/>
        </p:nvSpPr>
        <p:spPr>
          <a:xfrm>
            <a:off x="731520" y="30358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E</a:t>
            </a:r>
            <a:endParaRPr lang="en-US" sz="2400" dirty="0"/>
          </a:p>
        </p:txBody>
      </p:sp>
      <p:sp>
        <p:nvSpPr>
          <p:cNvPr id="11" name="Text 9"/>
          <p:cNvSpPr txBox="1"/>
          <p:nvPr/>
        </p:nvSpPr>
        <p:spPr>
          <a:xfrm>
            <a:off x="1554480" y="2953512"/>
            <a:ext cx="4251960" cy="8229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Iqtisodiy omillar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YaIM o‘sishi, inflyatsiya, valyuta kursi, foiz stavkalari</a:t>
            </a:r>
            <a:endParaRPr lang="en-US" sz="1400" dirty="0"/>
          </a:p>
        </p:txBody>
      </p:sp>
      <p:sp>
        <p:nvSpPr>
          <p:cNvPr id="12" name="Shape 10"/>
          <p:cNvSpPr/>
          <p:nvPr/>
        </p:nvSpPr>
        <p:spPr>
          <a:xfrm>
            <a:off x="548640" y="3977640"/>
            <a:ext cx="5394960" cy="960120"/>
          </a:xfrm>
          <a:prstGeom prst="roundRect">
            <a:avLst>
              <a:gd name="adj" fmla="val 1142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1"/>
          <p:cNvSpPr/>
          <p:nvPr/>
        </p:nvSpPr>
        <p:spPr>
          <a:xfrm>
            <a:off x="731520" y="4133088"/>
            <a:ext cx="640080" cy="640080"/>
          </a:xfrm>
          <a:prstGeom prst="ellipse">
            <a:avLst/>
          </a:prstGeom>
          <a:solidFill>
            <a:srgbClr val="0E9F9A"/>
          </a:solidFill>
          <a:ln w="12700">
            <a:solidFill>
              <a:srgbClr val="0E9F9A"/>
            </a:solidFill>
            <a:prstDash val="solid"/>
          </a:ln>
        </p:spPr>
      </p:sp>
      <p:sp>
        <p:nvSpPr>
          <p:cNvPr id="14" name="Text 12"/>
          <p:cNvSpPr txBox="1"/>
          <p:nvPr/>
        </p:nvSpPr>
        <p:spPr>
          <a:xfrm>
            <a:off x="731520" y="413308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S</a:t>
            </a:r>
            <a:endParaRPr lang="en-US" sz="2400" dirty="0"/>
          </a:p>
        </p:txBody>
      </p:sp>
      <p:sp>
        <p:nvSpPr>
          <p:cNvPr id="15" name="Text 13"/>
          <p:cNvSpPr txBox="1"/>
          <p:nvPr/>
        </p:nvSpPr>
        <p:spPr>
          <a:xfrm>
            <a:off x="1554480" y="4050792"/>
            <a:ext cx="4251960" cy="8229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Ijtimoiy omillar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aholi soni va tarkibi, daromadlar, turmush tarzi, madaniyat</a:t>
            </a:r>
            <a:endParaRPr lang="en-US" sz="1400" dirty="0"/>
          </a:p>
        </p:txBody>
      </p:sp>
      <p:sp>
        <p:nvSpPr>
          <p:cNvPr id="16" name="Shape 14"/>
          <p:cNvSpPr/>
          <p:nvPr/>
        </p:nvSpPr>
        <p:spPr>
          <a:xfrm>
            <a:off x="548640" y="5074920"/>
            <a:ext cx="5394960" cy="960120"/>
          </a:xfrm>
          <a:prstGeom prst="roundRect">
            <a:avLst>
              <a:gd name="adj" fmla="val 11429"/>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5"/>
          <p:cNvSpPr/>
          <p:nvPr/>
        </p:nvSpPr>
        <p:spPr>
          <a:xfrm>
            <a:off x="731520" y="5230368"/>
            <a:ext cx="640080" cy="640080"/>
          </a:xfrm>
          <a:prstGeom prst="ellipse">
            <a:avLst/>
          </a:prstGeom>
          <a:solidFill>
            <a:srgbClr val="0D2F4F"/>
          </a:solidFill>
          <a:ln w="12700">
            <a:solidFill>
              <a:srgbClr val="0D2F4F"/>
            </a:solidFill>
            <a:prstDash val="solid"/>
          </a:ln>
        </p:spPr>
      </p:sp>
      <p:sp>
        <p:nvSpPr>
          <p:cNvPr id="18" name="Text 16"/>
          <p:cNvSpPr txBox="1"/>
          <p:nvPr/>
        </p:nvSpPr>
        <p:spPr>
          <a:xfrm>
            <a:off x="731520" y="523036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a:t>
            </a:r>
            <a:endParaRPr lang="en-US" sz="2400" dirty="0"/>
          </a:p>
        </p:txBody>
      </p:sp>
      <p:sp>
        <p:nvSpPr>
          <p:cNvPr id="19" name="Text 17"/>
          <p:cNvSpPr txBox="1"/>
          <p:nvPr/>
        </p:nvSpPr>
        <p:spPr>
          <a:xfrm>
            <a:off x="1554480" y="5148072"/>
            <a:ext cx="4251960" cy="8229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Texnologik omillar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innovatsiyalar, raqamlashtirish, avtomatlashtirish, IT</a:t>
            </a:r>
            <a:endParaRPr lang="en-US" sz="1400" dirty="0"/>
          </a:p>
        </p:txBody>
      </p:sp>
      <p:sp>
        <p:nvSpPr>
          <p:cNvPr id="20" name="Text 18"/>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1600" b="1" dirty="0">
                <a:solidFill>
                  <a:srgbClr val="0D2F4F"/>
                </a:solidFill>
              </a:rPr>
              <a:t>“Besh kuch” modeli (M. Porter, 1979) – soha raqobati:</a:t>
            </a:r>
            <a:endParaRPr lang="en-US" sz="1600" dirty="0"/>
          </a:p>
        </p:txBody>
      </p:sp>
      <p:sp>
        <p:nvSpPr>
          <p:cNvPr id="21" name="Shape 19"/>
          <p:cNvSpPr/>
          <p:nvPr/>
        </p:nvSpPr>
        <p:spPr>
          <a:xfrm>
            <a:off x="8183880" y="3108960"/>
            <a:ext cx="1554480" cy="1097280"/>
          </a:xfrm>
          <a:prstGeom prst="roundRect">
            <a:avLst>
              <a:gd name="adj" fmla="val 8333"/>
            </a:avLst>
          </a:prstGeom>
          <a:solidFill>
            <a:srgbClr val="0D2F4F"/>
          </a:solidFill>
          <a:ln w="25400">
            <a:solidFill>
              <a:srgbClr val="F2A541"/>
            </a:solidFill>
            <a:prstDash val="solid"/>
          </a:ln>
          <a:effectLst>
            <a:outerShdw sx="100000" sy="100000" kx="0" ky="0" algn="bl" rotWithShape="0" blurRad="101600" dist="38100" dir="5400000">
              <a:srgbClr val="0D2F4F">
                <a:alpha val="18000"/>
              </a:srgbClr>
            </a:outerShdw>
          </a:effectLst>
        </p:spPr>
      </p:sp>
      <p:sp>
        <p:nvSpPr>
          <p:cNvPr id="22" name="Text 20"/>
          <p:cNvSpPr txBox="1"/>
          <p:nvPr/>
        </p:nvSpPr>
        <p:spPr>
          <a:xfrm>
            <a:off x="8229600" y="3108960"/>
            <a:ext cx="1463040" cy="1097280"/>
          </a:xfrm>
          <a:prstGeom prst="rect">
            <a:avLst/>
          </a:prstGeom>
          <a:noFill/>
          <a:ln/>
        </p:spPr>
        <p:txBody>
          <a:bodyPr wrap="square" lIns="0" tIns="0" rIns="0" bIns="0" rtlCol="0" anchor="ctr"/>
          <a:lstStyle/>
          <a:p>
            <a:pPr algn="ctr" indent="0" marL="0">
              <a:buNone/>
            </a:pPr>
            <a:r>
              <a:rPr lang="en-US" sz="1300" b="1" dirty="0">
                <a:solidFill>
                  <a:srgbClr val="FFFFFF"/>
                </a:solidFill>
              </a:rPr>
              <a:t>Sohadagi raqobat kurashi</a:t>
            </a:r>
            <a:endParaRPr lang="en-US" sz="1300" dirty="0"/>
          </a:p>
        </p:txBody>
      </p:sp>
      <p:sp>
        <p:nvSpPr>
          <p:cNvPr id="23" name="Shape 21"/>
          <p:cNvSpPr/>
          <p:nvPr/>
        </p:nvSpPr>
        <p:spPr>
          <a:xfrm>
            <a:off x="7818120" y="1783080"/>
            <a:ext cx="2286000" cy="777240"/>
          </a:xfrm>
          <a:prstGeom prst="roundRect">
            <a:avLst>
              <a:gd name="adj" fmla="val 11765"/>
            </a:avLst>
          </a:prstGeom>
          <a:solidFill>
            <a:srgbClr val="0E9F9A"/>
          </a:solidFill>
          <a:ln w="12700">
            <a:solidFill>
              <a:srgbClr val="0E9F9A"/>
            </a:solidFill>
            <a:prstDash val="solid"/>
          </a:ln>
          <a:effectLst>
            <a:outerShdw sx="100000" sy="100000" kx="0" ky="0" algn="bl" rotWithShape="0" blurRad="101600" dist="38100" dir="5400000">
              <a:srgbClr val="0D2F4F">
                <a:alpha val="18000"/>
              </a:srgbClr>
            </a:outerShdw>
          </a:effectLst>
        </p:spPr>
      </p:sp>
      <p:pic>
        <p:nvPicPr>
          <p:cNvPr id="24" name="Image 0" descr="preencoded.png">    </p:cNvPr>
          <p:cNvPicPr>
            <a:picLocks noChangeAspect="1"/>
          </p:cNvPicPr>
          <p:nvPr/>
        </p:nvPicPr>
        <p:blipFill>
          <a:blip r:embed="rId1"/>
          <a:stretch>
            <a:fillRect/>
          </a:stretch>
        </p:blipFill>
        <p:spPr>
          <a:xfrm>
            <a:off x="7927848" y="2007108"/>
            <a:ext cx="329184" cy="329184"/>
          </a:xfrm>
          <a:prstGeom prst="rect">
            <a:avLst/>
          </a:prstGeom>
        </p:spPr>
      </p:pic>
      <p:sp>
        <p:nvSpPr>
          <p:cNvPr id="25" name="Text 22"/>
          <p:cNvSpPr txBox="1"/>
          <p:nvPr/>
        </p:nvSpPr>
        <p:spPr>
          <a:xfrm>
            <a:off x="8321040" y="1783080"/>
            <a:ext cx="1719072" cy="777240"/>
          </a:xfrm>
          <a:prstGeom prst="rect">
            <a:avLst/>
          </a:prstGeom>
          <a:noFill/>
          <a:ln/>
        </p:spPr>
        <p:txBody>
          <a:bodyPr wrap="square" lIns="0" tIns="0" rIns="0" bIns="0" rtlCol="0" anchor="ctr"/>
          <a:lstStyle/>
          <a:p>
            <a:pPr indent="0" marL="0">
              <a:buNone/>
            </a:pPr>
            <a:r>
              <a:rPr lang="en-US" sz="1300" b="1" dirty="0">
                <a:solidFill>
                  <a:srgbClr val="FFFFFF"/>
                </a:solidFill>
              </a:rPr>
              <a:t>Yangi raqobatchilar kirib kelishi</a:t>
            </a:r>
            <a:endParaRPr lang="en-US" sz="1300" dirty="0"/>
          </a:p>
        </p:txBody>
      </p:sp>
      <p:sp>
        <p:nvSpPr>
          <p:cNvPr id="26" name="Shape 23"/>
          <p:cNvSpPr/>
          <p:nvPr/>
        </p:nvSpPr>
        <p:spPr>
          <a:xfrm>
            <a:off x="7818120" y="4754880"/>
            <a:ext cx="2286000" cy="777240"/>
          </a:xfrm>
          <a:prstGeom prst="roundRect">
            <a:avLst>
              <a:gd name="adj" fmla="val 11765"/>
            </a:avLst>
          </a:prstGeom>
          <a:solidFill>
            <a:srgbClr val="0E9F9A"/>
          </a:solidFill>
          <a:ln w="12700">
            <a:solidFill>
              <a:srgbClr val="0E9F9A"/>
            </a:solidFill>
            <a:prstDash val="solid"/>
          </a:ln>
          <a:effectLst>
            <a:outerShdw sx="100000" sy="100000" kx="0" ky="0" algn="bl" rotWithShape="0" blurRad="101600" dist="38100" dir="5400000">
              <a:srgbClr val="0D2F4F">
                <a:alpha val="18000"/>
              </a:srgbClr>
            </a:outerShdw>
          </a:effectLst>
        </p:spPr>
      </p:sp>
      <p:pic>
        <p:nvPicPr>
          <p:cNvPr id="27" name="Image 1" descr="preencoded.png">    </p:cNvPr>
          <p:cNvPicPr>
            <a:picLocks noChangeAspect="1"/>
          </p:cNvPicPr>
          <p:nvPr/>
        </p:nvPicPr>
        <p:blipFill>
          <a:blip r:embed="rId2"/>
          <a:stretch>
            <a:fillRect/>
          </a:stretch>
        </p:blipFill>
        <p:spPr>
          <a:xfrm>
            <a:off x="7927848" y="4978908"/>
            <a:ext cx="329184" cy="329184"/>
          </a:xfrm>
          <a:prstGeom prst="rect">
            <a:avLst/>
          </a:prstGeom>
        </p:spPr>
      </p:pic>
      <p:sp>
        <p:nvSpPr>
          <p:cNvPr id="28" name="Text 24"/>
          <p:cNvSpPr txBox="1"/>
          <p:nvPr/>
        </p:nvSpPr>
        <p:spPr>
          <a:xfrm>
            <a:off x="8321040" y="4754880"/>
            <a:ext cx="1719072" cy="777240"/>
          </a:xfrm>
          <a:prstGeom prst="rect">
            <a:avLst/>
          </a:prstGeom>
          <a:noFill/>
          <a:ln/>
        </p:spPr>
        <p:txBody>
          <a:bodyPr wrap="square" lIns="0" tIns="0" rIns="0" bIns="0" rtlCol="0" anchor="ctr"/>
          <a:lstStyle/>
          <a:p>
            <a:pPr indent="0" marL="0">
              <a:buNone/>
            </a:pPr>
            <a:r>
              <a:rPr lang="en-US" sz="1300" b="1" dirty="0">
                <a:solidFill>
                  <a:srgbClr val="FFFFFF"/>
                </a:solidFill>
              </a:rPr>
              <a:t>O‘rinbosar mahsulotlar tahdidi</a:t>
            </a:r>
            <a:endParaRPr lang="en-US" sz="1300" dirty="0"/>
          </a:p>
        </p:txBody>
      </p:sp>
      <p:sp>
        <p:nvSpPr>
          <p:cNvPr id="29" name="Shape 25"/>
          <p:cNvSpPr/>
          <p:nvPr/>
        </p:nvSpPr>
        <p:spPr>
          <a:xfrm>
            <a:off x="6309360" y="3246120"/>
            <a:ext cx="1600200" cy="822960"/>
          </a:xfrm>
          <a:prstGeom prst="roundRect">
            <a:avLst>
              <a:gd name="adj" fmla="val 11111"/>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pic>
        <p:nvPicPr>
          <p:cNvPr id="30" name="Image 2" descr="preencoded.png">    </p:cNvPr>
          <p:cNvPicPr>
            <a:picLocks noChangeAspect="1"/>
          </p:cNvPicPr>
          <p:nvPr/>
        </p:nvPicPr>
        <p:blipFill>
          <a:blip r:embed="rId3"/>
          <a:stretch>
            <a:fillRect/>
          </a:stretch>
        </p:blipFill>
        <p:spPr>
          <a:xfrm>
            <a:off x="6419088" y="3493008"/>
            <a:ext cx="329184" cy="329184"/>
          </a:xfrm>
          <a:prstGeom prst="rect">
            <a:avLst/>
          </a:prstGeom>
        </p:spPr>
      </p:pic>
      <p:sp>
        <p:nvSpPr>
          <p:cNvPr id="31" name="Text 26"/>
          <p:cNvSpPr txBox="1"/>
          <p:nvPr/>
        </p:nvSpPr>
        <p:spPr>
          <a:xfrm>
            <a:off x="6812280" y="3246120"/>
            <a:ext cx="1033272" cy="822960"/>
          </a:xfrm>
          <a:prstGeom prst="rect">
            <a:avLst/>
          </a:prstGeom>
          <a:noFill/>
          <a:ln/>
        </p:spPr>
        <p:txBody>
          <a:bodyPr wrap="square" lIns="0" tIns="0" rIns="0" bIns="0" rtlCol="0" anchor="ctr"/>
          <a:lstStyle/>
          <a:p>
            <a:pPr indent="0" marL="0">
              <a:buNone/>
            </a:pPr>
            <a:r>
              <a:rPr lang="en-US" sz="1300" b="1" dirty="0">
                <a:solidFill>
                  <a:srgbClr val="FFFFFF"/>
                </a:solidFill>
              </a:rPr>
              <a:t>Ta’minotchilar kuchi</a:t>
            </a:r>
            <a:endParaRPr lang="en-US" sz="1300" dirty="0"/>
          </a:p>
        </p:txBody>
      </p:sp>
      <p:sp>
        <p:nvSpPr>
          <p:cNvPr id="32" name="Shape 27"/>
          <p:cNvSpPr/>
          <p:nvPr/>
        </p:nvSpPr>
        <p:spPr>
          <a:xfrm>
            <a:off x="10012680" y="3246120"/>
            <a:ext cx="1600200" cy="822960"/>
          </a:xfrm>
          <a:prstGeom prst="roundRect">
            <a:avLst>
              <a:gd name="adj" fmla="val 11111"/>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pic>
        <p:nvPicPr>
          <p:cNvPr id="33" name="Image 3" descr="preencoded.png">    </p:cNvPr>
          <p:cNvPicPr>
            <a:picLocks noChangeAspect="1"/>
          </p:cNvPicPr>
          <p:nvPr/>
        </p:nvPicPr>
        <p:blipFill>
          <a:blip r:embed="rId4"/>
          <a:stretch>
            <a:fillRect/>
          </a:stretch>
        </p:blipFill>
        <p:spPr>
          <a:xfrm>
            <a:off x="10122408" y="3493008"/>
            <a:ext cx="329184" cy="329184"/>
          </a:xfrm>
          <a:prstGeom prst="rect">
            <a:avLst/>
          </a:prstGeom>
        </p:spPr>
      </p:pic>
      <p:sp>
        <p:nvSpPr>
          <p:cNvPr id="34" name="Text 28"/>
          <p:cNvSpPr txBox="1"/>
          <p:nvPr/>
        </p:nvSpPr>
        <p:spPr>
          <a:xfrm>
            <a:off x="10515600" y="3246120"/>
            <a:ext cx="1033272" cy="822960"/>
          </a:xfrm>
          <a:prstGeom prst="rect">
            <a:avLst/>
          </a:prstGeom>
          <a:noFill/>
          <a:ln/>
        </p:spPr>
        <p:txBody>
          <a:bodyPr wrap="square" lIns="0" tIns="0" rIns="0" bIns="0" rtlCol="0" anchor="ctr"/>
          <a:lstStyle/>
          <a:p>
            <a:pPr indent="0" marL="0">
              <a:buNone/>
            </a:pPr>
            <a:r>
              <a:rPr lang="en-US" sz="1300" b="1" dirty="0">
                <a:solidFill>
                  <a:srgbClr val="FFFFFF"/>
                </a:solidFill>
              </a:rPr>
              <a:t>Xaridorlar kuchi</a:t>
            </a:r>
            <a:endParaRPr lang="en-US" sz="1300" dirty="0"/>
          </a:p>
        </p:txBody>
      </p:sp>
      <p:sp>
        <p:nvSpPr>
          <p:cNvPr id="35" name="Shape 29"/>
          <p:cNvSpPr/>
          <p:nvPr/>
        </p:nvSpPr>
        <p:spPr>
          <a:xfrm>
            <a:off x="8961120" y="2560320"/>
            <a:ext cx="0" cy="548640"/>
          </a:xfrm>
          <a:prstGeom prst="line">
            <a:avLst/>
          </a:prstGeom>
          <a:noFill/>
          <a:ln w="31750">
            <a:solidFill>
              <a:srgbClr val="F2A541"/>
            </a:solidFill>
            <a:prstDash val="solid"/>
            <a:tailEnd type="triangle"/>
          </a:ln>
        </p:spPr>
      </p:sp>
      <p:sp>
        <p:nvSpPr>
          <p:cNvPr id="36" name="Shape 30"/>
          <p:cNvSpPr/>
          <p:nvPr/>
        </p:nvSpPr>
        <p:spPr>
          <a:xfrm flipV="1">
            <a:off x="8961120" y="4206240"/>
            <a:ext cx="0" cy="548640"/>
          </a:xfrm>
          <a:prstGeom prst="line">
            <a:avLst/>
          </a:prstGeom>
          <a:noFill/>
          <a:ln w="31750">
            <a:solidFill>
              <a:srgbClr val="F2A541"/>
            </a:solidFill>
            <a:prstDash val="solid"/>
            <a:tailEnd type="triangle"/>
          </a:ln>
        </p:spPr>
      </p:sp>
      <p:sp>
        <p:nvSpPr>
          <p:cNvPr id="37" name="Shape 31"/>
          <p:cNvSpPr/>
          <p:nvPr/>
        </p:nvSpPr>
        <p:spPr>
          <a:xfrm>
            <a:off x="7909560" y="3657600"/>
            <a:ext cx="274320" cy="0"/>
          </a:xfrm>
          <a:prstGeom prst="line">
            <a:avLst/>
          </a:prstGeom>
          <a:noFill/>
          <a:ln w="31750">
            <a:solidFill>
              <a:srgbClr val="F2A541"/>
            </a:solidFill>
            <a:prstDash val="solid"/>
            <a:tailEnd type="triangle"/>
          </a:ln>
        </p:spPr>
      </p:sp>
      <p:sp>
        <p:nvSpPr>
          <p:cNvPr id="38" name="Shape 32"/>
          <p:cNvSpPr/>
          <p:nvPr/>
        </p:nvSpPr>
        <p:spPr>
          <a:xfrm flipH="1">
            <a:off x="9738360" y="3657600"/>
            <a:ext cx="274320" cy="0"/>
          </a:xfrm>
          <a:prstGeom prst="line">
            <a:avLst/>
          </a:prstGeom>
          <a:noFill/>
          <a:ln w="31750">
            <a:solidFill>
              <a:srgbClr val="F2A541"/>
            </a:solidFill>
            <a:prstDash val="solid"/>
            <a:tailEnd type="triangle"/>
          </a:ln>
        </p:spPr>
      </p:sp>
      <p:sp>
        <p:nvSpPr>
          <p:cNvPr id="39" name="Text 33"/>
          <p:cNvSpPr txBox="1"/>
          <p:nvPr/>
        </p:nvSpPr>
        <p:spPr>
          <a:xfrm>
            <a:off x="6309360" y="5669280"/>
            <a:ext cx="5303520" cy="502920"/>
          </a:xfrm>
          <a:prstGeom prst="rect">
            <a:avLst/>
          </a:prstGeom>
          <a:noFill/>
          <a:ln/>
        </p:spPr>
        <p:txBody>
          <a:bodyPr wrap="square" lIns="0" tIns="0" rIns="0" bIns="0" rtlCol="0" anchor="ctr"/>
          <a:lstStyle/>
          <a:p>
            <a:pPr indent="0" marL="0">
              <a:buNone/>
            </a:pPr>
            <a:r>
              <a:rPr lang="en-US" sz="1300" i="1" dirty="0">
                <a:solidFill>
                  <a:srgbClr val="4A5B6C"/>
                </a:solidFill>
              </a:rPr>
              <a:t>Besh kuch qanchalik kuchli bo‘lsa, soha shunchalik raqobatli va kam foydali bo‘ladi.</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Strategik muqobillarni tanlash va amalga oshirish</a:t>
            </a:r>
            <a:endParaRPr lang="en-US" sz="3000" dirty="0"/>
          </a:p>
        </p:txBody>
      </p:sp>
      <p:sp>
        <p:nvSpPr>
          <p:cNvPr id="3" name="Text 1"/>
          <p:cNvSpPr txBox="1"/>
          <p:nvPr/>
        </p:nvSpPr>
        <p:spPr>
          <a:xfrm>
            <a:off x="548640" y="1325880"/>
            <a:ext cx="5486400" cy="365760"/>
          </a:xfrm>
          <a:prstGeom prst="rect">
            <a:avLst/>
          </a:prstGeom>
          <a:noFill/>
          <a:ln/>
        </p:spPr>
        <p:txBody>
          <a:bodyPr wrap="square" lIns="0" tIns="0" rIns="0" bIns="0" rtlCol="0" anchor="ctr"/>
          <a:lstStyle/>
          <a:p>
            <a:pPr indent="0" marL="0">
              <a:buNone/>
            </a:pPr>
            <a:r>
              <a:rPr lang="en-US" sz="1500" b="1" dirty="0">
                <a:solidFill>
                  <a:srgbClr val="0D2F4F"/>
                </a:solidFill>
              </a:rPr>
              <a:t>BCG matritsasi (B. Xenderson, 1970) – mahsulotlar portfeli tahlili</a:t>
            </a:r>
            <a:endParaRPr lang="en-US" sz="1500" dirty="0"/>
          </a:p>
        </p:txBody>
      </p:sp>
      <p:sp>
        <p:nvSpPr>
          <p:cNvPr id="4" name="Shape 2"/>
          <p:cNvSpPr/>
          <p:nvPr/>
        </p:nvSpPr>
        <p:spPr>
          <a:xfrm>
            <a:off x="1188720" y="1828800"/>
            <a:ext cx="2377440" cy="1783080"/>
          </a:xfrm>
          <a:prstGeom prst="roundRect">
            <a:avLst>
              <a:gd name="adj" fmla="val 5128"/>
            </a:avLst>
          </a:prstGeom>
          <a:solidFill>
            <a:srgbClr val="3B6EA5"/>
          </a:solidFill>
          <a:ln w="12700">
            <a:solidFill>
              <a:srgbClr val="3B6EA5"/>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1325880" y="192024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Savol belgisi</a:t>
            </a:r>
            <a:endParaRPr lang="en-US" sz="1500" dirty="0"/>
          </a:p>
          <a:p>
            <a:pPr indent="0" marL="0">
              <a:spcAft>
                <a:spcPts val="400"/>
              </a:spcAft>
              <a:buNone/>
            </a:pPr>
            <a:r>
              <a:rPr lang="en-US" sz="1300" dirty="0">
                <a:solidFill>
                  <a:srgbClr val="FFFFFF"/>
                </a:solidFill>
              </a:rPr>
              <a:t>Bozor tez o‘sadi, ulush kichik: investitsiya yoki voz kechish</a:t>
            </a:r>
            <a:endParaRPr lang="en-US" sz="1500" dirty="0"/>
          </a:p>
        </p:txBody>
      </p:sp>
      <p:sp>
        <p:nvSpPr>
          <p:cNvPr id="6" name="Shape 4"/>
          <p:cNvSpPr/>
          <p:nvPr/>
        </p:nvSpPr>
        <p:spPr>
          <a:xfrm>
            <a:off x="3657600" y="1828800"/>
            <a:ext cx="2377440" cy="1783080"/>
          </a:xfrm>
          <a:prstGeom prst="roundRect">
            <a:avLst>
              <a:gd name="adj" fmla="val 5128"/>
            </a:avLst>
          </a:prstGeom>
          <a:solidFill>
            <a:srgbClr val="0E9F9A"/>
          </a:solidFill>
          <a:ln w="12700">
            <a:solidFill>
              <a:srgbClr val="0E9F9A"/>
            </a:solidFill>
            <a:prstDash val="solid"/>
          </a:ln>
          <a:effectLst>
            <a:outerShdw sx="100000" sy="100000" kx="0" ky="0" algn="bl" rotWithShape="0" blurRad="101600" dist="38100" dir="5400000">
              <a:srgbClr val="0D2F4F">
                <a:alpha val="18000"/>
              </a:srgbClr>
            </a:outerShdw>
          </a:effectLst>
        </p:spPr>
      </p:sp>
      <p:sp>
        <p:nvSpPr>
          <p:cNvPr id="7" name="Text 5"/>
          <p:cNvSpPr txBox="1"/>
          <p:nvPr/>
        </p:nvSpPr>
        <p:spPr>
          <a:xfrm>
            <a:off x="3794760" y="192024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Yulduzlar</a:t>
            </a:r>
            <a:endParaRPr lang="en-US" sz="1500" dirty="0"/>
          </a:p>
          <a:p>
            <a:pPr indent="0" marL="0">
              <a:spcAft>
                <a:spcPts val="400"/>
              </a:spcAft>
              <a:buNone/>
            </a:pPr>
            <a:r>
              <a:rPr lang="en-US" sz="1300" dirty="0">
                <a:solidFill>
                  <a:srgbClr val="FFFFFF"/>
                </a:solidFill>
              </a:rPr>
              <a:t>O‘sish yuqori, ulush katta: rivojlantirish va qo‘llab-quvvatlash</a:t>
            </a:r>
            <a:endParaRPr lang="en-US" sz="1500" dirty="0"/>
          </a:p>
        </p:txBody>
      </p:sp>
      <p:sp>
        <p:nvSpPr>
          <p:cNvPr id="8" name="Shape 6"/>
          <p:cNvSpPr/>
          <p:nvPr/>
        </p:nvSpPr>
        <p:spPr>
          <a:xfrm>
            <a:off x="1188720" y="3703320"/>
            <a:ext cx="2377440" cy="1783080"/>
          </a:xfrm>
          <a:prstGeom prst="roundRect">
            <a:avLst>
              <a:gd name="adj" fmla="val 5128"/>
            </a:avLst>
          </a:prstGeom>
          <a:solidFill>
            <a:srgbClr val="7A8794"/>
          </a:solidFill>
          <a:ln w="12700">
            <a:solidFill>
              <a:srgbClr val="7A8794"/>
            </a:solidFill>
            <a:prstDash val="solid"/>
          </a:ln>
          <a:effectLst>
            <a:outerShdw sx="100000" sy="100000" kx="0" ky="0" algn="bl" rotWithShape="0" blurRad="101600" dist="38100" dir="5400000">
              <a:srgbClr val="0D2F4F">
                <a:alpha val="18000"/>
              </a:srgbClr>
            </a:outerShdw>
          </a:effectLst>
        </p:spPr>
      </p:sp>
      <p:sp>
        <p:nvSpPr>
          <p:cNvPr id="9" name="Text 7"/>
          <p:cNvSpPr txBox="1"/>
          <p:nvPr/>
        </p:nvSpPr>
        <p:spPr>
          <a:xfrm>
            <a:off x="1325880" y="379476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Itlar</a:t>
            </a:r>
            <a:endParaRPr lang="en-US" sz="1500" dirty="0"/>
          </a:p>
          <a:p>
            <a:pPr indent="0" marL="0">
              <a:spcAft>
                <a:spcPts val="400"/>
              </a:spcAft>
              <a:buNone/>
            </a:pPr>
            <a:r>
              <a:rPr lang="en-US" sz="1300" dirty="0">
                <a:solidFill>
                  <a:srgbClr val="FFFFFF"/>
                </a:solidFill>
              </a:rPr>
              <a:t>O‘sish past, ulush kichik: qisqartirish yoki sotish</a:t>
            </a:r>
            <a:endParaRPr lang="en-US" sz="1500" dirty="0"/>
          </a:p>
        </p:txBody>
      </p:sp>
      <p:sp>
        <p:nvSpPr>
          <p:cNvPr id="10" name="Shape 8"/>
          <p:cNvSpPr/>
          <p:nvPr/>
        </p:nvSpPr>
        <p:spPr>
          <a:xfrm>
            <a:off x="3657600" y="3703320"/>
            <a:ext cx="2377440" cy="1783080"/>
          </a:xfrm>
          <a:prstGeom prst="roundRect">
            <a:avLst>
              <a:gd name="adj" fmla="val 5128"/>
            </a:avLst>
          </a:prstGeom>
          <a:solidFill>
            <a:srgbClr val="0D2F4F"/>
          </a:solidFill>
          <a:ln w="12700">
            <a:solidFill>
              <a:srgbClr val="0D2F4F"/>
            </a:solidFill>
            <a:prstDash val="solid"/>
          </a:ln>
          <a:effectLst>
            <a:outerShdw sx="100000" sy="100000" kx="0" ky="0" algn="bl" rotWithShape="0" blurRad="101600" dist="38100" dir="5400000">
              <a:srgbClr val="0D2F4F">
                <a:alpha val="18000"/>
              </a:srgbClr>
            </a:outerShdw>
          </a:effectLst>
        </p:spPr>
      </p:sp>
      <p:sp>
        <p:nvSpPr>
          <p:cNvPr id="11" name="Text 9"/>
          <p:cNvSpPr txBox="1"/>
          <p:nvPr/>
        </p:nvSpPr>
        <p:spPr>
          <a:xfrm>
            <a:off x="3794760" y="3794760"/>
            <a:ext cx="2103120" cy="160020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rPr>
              <a:t>Sog‘in sigirlar</a:t>
            </a:r>
            <a:endParaRPr lang="en-US" sz="1500" dirty="0"/>
          </a:p>
          <a:p>
            <a:pPr indent="0" marL="0">
              <a:spcAft>
                <a:spcPts val="400"/>
              </a:spcAft>
              <a:buNone/>
            </a:pPr>
            <a:r>
              <a:rPr lang="en-US" sz="1300" dirty="0">
                <a:solidFill>
                  <a:srgbClr val="FFFFFF"/>
                </a:solidFill>
              </a:rPr>
              <a:t>O‘sish past, ulush katta: barqaror daromad manbai</a:t>
            </a:r>
            <a:endParaRPr lang="en-US" sz="1500" dirty="0"/>
          </a:p>
        </p:txBody>
      </p:sp>
      <p:sp>
        <p:nvSpPr>
          <p:cNvPr id="12" name="Text 10"/>
          <p:cNvSpPr txBox="1"/>
          <p:nvPr/>
        </p:nvSpPr>
        <p:spPr>
          <a:xfrm>
            <a:off x="1188720" y="5577840"/>
            <a:ext cx="2377440" cy="274320"/>
          </a:xfrm>
          <a:prstGeom prst="rect">
            <a:avLst/>
          </a:prstGeom>
          <a:noFill/>
          <a:ln/>
        </p:spPr>
        <p:txBody>
          <a:bodyPr wrap="square" lIns="0" tIns="0" rIns="0" bIns="0" rtlCol="0" anchor="ctr"/>
          <a:lstStyle/>
          <a:p>
            <a:pPr algn="ctr" indent="0" marL="0">
              <a:buNone/>
            </a:pPr>
            <a:r>
              <a:rPr lang="en-US" sz="1200" dirty="0">
                <a:solidFill>
                  <a:srgbClr val="4A5B6C"/>
                </a:solidFill>
              </a:rPr>
              <a:t>Kichik</a:t>
            </a:r>
            <a:endParaRPr lang="en-US" sz="1200" dirty="0"/>
          </a:p>
        </p:txBody>
      </p:sp>
      <p:sp>
        <p:nvSpPr>
          <p:cNvPr id="13" name="Text 11"/>
          <p:cNvSpPr txBox="1"/>
          <p:nvPr/>
        </p:nvSpPr>
        <p:spPr>
          <a:xfrm>
            <a:off x="3657600" y="5577840"/>
            <a:ext cx="2377440" cy="274320"/>
          </a:xfrm>
          <a:prstGeom prst="rect">
            <a:avLst/>
          </a:prstGeom>
          <a:noFill/>
          <a:ln/>
        </p:spPr>
        <p:txBody>
          <a:bodyPr wrap="square" lIns="0" tIns="0" rIns="0" bIns="0" rtlCol="0" anchor="ctr"/>
          <a:lstStyle/>
          <a:p>
            <a:pPr algn="ctr" indent="0" marL="0">
              <a:buNone/>
            </a:pPr>
            <a:r>
              <a:rPr lang="en-US" sz="1200" dirty="0">
                <a:solidFill>
                  <a:srgbClr val="4A5B6C"/>
                </a:solidFill>
              </a:rPr>
              <a:t>Katta</a:t>
            </a:r>
            <a:endParaRPr lang="en-US" sz="1200" dirty="0"/>
          </a:p>
        </p:txBody>
      </p:sp>
      <p:sp>
        <p:nvSpPr>
          <p:cNvPr id="14" name="Text 12"/>
          <p:cNvSpPr txBox="1"/>
          <p:nvPr/>
        </p:nvSpPr>
        <p:spPr>
          <a:xfrm>
            <a:off x="1188720" y="5833872"/>
            <a:ext cx="4846320" cy="274320"/>
          </a:xfrm>
          <a:prstGeom prst="rect">
            <a:avLst/>
          </a:prstGeom>
          <a:noFill/>
          <a:ln/>
        </p:spPr>
        <p:txBody>
          <a:bodyPr wrap="square" lIns="0" tIns="0" rIns="0" bIns="0" rtlCol="0" anchor="ctr"/>
          <a:lstStyle/>
          <a:p>
            <a:pPr algn="ctr" indent="0" marL="0">
              <a:buNone/>
            </a:pPr>
            <a:r>
              <a:rPr lang="en-US" sz="1200" b="1" spc="300" kern="0" dirty="0">
                <a:solidFill>
                  <a:srgbClr val="0D2F4F"/>
                </a:solidFill>
              </a:rPr>
              <a:t>NISBIY BOZOR ULUSHI</a:t>
            </a:r>
            <a:endParaRPr lang="en-US" sz="1200" dirty="0"/>
          </a:p>
        </p:txBody>
      </p:sp>
      <p:sp>
        <p:nvSpPr>
          <p:cNvPr id="15" name="Text 13"/>
          <p:cNvSpPr txBox="1"/>
          <p:nvPr/>
        </p:nvSpPr>
        <p:spPr>
          <a:xfrm rot="16200000">
            <a:off x="-91440" y="3474720"/>
            <a:ext cx="1737360" cy="274320"/>
          </a:xfrm>
          <a:prstGeom prst="rect">
            <a:avLst/>
          </a:prstGeom>
          <a:noFill/>
          <a:ln/>
        </p:spPr>
        <p:txBody>
          <a:bodyPr wrap="square" lIns="0" tIns="0" rIns="0" bIns="0" rtlCol="0" anchor="ctr"/>
          <a:lstStyle/>
          <a:p>
            <a:pPr algn="ctr" indent="0" marL="0">
              <a:buNone/>
            </a:pPr>
            <a:r>
              <a:rPr lang="en-US" sz="1200" b="1" spc="200" kern="0" dirty="0">
                <a:solidFill>
                  <a:srgbClr val="0D2F4F"/>
                </a:solidFill>
              </a:rPr>
              <a:t>BOZOR O‘SISHI</a:t>
            </a:r>
            <a:endParaRPr lang="en-US" sz="1200" dirty="0"/>
          </a:p>
        </p:txBody>
      </p:sp>
      <p:sp>
        <p:nvSpPr>
          <p:cNvPr id="16" name="Text 14"/>
          <p:cNvSpPr txBox="1"/>
          <p:nvPr/>
        </p:nvSpPr>
        <p:spPr>
          <a:xfrm>
            <a:off x="502920" y="2560320"/>
            <a:ext cx="640080" cy="274320"/>
          </a:xfrm>
          <a:prstGeom prst="rect">
            <a:avLst/>
          </a:prstGeom>
          <a:noFill/>
          <a:ln/>
        </p:spPr>
        <p:txBody>
          <a:bodyPr wrap="square" lIns="0" tIns="0" rIns="0" bIns="0" rtlCol="0" anchor="ctr"/>
          <a:lstStyle/>
          <a:p>
            <a:pPr algn="ctr" indent="0" marL="0">
              <a:buNone/>
            </a:pPr>
            <a:r>
              <a:rPr lang="en-US" sz="1100" dirty="0">
                <a:solidFill>
                  <a:srgbClr val="4A5B6C"/>
                </a:solidFill>
              </a:rPr>
              <a:t>Yuqori</a:t>
            </a:r>
            <a:endParaRPr lang="en-US" sz="1100" dirty="0"/>
          </a:p>
        </p:txBody>
      </p:sp>
      <p:sp>
        <p:nvSpPr>
          <p:cNvPr id="17" name="Text 15"/>
          <p:cNvSpPr txBox="1"/>
          <p:nvPr/>
        </p:nvSpPr>
        <p:spPr>
          <a:xfrm>
            <a:off x="502920" y="4434840"/>
            <a:ext cx="640080" cy="274320"/>
          </a:xfrm>
          <a:prstGeom prst="rect">
            <a:avLst/>
          </a:prstGeom>
          <a:noFill/>
          <a:ln/>
        </p:spPr>
        <p:txBody>
          <a:bodyPr wrap="square" lIns="0" tIns="0" rIns="0" bIns="0" rtlCol="0" anchor="ctr"/>
          <a:lstStyle/>
          <a:p>
            <a:pPr algn="ctr" indent="0" marL="0">
              <a:buNone/>
            </a:pPr>
            <a:r>
              <a:rPr lang="en-US" sz="1100" dirty="0">
                <a:solidFill>
                  <a:srgbClr val="4A5B6C"/>
                </a:solidFill>
              </a:rPr>
              <a:t>Past</a:t>
            </a:r>
            <a:endParaRPr lang="en-US" sz="1100" dirty="0"/>
          </a:p>
        </p:txBody>
      </p:sp>
      <p:sp>
        <p:nvSpPr>
          <p:cNvPr id="18" name="Text 16"/>
          <p:cNvSpPr txBox="1"/>
          <p:nvPr/>
        </p:nvSpPr>
        <p:spPr>
          <a:xfrm>
            <a:off x="6675120" y="1325880"/>
            <a:ext cx="4937760" cy="365760"/>
          </a:xfrm>
          <a:prstGeom prst="rect">
            <a:avLst/>
          </a:prstGeom>
          <a:noFill/>
          <a:ln/>
        </p:spPr>
        <p:txBody>
          <a:bodyPr wrap="square" lIns="0" tIns="0" rIns="0" bIns="0" rtlCol="0" anchor="ctr"/>
          <a:lstStyle/>
          <a:p>
            <a:pPr indent="0" marL="0">
              <a:buNone/>
            </a:pPr>
            <a:r>
              <a:rPr lang="en-US" sz="1600" b="1" dirty="0">
                <a:solidFill>
                  <a:srgbClr val="0D2F4F"/>
                </a:solidFill>
              </a:rPr>
              <a:t>Strategiyani tanlash mezonlari:</a:t>
            </a:r>
            <a:endParaRPr lang="en-US" sz="1600" dirty="0"/>
          </a:p>
        </p:txBody>
      </p:sp>
      <p:sp>
        <p:nvSpPr>
          <p:cNvPr id="19" name="Text 17"/>
          <p:cNvSpPr txBox="1"/>
          <p:nvPr/>
        </p:nvSpPr>
        <p:spPr>
          <a:xfrm>
            <a:off x="6675120" y="1737360"/>
            <a:ext cx="4937760" cy="1463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B2A3A"/>
                </a:solidFill>
                <a:latin typeface="Calibri" pitchFamily="34" charset="0"/>
                <a:ea typeface="Calibri" pitchFamily="34" charset="-122"/>
                <a:cs typeface="Calibri" pitchFamily="34" charset="-120"/>
              </a:rPr>
              <a:t>missiya va strategik maqsadlarga muvofiqligi</a:t>
            </a:r>
            <a:endParaRPr lang="en-US" sz="1400" dirty="0"/>
          </a:p>
          <a:p>
            <a:pPr marL="177800" indent="-177800">
              <a:spcAft>
                <a:spcPts val="500"/>
              </a:spcAft>
              <a:buSzPct val="100000"/>
              <a:buChar char="•"/>
            </a:pPr>
            <a:r>
              <a:rPr lang="en-US" sz="1400" dirty="0">
                <a:solidFill>
                  <a:srgbClr val="1B2A3A"/>
                </a:solidFill>
                <a:latin typeface="Calibri" pitchFamily="34" charset="0"/>
                <a:ea typeface="Calibri" pitchFamily="34" charset="-122"/>
                <a:cs typeface="Calibri" pitchFamily="34" charset="-120"/>
              </a:rPr>
              <a:t>tashqi muhit imkoniyatlari va tahdidlariga mosligi</a:t>
            </a:r>
            <a:endParaRPr lang="en-US" sz="1400" dirty="0"/>
          </a:p>
          <a:p>
            <a:pPr marL="177800" indent="-177800">
              <a:spcAft>
                <a:spcPts val="500"/>
              </a:spcAft>
              <a:buSzPct val="100000"/>
              <a:buChar char="•"/>
            </a:pPr>
            <a:r>
              <a:rPr lang="en-US" sz="1400" dirty="0">
                <a:solidFill>
                  <a:srgbClr val="1B2A3A"/>
                </a:solidFill>
                <a:latin typeface="Calibri" pitchFamily="34" charset="0"/>
                <a:ea typeface="Calibri" pitchFamily="34" charset="-122"/>
                <a:cs typeface="Calibri" pitchFamily="34" charset="-120"/>
              </a:rPr>
              <a:t>korxona resurslari bilan ta’minlanganligi</a:t>
            </a:r>
            <a:endParaRPr lang="en-US" sz="1400" dirty="0"/>
          </a:p>
          <a:p>
            <a:pPr marL="177800" indent="-177800">
              <a:spcAft>
                <a:spcPts val="500"/>
              </a:spcAft>
              <a:buSzPct val="100000"/>
              <a:buChar char="•"/>
            </a:pPr>
            <a:r>
              <a:rPr lang="en-US" sz="1400" dirty="0">
                <a:solidFill>
                  <a:srgbClr val="1B2A3A"/>
                </a:solidFill>
                <a:latin typeface="Calibri" pitchFamily="34" charset="0"/>
                <a:ea typeface="Calibri" pitchFamily="34" charset="-122"/>
                <a:cs typeface="Calibri" pitchFamily="34" charset="-120"/>
              </a:rPr>
              <a:t>xavf darajasi va kutilayotgan iqtisodiy samara</a:t>
            </a:r>
            <a:endParaRPr lang="en-US" sz="1400" dirty="0"/>
          </a:p>
        </p:txBody>
      </p:sp>
      <p:sp>
        <p:nvSpPr>
          <p:cNvPr id="20" name="Text 18"/>
          <p:cNvSpPr txBox="1"/>
          <p:nvPr/>
        </p:nvSpPr>
        <p:spPr>
          <a:xfrm>
            <a:off x="6675120" y="3291840"/>
            <a:ext cx="4937760" cy="365760"/>
          </a:xfrm>
          <a:prstGeom prst="rect">
            <a:avLst/>
          </a:prstGeom>
          <a:noFill/>
          <a:ln/>
        </p:spPr>
        <p:txBody>
          <a:bodyPr wrap="square" lIns="0" tIns="0" rIns="0" bIns="0" rtlCol="0" anchor="ctr"/>
          <a:lstStyle/>
          <a:p>
            <a:pPr indent="0" marL="0">
              <a:buNone/>
            </a:pPr>
            <a:r>
              <a:rPr lang="en-US" sz="1600" b="1" dirty="0">
                <a:solidFill>
                  <a:srgbClr val="0D2F4F"/>
                </a:solidFill>
              </a:rPr>
              <a:t>Amalga oshirish vositalari:</a:t>
            </a:r>
            <a:endParaRPr lang="en-US" sz="1600" dirty="0"/>
          </a:p>
        </p:txBody>
      </p:sp>
      <p:sp>
        <p:nvSpPr>
          <p:cNvPr id="21" name="Shape 19"/>
          <p:cNvSpPr/>
          <p:nvPr/>
        </p:nvSpPr>
        <p:spPr>
          <a:xfrm>
            <a:off x="6675120" y="3749040"/>
            <a:ext cx="2377440" cy="676656"/>
          </a:xfrm>
          <a:prstGeom prst="roundRect">
            <a:avLst>
              <a:gd name="adj" fmla="val 16216"/>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2" name="Shape 20"/>
          <p:cNvSpPr/>
          <p:nvPr/>
        </p:nvSpPr>
        <p:spPr>
          <a:xfrm>
            <a:off x="6784848" y="3858768"/>
            <a:ext cx="457200" cy="457200"/>
          </a:xfrm>
          <a:prstGeom prst="ellipse">
            <a:avLst/>
          </a:prstGeom>
          <a:solidFill>
            <a:srgbClr val="0E9F9A"/>
          </a:solidFill>
          <a:ln w="12700">
            <a:solidFill>
              <a:srgbClr val="0E9F9A"/>
            </a:solidFill>
            <a:prstDash val="solid"/>
          </a:ln>
        </p:spPr>
      </p:sp>
      <p:pic>
        <p:nvPicPr>
          <p:cNvPr id="23" name="Image 0" descr="preencoded.png">    </p:cNvPr>
          <p:cNvPicPr>
            <a:picLocks noChangeAspect="1"/>
          </p:cNvPicPr>
          <p:nvPr/>
        </p:nvPicPr>
        <p:blipFill>
          <a:blip r:embed="rId1"/>
          <a:stretch>
            <a:fillRect/>
          </a:stretch>
        </p:blipFill>
        <p:spPr>
          <a:xfrm>
            <a:off x="6903720" y="3977640"/>
            <a:ext cx="219456" cy="219456"/>
          </a:xfrm>
          <a:prstGeom prst="rect">
            <a:avLst/>
          </a:prstGeom>
        </p:spPr>
      </p:pic>
      <p:sp>
        <p:nvSpPr>
          <p:cNvPr id="24" name="Text 21"/>
          <p:cNvSpPr txBox="1"/>
          <p:nvPr/>
        </p:nvSpPr>
        <p:spPr>
          <a:xfrm>
            <a:off x="7333488" y="3749040"/>
            <a:ext cx="1664208" cy="676656"/>
          </a:xfrm>
          <a:prstGeom prst="rect">
            <a:avLst/>
          </a:prstGeom>
          <a:noFill/>
          <a:ln/>
        </p:spPr>
        <p:txBody>
          <a:bodyPr wrap="square" lIns="0" tIns="0" rIns="0" bIns="0" rtlCol="0" anchor="ctr"/>
          <a:lstStyle/>
          <a:p>
            <a:pPr indent="0" marL="0">
              <a:buNone/>
            </a:pPr>
            <a:r>
              <a:rPr lang="en-US" sz="1300" b="1" dirty="0">
                <a:solidFill>
                  <a:srgbClr val="0D2F4F"/>
                </a:solidFill>
              </a:rPr>
              <a:t>Dasturlar va loyihalar</a:t>
            </a:r>
            <a:endParaRPr lang="en-US" sz="1300" dirty="0"/>
          </a:p>
        </p:txBody>
      </p:sp>
      <p:sp>
        <p:nvSpPr>
          <p:cNvPr id="25" name="Shape 22"/>
          <p:cNvSpPr/>
          <p:nvPr/>
        </p:nvSpPr>
        <p:spPr>
          <a:xfrm>
            <a:off x="9189720" y="3749040"/>
            <a:ext cx="2377440" cy="676656"/>
          </a:xfrm>
          <a:prstGeom prst="roundRect">
            <a:avLst>
              <a:gd name="adj" fmla="val 16216"/>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6" name="Shape 23"/>
          <p:cNvSpPr/>
          <p:nvPr/>
        </p:nvSpPr>
        <p:spPr>
          <a:xfrm>
            <a:off x="9299448" y="3858768"/>
            <a:ext cx="457200" cy="457200"/>
          </a:xfrm>
          <a:prstGeom prst="ellipse">
            <a:avLst/>
          </a:prstGeom>
          <a:solidFill>
            <a:srgbClr val="0D2F4F"/>
          </a:solidFill>
          <a:ln w="12700">
            <a:solidFill>
              <a:srgbClr val="0D2F4F"/>
            </a:solidFill>
            <a:prstDash val="solid"/>
          </a:ln>
        </p:spPr>
      </p:sp>
      <p:pic>
        <p:nvPicPr>
          <p:cNvPr id="27" name="Image 1" descr="preencoded.png">    </p:cNvPr>
          <p:cNvPicPr>
            <a:picLocks noChangeAspect="1"/>
          </p:cNvPicPr>
          <p:nvPr/>
        </p:nvPicPr>
        <p:blipFill>
          <a:blip r:embed="rId2"/>
          <a:stretch>
            <a:fillRect/>
          </a:stretch>
        </p:blipFill>
        <p:spPr>
          <a:xfrm>
            <a:off x="9418320" y="3977640"/>
            <a:ext cx="219456" cy="219456"/>
          </a:xfrm>
          <a:prstGeom prst="rect">
            <a:avLst/>
          </a:prstGeom>
        </p:spPr>
      </p:pic>
      <p:sp>
        <p:nvSpPr>
          <p:cNvPr id="28" name="Text 24"/>
          <p:cNvSpPr txBox="1"/>
          <p:nvPr/>
        </p:nvSpPr>
        <p:spPr>
          <a:xfrm>
            <a:off x="9848088" y="3749040"/>
            <a:ext cx="1664208" cy="676656"/>
          </a:xfrm>
          <a:prstGeom prst="rect">
            <a:avLst/>
          </a:prstGeom>
          <a:noFill/>
          <a:ln/>
        </p:spPr>
        <p:txBody>
          <a:bodyPr wrap="square" lIns="0" tIns="0" rIns="0" bIns="0" rtlCol="0" anchor="ctr"/>
          <a:lstStyle/>
          <a:p>
            <a:pPr indent="0" marL="0">
              <a:buNone/>
            </a:pPr>
            <a:r>
              <a:rPr lang="en-US" sz="1300" b="1" dirty="0">
                <a:solidFill>
                  <a:srgbClr val="0D2F4F"/>
                </a:solidFill>
              </a:rPr>
              <a:t>Byudjet va resurslar</a:t>
            </a:r>
            <a:endParaRPr lang="en-US" sz="1300" dirty="0"/>
          </a:p>
        </p:txBody>
      </p:sp>
      <p:sp>
        <p:nvSpPr>
          <p:cNvPr id="29" name="Shape 25"/>
          <p:cNvSpPr/>
          <p:nvPr/>
        </p:nvSpPr>
        <p:spPr>
          <a:xfrm>
            <a:off x="6675120" y="4553712"/>
            <a:ext cx="2377440" cy="676656"/>
          </a:xfrm>
          <a:prstGeom prst="roundRect">
            <a:avLst>
              <a:gd name="adj" fmla="val 16216"/>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0" name="Shape 26"/>
          <p:cNvSpPr/>
          <p:nvPr/>
        </p:nvSpPr>
        <p:spPr>
          <a:xfrm>
            <a:off x="6784848" y="4663440"/>
            <a:ext cx="457200" cy="457200"/>
          </a:xfrm>
          <a:prstGeom prst="ellipse">
            <a:avLst/>
          </a:prstGeom>
          <a:solidFill>
            <a:srgbClr val="0E9F9A"/>
          </a:solidFill>
          <a:ln w="12700">
            <a:solidFill>
              <a:srgbClr val="0E9F9A"/>
            </a:solidFill>
            <a:prstDash val="solid"/>
          </a:ln>
        </p:spPr>
      </p:sp>
      <p:pic>
        <p:nvPicPr>
          <p:cNvPr id="31" name="Image 2" descr="preencoded.png">    </p:cNvPr>
          <p:cNvPicPr>
            <a:picLocks noChangeAspect="1"/>
          </p:cNvPicPr>
          <p:nvPr/>
        </p:nvPicPr>
        <p:blipFill>
          <a:blip r:embed="rId3"/>
          <a:stretch>
            <a:fillRect/>
          </a:stretch>
        </p:blipFill>
        <p:spPr>
          <a:xfrm>
            <a:off x="6903720" y="4782312"/>
            <a:ext cx="219456" cy="219456"/>
          </a:xfrm>
          <a:prstGeom prst="rect">
            <a:avLst/>
          </a:prstGeom>
        </p:spPr>
      </p:pic>
      <p:sp>
        <p:nvSpPr>
          <p:cNvPr id="32" name="Text 27"/>
          <p:cNvSpPr txBox="1"/>
          <p:nvPr/>
        </p:nvSpPr>
        <p:spPr>
          <a:xfrm>
            <a:off x="7333488" y="4553712"/>
            <a:ext cx="1664208" cy="676656"/>
          </a:xfrm>
          <a:prstGeom prst="rect">
            <a:avLst/>
          </a:prstGeom>
          <a:noFill/>
          <a:ln/>
        </p:spPr>
        <p:txBody>
          <a:bodyPr wrap="square" lIns="0" tIns="0" rIns="0" bIns="0" rtlCol="0" anchor="ctr"/>
          <a:lstStyle/>
          <a:p>
            <a:pPr indent="0" marL="0">
              <a:buNone/>
            </a:pPr>
            <a:r>
              <a:rPr lang="en-US" sz="1300" b="1" dirty="0">
                <a:solidFill>
                  <a:srgbClr val="0D2F4F"/>
                </a:solidFill>
              </a:rPr>
              <a:t>Tashkiliy tuzilma</a:t>
            </a:r>
            <a:endParaRPr lang="en-US" sz="1300" dirty="0"/>
          </a:p>
        </p:txBody>
      </p:sp>
      <p:sp>
        <p:nvSpPr>
          <p:cNvPr id="33" name="Shape 28"/>
          <p:cNvSpPr/>
          <p:nvPr/>
        </p:nvSpPr>
        <p:spPr>
          <a:xfrm>
            <a:off x="9189720" y="4553712"/>
            <a:ext cx="2377440" cy="676656"/>
          </a:xfrm>
          <a:prstGeom prst="roundRect">
            <a:avLst>
              <a:gd name="adj" fmla="val 16216"/>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9"/>
          <p:cNvSpPr/>
          <p:nvPr/>
        </p:nvSpPr>
        <p:spPr>
          <a:xfrm>
            <a:off x="9299448" y="4663440"/>
            <a:ext cx="457200" cy="457200"/>
          </a:xfrm>
          <a:prstGeom prst="ellipse">
            <a:avLst/>
          </a:prstGeom>
          <a:solidFill>
            <a:srgbClr val="0D2F4F"/>
          </a:solidFill>
          <a:ln w="12700">
            <a:solidFill>
              <a:srgbClr val="0D2F4F"/>
            </a:solidFill>
            <a:prstDash val="solid"/>
          </a:ln>
        </p:spPr>
      </p:sp>
      <p:pic>
        <p:nvPicPr>
          <p:cNvPr id="35" name="Image 3" descr="preencoded.png">    </p:cNvPr>
          <p:cNvPicPr>
            <a:picLocks noChangeAspect="1"/>
          </p:cNvPicPr>
          <p:nvPr/>
        </p:nvPicPr>
        <p:blipFill>
          <a:blip r:embed="rId4"/>
          <a:stretch>
            <a:fillRect/>
          </a:stretch>
        </p:blipFill>
        <p:spPr>
          <a:xfrm>
            <a:off x="9418320" y="4782312"/>
            <a:ext cx="219456" cy="219456"/>
          </a:xfrm>
          <a:prstGeom prst="rect">
            <a:avLst/>
          </a:prstGeom>
        </p:spPr>
      </p:pic>
      <p:sp>
        <p:nvSpPr>
          <p:cNvPr id="36" name="Text 30"/>
          <p:cNvSpPr txBox="1"/>
          <p:nvPr/>
        </p:nvSpPr>
        <p:spPr>
          <a:xfrm>
            <a:off x="9848088" y="4553712"/>
            <a:ext cx="1664208" cy="676656"/>
          </a:xfrm>
          <a:prstGeom prst="rect">
            <a:avLst/>
          </a:prstGeom>
          <a:noFill/>
          <a:ln/>
        </p:spPr>
        <p:txBody>
          <a:bodyPr wrap="square" lIns="0" tIns="0" rIns="0" bIns="0" rtlCol="0" anchor="ctr"/>
          <a:lstStyle/>
          <a:p>
            <a:pPr indent="0" marL="0">
              <a:buNone/>
            </a:pPr>
            <a:r>
              <a:rPr lang="en-US" sz="1300" b="1" dirty="0">
                <a:solidFill>
                  <a:srgbClr val="0D2F4F"/>
                </a:solidFill>
              </a:rPr>
              <a:t>Rahbarlik va motivatsiya</a:t>
            </a:r>
            <a:endParaRPr lang="en-US" sz="1300" dirty="0"/>
          </a:p>
        </p:txBody>
      </p:sp>
      <p:sp>
        <p:nvSpPr>
          <p:cNvPr id="37" name="Shape 31"/>
          <p:cNvSpPr/>
          <p:nvPr/>
        </p:nvSpPr>
        <p:spPr>
          <a:xfrm>
            <a:off x="6675120" y="5358384"/>
            <a:ext cx="2377440" cy="676656"/>
          </a:xfrm>
          <a:prstGeom prst="roundRect">
            <a:avLst>
              <a:gd name="adj" fmla="val 16216"/>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8" name="Shape 32"/>
          <p:cNvSpPr/>
          <p:nvPr/>
        </p:nvSpPr>
        <p:spPr>
          <a:xfrm>
            <a:off x="6784848" y="5468112"/>
            <a:ext cx="457200" cy="457200"/>
          </a:xfrm>
          <a:prstGeom prst="ellipse">
            <a:avLst/>
          </a:prstGeom>
          <a:solidFill>
            <a:srgbClr val="0E9F9A"/>
          </a:solidFill>
          <a:ln w="12700">
            <a:solidFill>
              <a:srgbClr val="0E9F9A"/>
            </a:solidFill>
            <a:prstDash val="solid"/>
          </a:ln>
        </p:spPr>
      </p:sp>
      <p:pic>
        <p:nvPicPr>
          <p:cNvPr id="39" name="Image 4" descr="preencoded.png">    </p:cNvPr>
          <p:cNvPicPr>
            <a:picLocks noChangeAspect="1"/>
          </p:cNvPicPr>
          <p:nvPr/>
        </p:nvPicPr>
        <p:blipFill>
          <a:blip r:embed="rId5"/>
          <a:stretch>
            <a:fillRect/>
          </a:stretch>
        </p:blipFill>
        <p:spPr>
          <a:xfrm>
            <a:off x="6903720" y="5586984"/>
            <a:ext cx="219456" cy="219456"/>
          </a:xfrm>
          <a:prstGeom prst="rect">
            <a:avLst/>
          </a:prstGeom>
        </p:spPr>
      </p:pic>
      <p:sp>
        <p:nvSpPr>
          <p:cNvPr id="40" name="Text 33"/>
          <p:cNvSpPr txBox="1"/>
          <p:nvPr/>
        </p:nvSpPr>
        <p:spPr>
          <a:xfrm>
            <a:off x="7333488" y="5358384"/>
            <a:ext cx="1664208" cy="676656"/>
          </a:xfrm>
          <a:prstGeom prst="rect">
            <a:avLst/>
          </a:prstGeom>
          <a:noFill/>
          <a:ln/>
        </p:spPr>
        <p:txBody>
          <a:bodyPr wrap="square" lIns="0" tIns="0" rIns="0" bIns="0" rtlCol="0" anchor="ctr"/>
          <a:lstStyle/>
          <a:p>
            <a:pPr indent="0" marL="0">
              <a:buNone/>
            </a:pPr>
            <a:r>
              <a:rPr lang="en-US" sz="1300" b="1" dirty="0">
                <a:solidFill>
                  <a:srgbClr val="0D2F4F"/>
                </a:solidFill>
              </a:rPr>
              <a:t>Korporativ madaniyat</a:t>
            </a:r>
            <a:endParaRPr lang="en-US" sz="1300" dirty="0"/>
          </a:p>
        </p:txBody>
      </p:sp>
      <p:sp>
        <p:nvSpPr>
          <p:cNvPr id="41" name="Shape 34"/>
          <p:cNvSpPr/>
          <p:nvPr/>
        </p:nvSpPr>
        <p:spPr>
          <a:xfrm>
            <a:off x="9189720" y="5358384"/>
            <a:ext cx="2377440" cy="676656"/>
          </a:xfrm>
          <a:prstGeom prst="roundRect">
            <a:avLst>
              <a:gd name="adj" fmla="val 16216"/>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2" name="Shape 35"/>
          <p:cNvSpPr/>
          <p:nvPr/>
        </p:nvSpPr>
        <p:spPr>
          <a:xfrm>
            <a:off x="9299448" y="5468112"/>
            <a:ext cx="457200" cy="457200"/>
          </a:xfrm>
          <a:prstGeom prst="ellipse">
            <a:avLst/>
          </a:prstGeom>
          <a:solidFill>
            <a:srgbClr val="0D2F4F"/>
          </a:solidFill>
          <a:ln w="12700">
            <a:solidFill>
              <a:srgbClr val="0D2F4F"/>
            </a:solidFill>
            <a:prstDash val="solid"/>
          </a:ln>
        </p:spPr>
      </p:sp>
      <p:pic>
        <p:nvPicPr>
          <p:cNvPr id="43" name="Image 5" descr="preencoded.png">    </p:cNvPr>
          <p:cNvPicPr>
            <a:picLocks noChangeAspect="1"/>
          </p:cNvPicPr>
          <p:nvPr/>
        </p:nvPicPr>
        <p:blipFill>
          <a:blip r:embed="rId6"/>
          <a:stretch>
            <a:fillRect/>
          </a:stretch>
        </p:blipFill>
        <p:spPr>
          <a:xfrm>
            <a:off x="9418320" y="5586984"/>
            <a:ext cx="219456" cy="219456"/>
          </a:xfrm>
          <a:prstGeom prst="rect">
            <a:avLst/>
          </a:prstGeom>
        </p:spPr>
      </p:pic>
      <p:sp>
        <p:nvSpPr>
          <p:cNvPr id="44" name="Text 36"/>
          <p:cNvSpPr txBox="1"/>
          <p:nvPr/>
        </p:nvSpPr>
        <p:spPr>
          <a:xfrm>
            <a:off x="9848088" y="5358384"/>
            <a:ext cx="1664208" cy="676656"/>
          </a:xfrm>
          <a:prstGeom prst="rect">
            <a:avLst/>
          </a:prstGeom>
          <a:noFill/>
          <a:ln/>
        </p:spPr>
        <p:txBody>
          <a:bodyPr wrap="square" lIns="0" tIns="0" rIns="0" bIns="0" rtlCol="0" anchor="ctr"/>
          <a:lstStyle/>
          <a:p>
            <a:pPr indent="0" marL="0">
              <a:buNone/>
            </a:pPr>
            <a:r>
              <a:rPr lang="en-US" sz="1300" b="1" dirty="0">
                <a:solidFill>
                  <a:srgbClr val="0D2F4F"/>
                </a:solidFill>
              </a:rPr>
              <a:t>Tartib-qoidalar</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Strategik nazorat va natijalarni baholash</a:t>
            </a:r>
            <a:endParaRPr lang="en-US" sz="3000" dirty="0"/>
          </a:p>
        </p:txBody>
      </p:sp>
      <p:sp>
        <p:nvSpPr>
          <p:cNvPr id="3" name="Text 1"/>
          <p:cNvSpPr txBox="1"/>
          <p:nvPr/>
        </p:nvSpPr>
        <p:spPr>
          <a:xfrm>
            <a:off x="548640" y="1325880"/>
            <a:ext cx="6949440" cy="10058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Strategik nazorat</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tanlangan strategiyaning to‘g‘ri amalga oshirilayotganini va u hamon dolzarbligini muntazam tekshirish jarayoni. Uning zamonaviy vositasi – R. Kaplan va D. Norton (1992) tomonidan taklif etilgan </a:t>
            </a:r>
            <a:pPr indent="0" marL="0">
              <a:spcAft>
                <a:spcPts val="600"/>
              </a:spcAft>
              <a:buNone/>
            </a:pPr>
            <a:r>
              <a:rPr lang="en-US" sz="1400" b="1" dirty="0">
                <a:solidFill>
                  <a:srgbClr val="0D2F4F"/>
                </a:solidFill>
                <a:latin typeface="Calibri" pitchFamily="34" charset="0"/>
                <a:ea typeface="Calibri" pitchFamily="34" charset="-122"/>
                <a:cs typeface="Calibri" pitchFamily="34" charset="-120"/>
              </a:rPr>
              <a:t>Balanslashtirilgan ko‘rsatkichlar tizimi (BSC)</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a:t>
            </a:r>
            <a:endParaRPr lang="en-US" sz="1400" dirty="0"/>
          </a:p>
        </p:txBody>
      </p:sp>
      <p:sp>
        <p:nvSpPr>
          <p:cNvPr id="4" name="Shape 2"/>
          <p:cNvSpPr/>
          <p:nvPr/>
        </p:nvSpPr>
        <p:spPr>
          <a:xfrm>
            <a:off x="548640" y="242316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685800" y="265176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40334" y="2806294"/>
            <a:ext cx="285293" cy="285293"/>
          </a:xfrm>
          <a:prstGeom prst="rect">
            <a:avLst/>
          </a:prstGeom>
        </p:spPr>
      </p:pic>
      <p:sp>
        <p:nvSpPr>
          <p:cNvPr id="7" name="Text 4"/>
          <p:cNvSpPr txBox="1"/>
          <p:nvPr/>
        </p:nvSpPr>
        <p:spPr>
          <a:xfrm>
            <a:off x="1417320" y="251460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Moliyaviy</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foyda, rentabellik, daromad o‘sishi, xarajatlar</a:t>
            </a:r>
            <a:endParaRPr lang="en-US" sz="1400" dirty="0"/>
          </a:p>
        </p:txBody>
      </p:sp>
      <p:sp>
        <p:nvSpPr>
          <p:cNvPr id="8" name="Shape 5"/>
          <p:cNvSpPr/>
          <p:nvPr/>
        </p:nvSpPr>
        <p:spPr>
          <a:xfrm>
            <a:off x="4069080" y="242316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4206240" y="2651760"/>
            <a:ext cx="594360" cy="594360"/>
          </a:xfrm>
          <a:prstGeom prst="ellipse">
            <a:avLst/>
          </a:prstGeom>
          <a:solidFill>
            <a:srgbClr val="0D2F4F"/>
          </a:solidFill>
          <a:ln w="12700">
            <a:solidFill>
              <a:srgbClr val="0D2F4F"/>
            </a:solidFill>
            <a:prstDash val="solid"/>
          </a:ln>
        </p:spPr>
      </p:sp>
      <p:pic>
        <p:nvPicPr>
          <p:cNvPr id="10" name="Image 1" descr="preencoded.png">    </p:cNvPr>
          <p:cNvPicPr>
            <a:picLocks noChangeAspect="1"/>
          </p:cNvPicPr>
          <p:nvPr/>
        </p:nvPicPr>
        <p:blipFill>
          <a:blip r:embed="rId2"/>
          <a:stretch>
            <a:fillRect/>
          </a:stretch>
        </p:blipFill>
        <p:spPr>
          <a:xfrm>
            <a:off x="4360774" y="2806294"/>
            <a:ext cx="285293" cy="285293"/>
          </a:xfrm>
          <a:prstGeom prst="rect">
            <a:avLst/>
          </a:prstGeom>
        </p:spPr>
      </p:pic>
      <p:sp>
        <p:nvSpPr>
          <p:cNvPr id="11" name="Text 7"/>
          <p:cNvSpPr txBox="1"/>
          <p:nvPr/>
        </p:nvSpPr>
        <p:spPr>
          <a:xfrm>
            <a:off x="4937760" y="251460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Mijozlar</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mijozlar qoniqishi, bozor ulushi, sodiqlik</a:t>
            </a:r>
            <a:endParaRPr lang="en-US" sz="1400" dirty="0"/>
          </a:p>
        </p:txBody>
      </p:sp>
      <p:sp>
        <p:nvSpPr>
          <p:cNvPr id="12" name="Shape 8"/>
          <p:cNvSpPr/>
          <p:nvPr/>
        </p:nvSpPr>
        <p:spPr>
          <a:xfrm>
            <a:off x="548640" y="361188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9"/>
          <p:cNvSpPr/>
          <p:nvPr/>
        </p:nvSpPr>
        <p:spPr>
          <a:xfrm>
            <a:off x="685800" y="3840480"/>
            <a:ext cx="594360" cy="594360"/>
          </a:xfrm>
          <a:prstGeom prst="ellipse">
            <a:avLst/>
          </a:prstGeom>
          <a:solidFill>
            <a:srgbClr val="0E9F9A"/>
          </a:solidFill>
          <a:ln w="12700">
            <a:solidFill>
              <a:srgbClr val="0E9F9A"/>
            </a:solidFill>
            <a:prstDash val="solid"/>
          </a:ln>
        </p:spPr>
      </p:sp>
      <p:pic>
        <p:nvPicPr>
          <p:cNvPr id="14" name="Image 2" descr="preencoded.png">    </p:cNvPr>
          <p:cNvPicPr>
            <a:picLocks noChangeAspect="1"/>
          </p:cNvPicPr>
          <p:nvPr/>
        </p:nvPicPr>
        <p:blipFill>
          <a:blip r:embed="rId3"/>
          <a:stretch>
            <a:fillRect/>
          </a:stretch>
        </p:blipFill>
        <p:spPr>
          <a:xfrm>
            <a:off x="840334" y="3995014"/>
            <a:ext cx="285293" cy="285293"/>
          </a:xfrm>
          <a:prstGeom prst="rect">
            <a:avLst/>
          </a:prstGeom>
        </p:spPr>
      </p:pic>
      <p:sp>
        <p:nvSpPr>
          <p:cNvPr id="15" name="Text 10"/>
          <p:cNvSpPr txBox="1"/>
          <p:nvPr/>
        </p:nvSpPr>
        <p:spPr>
          <a:xfrm>
            <a:off x="1417320" y="370332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Ichki jarayonlar</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sifat, ishlab chiqarish samaradorligi, muddatlar</a:t>
            </a:r>
            <a:endParaRPr lang="en-US" sz="1400" dirty="0"/>
          </a:p>
        </p:txBody>
      </p:sp>
      <p:sp>
        <p:nvSpPr>
          <p:cNvPr id="16" name="Shape 11"/>
          <p:cNvSpPr/>
          <p:nvPr/>
        </p:nvSpPr>
        <p:spPr>
          <a:xfrm>
            <a:off x="4069080" y="361188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2"/>
          <p:cNvSpPr/>
          <p:nvPr/>
        </p:nvSpPr>
        <p:spPr>
          <a:xfrm>
            <a:off x="4206240" y="3840480"/>
            <a:ext cx="594360" cy="594360"/>
          </a:xfrm>
          <a:prstGeom prst="ellipse">
            <a:avLst/>
          </a:prstGeom>
          <a:solidFill>
            <a:srgbClr val="0D2F4F"/>
          </a:solidFill>
          <a:ln w="12700">
            <a:solidFill>
              <a:srgbClr val="0D2F4F"/>
            </a:solidFill>
            <a:prstDash val="solid"/>
          </a:ln>
        </p:spPr>
      </p:sp>
      <p:pic>
        <p:nvPicPr>
          <p:cNvPr id="18" name="Image 3" descr="preencoded.png">    </p:cNvPr>
          <p:cNvPicPr>
            <a:picLocks noChangeAspect="1"/>
          </p:cNvPicPr>
          <p:nvPr/>
        </p:nvPicPr>
        <p:blipFill>
          <a:blip r:embed="rId4"/>
          <a:stretch>
            <a:fillRect/>
          </a:stretch>
        </p:blipFill>
        <p:spPr>
          <a:xfrm>
            <a:off x="4360774" y="3995014"/>
            <a:ext cx="285293" cy="285293"/>
          </a:xfrm>
          <a:prstGeom prst="rect">
            <a:avLst/>
          </a:prstGeom>
        </p:spPr>
      </p:pic>
      <p:sp>
        <p:nvSpPr>
          <p:cNvPr id="19" name="Text 13"/>
          <p:cNvSpPr txBox="1"/>
          <p:nvPr/>
        </p:nvSpPr>
        <p:spPr>
          <a:xfrm>
            <a:off x="4937760" y="370332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O‘qish va rivojlanish</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xodimlar malakasi, innovatsiyalar, IT tizimlar</a:t>
            </a:r>
            <a:endParaRPr lang="en-US" sz="1400" dirty="0"/>
          </a:p>
        </p:txBody>
      </p:sp>
      <p:pic>
        <p:nvPicPr>
          <p:cNvPr id="20" name="Image 4" descr="img2/control.png">    </p:cNvPr>
          <p:cNvPicPr>
            <a:picLocks noChangeAspect="1"/>
          </p:cNvPicPr>
          <p:nvPr/>
        </p:nvPicPr>
        <p:blipFill>
          <a:blip r:embed="rId5"/>
          <a:stretch>
            <a:fillRect/>
          </a:stretch>
        </p:blipFill>
        <p:spPr>
          <a:xfrm>
            <a:off x="7863840" y="1371600"/>
            <a:ext cx="3749040" cy="2916936"/>
          </a:xfrm>
          <a:prstGeom prst="rect">
            <a:avLst/>
          </a:prstGeom>
        </p:spPr>
      </p:pic>
      <p:sp>
        <p:nvSpPr>
          <p:cNvPr id="21" name="Text 14"/>
          <p:cNvSpPr txBox="1"/>
          <p:nvPr/>
        </p:nvSpPr>
        <p:spPr>
          <a:xfrm>
            <a:off x="548640" y="4892040"/>
            <a:ext cx="5486400" cy="320040"/>
          </a:xfrm>
          <a:prstGeom prst="rect">
            <a:avLst/>
          </a:prstGeom>
          <a:noFill/>
          <a:ln/>
        </p:spPr>
        <p:txBody>
          <a:bodyPr wrap="square" lIns="0" tIns="0" rIns="0" bIns="0" rtlCol="0" anchor="ctr"/>
          <a:lstStyle/>
          <a:p>
            <a:pPr indent="0" marL="0">
              <a:buNone/>
            </a:pPr>
            <a:r>
              <a:rPr lang="en-US" sz="1500" b="1" dirty="0">
                <a:solidFill>
                  <a:srgbClr val="0D2F4F"/>
                </a:solidFill>
              </a:rPr>
              <a:t>Nazorat jarayoni bosqichlari:</a:t>
            </a:r>
            <a:endParaRPr lang="en-US" sz="1500" dirty="0"/>
          </a:p>
        </p:txBody>
      </p:sp>
      <p:sp>
        <p:nvSpPr>
          <p:cNvPr id="22" name="Shape 15"/>
          <p:cNvSpPr/>
          <p:nvPr/>
        </p:nvSpPr>
        <p:spPr>
          <a:xfrm>
            <a:off x="548640" y="5303520"/>
            <a:ext cx="2788920" cy="685800"/>
          </a:xfrm>
          <a:prstGeom prst="homePlate">
            <a:avLst/>
          </a:prstGeom>
          <a:solidFill>
            <a:srgbClr val="0E9F9A"/>
          </a:solidFill>
          <a:ln w="12700">
            <a:solidFill>
              <a:srgbClr val="FFFFFF"/>
            </a:solidFill>
            <a:prstDash val="solid"/>
          </a:ln>
        </p:spPr>
      </p:sp>
      <p:sp>
        <p:nvSpPr>
          <p:cNvPr id="23" name="Text 16"/>
          <p:cNvSpPr txBox="1"/>
          <p:nvPr/>
        </p:nvSpPr>
        <p:spPr>
          <a:xfrm>
            <a:off x="731520" y="5303520"/>
            <a:ext cx="2103120" cy="685800"/>
          </a:xfrm>
          <a:prstGeom prst="rect">
            <a:avLst/>
          </a:prstGeom>
          <a:noFill/>
          <a:ln/>
        </p:spPr>
        <p:txBody>
          <a:bodyPr wrap="square" lIns="0" tIns="0" rIns="0" bIns="0" rtlCol="0" anchor="ctr"/>
          <a:lstStyle/>
          <a:p>
            <a:pPr indent="0" marL="0">
              <a:buNone/>
            </a:pPr>
            <a:r>
              <a:rPr lang="en-US" sz="1400" b="1" dirty="0">
                <a:solidFill>
                  <a:srgbClr val="FFFFFF"/>
                </a:solidFill>
              </a:rPr>
              <a:t>Standart va KPI belgilash</a:t>
            </a:r>
            <a:endParaRPr lang="en-US" sz="1400" dirty="0"/>
          </a:p>
        </p:txBody>
      </p:sp>
      <p:sp>
        <p:nvSpPr>
          <p:cNvPr id="24" name="Shape 17"/>
          <p:cNvSpPr/>
          <p:nvPr/>
        </p:nvSpPr>
        <p:spPr>
          <a:xfrm>
            <a:off x="3337560" y="5303520"/>
            <a:ext cx="2788920" cy="685800"/>
          </a:xfrm>
          <a:prstGeom prst="chevron">
            <a:avLst/>
          </a:prstGeom>
          <a:solidFill>
            <a:srgbClr val="0D2F4F"/>
          </a:solidFill>
          <a:ln w="12700">
            <a:solidFill>
              <a:srgbClr val="FFFFFF"/>
            </a:solidFill>
            <a:prstDash val="solid"/>
          </a:ln>
        </p:spPr>
      </p:sp>
      <p:sp>
        <p:nvSpPr>
          <p:cNvPr id="25" name="Text 18"/>
          <p:cNvSpPr txBox="1"/>
          <p:nvPr/>
        </p:nvSpPr>
        <p:spPr>
          <a:xfrm>
            <a:off x="3749040" y="5303520"/>
            <a:ext cx="2103120" cy="685800"/>
          </a:xfrm>
          <a:prstGeom prst="rect">
            <a:avLst/>
          </a:prstGeom>
          <a:noFill/>
          <a:ln/>
        </p:spPr>
        <p:txBody>
          <a:bodyPr wrap="square" lIns="0" tIns="0" rIns="0" bIns="0" rtlCol="0" anchor="ctr"/>
          <a:lstStyle/>
          <a:p>
            <a:pPr indent="0" marL="0">
              <a:buNone/>
            </a:pPr>
            <a:r>
              <a:rPr lang="en-US" sz="1400" b="1" dirty="0">
                <a:solidFill>
                  <a:srgbClr val="FFFFFF"/>
                </a:solidFill>
              </a:rPr>
              <a:t>Natijalarni o‘lchash</a:t>
            </a:r>
            <a:endParaRPr lang="en-US" sz="1400" dirty="0"/>
          </a:p>
        </p:txBody>
      </p:sp>
      <p:sp>
        <p:nvSpPr>
          <p:cNvPr id="26" name="Shape 19"/>
          <p:cNvSpPr/>
          <p:nvPr/>
        </p:nvSpPr>
        <p:spPr>
          <a:xfrm>
            <a:off x="6126480" y="5303520"/>
            <a:ext cx="2788920" cy="685800"/>
          </a:xfrm>
          <a:prstGeom prst="chevron">
            <a:avLst/>
          </a:prstGeom>
          <a:solidFill>
            <a:srgbClr val="0E9F9A"/>
          </a:solidFill>
          <a:ln w="12700">
            <a:solidFill>
              <a:srgbClr val="FFFFFF"/>
            </a:solidFill>
            <a:prstDash val="solid"/>
          </a:ln>
        </p:spPr>
      </p:sp>
      <p:sp>
        <p:nvSpPr>
          <p:cNvPr id="27" name="Text 20"/>
          <p:cNvSpPr txBox="1"/>
          <p:nvPr/>
        </p:nvSpPr>
        <p:spPr>
          <a:xfrm>
            <a:off x="6537960" y="5303520"/>
            <a:ext cx="2103120" cy="685800"/>
          </a:xfrm>
          <a:prstGeom prst="rect">
            <a:avLst/>
          </a:prstGeom>
          <a:noFill/>
          <a:ln/>
        </p:spPr>
        <p:txBody>
          <a:bodyPr wrap="square" lIns="0" tIns="0" rIns="0" bIns="0" rtlCol="0" anchor="ctr"/>
          <a:lstStyle/>
          <a:p>
            <a:pPr indent="0" marL="0">
              <a:buNone/>
            </a:pPr>
            <a:r>
              <a:rPr lang="en-US" sz="1400" b="1" dirty="0">
                <a:solidFill>
                  <a:srgbClr val="FFFFFF"/>
                </a:solidFill>
              </a:rPr>
              <a:t>Reja bilan taqqoslash</a:t>
            </a:r>
            <a:endParaRPr lang="en-US" sz="1400" dirty="0"/>
          </a:p>
        </p:txBody>
      </p:sp>
      <p:sp>
        <p:nvSpPr>
          <p:cNvPr id="28" name="Shape 21"/>
          <p:cNvSpPr/>
          <p:nvPr/>
        </p:nvSpPr>
        <p:spPr>
          <a:xfrm>
            <a:off x="8915400" y="5303520"/>
            <a:ext cx="2788920" cy="685800"/>
          </a:xfrm>
          <a:prstGeom prst="chevron">
            <a:avLst/>
          </a:prstGeom>
          <a:solidFill>
            <a:srgbClr val="0D2F4F"/>
          </a:solidFill>
          <a:ln w="12700">
            <a:solidFill>
              <a:srgbClr val="FFFFFF"/>
            </a:solidFill>
            <a:prstDash val="solid"/>
          </a:ln>
        </p:spPr>
      </p:sp>
      <p:sp>
        <p:nvSpPr>
          <p:cNvPr id="29" name="Text 22"/>
          <p:cNvSpPr txBox="1"/>
          <p:nvPr/>
        </p:nvSpPr>
        <p:spPr>
          <a:xfrm>
            <a:off x="9326880" y="5303520"/>
            <a:ext cx="2103120" cy="685800"/>
          </a:xfrm>
          <a:prstGeom prst="rect">
            <a:avLst/>
          </a:prstGeom>
          <a:noFill/>
          <a:ln/>
        </p:spPr>
        <p:txBody>
          <a:bodyPr wrap="square" lIns="0" tIns="0" rIns="0" bIns="0" rtlCol="0" anchor="ctr"/>
          <a:lstStyle/>
          <a:p>
            <a:pPr indent="0" marL="0">
              <a:buNone/>
            </a:pPr>
            <a:r>
              <a:rPr lang="en-US" sz="1400" b="1" dirty="0">
                <a:solidFill>
                  <a:srgbClr val="FFFFFF"/>
                </a:solidFill>
              </a:rPr>
              <a:t>Tuzatish choralari</a:t>
            </a:r>
            <a:endParaRPr lang="en-US" sz="1400" dirty="0"/>
          </a:p>
        </p:txBody>
      </p:sp>
      <p:sp>
        <p:nvSpPr>
          <p:cNvPr id="30" name="Text 23"/>
          <p:cNvSpPr txBox="1"/>
          <p:nvPr/>
        </p:nvSpPr>
        <p:spPr>
          <a:xfrm>
            <a:off x="7863840" y="4434840"/>
            <a:ext cx="3749040" cy="731520"/>
          </a:xfrm>
          <a:prstGeom prst="rect">
            <a:avLst/>
          </a:prstGeom>
          <a:noFill/>
          <a:ln/>
        </p:spPr>
        <p:txBody>
          <a:bodyPr wrap="square" lIns="0" tIns="0" rIns="0" bIns="0" rtlCol="0" anchor="ctr"/>
          <a:lstStyle/>
          <a:p>
            <a:pPr indent="0" marL="0">
              <a:buNone/>
            </a:pPr>
            <a:r>
              <a:rPr lang="en-US" sz="1300" i="1" dirty="0">
                <a:solidFill>
                  <a:srgbClr val="4A5B6C"/>
                </a:solidFill>
              </a:rPr>
              <a:t>Nazorat natijalari strategiyani yangilash uchun asos bo‘lib, jarayon qaytadan boshlanadi.</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20240"/>
          </a:xfrm>
          <a:prstGeom prst="rect">
            <a:avLst/>
          </a:prstGeom>
          <a:noFill/>
          <a:ln/>
        </p:spPr>
        <p:txBody>
          <a:bodyPr wrap="square" lIns="0" tIns="0" rIns="0" bIns="0" rtlCol="0" anchor="t"/>
          <a:lstStyle/>
          <a:p>
            <a:pPr indent="0" marL="0">
              <a:spcAft>
                <a:spcPts val="600"/>
              </a:spcAft>
              <a:buNone/>
            </a:pPr>
            <a:r>
              <a:rPr lang="en-US" sz="1500" dirty="0">
                <a:solidFill>
                  <a:srgbClr val="E6F2F4"/>
                </a:solidFill>
                <a:latin typeface="Calibri" pitchFamily="34" charset="0"/>
                <a:ea typeface="Calibri" pitchFamily="34" charset="-122"/>
                <a:cs typeface="Calibri" pitchFamily="34" charset="-120"/>
              </a:rPr>
              <a:t>Strategik rejalashtirish korxonaga noaniq va tez o‘zgaruvchan bozor sharoitida aniq yo‘nalish beradi. Strategiyani ishlab chiqish missiya va vizyondan boshlanib, chuqur tahlil, muqobillarni tanlash, amalga oshirish va nazorat bilan yakunlanadigan uzluksiz jarayondir. Bu bosqichlarning izchil bajarilishi korxonaning raqobatbardoshligi va barqaror rivojlanishini ta’minlaydi.</a:t>
            </a:r>
            <a:endParaRPr lang="en-US" sz="1500" dirty="0"/>
          </a:p>
        </p:txBody>
      </p:sp>
      <p:sp>
        <p:nvSpPr>
          <p:cNvPr id="4" name="Shape 2"/>
          <p:cNvSpPr/>
          <p:nvPr/>
        </p:nvSpPr>
        <p:spPr>
          <a:xfrm>
            <a:off x="548640" y="333756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20440"/>
            <a:ext cx="365760" cy="365760"/>
          </a:xfrm>
          <a:prstGeom prst="rect">
            <a:avLst/>
          </a:prstGeom>
        </p:spPr>
      </p:pic>
      <p:sp>
        <p:nvSpPr>
          <p:cNvPr id="6" name="Text 3"/>
          <p:cNvSpPr txBox="1"/>
          <p:nvPr/>
        </p:nvSpPr>
        <p:spPr>
          <a:xfrm>
            <a:off x="1188720" y="344728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Asos</a:t>
            </a:r>
            <a:endParaRPr lang="en-US" sz="1500" dirty="0"/>
          </a:p>
          <a:p>
            <a:pPr indent="0" marL="0">
              <a:spcAft>
                <a:spcPts val="200"/>
              </a:spcAft>
              <a:buNone/>
            </a:pPr>
            <a:r>
              <a:rPr lang="en-US" sz="1300" dirty="0">
                <a:solidFill>
                  <a:srgbClr val="FFFFFF"/>
                </a:solidFill>
              </a:rPr>
              <a:t>aniq missiya, vizyon va SMART maqsadlar</a:t>
            </a:r>
            <a:endParaRPr lang="en-US" sz="1500" dirty="0"/>
          </a:p>
        </p:txBody>
      </p:sp>
      <p:sp>
        <p:nvSpPr>
          <p:cNvPr id="7" name="Shape 4"/>
          <p:cNvSpPr/>
          <p:nvPr/>
        </p:nvSpPr>
        <p:spPr>
          <a:xfrm>
            <a:off x="4023360" y="333756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20440"/>
            <a:ext cx="365760" cy="365760"/>
          </a:xfrm>
          <a:prstGeom prst="rect">
            <a:avLst/>
          </a:prstGeom>
        </p:spPr>
      </p:pic>
      <p:sp>
        <p:nvSpPr>
          <p:cNvPr id="9" name="Text 5"/>
          <p:cNvSpPr txBox="1"/>
          <p:nvPr/>
        </p:nvSpPr>
        <p:spPr>
          <a:xfrm>
            <a:off x="4663440" y="344728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Tahlil</a:t>
            </a:r>
            <a:endParaRPr lang="en-US" sz="1500" dirty="0"/>
          </a:p>
          <a:p>
            <a:pPr indent="0" marL="0">
              <a:spcAft>
                <a:spcPts val="200"/>
              </a:spcAft>
              <a:buNone/>
            </a:pPr>
            <a:r>
              <a:rPr lang="en-US" sz="1300" dirty="0">
                <a:solidFill>
                  <a:srgbClr val="FFFFFF"/>
                </a:solidFill>
              </a:rPr>
              <a:t>SWOT, PEST va “besh kuch” – to‘g‘ri qaror uchun ishonchli ma’lumot</a:t>
            </a:r>
            <a:endParaRPr lang="en-US" sz="1500" dirty="0"/>
          </a:p>
        </p:txBody>
      </p:sp>
      <p:sp>
        <p:nvSpPr>
          <p:cNvPr id="10" name="Shape 6"/>
          <p:cNvSpPr/>
          <p:nvPr/>
        </p:nvSpPr>
        <p:spPr>
          <a:xfrm>
            <a:off x="548640" y="480060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4983480"/>
            <a:ext cx="365760" cy="365760"/>
          </a:xfrm>
          <a:prstGeom prst="rect">
            <a:avLst/>
          </a:prstGeom>
        </p:spPr>
      </p:pic>
      <p:sp>
        <p:nvSpPr>
          <p:cNvPr id="12" name="Text 7"/>
          <p:cNvSpPr txBox="1"/>
          <p:nvPr/>
        </p:nvSpPr>
        <p:spPr>
          <a:xfrm>
            <a:off x="1188720" y="491032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Tanlov</a:t>
            </a:r>
            <a:endParaRPr lang="en-US" sz="1500" dirty="0"/>
          </a:p>
          <a:p>
            <a:pPr indent="0" marL="0">
              <a:spcAft>
                <a:spcPts val="200"/>
              </a:spcAft>
              <a:buNone/>
            </a:pPr>
            <a:r>
              <a:rPr lang="en-US" sz="1300" dirty="0">
                <a:solidFill>
                  <a:srgbClr val="FFFFFF"/>
                </a:solidFill>
              </a:rPr>
              <a:t>BCG matritsasi va mezonlar asosida eng maqbul strategiya</a:t>
            </a:r>
            <a:endParaRPr lang="en-US" sz="1500" dirty="0"/>
          </a:p>
        </p:txBody>
      </p:sp>
      <p:sp>
        <p:nvSpPr>
          <p:cNvPr id="13" name="Shape 8"/>
          <p:cNvSpPr/>
          <p:nvPr/>
        </p:nvSpPr>
        <p:spPr>
          <a:xfrm>
            <a:off x="4023360" y="480060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4983480"/>
            <a:ext cx="365760" cy="365760"/>
          </a:xfrm>
          <a:prstGeom prst="rect">
            <a:avLst/>
          </a:prstGeom>
        </p:spPr>
      </p:pic>
      <p:sp>
        <p:nvSpPr>
          <p:cNvPr id="15" name="Text 9"/>
          <p:cNvSpPr txBox="1"/>
          <p:nvPr/>
        </p:nvSpPr>
        <p:spPr>
          <a:xfrm>
            <a:off x="4663440" y="491032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Nazorat</a:t>
            </a:r>
            <a:endParaRPr lang="en-US" sz="1500" dirty="0"/>
          </a:p>
          <a:p>
            <a:pPr indent="0" marL="0">
              <a:spcAft>
                <a:spcPts val="200"/>
              </a:spcAft>
              <a:buNone/>
            </a:pPr>
            <a:r>
              <a:rPr lang="en-US" sz="1300" dirty="0">
                <a:solidFill>
                  <a:srgbClr val="FFFFFF"/>
                </a:solidFill>
              </a:rPr>
              <a:t>BSC va KPI orqali natijalarni o‘lchash va tuzatish</a:t>
            </a:r>
            <a:endParaRPr lang="en-US" sz="1500" dirty="0"/>
          </a:p>
        </p:txBody>
      </p:sp>
      <p:pic>
        <p:nvPicPr>
          <p:cNvPr id="16" name="Image 4" descr="img2/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Yaxshi reja – yarim g‘alaba: strategiya korxonani bugundan ertaga olib boruvchi yo‘l xaritasidir.</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2/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Korxona strategiyasini ishlab chiqish bosqichlari</dc:title>
  <dc:subject>PptxGenJS Presentation</dc:subject>
  <dc:creator>PptxGenJS</dc:creator>
  <cp:lastModifiedBy>PptxGenJS</cp:lastModifiedBy>
  <cp:revision>1</cp:revision>
  <dcterms:created xsi:type="dcterms:W3CDTF">2026-10-12T11:45:21Z</dcterms:created>
  <dcterms:modified xsi:type="dcterms:W3CDTF">2026-10-12T11:45:21Z</dcterms:modified>
</cp:coreProperties>
</file>