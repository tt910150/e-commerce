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Bizning korxona</c:v>
                </c:pt>
              </c:strCache>
            </c:strRef>
          </c:tx>
          <c:spPr>
            <a:solidFill>
              <a:srgbClr val="0E9F9A"/>
            </a:solidFill>
            <a:ln w="31750" cap="flat">
              <a:solidFill>
                <a:srgbClr val="0E9F9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0E9F9A"/>
              </a:solidFill>
              <a:ln w="9525" cap="flat">
                <a:solidFill>
                  <a:srgbClr val="0E9F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Sifat</c:v>
                  </c:pt>
                  <c:pt idx="1">
                    <c:v>Narx</c:v>
                  </c:pt>
                  <c:pt idx="2">
                    <c:v>Brend</c:v>
                  </c:pt>
                  <c:pt idx="3">
                    <c:v>Servis</c:v>
                  </c:pt>
                  <c:pt idx="4">
                    <c:v>Innovatsiya</c:v>
                  </c:pt>
                  <c:pt idx="5">
                    <c:v>Sotuv tarmog‘i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Asosiy raqobatchi</c:v>
                </c:pt>
              </c:strCache>
            </c:strRef>
          </c:tx>
          <c:spPr>
            <a:solidFill>
              <a:srgbClr val="B5651D"/>
            </a:solidFill>
            <a:ln w="31750" cap="flat">
              <a:solidFill>
                <a:srgbClr val="B5651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B5651D"/>
              </a:solidFill>
              <a:ln w="9525" cap="flat">
                <a:solidFill>
                  <a:srgbClr val="B565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Sifat</c:v>
                  </c:pt>
                  <c:pt idx="1">
                    <c:v>Narx</c:v>
                  </c:pt>
                  <c:pt idx="2">
                    <c:v>Brend</c:v>
                  </c:pt>
                  <c:pt idx="3">
                    <c:v>Servis</c:v>
                  </c:pt>
                  <c:pt idx="4">
                    <c:v>Innovatsiya</c:v>
                  </c:pt>
                  <c:pt idx="5">
                    <c:v>Sotuv tarmog‘i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C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E0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C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5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3620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541"/>
                </a:solidFill>
              </a:rPr>
              <a:t>MAVZU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15544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KORXONANING RAQOBAT STRATEGIYALARI VA RAQOBATBARDOSHLIGINI OSHIRISH YO‘LLARI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9E4"/>
                </a:solidFill>
              </a:rPr>
              <a:t>Strategik menejment fanidan taqdimot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Bajardi: ______________________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Tekshirdi: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5727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737" y="17059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Raqobat va raqobatbardoshlik tushunchasi, omillari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71600" y="24871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37" y="26203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M. Porterning umumiy raqobat strategiyalari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315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371600" y="34015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37" y="353470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Bozordagi o‘rniga ko‘ra strategiyalar va “Ko‘k okean” strategiyasi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4206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371600" y="43159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37" y="44491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Korxona raqobatbardoshligini baholash usullari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120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371600" y="52303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737" y="536350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Raqobatbardoshlikni oshirish yo‘llari</a:t>
            </a:r>
            <a:endParaRPr lang="en-US" sz="1600" dirty="0"/>
          </a:p>
        </p:txBody>
      </p:sp>
      <p:pic>
        <p:nvPicPr>
          <p:cNvPr id="28" name="Image 5" descr="img5/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63040"/>
            <a:ext cx="3931920" cy="30540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8096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C"/>
                </a:solidFill>
              </a:rPr>
              <a:t>Xulosa va asosiy xulosalar taqdimot so‘ngida beriladi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Raqobat va raqobatbardoshlik tushunchasi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(lot. “concurrere” – to‘qnashmoq) – bozor sub’ektlarining iste’molchilar, bozor ulushi va yuqori foyda uchun o‘zaro kurashi. U bozor iqtisodiyotining harakatlantiruvchi kuchi bo‘lib, korxonalarni sifatni oshirish, xarajatlarni kamaytirish va yangiliklar yaratishga majbur qiladi.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Raqobatbardoshlik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korxonaning raqobatchilarga nisbatan iste’molchi ehtiyojlarini yaxshiroq qondira olishi va shu orqali bozorda barqaror o‘rin egallab, foyda olish qobiliyatidir.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Raqobatbardoshlik darajalari: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8700" y="425196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121" y="4418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49834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Mahsulot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49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narx va sifat nisbati, iste’mol xususiyatlari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67712" y="406908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7772" y="4251960"/>
            <a:ext cx="640080" cy="64008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93" y="44183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340864" y="49834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Korxona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359152" y="5349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resurslar, boshqaruv, moliyaviy holat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986784" y="406908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66844" y="425196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65" y="44183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059936" y="49834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Tarmoq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078224" y="5349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sohaning ichki va tashqi bozordagi o‘rni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05856" y="406908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85916" y="4251960"/>
            <a:ext cx="640080" cy="64008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337" y="441838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779008" y="49834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Mamlakat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797296" y="5349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milliy iqtisodiyotning global pozitsiyasi</a:t>
            </a:r>
            <a:endParaRPr lang="en-US" sz="1200" dirty="0"/>
          </a:p>
        </p:txBody>
      </p:sp>
      <p:pic>
        <p:nvPicPr>
          <p:cNvPr id="25" name="Image 4" descr="img5/conce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371600"/>
            <a:ext cx="3931920" cy="305409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680960" y="4617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7863840" y="4663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“Raqobat ustunligi – korxona o‘z xaridorlari uchun yaratadigan qiymatdan kelib chiqadi.”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M. Porter, “Raqobat ustunligi” (1985)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Raqobatbardoshlik omillari va raqobat ustunligi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raqobatbardoshligi ichki (korxona boshqara oladigan) va tashqi (unga bog‘liq bo‘lmagan) omillar ta’sirida shakllanadi. Bu omillardan eng muhimi barqaror raqobat ustunligini yaratishdir.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48840"/>
            <a:ext cx="3611880" cy="731520"/>
          </a:xfrm>
          <a:prstGeom prst="roundRect">
            <a:avLst>
              <a:gd name="adj" fmla="val 15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042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Ichki omillar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sifati va dizayni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chiqarish tannarxi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va uskunalar darajasi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 malakasi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samaradorligi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barqarorlik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va obro‘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1488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148840"/>
            <a:ext cx="3611880" cy="731520"/>
          </a:xfrm>
          <a:prstGeom prst="roundRect">
            <a:avLst>
              <a:gd name="adj" fmla="val 15000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042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Tashqi omillar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01752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iqtisodiy siyosati va soliqlar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sig‘imi va talab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 intensivligi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xomashyo va energiya narxi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valyuta kursi va inflyatsiya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 va logistika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savdo shartlari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2960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Raqobat ustunligi turlari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229600" y="2880360"/>
            <a:ext cx="548640" cy="5486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246" y="30230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15400" y="28346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xarajat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raqobatchilardan arzonroq ishlab chiqarish va sotish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229600" y="4069080"/>
            <a:ext cx="548640" cy="54864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246" y="42117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15400" y="40233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Noyob qiymat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qo‘shimcha haq to‘lashga tayyor bo‘lgan o‘ziga xoslik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0" y="5257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6C"/>
                </a:solidFill>
              </a:rPr>
              <a:t>Barqaror ustunlik raqobatchilar tez nusxa ko‘chira olmaydigan bo‘lishi kerak.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M. Porterning umumiy raqobat strategiyalari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Porter “Raqobat strategiyasi” (1980) asarida har qanday sohada qo‘llash mumkin bo‘lgan uchta umumiy (bazaviy) strategiyani asoslab berdi: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731520" cy="7315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Xarajatlar bo‘yicha yetakchilik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Sohadagi eng past tannarxga erishib, o‘rtacha narxda yuqori foyda yoki past narx orqali katta bozor ulushi olish.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4297680"/>
            <a:ext cx="3063240" cy="0"/>
          </a:xfrm>
          <a:prstGeom prst="line">
            <a:avLst/>
          </a:prstGeom>
          <a:noFill/>
          <a:ln w="12700">
            <a:solidFill>
              <a:srgbClr val="D5E6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4348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ishlab chiqarish samarasi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mahsulot, qat’iy xarajat nazorati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arzon aviakompaniyalar, diskaunterlar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40280"/>
            <a:ext cx="731520" cy="73152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4304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Differensiatsiya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1089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Mahsulotga xaridor uchun qadrli bo‘lgan noyob xususiyat berish va buning evaziga yuqoriroq narx belgilash.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0" y="4297680"/>
            <a:ext cx="3063240" cy="0"/>
          </a:xfrm>
          <a:prstGeom prst="line">
            <a:avLst/>
          </a:prstGeom>
          <a:noFill/>
          <a:ln w="12700">
            <a:solidFill>
              <a:srgbClr val="D5E6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0" y="44348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sifat, dizayn, brend, servis, innovatsiya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ITRga katta e’tibor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premium avtomobil va smartfon brendlari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38160" y="20116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240280"/>
            <a:ext cx="731520" cy="73152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24304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3544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Fokuslash (ixtisoslashuv)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31089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bozor segmenti yoki hududga e’tiborni jamlab, uning ehtiyojlarini boshqalardan yaxshiroq qondirish.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366760" y="4297680"/>
            <a:ext cx="3063240" cy="0"/>
          </a:xfrm>
          <a:prstGeom prst="line">
            <a:avLst/>
          </a:prstGeom>
          <a:noFill/>
          <a:ln w="12700">
            <a:solidFill>
              <a:srgbClr val="D5E6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44348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xarajatga asoslangan fokus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differensiatsiyaga asoslangan fokus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faqat bolalar kiyimi yoki sport ozuqasi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Raqobat strategiyalari matritsasi va ularning xatarlari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Porter matritsasi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25880" y="18288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1920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Xarajatlar bo‘yicha yetakchilik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keng bozor + past xarajat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49040" y="18288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886200" y="1920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Differensiatsiya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keng bozor + noyoblik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25880" y="352044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5FA8B8"/>
          </a:solidFill>
          <a:ln w="12700">
            <a:solidFill>
              <a:srgbClr val="5FA8B8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63040" y="36118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Xarajat-fokus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tor segment + past xarajat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352044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86200" y="36118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Differensiatsiya-fokus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tor segment + noyoblik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Past xarajat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5212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Noyoblik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D2F4F"/>
                </a:solidFill>
              </a:rPr>
              <a:t>RAQOBAT USTUNLIGI TURI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-4572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2F4F"/>
                </a:solidFill>
              </a:rPr>
              <a:t>BOZOR QAMROVI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B6C"/>
                </a:solidFill>
              </a:rPr>
              <a:t>Keng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60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B6C"/>
                </a:solidFill>
              </a:rPr>
              <a:t>Tor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Har bir strategiyaning xatarlari: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yetakchiligi: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texnologik o‘zgarish ustunlikni yo‘qqa chiqarishi, raqobatchilarning arzonroq taqlid qilishi, sifat pasayishi.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Differensiatsiya: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xaridorlar uchun narx farqi juda katta bo‘lib qolishi, noyoblikning tez nusxalanishi.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Fokuslash: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tanlangan segmentning qisqarishi, yirik raqobatchilarning segmentga kirib kelishi.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80060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178040" y="4681728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“O‘rtada qolib ketish” xavfi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</a:rPr>
              <a:t>Bir vaqtning o‘zida hamma strategiyaga intilgan, lekin birortasida ham ustunlikka erishmagan korxona raqobatda yutqazadi (M. Porter).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Bozordagi o‘rniga ko‘ra raqobat strategiyalari</a:t>
            </a:r>
            <a:endParaRPr lang="en-US" sz="3000" dirty="0"/>
          </a:p>
        </p:txBody>
      </p:sp>
      <p:pic>
        <p:nvPicPr>
          <p:cNvPr id="3" name="Image 0" descr="img5/kot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F. Kotler tasnifi: korxonaning strategiyasi uning bozordagi pozitsiyasiga bog‘liq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114800" y="137160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0" y="1572768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173918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2064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Bozor yetakchisi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15200" y="144475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ulush; bozorni kengaytirish, ulushni himoya qilish, narx va yangiliklarda yo‘nalish berish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0" y="14630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114800" y="256032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2761488"/>
            <a:ext cx="640080" cy="64008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01" y="292790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2064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Da’vogar (challenjer)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0" y="263347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yetakchiga hujum qiladi: narxni pasaytirish, yangi mahsulot, agressiv reklama, kuchsiz joylarga zarba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0607040" y="26517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4114800" y="374904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97680" y="3950208"/>
            <a:ext cx="640080" cy="64008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101" y="411662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Ergashuvchi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0" y="38221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yetakchini kuzatib, uning tajribasidan nusxa oladi; xarajat va xatarni kamaytirib, barqaror foyda ko‘radi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0607040" y="38404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4114800" y="493776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297680" y="5138928"/>
            <a:ext cx="640080" cy="6400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01" y="5305349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20640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Nisha egallovchi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0" y="50109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yiriklar e’tibor bermaydigan tor segmentga ixtisoslashadi; chuqur bilim va yuqori marja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0607040" y="50292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4114800" y="6172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5B6C"/>
                </a:solidFill>
              </a:rPr>
              <a:t>% – Kotler bo‘yicha bozor ulushining taxminiy (namunaviy) taqsimoti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“Ko‘k okean” strategiyasi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Chan Kim va R. Moborn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(2005) bozorlarni ikki turga ajratdi. “Qizil okean” – raqobatchilar ko‘p, kurash qattiq, foyda kamayib boruvchi mavjud bozor. “Ko‘k okean” – raqobat hali yo‘q, yangi talab yaratiladigan bozor. Strategiyaning g‘oyasi: raqobatchini yengish emas, raqobatni ahamiyatsiz qilish.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Qizil okean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mavjud bozorda raqobatlashish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raqobatchini yengish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mavjud talabdan foydalanish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qiymat yoki xarajat – birini tanlash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23360" y="28346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0E6E9F"/>
          </a:solidFill>
          <a:ln w="12700">
            <a:solidFill>
              <a:srgbClr val="0E6E9F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062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Ko‘k okean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429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raqobatsiz yangi bozor yaratish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raqobatni ahamiyatsiz qilish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yangi talab yaratish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qiymat va xarajatni birga yaxshilash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83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“To‘rt harakat” (ERRC) setkasi: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69280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0432" y="53949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F4F"/>
                </a:solidFill>
              </a:rPr>
              <a:t>Yo‘q qilish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267712" y="539496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377440" y="5550408"/>
            <a:ext cx="457200" cy="45720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56692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89504" y="53949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F4F"/>
                </a:solidFill>
              </a:rPr>
              <a:t>Kamaytirish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986784" y="539496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096512" y="5550408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566928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08576" y="53949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F4F"/>
                </a:solidFill>
              </a:rPr>
              <a:t>Oshirish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705856" y="539496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15584" y="5550408"/>
            <a:ext cx="457200" cy="45720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56692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27648" y="53949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F4F"/>
                </a:solidFill>
              </a:rPr>
              <a:t>Yaratish</a:t>
            </a:r>
            <a:endParaRPr lang="en-US" sz="1250" dirty="0"/>
          </a:p>
        </p:txBody>
      </p:sp>
      <p:pic>
        <p:nvPicPr>
          <p:cNvPr id="27" name="Image 4" descr="img5/oce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371600"/>
            <a:ext cx="3931920" cy="305409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680960" y="4617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7863840" y="4663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 misol: 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“Cirque du Soleil” sirk va teatrni birlashtirib, hayvonlar ishtirokidagi qimmat shoularni olib tashladi va kattalar uchun yangi tomosha bozorini yaratdi.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Korxona raqobatbardoshligini baholash usullari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(ekspert) usuli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omillar 1–10 ball bilan baholanib, raqobatchilar bilan taqqoslanadi.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Matritsa usullari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BCG, Porter, “raqobat xaritasi” orqali bozordagi pozitsiya aniqlanadi.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ko‘rsatkichlar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rentabellik, bozor ulushi, sotuv o‘sishi, mehnat unumdorligi.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eng yaxshi raqobatchi yoki etalon korxona tajribasi bilan solishtirish.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Raqobatbardoshlik ko‘pburchagi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omillar bo‘yicha baholar radar diagrammada tasvirlanadi.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466344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ko‘rsatkich: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Σ (omil bahosi × omil vazni). K &gt; 1 bo‘lsa, korxona raqobatchidan ustun hisoblanadi.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Raqobatbardoshlik ko‘pburchagi (shartli misol, 10 ballik)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1737360"/>
          <a:ext cx="5577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Raqobatbardoshlikni oshirish yo‘llari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Sifatni boshqarish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kabi xalqaro standartlarni joriy etish, sertifikatlash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553" y="16835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Innovatsiyalar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50215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mahsulot va texnologiyalar, ITR, ixtirolarni tijoratlashtirish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9107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73" y="168359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Raqamlashtirish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ERP/CRM tizimlari, onlayn savdo, ma’lumotlar tahlili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91540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7999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93" y="168359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3836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Xarajatlarni kamaytirish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907999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 va energiya tejash, “tejamkor ishlab chiqarish” usullari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323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78671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Marketing va brend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1323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bozorni o‘rganish, brendni rivojlantirish, raqamli marketing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333756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50215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553" y="3786713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6052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Inson kapitali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350215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kadrlar malakasini oshirish, motivatsiya va korporativ madaniyat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12648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9107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473" y="3786713"/>
            <a:ext cx="272125" cy="27212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4944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Mijozga yo‘naltirilganlik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629107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sotuvdan keyingi servis, tezkor xizmat, sodiqlik dasturlari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891540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07999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7393" y="3786713"/>
            <a:ext cx="272125" cy="27212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3836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Hamkorlik va eksport</a:t>
            </a:r>
            <a:endParaRPr lang="en-US" sz="1450" dirty="0"/>
          </a:p>
        </p:txBody>
      </p:sp>
      <p:sp>
        <p:nvSpPr>
          <p:cNvPr id="42" name="Text 32"/>
          <p:cNvSpPr txBox="1"/>
          <p:nvPr/>
        </p:nvSpPr>
        <p:spPr>
          <a:xfrm>
            <a:off x="907999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klasterlar, strategik ittifoqlar, yangi tashqi bozorlarga chiqish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4" name="Text 34"/>
          <p:cNvSpPr txBox="1"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O‘zbekiston amaliyotida: 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“O‘zbekiston – 2030” strategiyasi eksportni kengaytirish, sanoatni modernizatsiya qilish va xususiy sektor raqobatbardoshligini oshirishni ustuvor maqsad qilib belgilagan.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85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 – korxonani doimiy rivojlanishga undovchi kuch, raqobatbardoshlik esa uning bozorda yashab qolishi va o‘sishining asosiy shartidir. Korxona o‘z resurslari va bozordagi o‘rnini hisobga olib, aniq raqobat strategiyasini tanlashi – xarajat yetakchiligi, differensiatsiya, fokuslash yoki yangi “ko‘k okean” yaratishi – hamda sifat, innovatsiya, raqamlashtirish va inson kapitaliga sarmoya kiritib, raqobatbardoshligini muntazam oshirib borishi zarur.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66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Tanlov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strategiya aniq bo‘lishi kerak – “o‘rtada qolib ketish” yutqazishga olib keladi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02336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6344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Pozitsiya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yetakchi, da’vogar, ergashuvchi va nisha egasi turlicha harakat qiladi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29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Baholash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ball usuli, benchmarking va raqobatbardoshlik ko‘pburchagi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02336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5029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6344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Oshirish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sifat, innovatsiya, raqamlashtirish, kadrlar, mijozga xizmat</a:t>
            </a:r>
            <a:endParaRPr lang="en-US" sz="1500" dirty="0"/>
          </a:p>
        </p:txBody>
      </p:sp>
      <p:pic>
        <p:nvPicPr>
          <p:cNvPr id="16" name="Image 4" descr="img5/conclu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25880"/>
            <a:ext cx="3840480" cy="299008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45262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Raqobatda kuchli emas, balki tezroq o‘zgarib, mijozni yaxshiroq tushungan korxona g‘olib bo‘ladi.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5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4846320" cy="3767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541"/>
                </a:solidFill>
              </a:rPr>
              <a:t>Savollaringiz bo‘lsa, marhamat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ya">
  <a:themeElements>
    <a:clrScheme name="Strategiya">
      <a:dk1>
        <a:srgbClr val="1B2A3A"/>
      </a:dk1>
      <a:lt1>
        <a:srgbClr val="FFFFFF"/>
      </a:lt1>
      <a:dk2>
        <a:srgbClr val="0D2F4F"/>
      </a:dk2>
      <a:lt2>
        <a:srgbClr val="E8F3F6"/>
      </a:lt2>
      <a:accent1>
        <a:srgbClr val="0E9F9A"/>
      </a:accent1>
      <a:accent2>
        <a:srgbClr val="F2A541"/>
      </a:accent2>
      <a:accent3>
        <a:srgbClr val="0D2F4F"/>
      </a:accent3>
      <a:accent4>
        <a:srgbClr val="3B6EA5"/>
      </a:accent4>
      <a:accent5>
        <a:srgbClr val="5FD3C9"/>
      </a:accent5>
      <a:accent6>
        <a:srgbClr val="B5651D"/>
      </a:accent6>
      <a:hlink>
        <a:srgbClr val="0E9F9A"/>
      </a:hlink>
      <a:folHlink>
        <a:srgbClr val="3B6EA5"/>
      </a:folHlink>
    </a:clrScheme>
    <a:fontScheme name="Strateg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Raqobat strategiyalari va raqobatbardoshlik</dc:title>
  <dc:subject>PptxGenJS Presentation</dc:subject>
  <dc:creator>PptxGenJS</dc:creator>
  <cp:lastModifiedBy>PptxGenJS</cp:lastModifiedBy>
  <cp:revision>1</cp:revision>
  <dcterms:created xsi:type="dcterms:W3CDTF">2026-10-12T12:12:26Z</dcterms:created>
  <dcterms:modified xsi:type="dcterms:W3CDTF">2026-10-12T12:12:26Z</dcterms:modified>
</cp:coreProperties>
</file>