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DARK-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LIGH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6400800"/>
            <a:ext cx="2743200" cy="274320"/>
          </a:xfrm>
          <a:prstGeom prst="rect">
            <a:avLst/>
          </a:prstGeom>
          <a:noFill/>
          <a:ln/>
        </p:spPr>
        <p:txBody>
          <a:bodyPr wrap="square" lIns="0" tIns="0" rIns="0" bIns="0" rtlCol="0" anchor="ctr"/>
          <a:lstStyle/>
          <a:p>
            <a:pPr indent="0" marL="0">
              <a:buNone/>
            </a:pPr>
            <a:r>
              <a:rPr lang="en-US" sz="1000" dirty="0">
                <a:solidFill>
                  <a:srgbClr val="BFD9E0"/>
                </a:solidFill>
              </a:rPr>
              <a:t>12.10.2026</a:t>
            </a:r>
            <a:endParaRPr lang="en-US" sz="1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D9E0"/>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6400800"/>
            <a:ext cx="2743200" cy="274320"/>
          </a:xfrm>
          <a:prstGeom prst="rect">
            <a:avLst/>
          </a:prstGeom>
          <a:noFill/>
          <a:ln/>
        </p:spPr>
        <p:txBody>
          <a:bodyPr wrap="square" lIns="0" tIns="0" rIns="0" bIns="0" rtlCol="0" anchor="ctr"/>
          <a:lstStyle/>
          <a:p>
            <a:pPr indent="0" marL="0">
              <a:buNone/>
            </a:pPr>
            <a:r>
              <a:rPr lang="en-US" sz="1000" dirty="0">
                <a:solidFill>
                  <a:srgbClr val="4A5B6C"/>
                </a:solidFill>
              </a:rPr>
              <a:t>12.10.2026</a:t>
            </a:r>
            <a:endParaRPr lang="en-US" sz="1000" dirty="0"/>
          </a:p>
        </p:txBody>
      </p:sp>
      <p:sp>
        <p:nvSpPr>
          <p:cNvPr id="3" name="Text 1"/>
          <p:cNvSpPr/>
          <p:nvPr>
            <p:ph idx="101" type="title" hasCustomPrompt="1"/>
          </p:nvPr>
        </p:nvSpPr>
        <p:spPr>
          <a:xfrm>
            <a:off x="548640" y="320040"/>
            <a:ext cx="11064240" cy="868680"/>
          </a:xfrm>
          <a:prstGeom prst="rect">
            <a:avLst/>
          </a:prstGeom>
          <a:noFill/>
          <a:ln/>
        </p:spPr>
        <p:txBody>
          <a:bodyPr wrap="square" rtlCol="0"/>
          <a:lstStyle>
            <a:lvl1pPr algn="l" indent="0" marL="0">
              <a:buNone/>
              <a:defRPr lang="en-US" sz="30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D9E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3.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3.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3.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3.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3.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2.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img/title.png">    </p:cNvPr>
          <p:cNvPicPr>
            <a:picLocks noChangeAspect="1"/>
          </p:cNvPicPr>
          <p:nvPr/>
        </p:nvPicPr>
        <p:blipFill>
          <a:blip r:embed="rId1"/>
          <a:stretch>
            <a:fillRect/>
          </a:stretch>
        </p:blipFill>
        <p:spPr>
          <a:xfrm>
            <a:off x="0" y="0"/>
            <a:ext cx="6236208" cy="6858000"/>
          </a:xfrm>
          <a:prstGeom prst="rect">
            <a:avLst/>
          </a:prstGeom>
        </p:spPr>
      </p:pic>
      <p:sp>
        <p:nvSpPr>
          <p:cNvPr id="3" name="Text 0"/>
          <p:cNvSpPr txBox="1"/>
          <p:nvPr/>
        </p:nvSpPr>
        <p:spPr>
          <a:xfrm>
            <a:off x="6675120" y="1097280"/>
            <a:ext cx="4937760" cy="365760"/>
          </a:xfrm>
          <a:prstGeom prst="rect">
            <a:avLst/>
          </a:prstGeom>
          <a:noFill/>
          <a:ln/>
        </p:spPr>
        <p:txBody>
          <a:bodyPr wrap="square" lIns="0" tIns="0" rIns="0" bIns="0" rtlCol="0" anchor="ctr"/>
          <a:lstStyle/>
          <a:p>
            <a:pPr indent="0" marL="0">
              <a:buNone/>
            </a:pPr>
            <a:r>
              <a:rPr lang="en-US" sz="1400" b="1" spc="600" kern="0" dirty="0">
                <a:solidFill>
                  <a:srgbClr val="F2A541"/>
                </a:solidFill>
              </a:rPr>
              <a:t>MAVZU</a:t>
            </a:r>
            <a:endParaRPr lang="en-US" sz="1400" dirty="0"/>
          </a:p>
        </p:txBody>
      </p:sp>
      <p:sp>
        <p:nvSpPr>
          <p:cNvPr id="4" name="Text 1"/>
          <p:cNvSpPr txBox="1"/>
          <p:nvPr/>
        </p:nvSpPr>
        <p:spPr>
          <a:xfrm>
            <a:off x="6675120" y="1554480"/>
            <a:ext cx="5029200" cy="292608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KORXONALARNI RIVOJLANTIRISH STRATEGIYASINING MOHIYATI, MAQSADI VA ASOSIY TAMOYILLARI</a:t>
            </a:r>
            <a:endParaRPr lang="en-US" sz="3000" dirty="0"/>
          </a:p>
        </p:txBody>
      </p:sp>
      <p:sp>
        <p:nvSpPr>
          <p:cNvPr id="5" name="Text 2"/>
          <p:cNvSpPr txBox="1"/>
          <p:nvPr/>
        </p:nvSpPr>
        <p:spPr>
          <a:xfrm>
            <a:off x="6675120" y="4663440"/>
            <a:ext cx="4937760" cy="365760"/>
          </a:xfrm>
          <a:prstGeom prst="rect">
            <a:avLst/>
          </a:prstGeom>
          <a:noFill/>
          <a:ln/>
        </p:spPr>
        <p:txBody>
          <a:bodyPr wrap="square" lIns="0" tIns="0" rIns="0" bIns="0" rtlCol="0" anchor="ctr"/>
          <a:lstStyle/>
          <a:p>
            <a:pPr indent="0" marL="0">
              <a:buNone/>
            </a:pPr>
            <a:r>
              <a:rPr lang="en-US" sz="1600" i="1" dirty="0">
                <a:solidFill>
                  <a:srgbClr val="BFE9E4"/>
                </a:solidFill>
              </a:rPr>
              <a:t>Strategik menejment fanidan taqdimot</a:t>
            </a:r>
            <a:endParaRPr lang="en-US" sz="1600" dirty="0"/>
          </a:p>
        </p:txBody>
      </p:sp>
      <p:sp>
        <p:nvSpPr>
          <p:cNvPr id="6" name="Text 3"/>
          <p:cNvSpPr txBox="1"/>
          <p:nvPr/>
        </p:nvSpPr>
        <p:spPr>
          <a:xfrm>
            <a:off x="6675120" y="5212080"/>
            <a:ext cx="4937760" cy="731520"/>
          </a:xfrm>
          <a:prstGeom prst="rect">
            <a:avLst/>
          </a:prstGeom>
          <a:noFill/>
          <a:ln/>
        </p:spPr>
        <p:txBody>
          <a:bodyPr wrap="square" lIns="0" tIns="0" rIns="0" bIns="0" rtlCol="0" anchor="ctr"/>
          <a:lstStyle/>
          <a:p>
            <a:pPr indent="0" marL="0">
              <a:spcAft>
                <a:spcPts val="400"/>
              </a:spcAft>
              <a:buNone/>
            </a:pPr>
            <a:r>
              <a:rPr lang="en-US" sz="1400" dirty="0">
                <a:solidFill>
                  <a:srgbClr val="DCEBEF"/>
                </a:solidFill>
              </a:rPr>
              <a:t>Bajardi: ______________________</a:t>
            </a:r>
            <a:endParaRPr lang="en-US" sz="1400" dirty="0"/>
          </a:p>
          <a:p>
            <a:pPr indent="0" marL="0">
              <a:spcAft>
                <a:spcPts val="400"/>
              </a:spcAft>
              <a:buNone/>
            </a:pPr>
            <a:r>
              <a:rPr lang="en-US" sz="1400" dirty="0">
                <a:solidFill>
                  <a:srgbClr val="DCEBEF"/>
                </a:solidFill>
              </a:rPr>
              <a:t>Tekshirdi: ____________________</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D9E0"/>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Reja</a:t>
            </a:r>
            <a:endParaRPr lang="en-US" sz="3000" dirty="0"/>
          </a:p>
        </p:txBody>
      </p:sp>
      <p:sp>
        <p:nvSpPr>
          <p:cNvPr id="3" name="Shape 1"/>
          <p:cNvSpPr/>
          <p:nvPr/>
        </p:nvSpPr>
        <p:spPr>
          <a:xfrm>
            <a:off x="548640" y="1463040"/>
            <a:ext cx="6675120" cy="731520"/>
          </a:xfrm>
          <a:prstGeom prst="roundRect">
            <a:avLst>
              <a:gd name="adj" fmla="val 15000"/>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4" name="Text 2"/>
          <p:cNvSpPr txBox="1"/>
          <p:nvPr/>
        </p:nvSpPr>
        <p:spPr>
          <a:xfrm>
            <a:off x="731520" y="1463040"/>
            <a:ext cx="640080" cy="731520"/>
          </a:xfrm>
          <a:prstGeom prst="rect">
            <a:avLst/>
          </a:prstGeom>
          <a:noFill/>
          <a:ln/>
        </p:spPr>
        <p:txBody>
          <a:bodyPr wrap="square" lIns="0" tIns="0" rIns="0" bIns="0" rtlCol="0" anchor="ctr"/>
          <a:lstStyle/>
          <a:p>
            <a:pPr indent="0" marL="0">
              <a:buNone/>
            </a:pPr>
            <a:r>
              <a:rPr lang="en-US" sz="2400" b="1" dirty="0">
                <a:solidFill>
                  <a:srgbClr val="F2A541"/>
                </a:solidFill>
                <a:latin typeface="Cambria" pitchFamily="34" charset="0"/>
                <a:ea typeface="Cambria" pitchFamily="34" charset="-122"/>
                <a:cs typeface="Cambria" pitchFamily="34" charset="-120"/>
              </a:rPr>
              <a:t>01</a:t>
            </a:r>
            <a:endParaRPr lang="en-US" sz="2400" dirty="0"/>
          </a:p>
        </p:txBody>
      </p:sp>
      <p:sp>
        <p:nvSpPr>
          <p:cNvPr id="5" name="Shape 3"/>
          <p:cNvSpPr/>
          <p:nvPr/>
        </p:nvSpPr>
        <p:spPr>
          <a:xfrm>
            <a:off x="1371600" y="1572768"/>
            <a:ext cx="512064" cy="512064"/>
          </a:xfrm>
          <a:prstGeom prst="ellipse">
            <a:avLst/>
          </a:prstGeom>
          <a:solidFill>
            <a:srgbClr val="0E9F9A"/>
          </a:solidFill>
          <a:ln w="12700">
            <a:solidFill>
              <a:srgbClr val="0E9F9A"/>
            </a:solidFill>
            <a:prstDash val="solid"/>
          </a:ln>
        </p:spPr>
      </p:sp>
      <p:pic>
        <p:nvPicPr>
          <p:cNvPr id="6" name="Image 0" descr="preencoded.png">    </p:cNvPr>
          <p:cNvPicPr>
            <a:picLocks noChangeAspect="1"/>
          </p:cNvPicPr>
          <p:nvPr/>
        </p:nvPicPr>
        <p:blipFill>
          <a:blip r:embed="rId1"/>
          <a:stretch>
            <a:fillRect/>
          </a:stretch>
        </p:blipFill>
        <p:spPr>
          <a:xfrm>
            <a:off x="1504737" y="1705905"/>
            <a:ext cx="245791" cy="245791"/>
          </a:xfrm>
          <a:prstGeom prst="rect">
            <a:avLst/>
          </a:prstGeom>
        </p:spPr>
      </p:pic>
      <p:sp>
        <p:nvSpPr>
          <p:cNvPr id="7" name="Text 4"/>
          <p:cNvSpPr txBox="1"/>
          <p:nvPr/>
        </p:nvSpPr>
        <p:spPr>
          <a:xfrm>
            <a:off x="2057400" y="1463040"/>
            <a:ext cx="5029200" cy="731520"/>
          </a:xfrm>
          <a:prstGeom prst="rect">
            <a:avLst/>
          </a:prstGeom>
          <a:noFill/>
          <a:ln/>
        </p:spPr>
        <p:txBody>
          <a:bodyPr wrap="square" lIns="0" tIns="0" rIns="0" bIns="0" rtlCol="0" anchor="ctr"/>
          <a:lstStyle/>
          <a:p>
            <a:pPr indent="0" marL="0">
              <a:buNone/>
            </a:pPr>
            <a:r>
              <a:rPr lang="en-US" sz="1700" b="1" dirty="0">
                <a:solidFill>
                  <a:srgbClr val="0D2F4F"/>
                </a:solidFill>
              </a:rPr>
              <a:t>Korxona rivojlantirish strategiyasining mohiyati va tushunchasi</a:t>
            </a:r>
            <a:endParaRPr lang="en-US" sz="1700" dirty="0"/>
          </a:p>
        </p:txBody>
      </p:sp>
      <p:sp>
        <p:nvSpPr>
          <p:cNvPr id="8" name="Shape 5"/>
          <p:cNvSpPr/>
          <p:nvPr/>
        </p:nvSpPr>
        <p:spPr>
          <a:xfrm>
            <a:off x="548640" y="2377440"/>
            <a:ext cx="6675120" cy="731520"/>
          </a:xfrm>
          <a:prstGeom prst="roundRect">
            <a:avLst>
              <a:gd name="adj" fmla="val 15000"/>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9" name="Text 6"/>
          <p:cNvSpPr txBox="1"/>
          <p:nvPr/>
        </p:nvSpPr>
        <p:spPr>
          <a:xfrm>
            <a:off x="731520" y="2377440"/>
            <a:ext cx="640080" cy="731520"/>
          </a:xfrm>
          <a:prstGeom prst="rect">
            <a:avLst/>
          </a:prstGeom>
          <a:noFill/>
          <a:ln/>
        </p:spPr>
        <p:txBody>
          <a:bodyPr wrap="square" lIns="0" tIns="0" rIns="0" bIns="0" rtlCol="0" anchor="ctr"/>
          <a:lstStyle/>
          <a:p>
            <a:pPr indent="0" marL="0">
              <a:buNone/>
            </a:pPr>
            <a:r>
              <a:rPr lang="en-US" sz="2400" b="1" dirty="0">
                <a:solidFill>
                  <a:srgbClr val="F2A541"/>
                </a:solidFill>
                <a:latin typeface="Cambria" pitchFamily="34" charset="0"/>
                <a:ea typeface="Cambria" pitchFamily="34" charset="-122"/>
                <a:cs typeface="Cambria" pitchFamily="34" charset="-120"/>
              </a:rPr>
              <a:t>02</a:t>
            </a:r>
            <a:endParaRPr lang="en-US" sz="2400" dirty="0"/>
          </a:p>
        </p:txBody>
      </p:sp>
      <p:sp>
        <p:nvSpPr>
          <p:cNvPr id="10" name="Shape 7"/>
          <p:cNvSpPr/>
          <p:nvPr/>
        </p:nvSpPr>
        <p:spPr>
          <a:xfrm>
            <a:off x="1371600" y="2487168"/>
            <a:ext cx="512064" cy="512064"/>
          </a:xfrm>
          <a:prstGeom prst="ellipse">
            <a:avLst/>
          </a:prstGeom>
          <a:solidFill>
            <a:srgbClr val="0D2F4F"/>
          </a:solidFill>
          <a:ln w="12700">
            <a:solidFill>
              <a:srgbClr val="0D2F4F"/>
            </a:solidFill>
            <a:prstDash val="solid"/>
          </a:ln>
        </p:spPr>
      </p:sp>
      <p:pic>
        <p:nvPicPr>
          <p:cNvPr id="11" name="Image 1" descr="preencoded.png">    </p:cNvPr>
          <p:cNvPicPr>
            <a:picLocks noChangeAspect="1"/>
          </p:cNvPicPr>
          <p:nvPr/>
        </p:nvPicPr>
        <p:blipFill>
          <a:blip r:embed="rId2"/>
          <a:stretch>
            <a:fillRect/>
          </a:stretch>
        </p:blipFill>
        <p:spPr>
          <a:xfrm>
            <a:off x="1504737" y="2620305"/>
            <a:ext cx="245791" cy="245791"/>
          </a:xfrm>
          <a:prstGeom prst="rect">
            <a:avLst/>
          </a:prstGeom>
        </p:spPr>
      </p:pic>
      <p:sp>
        <p:nvSpPr>
          <p:cNvPr id="12" name="Text 8"/>
          <p:cNvSpPr txBox="1"/>
          <p:nvPr/>
        </p:nvSpPr>
        <p:spPr>
          <a:xfrm>
            <a:off x="2057400" y="2377440"/>
            <a:ext cx="5029200" cy="731520"/>
          </a:xfrm>
          <a:prstGeom prst="rect">
            <a:avLst/>
          </a:prstGeom>
          <a:noFill/>
          <a:ln/>
        </p:spPr>
        <p:txBody>
          <a:bodyPr wrap="square" lIns="0" tIns="0" rIns="0" bIns="0" rtlCol="0" anchor="ctr"/>
          <a:lstStyle/>
          <a:p>
            <a:pPr indent="0" marL="0">
              <a:buNone/>
            </a:pPr>
            <a:r>
              <a:rPr lang="en-US" sz="1700" b="1" dirty="0">
                <a:solidFill>
                  <a:srgbClr val="0D2F4F"/>
                </a:solidFill>
              </a:rPr>
              <a:t>Strategiyaning darajalari va asosiy turlari</a:t>
            </a:r>
            <a:endParaRPr lang="en-US" sz="1700" dirty="0"/>
          </a:p>
        </p:txBody>
      </p:sp>
      <p:sp>
        <p:nvSpPr>
          <p:cNvPr id="13" name="Shape 9"/>
          <p:cNvSpPr/>
          <p:nvPr/>
        </p:nvSpPr>
        <p:spPr>
          <a:xfrm>
            <a:off x="548640" y="3291840"/>
            <a:ext cx="6675120" cy="731520"/>
          </a:xfrm>
          <a:prstGeom prst="roundRect">
            <a:avLst>
              <a:gd name="adj" fmla="val 15000"/>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14" name="Text 10"/>
          <p:cNvSpPr txBox="1"/>
          <p:nvPr/>
        </p:nvSpPr>
        <p:spPr>
          <a:xfrm>
            <a:off x="731520" y="3291840"/>
            <a:ext cx="640080" cy="731520"/>
          </a:xfrm>
          <a:prstGeom prst="rect">
            <a:avLst/>
          </a:prstGeom>
          <a:noFill/>
          <a:ln/>
        </p:spPr>
        <p:txBody>
          <a:bodyPr wrap="square" lIns="0" tIns="0" rIns="0" bIns="0" rtlCol="0" anchor="ctr"/>
          <a:lstStyle/>
          <a:p>
            <a:pPr indent="0" marL="0">
              <a:buNone/>
            </a:pPr>
            <a:r>
              <a:rPr lang="en-US" sz="2400" b="1" dirty="0">
                <a:solidFill>
                  <a:srgbClr val="F2A541"/>
                </a:solidFill>
                <a:latin typeface="Cambria" pitchFamily="34" charset="0"/>
                <a:ea typeface="Cambria" pitchFamily="34" charset="-122"/>
                <a:cs typeface="Cambria" pitchFamily="34" charset="-120"/>
              </a:rPr>
              <a:t>03</a:t>
            </a:r>
            <a:endParaRPr lang="en-US" sz="2400" dirty="0"/>
          </a:p>
        </p:txBody>
      </p:sp>
      <p:sp>
        <p:nvSpPr>
          <p:cNvPr id="15" name="Shape 11"/>
          <p:cNvSpPr/>
          <p:nvPr/>
        </p:nvSpPr>
        <p:spPr>
          <a:xfrm>
            <a:off x="1371600" y="3401568"/>
            <a:ext cx="512064" cy="512064"/>
          </a:xfrm>
          <a:prstGeom prst="ellipse">
            <a:avLst/>
          </a:prstGeom>
          <a:solidFill>
            <a:srgbClr val="0E9F9A"/>
          </a:solidFill>
          <a:ln w="12700">
            <a:solidFill>
              <a:srgbClr val="0E9F9A"/>
            </a:solidFill>
            <a:prstDash val="solid"/>
          </a:ln>
        </p:spPr>
      </p:sp>
      <p:pic>
        <p:nvPicPr>
          <p:cNvPr id="16" name="Image 2" descr="preencoded.png">    </p:cNvPr>
          <p:cNvPicPr>
            <a:picLocks noChangeAspect="1"/>
          </p:cNvPicPr>
          <p:nvPr/>
        </p:nvPicPr>
        <p:blipFill>
          <a:blip r:embed="rId3"/>
          <a:stretch>
            <a:fillRect/>
          </a:stretch>
        </p:blipFill>
        <p:spPr>
          <a:xfrm>
            <a:off x="1504737" y="3534705"/>
            <a:ext cx="245791" cy="245791"/>
          </a:xfrm>
          <a:prstGeom prst="rect">
            <a:avLst/>
          </a:prstGeom>
        </p:spPr>
      </p:pic>
      <p:sp>
        <p:nvSpPr>
          <p:cNvPr id="17" name="Text 12"/>
          <p:cNvSpPr txBox="1"/>
          <p:nvPr/>
        </p:nvSpPr>
        <p:spPr>
          <a:xfrm>
            <a:off x="2057400" y="3291840"/>
            <a:ext cx="5029200" cy="731520"/>
          </a:xfrm>
          <a:prstGeom prst="rect">
            <a:avLst/>
          </a:prstGeom>
          <a:noFill/>
          <a:ln/>
        </p:spPr>
        <p:txBody>
          <a:bodyPr wrap="square" lIns="0" tIns="0" rIns="0" bIns="0" rtlCol="0" anchor="ctr"/>
          <a:lstStyle/>
          <a:p>
            <a:pPr indent="0" marL="0">
              <a:buNone/>
            </a:pPr>
            <a:r>
              <a:rPr lang="en-US" sz="1700" b="1" dirty="0">
                <a:solidFill>
                  <a:srgbClr val="0D2F4F"/>
                </a:solidFill>
              </a:rPr>
              <a:t>Rivojlantirish strategiyasining maqsadlari va vazifalari</a:t>
            </a:r>
            <a:endParaRPr lang="en-US" sz="1700" dirty="0"/>
          </a:p>
        </p:txBody>
      </p:sp>
      <p:sp>
        <p:nvSpPr>
          <p:cNvPr id="18" name="Shape 13"/>
          <p:cNvSpPr/>
          <p:nvPr/>
        </p:nvSpPr>
        <p:spPr>
          <a:xfrm>
            <a:off x="548640" y="4206240"/>
            <a:ext cx="6675120" cy="731520"/>
          </a:xfrm>
          <a:prstGeom prst="roundRect">
            <a:avLst>
              <a:gd name="adj" fmla="val 15000"/>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19" name="Text 14"/>
          <p:cNvSpPr txBox="1"/>
          <p:nvPr/>
        </p:nvSpPr>
        <p:spPr>
          <a:xfrm>
            <a:off x="731520" y="4206240"/>
            <a:ext cx="640080" cy="731520"/>
          </a:xfrm>
          <a:prstGeom prst="rect">
            <a:avLst/>
          </a:prstGeom>
          <a:noFill/>
          <a:ln/>
        </p:spPr>
        <p:txBody>
          <a:bodyPr wrap="square" lIns="0" tIns="0" rIns="0" bIns="0" rtlCol="0" anchor="ctr"/>
          <a:lstStyle/>
          <a:p>
            <a:pPr indent="0" marL="0">
              <a:buNone/>
            </a:pPr>
            <a:r>
              <a:rPr lang="en-US" sz="2400" b="1" dirty="0">
                <a:solidFill>
                  <a:srgbClr val="F2A541"/>
                </a:solidFill>
                <a:latin typeface="Cambria" pitchFamily="34" charset="0"/>
                <a:ea typeface="Cambria" pitchFamily="34" charset="-122"/>
                <a:cs typeface="Cambria" pitchFamily="34" charset="-120"/>
              </a:rPr>
              <a:t>04</a:t>
            </a:r>
            <a:endParaRPr lang="en-US" sz="2400" dirty="0"/>
          </a:p>
        </p:txBody>
      </p:sp>
      <p:sp>
        <p:nvSpPr>
          <p:cNvPr id="20" name="Shape 15"/>
          <p:cNvSpPr/>
          <p:nvPr/>
        </p:nvSpPr>
        <p:spPr>
          <a:xfrm>
            <a:off x="1371600" y="4315968"/>
            <a:ext cx="512064" cy="512064"/>
          </a:xfrm>
          <a:prstGeom prst="ellipse">
            <a:avLst/>
          </a:prstGeom>
          <a:solidFill>
            <a:srgbClr val="0D2F4F"/>
          </a:solidFill>
          <a:ln w="12700">
            <a:solidFill>
              <a:srgbClr val="0D2F4F"/>
            </a:solidFill>
            <a:prstDash val="solid"/>
          </a:ln>
        </p:spPr>
      </p:sp>
      <p:pic>
        <p:nvPicPr>
          <p:cNvPr id="21" name="Image 3" descr="preencoded.png">    </p:cNvPr>
          <p:cNvPicPr>
            <a:picLocks noChangeAspect="1"/>
          </p:cNvPicPr>
          <p:nvPr/>
        </p:nvPicPr>
        <p:blipFill>
          <a:blip r:embed="rId4"/>
          <a:stretch>
            <a:fillRect/>
          </a:stretch>
        </p:blipFill>
        <p:spPr>
          <a:xfrm>
            <a:off x="1504737" y="4449105"/>
            <a:ext cx="245791" cy="245791"/>
          </a:xfrm>
          <a:prstGeom prst="rect">
            <a:avLst/>
          </a:prstGeom>
        </p:spPr>
      </p:pic>
      <p:sp>
        <p:nvSpPr>
          <p:cNvPr id="22" name="Text 16"/>
          <p:cNvSpPr txBox="1"/>
          <p:nvPr/>
        </p:nvSpPr>
        <p:spPr>
          <a:xfrm>
            <a:off x="2057400" y="4206240"/>
            <a:ext cx="5029200" cy="731520"/>
          </a:xfrm>
          <a:prstGeom prst="rect">
            <a:avLst/>
          </a:prstGeom>
          <a:noFill/>
          <a:ln/>
        </p:spPr>
        <p:txBody>
          <a:bodyPr wrap="square" lIns="0" tIns="0" rIns="0" bIns="0" rtlCol="0" anchor="ctr"/>
          <a:lstStyle/>
          <a:p>
            <a:pPr indent="0" marL="0">
              <a:buNone/>
            </a:pPr>
            <a:r>
              <a:rPr lang="en-US" sz="1700" b="1" dirty="0">
                <a:solidFill>
                  <a:srgbClr val="0D2F4F"/>
                </a:solidFill>
              </a:rPr>
              <a:t>Strategiyani ishlab chiqishning asosiy tamoyillari</a:t>
            </a:r>
            <a:endParaRPr lang="en-US" sz="1700" dirty="0"/>
          </a:p>
        </p:txBody>
      </p:sp>
      <p:sp>
        <p:nvSpPr>
          <p:cNvPr id="23" name="Shape 17"/>
          <p:cNvSpPr/>
          <p:nvPr/>
        </p:nvSpPr>
        <p:spPr>
          <a:xfrm>
            <a:off x="548640" y="5120640"/>
            <a:ext cx="6675120" cy="731520"/>
          </a:xfrm>
          <a:prstGeom prst="roundRect">
            <a:avLst>
              <a:gd name="adj" fmla="val 15000"/>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24" name="Text 18"/>
          <p:cNvSpPr txBox="1"/>
          <p:nvPr/>
        </p:nvSpPr>
        <p:spPr>
          <a:xfrm>
            <a:off x="731520" y="5120640"/>
            <a:ext cx="640080" cy="731520"/>
          </a:xfrm>
          <a:prstGeom prst="rect">
            <a:avLst/>
          </a:prstGeom>
          <a:noFill/>
          <a:ln/>
        </p:spPr>
        <p:txBody>
          <a:bodyPr wrap="square" lIns="0" tIns="0" rIns="0" bIns="0" rtlCol="0" anchor="ctr"/>
          <a:lstStyle/>
          <a:p>
            <a:pPr indent="0" marL="0">
              <a:buNone/>
            </a:pPr>
            <a:r>
              <a:rPr lang="en-US" sz="2400" b="1" dirty="0">
                <a:solidFill>
                  <a:srgbClr val="F2A541"/>
                </a:solidFill>
                <a:latin typeface="Cambria" pitchFamily="34" charset="0"/>
                <a:ea typeface="Cambria" pitchFamily="34" charset="-122"/>
                <a:cs typeface="Cambria" pitchFamily="34" charset="-120"/>
              </a:rPr>
              <a:t>05</a:t>
            </a:r>
            <a:endParaRPr lang="en-US" sz="2400" dirty="0"/>
          </a:p>
        </p:txBody>
      </p:sp>
      <p:sp>
        <p:nvSpPr>
          <p:cNvPr id="25" name="Shape 19"/>
          <p:cNvSpPr/>
          <p:nvPr/>
        </p:nvSpPr>
        <p:spPr>
          <a:xfrm>
            <a:off x="1371600" y="5230368"/>
            <a:ext cx="512064" cy="512064"/>
          </a:xfrm>
          <a:prstGeom prst="ellipse">
            <a:avLst/>
          </a:prstGeom>
          <a:solidFill>
            <a:srgbClr val="0E9F9A"/>
          </a:solidFill>
          <a:ln w="12700">
            <a:solidFill>
              <a:srgbClr val="0E9F9A"/>
            </a:solidFill>
            <a:prstDash val="solid"/>
          </a:ln>
        </p:spPr>
      </p:sp>
      <p:pic>
        <p:nvPicPr>
          <p:cNvPr id="26" name="Image 4" descr="preencoded.png">    </p:cNvPr>
          <p:cNvPicPr>
            <a:picLocks noChangeAspect="1"/>
          </p:cNvPicPr>
          <p:nvPr/>
        </p:nvPicPr>
        <p:blipFill>
          <a:blip r:embed="rId5"/>
          <a:stretch>
            <a:fillRect/>
          </a:stretch>
        </p:blipFill>
        <p:spPr>
          <a:xfrm>
            <a:off x="1504737" y="5363505"/>
            <a:ext cx="245791" cy="245791"/>
          </a:xfrm>
          <a:prstGeom prst="rect">
            <a:avLst/>
          </a:prstGeom>
        </p:spPr>
      </p:pic>
      <p:sp>
        <p:nvSpPr>
          <p:cNvPr id="27" name="Text 20"/>
          <p:cNvSpPr txBox="1"/>
          <p:nvPr/>
        </p:nvSpPr>
        <p:spPr>
          <a:xfrm>
            <a:off x="2057400" y="5120640"/>
            <a:ext cx="5029200" cy="731520"/>
          </a:xfrm>
          <a:prstGeom prst="rect">
            <a:avLst/>
          </a:prstGeom>
          <a:noFill/>
          <a:ln/>
        </p:spPr>
        <p:txBody>
          <a:bodyPr wrap="square" lIns="0" tIns="0" rIns="0" bIns="0" rtlCol="0" anchor="ctr"/>
          <a:lstStyle/>
          <a:p>
            <a:pPr indent="0" marL="0">
              <a:buNone/>
            </a:pPr>
            <a:r>
              <a:rPr lang="en-US" sz="1700" b="1" dirty="0">
                <a:solidFill>
                  <a:srgbClr val="0D2F4F"/>
                </a:solidFill>
              </a:rPr>
              <a:t>Strategik rejalashtirish bosqichlari va amaliy ahamiyati</a:t>
            </a:r>
            <a:endParaRPr lang="en-US" sz="1700" dirty="0"/>
          </a:p>
        </p:txBody>
      </p:sp>
      <p:pic>
        <p:nvPicPr>
          <p:cNvPr id="28" name="Image 5" descr="img/plan.png">    </p:cNvPr>
          <p:cNvPicPr>
            <a:picLocks noChangeAspect="1"/>
          </p:cNvPicPr>
          <p:nvPr/>
        </p:nvPicPr>
        <p:blipFill>
          <a:blip r:embed="rId6"/>
          <a:stretch>
            <a:fillRect/>
          </a:stretch>
        </p:blipFill>
        <p:spPr>
          <a:xfrm>
            <a:off x="7680960" y="1463040"/>
            <a:ext cx="3931920" cy="3054096"/>
          </a:xfrm>
          <a:prstGeom prst="rect">
            <a:avLst/>
          </a:prstGeom>
        </p:spPr>
      </p:pic>
      <p:sp>
        <p:nvSpPr>
          <p:cNvPr id="29" name="Text 21"/>
          <p:cNvSpPr txBox="1"/>
          <p:nvPr/>
        </p:nvSpPr>
        <p:spPr>
          <a:xfrm>
            <a:off x="7680960" y="4663440"/>
            <a:ext cx="3931920" cy="731520"/>
          </a:xfrm>
          <a:prstGeom prst="rect">
            <a:avLst/>
          </a:prstGeom>
          <a:noFill/>
          <a:ln/>
        </p:spPr>
        <p:txBody>
          <a:bodyPr wrap="square" lIns="0" tIns="0" rIns="0" bIns="0" rtlCol="0" anchor="ctr"/>
          <a:lstStyle/>
          <a:p>
            <a:pPr indent="0" marL="0">
              <a:buNone/>
            </a:pPr>
            <a:r>
              <a:rPr lang="en-US" sz="1400" i="1" dirty="0">
                <a:solidFill>
                  <a:srgbClr val="4A5B6C"/>
                </a:solidFill>
              </a:rPr>
              <a:t>Xulosa va asosiy xulosalar taqdimot so‘ngida beriladi</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1. Strategiya tushunchasi va uning kelib chiqishi</a:t>
            </a:r>
            <a:endParaRPr lang="en-US" sz="3000" dirty="0"/>
          </a:p>
        </p:txBody>
      </p:sp>
      <p:sp>
        <p:nvSpPr>
          <p:cNvPr id="3" name="Text 1"/>
          <p:cNvSpPr txBox="1"/>
          <p:nvPr/>
        </p:nvSpPr>
        <p:spPr>
          <a:xfrm>
            <a:off x="548640" y="1371600"/>
            <a:ext cx="6766560" cy="1828800"/>
          </a:xfrm>
          <a:prstGeom prst="rect">
            <a:avLst/>
          </a:prstGeom>
          <a:noFill/>
          <a:ln/>
        </p:spPr>
        <p:txBody>
          <a:bodyPr wrap="square" lIns="0" tIns="0" rIns="0" bIns="0" rtlCol="0" anchor="t"/>
          <a:lstStyle/>
          <a:p>
            <a:pPr indent="0" marL="0">
              <a:spcAft>
                <a:spcPts val="600"/>
              </a:spcAft>
              <a:buNone/>
            </a:pPr>
            <a:r>
              <a:rPr lang="en-US" sz="1500" dirty="0">
                <a:solidFill>
                  <a:srgbClr val="1B2A3A"/>
                </a:solidFill>
                <a:latin typeface="Calibri" pitchFamily="34" charset="0"/>
                <a:ea typeface="Calibri" pitchFamily="34" charset="-122"/>
                <a:cs typeface="Calibri" pitchFamily="34" charset="-120"/>
              </a:rPr>
              <a:t>“Strategiya” atamasi qadimgi yunoncha “strategos” – “qo‘mondonlik san’ati” so‘zidan kelib chiqqan bo‘lib, dastlab harbiy sohada qo‘shinlarni boshqarish va g‘alabaga erishish rejasini anglatgan. XX asrning o‘rtalaridan boshlab bu tushuncha iqtisodiyot va menejmentga kirib keldi hamda korxonaning uzoq muddatli rivojlanish yo‘nalishini belgilovchi asosiy boshqaruv vositasiga aylandi.</a:t>
            </a:r>
            <a:endParaRPr lang="en-US" sz="1500" dirty="0"/>
          </a:p>
        </p:txBody>
      </p:sp>
      <p:sp>
        <p:nvSpPr>
          <p:cNvPr id="4" name="Shape 2"/>
          <p:cNvSpPr/>
          <p:nvPr/>
        </p:nvSpPr>
        <p:spPr>
          <a:xfrm>
            <a:off x="548640" y="3246120"/>
            <a:ext cx="960120" cy="566928"/>
          </a:xfrm>
          <a:prstGeom prst="roundRect">
            <a:avLst>
              <a:gd name="adj" fmla="val 16129"/>
            </a:avLst>
          </a:prstGeom>
          <a:solidFill>
            <a:srgbClr val="0E9F9A"/>
          </a:solidFill>
          <a:ln w="12700">
            <a:solidFill>
              <a:srgbClr val="0E9F9A"/>
            </a:solidFill>
            <a:prstDash val="solid"/>
          </a:ln>
        </p:spPr>
      </p:sp>
      <p:sp>
        <p:nvSpPr>
          <p:cNvPr id="5" name="Text 3"/>
          <p:cNvSpPr txBox="1"/>
          <p:nvPr/>
        </p:nvSpPr>
        <p:spPr>
          <a:xfrm>
            <a:off x="548640" y="3246120"/>
            <a:ext cx="960120"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1962</a:t>
            </a:r>
            <a:endParaRPr lang="en-US" sz="1800" dirty="0"/>
          </a:p>
        </p:txBody>
      </p:sp>
      <p:sp>
        <p:nvSpPr>
          <p:cNvPr id="6" name="Text 4"/>
          <p:cNvSpPr txBox="1"/>
          <p:nvPr/>
        </p:nvSpPr>
        <p:spPr>
          <a:xfrm>
            <a:off x="1691640" y="3246120"/>
            <a:ext cx="5623560" cy="640080"/>
          </a:xfrm>
          <a:prstGeom prst="rect">
            <a:avLst/>
          </a:prstGeom>
          <a:noFill/>
          <a:ln/>
        </p:spPr>
        <p:txBody>
          <a:bodyPr wrap="square" lIns="0" tIns="0" rIns="0" bIns="0" rtlCol="0" anchor="ctr"/>
          <a:lstStyle/>
          <a:p>
            <a:pPr indent="0" marL="0">
              <a:buNone/>
            </a:pPr>
            <a:r>
              <a:rPr lang="en-US" sz="1500" b="1" dirty="0">
                <a:solidFill>
                  <a:srgbClr val="0D2F4F"/>
                </a:solidFill>
                <a:latin typeface="Calibri" pitchFamily="34" charset="0"/>
                <a:ea typeface="Calibri" pitchFamily="34" charset="-122"/>
                <a:cs typeface="Calibri" pitchFamily="34" charset="-120"/>
              </a:rPr>
              <a:t>A. Chandler – </a:t>
            </a:r>
            <a:pPr indent="0" marL="0">
              <a:buNone/>
            </a:pPr>
            <a:r>
              <a:rPr lang="en-US" sz="1500" dirty="0">
                <a:solidFill>
                  <a:srgbClr val="1B2A3A"/>
                </a:solidFill>
                <a:latin typeface="Calibri" pitchFamily="34" charset="0"/>
                <a:ea typeface="Calibri" pitchFamily="34" charset="-122"/>
                <a:cs typeface="Calibri" pitchFamily="34" charset="-120"/>
              </a:rPr>
              <a:t>strategiyani uzoq muddatli maqsadlarni aniqlash va resurslarni taqsimlash deb ta’rifladi</a:t>
            </a:r>
            <a:endParaRPr lang="en-US" sz="1500" dirty="0"/>
          </a:p>
        </p:txBody>
      </p:sp>
      <p:sp>
        <p:nvSpPr>
          <p:cNvPr id="7" name="Shape 5"/>
          <p:cNvSpPr/>
          <p:nvPr/>
        </p:nvSpPr>
        <p:spPr>
          <a:xfrm>
            <a:off x="548640" y="4005072"/>
            <a:ext cx="960120" cy="566928"/>
          </a:xfrm>
          <a:prstGeom prst="roundRect">
            <a:avLst>
              <a:gd name="adj" fmla="val 16129"/>
            </a:avLst>
          </a:prstGeom>
          <a:solidFill>
            <a:srgbClr val="0D2F4F"/>
          </a:solidFill>
          <a:ln w="12700">
            <a:solidFill>
              <a:srgbClr val="0D2F4F"/>
            </a:solidFill>
            <a:prstDash val="solid"/>
          </a:ln>
        </p:spPr>
      </p:sp>
      <p:sp>
        <p:nvSpPr>
          <p:cNvPr id="8" name="Text 6"/>
          <p:cNvSpPr txBox="1"/>
          <p:nvPr/>
        </p:nvSpPr>
        <p:spPr>
          <a:xfrm>
            <a:off x="548640" y="4005072"/>
            <a:ext cx="960120"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1965</a:t>
            </a:r>
            <a:endParaRPr lang="en-US" sz="1800" dirty="0"/>
          </a:p>
        </p:txBody>
      </p:sp>
      <p:sp>
        <p:nvSpPr>
          <p:cNvPr id="9" name="Text 7"/>
          <p:cNvSpPr txBox="1"/>
          <p:nvPr/>
        </p:nvSpPr>
        <p:spPr>
          <a:xfrm>
            <a:off x="1691640" y="4005072"/>
            <a:ext cx="5623560" cy="640080"/>
          </a:xfrm>
          <a:prstGeom prst="rect">
            <a:avLst/>
          </a:prstGeom>
          <a:noFill/>
          <a:ln/>
        </p:spPr>
        <p:txBody>
          <a:bodyPr wrap="square" lIns="0" tIns="0" rIns="0" bIns="0" rtlCol="0" anchor="ctr"/>
          <a:lstStyle/>
          <a:p>
            <a:pPr indent="0" marL="0">
              <a:buNone/>
            </a:pPr>
            <a:r>
              <a:rPr lang="en-US" sz="1500" b="1" dirty="0">
                <a:solidFill>
                  <a:srgbClr val="0D2F4F"/>
                </a:solidFill>
                <a:latin typeface="Calibri" pitchFamily="34" charset="0"/>
                <a:ea typeface="Calibri" pitchFamily="34" charset="-122"/>
                <a:cs typeface="Calibri" pitchFamily="34" charset="-120"/>
              </a:rPr>
              <a:t>I. Ansoff – </a:t>
            </a:r>
            <a:pPr indent="0" marL="0">
              <a:buNone/>
            </a:pPr>
            <a:r>
              <a:rPr lang="en-US" sz="1500" dirty="0">
                <a:solidFill>
                  <a:srgbClr val="1B2A3A"/>
                </a:solidFill>
                <a:latin typeface="Calibri" pitchFamily="34" charset="0"/>
                <a:ea typeface="Calibri" pitchFamily="34" charset="-122"/>
                <a:cs typeface="Calibri" pitchFamily="34" charset="-120"/>
              </a:rPr>
              <a:t>“Korporativ strategiya” asarida o‘sish strategiyalari matritsasini taklif etdi</a:t>
            </a:r>
            <a:endParaRPr lang="en-US" sz="1500" dirty="0"/>
          </a:p>
        </p:txBody>
      </p:sp>
      <p:sp>
        <p:nvSpPr>
          <p:cNvPr id="10" name="Shape 8"/>
          <p:cNvSpPr/>
          <p:nvPr/>
        </p:nvSpPr>
        <p:spPr>
          <a:xfrm>
            <a:off x="548640" y="4764024"/>
            <a:ext cx="960120" cy="566928"/>
          </a:xfrm>
          <a:prstGeom prst="roundRect">
            <a:avLst>
              <a:gd name="adj" fmla="val 16129"/>
            </a:avLst>
          </a:prstGeom>
          <a:solidFill>
            <a:srgbClr val="0E9F9A"/>
          </a:solidFill>
          <a:ln w="12700">
            <a:solidFill>
              <a:srgbClr val="0E9F9A"/>
            </a:solidFill>
            <a:prstDash val="solid"/>
          </a:ln>
        </p:spPr>
      </p:sp>
      <p:sp>
        <p:nvSpPr>
          <p:cNvPr id="11" name="Text 9"/>
          <p:cNvSpPr txBox="1"/>
          <p:nvPr/>
        </p:nvSpPr>
        <p:spPr>
          <a:xfrm>
            <a:off x="548640" y="4764024"/>
            <a:ext cx="960120"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1980</a:t>
            </a:r>
            <a:endParaRPr lang="en-US" sz="1800" dirty="0"/>
          </a:p>
        </p:txBody>
      </p:sp>
      <p:sp>
        <p:nvSpPr>
          <p:cNvPr id="12" name="Text 10"/>
          <p:cNvSpPr txBox="1"/>
          <p:nvPr/>
        </p:nvSpPr>
        <p:spPr>
          <a:xfrm>
            <a:off x="1691640" y="4764024"/>
            <a:ext cx="5623560" cy="640080"/>
          </a:xfrm>
          <a:prstGeom prst="rect">
            <a:avLst/>
          </a:prstGeom>
          <a:noFill/>
          <a:ln/>
        </p:spPr>
        <p:txBody>
          <a:bodyPr wrap="square" lIns="0" tIns="0" rIns="0" bIns="0" rtlCol="0" anchor="ctr"/>
          <a:lstStyle/>
          <a:p>
            <a:pPr indent="0" marL="0">
              <a:buNone/>
            </a:pPr>
            <a:r>
              <a:rPr lang="en-US" sz="1500" b="1" dirty="0">
                <a:solidFill>
                  <a:srgbClr val="0D2F4F"/>
                </a:solidFill>
                <a:latin typeface="Calibri" pitchFamily="34" charset="0"/>
                <a:ea typeface="Calibri" pitchFamily="34" charset="-122"/>
                <a:cs typeface="Calibri" pitchFamily="34" charset="-120"/>
              </a:rPr>
              <a:t>M. Porter – </a:t>
            </a:r>
            <a:pPr indent="0" marL="0">
              <a:buNone/>
            </a:pPr>
            <a:r>
              <a:rPr lang="en-US" sz="1500" dirty="0">
                <a:solidFill>
                  <a:srgbClr val="1B2A3A"/>
                </a:solidFill>
                <a:latin typeface="Calibri" pitchFamily="34" charset="0"/>
                <a:ea typeface="Calibri" pitchFamily="34" charset="-122"/>
                <a:cs typeface="Calibri" pitchFamily="34" charset="-120"/>
              </a:rPr>
              <a:t>raqobat strategiyalari va “besh kuch” modelini ishlab chiqdi</a:t>
            </a:r>
            <a:endParaRPr lang="en-US" sz="1500" dirty="0"/>
          </a:p>
        </p:txBody>
      </p:sp>
      <p:sp>
        <p:nvSpPr>
          <p:cNvPr id="13" name="Shape 11"/>
          <p:cNvSpPr/>
          <p:nvPr/>
        </p:nvSpPr>
        <p:spPr>
          <a:xfrm>
            <a:off x="548640" y="5522976"/>
            <a:ext cx="960120" cy="566928"/>
          </a:xfrm>
          <a:prstGeom prst="roundRect">
            <a:avLst>
              <a:gd name="adj" fmla="val 16129"/>
            </a:avLst>
          </a:prstGeom>
          <a:solidFill>
            <a:srgbClr val="0D2F4F"/>
          </a:solidFill>
          <a:ln w="12700">
            <a:solidFill>
              <a:srgbClr val="0D2F4F"/>
            </a:solidFill>
            <a:prstDash val="solid"/>
          </a:ln>
        </p:spPr>
      </p:sp>
      <p:sp>
        <p:nvSpPr>
          <p:cNvPr id="14" name="Text 12"/>
          <p:cNvSpPr txBox="1"/>
          <p:nvPr/>
        </p:nvSpPr>
        <p:spPr>
          <a:xfrm>
            <a:off x="548640" y="5522976"/>
            <a:ext cx="960120"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1987</a:t>
            </a:r>
            <a:endParaRPr lang="en-US" sz="1800" dirty="0"/>
          </a:p>
        </p:txBody>
      </p:sp>
      <p:sp>
        <p:nvSpPr>
          <p:cNvPr id="15" name="Text 13"/>
          <p:cNvSpPr txBox="1"/>
          <p:nvPr/>
        </p:nvSpPr>
        <p:spPr>
          <a:xfrm>
            <a:off x="1691640" y="5522976"/>
            <a:ext cx="5623560" cy="640080"/>
          </a:xfrm>
          <a:prstGeom prst="rect">
            <a:avLst/>
          </a:prstGeom>
          <a:noFill/>
          <a:ln/>
        </p:spPr>
        <p:txBody>
          <a:bodyPr wrap="square" lIns="0" tIns="0" rIns="0" bIns="0" rtlCol="0" anchor="ctr"/>
          <a:lstStyle/>
          <a:p>
            <a:pPr indent="0" marL="0">
              <a:buNone/>
            </a:pPr>
            <a:r>
              <a:rPr lang="en-US" sz="1500" b="1" dirty="0">
                <a:solidFill>
                  <a:srgbClr val="0D2F4F"/>
                </a:solidFill>
                <a:latin typeface="Calibri" pitchFamily="34" charset="0"/>
                <a:ea typeface="Calibri" pitchFamily="34" charset="-122"/>
                <a:cs typeface="Calibri" pitchFamily="34" charset="-120"/>
              </a:rPr>
              <a:t>H. Mintzberg – </a:t>
            </a:r>
            <a:pPr indent="0" marL="0">
              <a:buNone/>
            </a:pPr>
            <a:r>
              <a:rPr lang="en-US" sz="1500" dirty="0">
                <a:solidFill>
                  <a:srgbClr val="1B2A3A"/>
                </a:solidFill>
                <a:latin typeface="Calibri" pitchFamily="34" charset="0"/>
                <a:ea typeface="Calibri" pitchFamily="34" charset="-122"/>
                <a:cs typeface="Calibri" pitchFamily="34" charset="-120"/>
              </a:rPr>
              <a:t>strategiyaning “5P” modelini (reja, hiyla, namuna, pozitsiya, nuqtai nazar) asosladi</a:t>
            </a:r>
            <a:endParaRPr lang="en-US" sz="1500" dirty="0"/>
          </a:p>
        </p:txBody>
      </p:sp>
      <p:pic>
        <p:nvPicPr>
          <p:cNvPr id="16" name="Image 0" descr="img/history.png">    </p:cNvPr>
          <p:cNvPicPr>
            <a:picLocks noChangeAspect="1"/>
          </p:cNvPicPr>
          <p:nvPr/>
        </p:nvPicPr>
        <p:blipFill>
          <a:blip r:embed="rId1"/>
          <a:stretch>
            <a:fillRect/>
          </a:stretch>
        </p:blipFill>
        <p:spPr>
          <a:xfrm>
            <a:off x="7680960" y="1371600"/>
            <a:ext cx="3931920" cy="3054096"/>
          </a:xfrm>
          <a:prstGeom prst="rect">
            <a:avLst/>
          </a:prstGeom>
        </p:spPr>
      </p:pic>
      <p:sp>
        <p:nvSpPr>
          <p:cNvPr id="17" name="Shape 14"/>
          <p:cNvSpPr/>
          <p:nvPr/>
        </p:nvSpPr>
        <p:spPr>
          <a:xfrm>
            <a:off x="7680960" y="4617720"/>
            <a:ext cx="3931920" cy="1508760"/>
          </a:xfrm>
          <a:prstGeom prst="roundRect">
            <a:avLst>
              <a:gd name="adj" fmla="val 7273"/>
            </a:avLst>
          </a:prstGeom>
          <a:solidFill>
            <a:srgbClr val="E8F3F6"/>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18" name="Text 15"/>
          <p:cNvSpPr txBox="1"/>
          <p:nvPr/>
        </p:nvSpPr>
        <p:spPr>
          <a:xfrm>
            <a:off x="7863840" y="4709160"/>
            <a:ext cx="3566160" cy="1325880"/>
          </a:xfrm>
          <a:prstGeom prst="rect">
            <a:avLst/>
          </a:prstGeom>
          <a:noFill/>
          <a:ln/>
        </p:spPr>
        <p:txBody>
          <a:bodyPr wrap="square" lIns="0" tIns="0" rIns="0" bIns="0" rtlCol="0" anchor="ctr"/>
          <a:lstStyle/>
          <a:p>
            <a:pPr indent="0" marL="0">
              <a:spcAft>
                <a:spcPts val="400"/>
              </a:spcAft>
              <a:buNone/>
            </a:pPr>
            <a:r>
              <a:rPr lang="en-US" sz="1400" i="1" dirty="0">
                <a:solidFill>
                  <a:srgbClr val="1B2A3A"/>
                </a:solidFill>
                <a:latin typeface="Calibri" pitchFamily="34" charset="0"/>
                <a:ea typeface="Calibri" pitchFamily="34" charset="-122"/>
                <a:cs typeface="Calibri" pitchFamily="34" charset="-120"/>
              </a:rPr>
              <a:t>“Strategiya – bu tashkilot qayerga borayotgani va u yerga qanday yetib borishi haqidagi yo‘l xaritasidir.”</a:t>
            </a:r>
            <a:endParaRPr lang="en-US" sz="1400" dirty="0"/>
          </a:p>
          <a:p>
            <a:pPr indent="0" marL="0">
              <a:spcAft>
                <a:spcPts val="400"/>
              </a:spcAft>
              <a:buNone/>
            </a:pPr>
            <a:r>
              <a:rPr lang="en-US" sz="1200" dirty="0">
                <a:solidFill>
                  <a:srgbClr val="4A5B6C"/>
                </a:solidFill>
                <a:latin typeface="Calibri" pitchFamily="34" charset="0"/>
                <a:ea typeface="Calibri" pitchFamily="34" charset="-122"/>
                <a:cs typeface="Calibri" pitchFamily="34" charset="-120"/>
              </a:rPr>
              <a:t>— strategik menejment klassik qoidasi</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1. Rivojlantirish strategiyasining mohiyati</a:t>
            </a:r>
            <a:endParaRPr lang="en-US" sz="3000" dirty="0"/>
          </a:p>
        </p:txBody>
      </p:sp>
      <p:pic>
        <p:nvPicPr>
          <p:cNvPr id="3" name="Image 0" descr="img/essence.png">    </p:cNvPr>
          <p:cNvPicPr>
            <a:picLocks noChangeAspect="1"/>
          </p:cNvPicPr>
          <p:nvPr/>
        </p:nvPicPr>
        <p:blipFill>
          <a:blip r:embed="rId1"/>
          <a:stretch>
            <a:fillRect/>
          </a:stretch>
        </p:blipFill>
        <p:spPr>
          <a:xfrm>
            <a:off x="548640" y="1371600"/>
            <a:ext cx="4206240" cy="3273552"/>
          </a:xfrm>
          <a:prstGeom prst="rect">
            <a:avLst/>
          </a:prstGeom>
        </p:spPr>
      </p:pic>
      <p:sp>
        <p:nvSpPr>
          <p:cNvPr id="4" name="Text 1"/>
          <p:cNvSpPr txBox="1"/>
          <p:nvPr/>
        </p:nvSpPr>
        <p:spPr>
          <a:xfrm>
            <a:off x="548640" y="4800600"/>
            <a:ext cx="4206240" cy="1463040"/>
          </a:xfrm>
          <a:prstGeom prst="rect">
            <a:avLst/>
          </a:prstGeom>
          <a:noFill/>
          <a:ln/>
        </p:spPr>
        <p:txBody>
          <a:bodyPr wrap="square" lIns="0" tIns="0" rIns="0" bIns="0" rtlCol="0" anchor="t"/>
          <a:lstStyle/>
          <a:p>
            <a:pPr indent="0" marL="0">
              <a:spcAft>
                <a:spcPts val="600"/>
              </a:spcAft>
              <a:buNone/>
            </a:pPr>
            <a:r>
              <a:rPr lang="en-US" sz="1400" b="1" dirty="0">
                <a:solidFill>
                  <a:srgbClr val="0E9F9A"/>
                </a:solidFill>
                <a:latin typeface="Calibri" pitchFamily="34" charset="0"/>
                <a:ea typeface="Calibri" pitchFamily="34" charset="-122"/>
                <a:cs typeface="Calibri" pitchFamily="34" charset="-120"/>
              </a:rPr>
              <a:t>Korxonani rivojlantirish strategiyasi</a:t>
            </a:r>
            <a:pPr indent="0" marL="0">
              <a:spcAft>
                <a:spcPts val="600"/>
              </a:spcAft>
              <a:buNone/>
            </a:pPr>
            <a:r>
              <a:rPr lang="en-US" sz="1400" dirty="0">
                <a:solidFill>
                  <a:srgbClr val="1B2A3A"/>
                </a:solidFill>
                <a:latin typeface="Calibri" pitchFamily="34" charset="0"/>
                <a:ea typeface="Calibri" pitchFamily="34" charset="-122"/>
                <a:cs typeface="Calibri" pitchFamily="34" charset="-120"/>
              </a:rPr>
              <a:t> – bu korxonaning uzoq muddatli maqsadlari, ularga erishish yo‘llari, zarur resurslarni jalb qilish va taqsimlash tartibini belgilovchi, tashqi va ichki muhit o‘zgarishlarini hisobga olgan holda ishlab chiqilgan yaxlit harakatlar dasturidir.</a:t>
            </a:r>
            <a:endParaRPr lang="en-US" sz="1400" dirty="0"/>
          </a:p>
        </p:txBody>
      </p:sp>
      <p:sp>
        <p:nvSpPr>
          <p:cNvPr id="5" name="Text 2"/>
          <p:cNvSpPr txBox="1"/>
          <p:nvPr/>
        </p:nvSpPr>
        <p:spPr>
          <a:xfrm>
            <a:off x="5120640" y="1371600"/>
            <a:ext cx="6492240" cy="365760"/>
          </a:xfrm>
          <a:prstGeom prst="rect">
            <a:avLst/>
          </a:prstGeom>
          <a:noFill/>
          <a:ln/>
        </p:spPr>
        <p:txBody>
          <a:bodyPr wrap="square" lIns="0" tIns="0" rIns="0" bIns="0" rtlCol="0" anchor="t"/>
          <a:lstStyle/>
          <a:p>
            <a:pPr indent="0" marL="0">
              <a:spcAft>
                <a:spcPts val="600"/>
              </a:spcAft>
              <a:buNone/>
            </a:pPr>
            <a:r>
              <a:rPr lang="en-US" sz="1600" b="1" dirty="0">
                <a:solidFill>
                  <a:srgbClr val="0D2F4F"/>
                </a:solidFill>
                <a:latin typeface="Calibri" pitchFamily="34" charset="0"/>
                <a:ea typeface="Calibri" pitchFamily="34" charset="-122"/>
                <a:cs typeface="Calibri" pitchFamily="34" charset="-120"/>
              </a:rPr>
              <a:t>Strategiyaning mohiyatini ochib beruvchi asosiy belgilar:</a:t>
            </a:r>
            <a:endParaRPr lang="en-US" sz="1600" dirty="0"/>
          </a:p>
        </p:txBody>
      </p:sp>
      <p:sp>
        <p:nvSpPr>
          <p:cNvPr id="6" name="Shape 3"/>
          <p:cNvSpPr/>
          <p:nvPr/>
        </p:nvSpPr>
        <p:spPr>
          <a:xfrm>
            <a:off x="5120640" y="1920240"/>
            <a:ext cx="566928" cy="566928"/>
          </a:xfrm>
          <a:prstGeom prst="ellipse">
            <a:avLst/>
          </a:prstGeom>
          <a:solidFill>
            <a:srgbClr val="0E9F9A"/>
          </a:solidFill>
          <a:ln w="12700">
            <a:solidFill>
              <a:srgbClr val="0E9F9A"/>
            </a:solidFill>
            <a:prstDash val="solid"/>
          </a:ln>
        </p:spPr>
      </p:sp>
      <p:pic>
        <p:nvPicPr>
          <p:cNvPr id="7" name="Image 1" descr="preencoded.png">    </p:cNvPr>
          <p:cNvPicPr>
            <a:picLocks noChangeAspect="1"/>
          </p:cNvPicPr>
          <p:nvPr/>
        </p:nvPicPr>
        <p:blipFill>
          <a:blip r:embed="rId2"/>
          <a:stretch>
            <a:fillRect/>
          </a:stretch>
        </p:blipFill>
        <p:spPr>
          <a:xfrm>
            <a:off x="5268041" y="2067641"/>
            <a:ext cx="272125" cy="272125"/>
          </a:xfrm>
          <a:prstGeom prst="rect">
            <a:avLst/>
          </a:prstGeom>
        </p:spPr>
      </p:pic>
      <p:sp>
        <p:nvSpPr>
          <p:cNvPr id="8" name="Text 4"/>
          <p:cNvSpPr txBox="1"/>
          <p:nvPr/>
        </p:nvSpPr>
        <p:spPr>
          <a:xfrm>
            <a:off x="5852160" y="1874520"/>
            <a:ext cx="5760720" cy="822960"/>
          </a:xfrm>
          <a:prstGeom prst="rect">
            <a:avLst/>
          </a:prstGeom>
          <a:noFill/>
          <a:ln/>
        </p:spPr>
        <p:txBody>
          <a:bodyPr wrap="square" lIns="0" tIns="0" rIns="0" bIns="0" rtlCol="0" anchor="t"/>
          <a:lstStyle/>
          <a:p>
            <a:pPr indent="0" marL="0">
              <a:buNone/>
            </a:pPr>
            <a:r>
              <a:rPr lang="en-US" sz="1400" b="1" dirty="0">
                <a:solidFill>
                  <a:srgbClr val="0D2F4F"/>
                </a:solidFill>
                <a:latin typeface="Calibri" pitchFamily="34" charset="0"/>
                <a:ea typeface="Calibri" pitchFamily="34" charset="-122"/>
                <a:cs typeface="Calibri" pitchFamily="34" charset="-120"/>
              </a:rPr>
              <a:t>Uzoq muddatlilik</a:t>
            </a:r>
            <a:endParaRPr lang="en-US" sz="1400" dirty="0"/>
          </a:p>
          <a:p>
            <a:pPr indent="0" marL="0">
              <a:buNone/>
            </a:pPr>
            <a:r>
              <a:rPr lang="en-US" sz="1400" dirty="0">
                <a:solidFill>
                  <a:srgbClr val="1B2A3A"/>
                </a:solidFill>
                <a:latin typeface="Calibri" pitchFamily="34" charset="0"/>
                <a:ea typeface="Calibri" pitchFamily="34" charset="-122"/>
                <a:cs typeface="Calibri" pitchFamily="34" charset="-120"/>
              </a:rPr>
              <a:t>odatda 3–10 yillik istiqbolni qamrab oladi va kundalik operatsion qarorlar uchun yo‘nalish beradi.</a:t>
            </a:r>
            <a:endParaRPr lang="en-US" sz="1400" dirty="0"/>
          </a:p>
        </p:txBody>
      </p:sp>
      <p:sp>
        <p:nvSpPr>
          <p:cNvPr id="9" name="Shape 5"/>
          <p:cNvSpPr/>
          <p:nvPr/>
        </p:nvSpPr>
        <p:spPr>
          <a:xfrm>
            <a:off x="5120640" y="2788920"/>
            <a:ext cx="566928" cy="566928"/>
          </a:xfrm>
          <a:prstGeom prst="ellipse">
            <a:avLst/>
          </a:prstGeom>
          <a:solidFill>
            <a:srgbClr val="0D2F4F"/>
          </a:solidFill>
          <a:ln w="12700">
            <a:solidFill>
              <a:srgbClr val="0D2F4F"/>
            </a:solidFill>
            <a:prstDash val="solid"/>
          </a:ln>
        </p:spPr>
      </p:sp>
      <p:pic>
        <p:nvPicPr>
          <p:cNvPr id="10" name="Image 2" descr="preencoded.png">    </p:cNvPr>
          <p:cNvPicPr>
            <a:picLocks noChangeAspect="1"/>
          </p:cNvPicPr>
          <p:nvPr/>
        </p:nvPicPr>
        <p:blipFill>
          <a:blip r:embed="rId3"/>
          <a:stretch>
            <a:fillRect/>
          </a:stretch>
        </p:blipFill>
        <p:spPr>
          <a:xfrm>
            <a:off x="5268041" y="2936321"/>
            <a:ext cx="272125" cy="272125"/>
          </a:xfrm>
          <a:prstGeom prst="rect">
            <a:avLst/>
          </a:prstGeom>
        </p:spPr>
      </p:pic>
      <p:sp>
        <p:nvSpPr>
          <p:cNvPr id="11" name="Text 6"/>
          <p:cNvSpPr txBox="1"/>
          <p:nvPr/>
        </p:nvSpPr>
        <p:spPr>
          <a:xfrm>
            <a:off x="5852160" y="2743200"/>
            <a:ext cx="5760720" cy="822960"/>
          </a:xfrm>
          <a:prstGeom prst="rect">
            <a:avLst/>
          </a:prstGeom>
          <a:noFill/>
          <a:ln/>
        </p:spPr>
        <p:txBody>
          <a:bodyPr wrap="square" lIns="0" tIns="0" rIns="0" bIns="0" rtlCol="0" anchor="t"/>
          <a:lstStyle/>
          <a:p>
            <a:pPr indent="0" marL="0">
              <a:buNone/>
            </a:pPr>
            <a:r>
              <a:rPr lang="en-US" sz="1400" b="1" dirty="0">
                <a:solidFill>
                  <a:srgbClr val="0D2F4F"/>
                </a:solidFill>
                <a:latin typeface="Calibri" pitchFamily="34" charset="0"/>
                <a:ea typeface="Calibri" pitchFamily="34" charset="-122"/>
                <a:cs typeface="Calibri" pitchFamily="34" charset="-120"/>
              </a:rPr>
              <a:t>Yaxlitlik va tizimlilik</a:t>
            </a:r>
            <a:endParaRPr lang="en-US" sz="1400" dirty="0"/>
          </a:p>
          <a:p>
            <a:pPr indent="0" marL="0">
              <a:buNone/>
            </a:pPr>
            <a:r>
              <a:rPr lang="en-US" sz="1400" dirty="0">
                <a:solidFill>
                  <a:srgbClr val="1B2A3A"/>
                </a:solidFill>
                <a:latin typeface="Calibri" pitchFamily="34" charset="0"/>
                <a:ea typeface="Calibri" pitchFamily="34" charset="-122"/>
                <a:cs typeface="Calibri" pitchFamily="34" charset="-120"/>
              </a:rPr>
              <a:t>ishlab chiqarish, marketing, moliya, kadrlar va innovatsiya sohalarini yagona maqsad atrofida birlashtiradi.</a:t>
            </a:r>
            <a:endParaRPr lang="en-US" sz="1400" dirty="0"/>
          </a:p>
        </p:txBody>
      </p:sp>
      <p:sp>
        <p:nvSpPr>
          <p:cNvPr id="12" name="Shape 7"/>
          <p:cNvSpPr/>
          <p:nvPr/>
        </p:nvSpPr>
        <p:spPr>
          <a:xfrm>
            <a:off x="5120640" y="3657600"/>
            <a:ext cx="566928" cy="566928"/>
          </a:xfrm>
          <a:prstGeom prst="ellipse">
            <a:avLst/>
          </a:prstGeom>
          <a:solidFill>
            <a:srgbClr val="0E9F9A"/>
          </a:solidFill>
          <a:ln w="12700">
            <a:solidFill>
              <a:srgbClr val="0E9F9A"/>
            </a:solidFill>
            <a:prstDash val="solid"/>
          </a:ln>
        </p:spPr>
      </p:sp>
      <p:pic>
        <p:nvPicPr>
          <p:cNvPr id="13" name="Image 3" descr="preencoded.png">    </p:cNvPr>
          <p:cNvPicPr>
            <a:picLocks noChangeAspect="1"/>
          </p:cNvPicPr>
          <p:nvPr/>
        </p:nvPicPr>
        <p:blipFill>
          <a:blip r:embed="rId4"/>
          <a:stretch>
            <a:fillRect/>
          </a:stretch>
        </p:blipFill>
        <p:spPr>
          <a:xfrm>
            <a:off x="5268041" y="3805001"/>
            <a:ext cx="272125" cy="272125"/>
          </a:xfrm>
          <a:prstGeom prst="rect">
            <a:avLst/>
          </a:prstGeom>
        </p:spPr>
      </p:pic>
      <p:sp>
        <p:nvSpPr>
          <p:cNvPr id="14" name="Text 8"/>
          <p:cNvSpPr txBox="1"/>
          <p:nvPr/>
        </p:nvSpPr>
        <p:spPr>
          <a:xfrm>
            <a:off x="5852160" y="3611880"/>
            <a:ext cx="5760720" cy="822960"/>
          </a:xfrm>
          <a:prstGeom prst="rect">
            <a:avLst/>
          </a:prstGeom>
          <a:noFill/>
          <a:ln/>
        </p:spPr>
        <p:txBody>
          <a:bodyPr wrap="square" lIns="0" tIns="0" rIns="0" bIns="0" rtlCol="0" anchor="t"/>
          <a:lstStyle/>
          <a:p>
            <a:pPr indent="0" marL="0">
              <a:buNone/>
            </a:pPr>
            <a:r>
              <a:rPr lang="en-US" sz="1400" b="1" dirty="0">
                <a:solidFill>
                  <a:srgbClr val="0D2F4F"/>
                </a:solidFill>
                <a:latin typeface="Calibri" pitchFamily="34" charset="0"/>
                <a:ea typeface="Calibri" pitchFamily="34" charset="-122"/>
                <a:cs typeface="Calibri" pitchFamily="34" charset="-120"/>
              </a:rPr>
              <a:t>Moslashuvchanlik</a:t>
            </a:r>
            <a:endParaRPr lang="en-US" sz="1400" dirty="0"/>
          </a:p>
          <a:p>
            <a:pPr indent="0" marL="0">
              <a:buNone/>
            </a:pPr>
            <a:r>
              <a:rPr lang="en-US" sz="1400" dirty="0">
                <a:solidFill>
                  <a:srgbClr val="1B2A3A"/>
                </a:solidFill>
                <a:latin typeface="Calibri" pitchFamily="34" charset="0"/>
                <a:ea typeface="Calibri" pitchFamily="34" charset="-122"/>
                <a:cs typeface="Calibri" pitchFamily="34" charset="-120"/>
              </a:rPr>
              <a:t>bozor, raqobat, texnologiya va qonunchilikdagi o‘zgarishlarga muvofiq qayta ko‘rib chiqiladi.</a:t>
            </a:r>
            <a:endParaRPr lang="en-US" sz="1400" dirty="0"/>
          </a:p>
        </p:txBody>
      </p:sp>
      <p:sp>
        <p:nvSpPr>
          <p:cNvPr id="15" name="Shape 9"/>
          <p:cNvSpPr/>
          <p:nvPr/>
        </p:nvSpPr>
        <p:spPr>
          <a:xfrm>
            <a:off x="5120640" y="4526280"/>
            <a:ext cx="566928" cy="566928"/>
          </a:xfrm>
          <a:prstGeom prst="ellipse">
            <a:avLst/>
          </a:prstGeom>
          <a:solidFill>
            <a:srgbClr val="0D2F4F"/>
          </a:solidFill>
          <a:ln w="12700">
            <a:solidFill>
              <a:srgbClr val="0D2F4F"/>
            </a:solidFill>
            <a:prstDash val="solid"/>
          </a:ln>
        </p:spPr>
      </p:sp>
      <p:pic>
        <p:nvPicPr>
          <p:cNvPr id="16" name="Image 4" descr="preencoded.png">    </p:cNvPr>
          <p:cNvPicPr>
            <a:picLocks noChangeAspect="1"/>
          </p:cNvPicPr>
          <p:nvPr/>
        </p:nvPicPr>
        <p:blipFill>
          <a:blip r:embed="rId5"/>
          <a:stretch>
            <a:fillRect/>
          </a:stretch>
        </p:blipFill>
        <p:spPr>
          <a:xfrm>
            <a:off x="5268041" y="4673681"/>
            <a:ext cx="272125" cy="272125"/>
          </a:xfrm>
          <a:prstGeom prst="rect">
            <a:avLst/>
          </a:prstGeom>
        </p:spPr>
      </p:pic>
      <p:sp>
        <p:nvSpPr>
          <p:cNvPr id="17" name="Text 10"/>
          <p:cNvSpPr txBox="1"/>
          <p:nvPr/>
        </p:nvSpPr>
        <p:spPr>
          <a:xfrm>
            <a:off x="5852160" y="4480560"/>
            <a:ext cx="5760720" cy="822960"/>
          </a:xfrm>
          <a:prstGeom prst="rect">
            <a:avLst/>
          </a:prstGeom>
          <a:noFill/>
          <a:ln/>
        </p:spPr>
        <p:txBody>
          <a:bodyPr wrap="square" lIns="0" tIns="0" rIns="0" bIns="0" rtlCol="0" anchor="t"/>
          <a:lstStyle/>
          <a:p>
            <a:pPr indent="0" marL="0">
              <a:buNone/>
            </a:pPr>
            <a:r>
              <a:rPr lang="en-US" sz="1400" b="1" dirty="0">
                <a:solidFill>
                  <a:srgbClr val="0D2F4F"/>
                </a:solidFill>
                <a:latin typeface="Calibri" pitchFamily="34" charset="0"/>
                <a:ea typeface="Calibri" pitchFamily="34" charset="-122"/>
                <a:cs typeface="Calibri" pitchFamily="34" charset="-120"/>
              </a:rPr>
              <a:t>Raqobat ustunligiga yo‘naltirilganlik</a:t>
            </a:r>
            <a:endParaRPr lang="en-US" sz="1400" dirty="0"/>
          </a:p>
          <a:p>
            <a:pPr indent="0" marL="0">
              <a:buNone/>
            </a:pPr>
            <a:r>
              <a:rPr lang="en-US" sz="1400" dirty="0">
                <a:solidFill>
                  <a:srgbClr val="1B2A3A"/>
                </a:solidFill>
                <a:latin typeface="Calibri" pitchFamily="34" charset="0"/>
                <a:ea typeface="Calibri" pitchFamily="34" charset="-122"/>
                <a:cs typeface="Calibri" pitchFamily="34" charset="-120"/>
              </a:rPr>
              <a:t>korxonaning noyob imkoniyatlarini aniqlab, ularni bozordagi barqaror ustunlikka aylantiradi.</a:t>
            </a:r>
            <a:endParaRPr lang="en-US" sz="1400" dirty="0"/>
          </a:p>
        </p:txBody>
      </p:sp>
      <p:sp>
        <p:nvSpPr>
          <p:cNvPr id="18" name="Shape 11"/>
          <p:cNvSpPr/>
          <p:nvPr/>
        </p:nvSpPr>
        <p:spPr>
          <a:xfrm>
            <a:off x="5120640" y="5394960"/>
            <a:ext cx="566928" cy="566928"/>
          </a:xfrm>
          <a:prstGeom prst="ellipse">
            <a:avLst/>
          </a:prstGeom>
          <a:solidFill>
            <a:srgbClr val="0E9F9A"/>
          </a:solidFill>
          <a:ln w="12700">
            <a:solidFill>
              <a:srgbClr val="0E9F9A"/>
            </a:solidFill>
            <a:prstDash val="solid"/>
          </a:ln>
        </p:spPr>
      </p:sp>
      <p:pic>
        <p:nvPicPr>
          <p:cNvPr id="19" name="Image 5" descr="preencoded.png">    </p:cNvPr>
          <p:cNvPicPr>
            <a:picLocks noChangeAspect="1"/>
          </p:cNvPicPr>
          <p:nvPr/>
        </p:nvPicPr>
        <p:blipFill>
          <a:blip r:embed="rId6"/>
          <a:stretch>
            <a:fillRect/>
          </a:stretch>
        </p:blipFill>
        <p:spPr>
          <a:xfrm>
            <a:off x="5268041" y="5542361"/>
            <a:ext cx="272125" cy="272125"/>
          </a:xfrm>
          <a:prstGeom prst="rect">
            <a:avLst/>
          </a:prstGeom>
        </p:spPr>
      </p:pic>
      <p:sp>
        <p:nvSpPr>
          <p:cNvPr id="20" name="Text 12"/>
          <p:cNvSpPr txBox="1"/>
          <p:nvPr/>
        </p:nvSpPr>
        <p:spPr>
          <a:xfrm>
            <a:off x="5852160" y="5349240"/>
            <a:ext cx="5760720" cy="822960"/>
          </a:xfrm>
          <a:prstGeom prst="rect">
            <a:avLst/>
          </a:prstGeom>
          <a:noFill/>
          <a:ln/>
        </p:spPr>
        <p:txBody>
          <a:bodyPr wrap="square" lIns="0" tIns="0" rIns="0" bIns="0" rtlCol="0" anchor="t"/>
          <a:lstStyle/>
          <a:p>
            <a:pPr indent="0" marL="0">
              <a:buNone/>
            </a:pPr>
            <a:r>
              <a:rPr lang="en-US" sz="1400" b="1" dirty="0">
                <a:solidFill>
                  <a:srgbClr val="0D2F4F"/>
                </a:solidFill>
                <a:latin typeface="Calibri" pitchFamily="34" charset="0"/>
                <a:ea typeface="Calibri" pitchFamily="34" charset="-122"/>
                <a:cs typeface="Calibri" pitchFamily="34" charset="-120"/>
              </a:rPr>
              <a:t>Resurslarni ustuvor taqsimlash</a:t>
            </a:r>
            <a:endParaRPr lang="en-US" sz="1400" dirty="0"/>
          </a:p>
          <a:p>
            <a:pPr indent="0" marL="0">
              <a:buNone/>
            </a:pPr>
            <a:r>
              <a:rPr lang="en-US" sz="1400" dirty="0">
                <a:solidFill>
                  <a:srgbClr val="1B2A3A"/>
                </a:solidFill>
                <a:latin typeface="Calibri" pitchFamily="34" charset="0"/>
                <a:ea typeface="Calibri" pitchFamily="34" charset="-122"/>
                <a:cs typeface="Calibri" pitchFamily="34" charset="-120"/>
              </a:rPr>
              <a:t>cheklangan moliyaviy, moddiy va inson resurslarini eng samarali yo‘nalishlarga jamlaydi.</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2. Strategiyaning darajalari</a:t>
            </a:r>
            <a:endParaRPr lang="en-US" sz="3000" dirty="0"/>
          </a:p>
        </p:txBody>
      </p:sp>
      <p:sp>
        <p:nvSpPr>
          <p:cNvPr id="3" name="Text 1"/>
          <p:cNvSpPr txBox="1"/>
          <p:nvPr/>
        </p:nvSpPr>
        <p:spPr>
          <a:xfrm>
            <a:off x="548640" y="1325880"/>
            <a:ext cx="11064240" cy="731520"/>
          </a:xfrm>
          <a:prstGeom prst="rect">
            <a:avLst/>
          </a:prstGeom>
          <a:noFill/>
          <a:ln/>
        </p:spPr>
        <p:txBody>
          <a:bodyPr wrap="square" lIns="0" tIns="0" rIns="0" bIns="0" rtlCol="0" anchor="t"/>
          <a:lstStyle/>
          <a:p>
            <a:pPr indent="0" marL="0">
              <a:spcAft>
                <a:spcPts val="600"/>
              </a:spcAft>
              <a:buNone/>
            </a:pPr>
            <a:r>
              <a:rPr lang="en-US" sz="1500" dirty="0">
                <a:solidFill>
                  <a:srgbClr val="1B2A3A"/>
                </a:solidFill>
                <a:latin typeface="Calibri" pitchFamily="34" charset="0"/>
                <a:ea typeface="Calibri" pitchFamily="34" charset="-122"/>
                <a:cs typeface="Calibri" pitchFamily="34" charset="-120"/>
              </a:rPr>
              <a:t>Zamonaviy korxonalarda strategiya ierarxik tuzilishga ega: yuqori darajadagi strategiya quyi darajalar uchun chegaralar va yo‘nalishlarni belgilaydi, quyi darajalar esa uni amalda ro‘yobga chiqaradi.</a:t>
            </a:r>
            <a:endParaRPr lang="en-US" sz="1500" dirty="0"/>
          </a:p>
        </p:txBody>
      </p:sp>
      <p:sp>
        <p:nvSpPr>
          <p:cNvPr id="4" name="Shape 2"/>
          <p:cNvSpPr/>
          <p:nvPr/>
        </p:nvSpPr>
        <p:spPr>
          <a:xfrm>
            <a:off x="548640" y="2194560"/>
            <a:ext cx="3520440" cy="3977640"/>
          </a:xfrm>
          <a:prstGeom prst="roundRect">
            <a:avLst>
              <a:gd name="adj" fmla="val 3117"/>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5" name="Shape 3"/>
          <p:cNvSpPr/>
          <p:nvPr/>
        </p:nvSpPr>
        <p:spPr>
          <a:xfrm>
            <a:off x="822960" y="2468880"/>
            <a:ext cx="731520" cy="731520"/>
          </a:xfrm>
          <a:prstGeom prst="ellipse">
            <a:avLst/>
          </a:prstGeom>
          <a:solidFill>
            <a:srgbClr val="0D2F4F"/>
          </a:solidFill>
          <a:ln w="12700">
            <a:solidFill>
              <a:srgbClr val="0D2F4F"/>
            </a:solidFill>
            <a:prstDash val="solid"/>
          </a:ln>
        </p:spPr>
      </p:sp>
      <p:pic>
        <p:nvPicPr>
          <p:cNvPr id="6" name="Image 0" descr="preencoded.png">    </p:cNvPr>
          <p:cNvPicPr>
            <a:picLocks noChangeAspect="1"/>
          </p:cNvPicPr>
          <p:nvPr/>
        </p:nvPicPr>
        <p:blipFill>
          <a:blip r:embed="rId1"/>
          <a:stretch>
            <a:fillRect/>
          </a:stretch>
        </p:blipFill>
        <p:spPr>
          <a:xfrm>
            <a:off x="1013155" y="2659075"/>
            <a:ext cx="351130" cy="351130"/>
          </a:xfrm>
          <a:prstGeom prst="rect">
            <a:avLst/>
          </a:prstGeom>
        </p:spPr>
      </p:pic>
      <p:sp>
        <p:nvSpPr>
          <p:cNvPr id="7" name="Text 4"/>
          <p:cNvSpPr txBox="1"/>
          <p:nvPr/>
        </p:nvSpPr>
        <p:spPr>
          <a:xfrm>
            <a:off x="1691640" y="2423160"/>
            <a:ext cx="2240280" cy="502920"/>
          </a:xfrm>
          <a:prstGeom prst="rect">
            <a:avLst/>
          </a:prstGeom>
          <a:noFill/>
          <a:ln/>
        </p:spPr>
        <p:txBody>
          <a:bodyPr wrap="square" lIns="0" tIns="0" rIns="0" bIns="0" rtlCol="0" anchor="ctr"/>
          <a:lstStyle/>
          <a:p>
            <a:pPr indent="0" marL="0">
              <a:buNone/>
            </a:pPr>
            <a:r>
              <a:rPr lang="en-US" sz="1700" b="1" dirty="0">
                <a:solidFill>
                  <a:srgbClr val="0D2F4F"/>
                </a:solidFill>
                <a:latin typeface="Cambria" pitchFamily="34" charset="0"/>
                <a:ea typeface="Cambria" pitchFamily="34" charset="-122"/>
                <a:cs typeface="Cambria" pitchFamily="34" charset="-120"/>
              </a:rPr>
              <a:t>Korporativ strategiya</a:t>
            </a:r>
            <a:endParaRPr lang="en-US" sz="1700" dirty="0"/>
          </a:p>
        </p:txBody>
      </p:sp>
      <p:sp>
        <p:nvSpPr>
          <p:cNvPr id="8" name="Text 5"/>
          <p:cNvSpPr txBox="1"/>
          <p:nvPr/>
        </p:nvSpPr>
        <p:spPr>
          <a:xfrm>
            <a:off x="1691640" y="2926080"/>
            <a:ext cx="2240280" cy="365760"/>
          </a:xfrm>
          <a:prstGeom prst="rect">
            <a:avLst/>
          </a:prstGeom>
          <a:noFill/>
          <a:ln/>
        </p:spPr>
        <p:txBody>
          <a:bodyPr wrap="square" lIns="0" tIns="0" rIns="0" bIns="0" rtlCol="0" anchor="ctr"/>
          <a:lstStyle/>
          <a:p>
            <a:pPr indent="0" marL="0">
              <a:buNone/>
            </a:pPr>
            <a:r>
              <a:rPr lang="en-US" sz="1200" i="1" dirty="0">
                <a:solidFill>
                  <a:srgbClr val="4A5B6C"/>
                </a:solidFill>
              </a:rPr>
              <a:t>Butun korxona darajasida qabul qilinadi</a:t>
            </a:r>
            <a:endParaRPr lang="en-US" sz="1200" dirty="0"/>
          </a:p>
        </p:txBody>
      </p:sp>
      <p:sp>
        <p:nvSpPr>
          <p:cNvPr id="9" name="Text 6"/>
          <p:cNvSpPr txBox="1"/>
          <p:nvPr/>
        </p:nvSpPr>
        <p:spPr>
          <a:xfrm>
            <a:off x="822960" y="3429000"/>
            <a:ext cx="3017520" cy="260604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rgbClr val="1B2A3A"/>
                </a:solidFill>
                <a:latin typeface="Calibri" pitchFamily="34" charset="0"/>
                <a:ea typeface="Calibri" pitchFamily="34" charset="-122"/>
                <a:cs typeface="Calibri" pitchFamily="34" charset="-120"/>
              </a:rPr>
              <a:t>Qaysi sohalar va bozorlarda faoliyat yuritishni belgilaydi</a:t>
            </a:r>
            <a:endParaRPr lang="en-US" sz="1400" dirty="0"/>
          </a:p>
          <a:p>
            <a:pPr marL="177800" indent="-177800">
              <a:spcAft>
                <a:spcPts val="800"/>
              </a:spcAft>
              <a:buSzPct val="100000"/>
              <a:buChar char="•"/>
            </a:pPr>
            <a:r>
              <a:rPr lang="en-US" sz="1400" dirty="0">
                <a:solidFill>
                  <a:srgbClr val="1B2A3A"/>
                </a:solidFill>
                <a:latin typeface="Calibri" pitchFamily="34" charset="0"/>
                <a:ea typeface="Calibri" pitchFamily="34" charset="-122"/>
                <a:cs typeface="Calibri" pitchFamily="34" charset="-120"/>
              </a:rPr>
              <a:t>Diversifikatsiya, birlashish va qo‘shib olish masalalarini hal qiladi</a:t>
            </a:r>
            <a:endParaRPr lang="en-US" sz="1400" dirty="0"/>
          </a:p>
          <a:p>
            <a:pPr marL="177800" indent="-177800">
              <a:spcAft>
                <a:spcPts val="800"/>
              </a:spcAft>
              <a:buSzPct val="100000"/>
              <a:buChar char="•"/>
            </a:pPr>
            <a:r>
              <a:rPr lang="en-US" sz="1400" dirty="0">
                <a:solidFill>
                  <a:srgbClr val="1B2A3A"/>
                </a:solidFill>
                <a:latin typeface="Calibri" pitchFamily="34" charset="0"/>
                <a:ea typeface="Calibri" pitchFamily="34" charset="-122"/>
                <a:cs typeface="Calibri" pitchFamily="34" charset="-120"/>
              </a:rPr>
              <a:t>Biznes birliklar o‘rtasida investitsiyalarni taqsimlaydi</a:t>
            </a:r>
            <a:endParaRPr lang="en-US" sz="1400" dirty="0"/>
          </a:p>
        </p:txBody>
      </p:sp>
      <p:sp>
        <p:nvSpPr>
          <p:cNvPr id="10" name="Shape 7"/>
          <p:cNvSpPr/>
          <p:nvPr/>
        </p:nvSpPr>
        <p:spPr>
          <a:xfrm>
            <a:off x="4343400" y="2194560"/>
            <a:ext cx="3520440" cy="3977640"/>
          </a:xfrm>
          <a:prstGeom prst="roundRect">
            <a:avLst>
              <a:gd name="adj" fmla="val 3117"/>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11" name="Shape 8"/>
          <p:cNvSpPr/>
          <p:nvPr/>
        </p:nvSpPr>
        <p:spPr>
          <a:xfrm>
            <a:off x="4617720" y="2468880"/>
            <a:ext cx="731520" cy="731520"/>
          </a:xfrm>
          <a:prstGeom prst="ellipse">
            <a:avLst/>
          </a:prstGeom>
          <a:solidFill>
            <a:srgbClr val="0E9F9A"/>
          </a:solidFill>
          <a:ln w="12700">
            <a:solidFill>
              <a:srgbClr val="0E9F9A"/>
            </a:solidFill>
            <a:prstDash val="solid"/>
          </a:ln>
        </p:spPr>
      </p:sp>
      <p:pic>
        <p:nvPicPr>
          <p:cNvPr id="12" name="Image 1" descr="preencoded.png">    </p:cNvPr>
          <p:cNvPicPr>
            <a:picLocks noChangeAspect="1"/>
          </p:cNvPicPr>
          <p:nvPr/>
        </p:nvPicPr>
        <p:blipFill>
          <a:blip r:embed="rId2"/>
          <a:stretch>
            <a:fillRect/>
          </a:stretch>
        </p:blipFill>
        <p:spPr>
          <a:xfrm>
            <a:off x="4807915" y="2659075"/>
            <a:ext cx="351130" cy="351130"/>
          </a:xfrm>
          <a:prstGeom prst="rect">
            <a:avLst/>
          </a:prstGeom>
        </p:spPr>
      </p:pic>
      <p:sp>
        <p:nvSpPr>
          <p:cNvPr id="13" name="Text 9"/>
          <p:cNvSpPr txBox="1"/>
          <p:nvPr/>
        </p:nvSpPr>
        <p:spPr>
          <a:xfrm>
            <a:off x="5486400" y="2423160"/>
            <a:ext cx="2240280" cy="502920"/>
          </a:xfrm>
          <a:prstGeom prst="rect">
            <a:avLst/>
          </a:prstGeom>
          <a:noFill/>
          <a:ln/>
        </p:spPr>
        <p:txBody>
          <a:bodyPr wrap="square" lIns="0" tIns="0" rIns="0" bIns="0" rtlCol="0" anchor="ctr"/>
          <a:lstStyle/>
          <a:p>
            <a:pPr indent="0" marL="0">
              <a:buNone/>
            </a:pPr>
            <a:r>
              <a:rPr lang="en-US" sz="1700" b="1" dirty="0">
                <a:solidFill>
                  <a:srgbClr val="0D2F4F"/>
                </a:solidFill>
                <a:latin typeface="Cambria" pitchFamily="34" charset="0"/>
                <a:ea typeface="Cambria" pitchFamily="34" charset="-122"/>
                <a:cs typeface="Cambria" pitchFamily="34" charset="-120"/>
              </a:rPr>
              <a:t>Biznes (raqobat) strategiyasi</a:t>
            </a:r>
            <a:endParaRPr lang="en-US" sz="1700" dirty="0"/>
          </a:p>
        </p:txBody>
      </p:sp>
      <p:sp>
        <p:nvSpPr>
          <p:cNvPr id="14" name="Text 10"/>
          <p:cNvSpPr txBox="1"/>
          <p:nvPr/>
        </p:nvSpPr>
        <p:spPr>
          <a:xfrm>
            <a:off x="5486400" y="2926080"/>
            <a:ext cx="2240280" cy="365760"/>
          </a:xfrm>
          <a:prstGeom prst="rect">
            <a:avLst/>
          </a:prstGeom>
          <a:noFill/>
          <a:ln/>
        </p:spPr>
        <p:txBody>
          <a:bodyPr wrap="square" lIns="0" tIns="0" rIns="0" bIns="0" rtlCol="0" anchor="ctr"/>
          <a:lstStyle/>
          <a:p>
            <a:pPr indent="0" marL="0">
              <a:buNone/>
            </a:pPr>
            <a:r>
              <a:rPr lang="en-US" sz="1200" i="1" dirty="0">
                <a:solidFill>
                  <a:srgbClr val="4A5B6C"/>
                </a:solidFill>
              </a:rPr>
              <a:t>Strategik biznes birligi darajasi</a:t>
            </a:r>
            <a:endParaRPr lang="en-US" sz="1200" dirty="0"/>
          </a:p>
        </p:txBody>
      </p:sp>
      <p:sp>
        <p:nvSpPr>
          <p:cNvPr id="15" name="Text 11"/>
          <p:cNvSpPr txBox="1"/>
          <p:nvPr/>
        </p:nvSpPr>
        <p:spPr>
          <a:xfrm>
            <a:off x="4617720" y="3429000"/>
            <a:ext cx="3017520" cy="260604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rgbClr val="1B2A3A"/>
                </a:solidFill>
                <a:latin typeface="Calibri" pitchFamily="34" charset="0"/>
                <a:ea typeface="Calibri" pitchFamily="34" charset="-122"/>
                <a:cs typeface="Calibri" pitchFamily="34" charset="-120"/>
              </a:rPr>
              <a:t>Muayyan bozorda qanday raqobatlashishni aniqlaydi</a:t>
            </a:r>
            <a:endParaRPr lang="en-US" sz="1400" dirty="0"/>
          </a:p>
          <a:p>
            <a:pPr marL="177800" indent="-177800">
              <a:spcAft>
                <a:spcPts val="800"/>
              </a:spcAft>
              <a:buSzPct val="100000"/>
              <a:buChar char="•"/>
            </a:pPr>
            <a:r>
              <a:rPr lang="en-US" sz="1400" dirty="0">
                <a:solidFill>
                  <a:srgbClr val="1B2A3A"/>
                </a:solidFill>
                <a:latin typeface="Calibri" pitchFamily="34" charset="0"/>
                <a:ea typeface="Calibri" pitchFamily="34" charset="-122"/>
                <a:cs typeface="Calibri" pitchFamily="34" charset="-120"/>
              </a:rPr>
              <a:t>Xarajatlar bo‘yicha yetakchilik, differensiatsiya yoki fokuslashni tanlaydi</a:t>
            </a:r>
            <a:endParaRPr lang="en-US" sz="1400" dirty="0"/>
          </a:p>
          <a:p>
            <a:pPr marL="177800" indent="-177800">
              <a:spcAft>
                <a:spcPts val="800"/>
              </a:spcAft>
              <a:buSzPct val="100000"/>
              <a:buChar char="•"/>
            </a:pPr>
            <a:r>
              <a:rPr lang="en-US" sz="1400" dirty="0">
                <a:solidFill>
                  <a:srgbClr val="1B2A3A"/>
                </a:solidFill>
                <a:latin typeface="Calibri" pitchFamily="34" charset="0"/>
                <a:ea typeface="Calibri" pitchFamily="34" charset="-122"/>
                <a:cs typeface="Calibri" pitchFamily="34" charset="-120"/>
              </a:rPr>
              <a:t>Iste’molchilar ehtiyojini raqobatchilardan yaxshiroq qondirishga qaratiladi</a:t>
            </a:r>
            <a:endParaRPr lang="en-US" sz="1400" dirty="0"/>
          </a:p>
        </p:txBody>
      </p:sp>
      <p:sp>
        <p:nvSpPr>
          <p:cNvPr id="16" name="Shape 12"/>
          <p:cNvSpPr/>
          <p:nvPr/>
        </p:nvSpPr>
        <p:spPr>
          <a:xfrm>
            <a:off x="8138160" y="2194560"/>
            <a:ext cx="3520440" cy="3977640"/>
          </a:xfrm>
          <a:prstGeom prst="roundRect">
            <a:avLst>
              <a:gd name="adj" fmla="val 3117"/>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17" name="Shape 13"/>
          <p:cNvSpPr/>
          <p:nvPr/>
        </p:nvSpPr>
        <p:spPr>
          <a:xfrm>
            <a:off x="8412480" y="2468880"/>
            <a:ext cx="731520" cy="731520"/>
          </a:xfrm>
          <a:prstGeom prst="ellipse">
            <a:avLst/>
          </a:prstGeom>
          <a:solidFill>
            <a:srgbClr val="3B6EA5"/>
          </a:solidFill>
          <a:ln w="12700">
            <a:solidFill>
              <a:srgbClr val="3B6EA5"/>
            </a:solidFill>
            <a:prstDash val="solid"/>
          </a:ln>
        </p:spPr>
      </p:sp>
      <p:pic>
        <p:nvPicPr>
          <p:cNvPr id="18" name="Image 2" descr="preencoded.png">    </p:cNvPr>
          <p:cNvPicPr>
            <a:picLocks noChangeAspect="1"/>
          </p:cNvPicPr>
          <p:nvPr/>
        </p:nvPicPr>
        <p:blipFill>
          <a:blip r:embed="rId3"/>
          <a:stretch>
            <a:fillRect/>
          </a:stretch>
        </p:blipFill>
        <p:spPr>
          <a:xfrm>
            <a:off x="8602675" y="2659075"/>
            <a:ext cx="351130" cy="351130"/>
          </a:xfrm>
          <a:prstGeom prst="rect">
            <a:avLst/>
          </a:prstGeom>
        </p:spPr>
      </p:pic>
      <p:sp>
        <p:nvSpPr>
          <p:cNvPr id="19" name="Text 14"/>
          <p:cNvSpPr txBox="1"/>
          <p:nvPr/>
        </p:nvSpPr>
        <p:spPr>
          <a:xfrm>
            <a:off x="9281160" y="2423160"/>
            <a:ext cx="2240280" cy="502920"/>
          </a:xfrm>
          <a:prstGeom prst="rect">
            <a:avLst/>
          </a:prstGeom>
          <a:noFill/>
          <a:ln/>
        </p:spPr>
        <p:txBody>
          <a:bodyPr wrap="square" lIns="0" tIns="0" rIns="0" bIns="0" rtlCol="0" anchor="ctr"/>
          <a:lstStyle/>
          <a:p>
            <a:pPr indent="0" marL="0">
              <a:buNone/>
            </a:pPr>
            <a:r>
              <a:rPr lang="en-US" sz="1700" b="1" dirty="0">
                <a:solidFill>
                  <a:srgbClr val="0D2F4F"/>
                </a:solidFill>
                <a:latin typeface="Cambria" pitchFamily="34" charset="0"/>
                <a:ea typeface="Cambria" pitchFamily="34" charset="-122"/>
                <a:cs typeface="Cambria" pitchFamily="34" charset="-120"/>
              </a:rPr>
              <a:t>Funksional strategiya</a:t>
            </a:r>
            <a:endParaRPr lang="en-US" sz="1700" dirty="0"/>
          </a:p>
        </p:txBody>
      </p:sp>
      <p:sp>
        <p:nvSpPr>
          <p:cNvPr id="20" name="Text 15"/>
          <p:cNvSpPr txBox="1"/>
          <p:nvPr/>
        </p:nvSpPr>
        <p:spPr>
          <a:xfrm>
            <a:off x="9281160" y="2926080"/>
            <a:ext cx="2240280" cy="365760"/>
          </a:xfrm>
          <a:prstGeom prst="rect">
            <a:avLst/>
          </a:prstGeom>
          <a:noFill/>
          <a:ln/>
        </p:spPr>
        <p:txBody>
          <a:bodyPr wrap="square" lIns="0" tIns="0" rIns="0" bIns="0" rtlCol="0" anchor="ctr"/>
          <a:lstStyle/>
          <a:p>
            <a:pPr indent="0" marL="0">
              <a:buNone/>
            </a:pPr>
            <a:r>
              <a:rPr lang="en-US" sz="1200" i="1" dirty="0">
                <a:solidFill>
                  <a:srgbClr val="4A5B6C"/>
                </a:solidFill>
              </a:rPr>
              <a:t>Bo‘limlar darajasida ishlab chiqiladi</a:t>
            </a:r>
            <a:endParaRPr lang="en-US" sz="1200" dirty="0"/>
          </a:p>
        </p:txBody>
      </p:sp>
      <p:sp>
        <p:nvSpPr>
          <p:cNvPr id="21" name="Text 16"/>
          <p:cNvSpPr txBox="1"/>
          <p:nvPr/>
        </p:nvSpPr>
        <p:spPr>
          <a:xfrm>
            <a:off x="8412480" y="3429000"/>
            <a:ext cx="3017520" cy="260604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rgbClr val="1B2A3A"/>
                </a:solidFill>
                <a:latin typeface="Calibri" pitchFamily="34" charset="0"/>
                <a:ea typeface="Calibri" pitchFamily="34" charset="-122"/>
                <a:cs typeface="Calibri" pitchFamily="34" charset="-120"/>
              </a:rPr>
              <a:t>Marketing, ishlab chiqarish, moliya, kadrlar, IT strategiyalarini o‘z ichiga oladi</a:t>
            </a:r>
            <a:endParaRPr lang="en-US" sz="1400" dirty="0"/>
          </a:p>
          <a:p>
            <a:pPr marL="177800" indent="-177800">
              <a:spcAft>
                <a:spcPts val="800"/>
              </a:spcAft>
              <a:buSzPct val="100000"/>
              <a:buChar char="•"/>
            </a:pPr>
            <a:r>
              <a:rPr lang="en-US" sz="1400" dirty="0">
                <a:solidFill>
                  <a:srgbClr val="1B2A3A"/>
                </a:solidFill>
                <a:latin typeface="Calibri" pitchFamily="34" charset="0"/>
                <a:ea typeface="Calibri" pitchFamily="34" charset="-122"/>
                <a:cs typeface="Calibri" pitchFamily="34" charset="-120"/>
              </a:rPr>
              <a:t>Yuqori darajadagi strategiyani aniq tadbirlarga aylantiradi</a:t>
            </a:r>
            <a:endParaRPr lang="en-US" sz="1400" dirty="0"/>
          </a:p>
          <a:p>
            <a:pPr marL="177800" indent="-177800">
              <a:spcAft>
                <a:spcPts val="800"/>
              </a:spcAft>
              <a:buSzPct val="100000"/>
              <a:buChar char="•"/>
            </a:pPr>
            <a:r>
              <a:rPr lang="en-US" sz="1400" dirty="0">
                <a:solidFill>
                  <a:srgbClr val="1B2A3A"/>
                </a:solidFill>
                <a:latin typeface="Calibri" pitchFamily="34" charset="0"/>
                <a:ea typeface="Calibri" pitchFamily="34" charset="-122"/>
                <a:cs typeface="Calibri" pitchFamily="34" charset="-120"/>
              </a:rPr>
              <a:t>Resurslardan samarali foydalanish va unumdorlikni ta’minlaydi</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2. Rivojlantirish strategiyalarining asosiy turlari</a:t>
            </a:r>
            <a:endParaRPr lang="en-US" sz="3000" dirty="0"/>
          </a:p>
        </p:txBody>
      </p:sp>
      <p:sp>
        <p:nvSpPr>
          <p:cNvPr id="3" name="Text 1"/>
          <p:cNvSpPr txBox="1"/>
          <p:nvPr/>
        </p:nvSpPr>
        <p:spPr>
          <a:xfrm>
            <a:off x="548640" y="1325880"/>
            <a:ext cx="5486400" cy="365760"/>
          </a:xfrm>
          <a:prstGeom prst="rect">
            <a:avLst/>
          </a:prstGeom>
          <a:noFill/>
          <a:ln/>
        </p:spPr>
        <p:txBody>
          <a:bodyPr wrap="square" lIns="0" tIns="0" rIns="0" bIns="0" rtlCol="0" anchor="ctr"/>
          <a:lstStyle/>
          <a:p>
            <a:pPr indent="0" marL="0">
              <a:buNone/>
            </a:pPr>
            <a:r>
              <a:rPr lang="en-US" sz="1600" b="1" dirty="0">
                <a:solidFill>
                  <a:srgbClr val="0D2F4F"/>
                </a:solidFill>
              </a:rPr>
              <a:t>I. Ansoff o‘sish matritsasi</a:t>
            </a:r>
            <a:endParaRPr lang="en-US" sz="1600" dirty="0"/>
          </a:p>
        </p:txBody>
      </p:sp>
      <p:sp>
        <p:nvSpPr>
          <p:cNvPr id="4" name="Shape 2"/>
          <p:cNvSpPr/>
          <p:nvPr/>
        </p:nvSpPr>
        <p:spPr>
          <a:xfrm>
            <a:off x="1188720" y="1828800"/>
            <a:ext cx="2377440" cy="1783080"/>
          </a:xfrm>
          <a:prstGeom prst="roundRect">
            <a:avLst>
              <a:gd name="adj" fmla="val 5128"/>
            </a:avLst>
          </a:prstGeom>
          <a:solidFill>
            <a:srgbClr val="0E9F9A"/>
          </a:solidFill>
          <a:ln w="12700">
            <a:solidFill>
              <a:srgbClr val="0E9F9A"/>
            </a:solidFill>
            <a:prstDash val="solid"/>
          </a:ln>
          <a:effectLst>
            <a:outerShdw sx="100000" sy="100000" kx="0" ky="0" algn="bl" rotWithShape="0" blurRad="101600" dist="38100" dir="5400000">
              <a:srgbClr val="0D2F4F">
                <a:alpha val="18000"/>
              </a:srgbClr>
            </a:outerShdw>
          </a:effectLst>
        </p:spPr>
      </p:sp>
      <p:sp>
        <p:nvSpPr>
          <p:cNvPr id="5" name="Text 3"/>
          <p:cNvSpPr txBox="1"/>
          <p:nvPr/>
        </p:nvSpPr>
        <p:spPr>
          <a:xfrm>
            <a:off x="1325880" y="1920240"/>
            <a:ext cx="2103120" cy="1600200"/>
          </a:xfrm>
          <a:prstGeom prst="rect">
            <a:avLst/>
          </a:prstGeom>
          <a:noFill/>
          <a:ln/>
        </p:spPr>
        <p:txBody>
          <a:bodyPr wrap="square" lIns="0" tIns="0" rIns="0" bIns="0" rtlCol="0" anchor="ctr"/>
          <a:lstStyle/>
          <a:p>
            <a:pPr indent="0" marL="0">
              <a:spcAft>
                <a:spcPts val="400"/>
              </a:spcAft>
              <a:buNone/>
            </a:pPr>
            <a:r>
              <a:rPr lang="en-US" sz="1500" b="1" dirty="0">
                <a:solidFill>
                  <a:srgbClr val="FFFFFF"/>
                </a:solidFill>
              </a:rPr>
              <a:t>Bozorga chuqur kirish</a:t>
            </a:r>
            <a:endParaRPr lang="en-US" sz="1500" dirty="0"/>
          </a:p>
          <a:p>
            <a:pPr indent="0" marL="0">
              <a:spcAft>
                <a:spcPts val="400"/>
              </a:spcAft>
              <a:buNone/>
            </a:pPr>
            <a:r>
              <a:rPr lang="en-US" sz="1300" dirty="0">
                <a:solidFill>
                  <a:srgbClr val="FFFFFF"/>
                </a:solidFill>
              </a:rPr>
              <a:t>Mavjud mahsulot – mavjud bozor: sotuv hajmi va bozor ulushini oshirish</a:t>
            </a:r>
            <a:endParaRPr lang="en-US" sz="1500" dirty="0"/>
          </a:p>
        </p:txBody>
      </p:sp>
      <p:sp>
        <p:nvSpPr>
          <p:cNvPr id="6" name="Shape 4"/>
          <p:cNvSpPr/>
          <p:nvPr/>
        </p:nvSpPr>
        <p:spPr>
          <a:xfrm>
            <a:off x="3657600" y="1828800"/>
            <a:ext cx="2377440" cy="1783080"/>
          </a:xfrm>
          <a:prstGeom prst="roundRect">
            <a:avLst>
              <a:gd name="adj" fmla="val 5128"/>
            </a:avLst>
          </a:prstGeom>
          <a:solidFill>
            <a:srgbClr val="3B6EA5"/>
          </a:solidFill>
          <a:ln w="12700">
            <a:solidFill>
              <a:srgbClr val="3B6EA5"/>
            </a:solidFill>
            <a:prstDash val="solid"/>
          </a:ln>
          <a:effectLst>
            <a:outerShdw sx="100000" sy="100000" kx="0" ky="0" algn="bl" rotWithShape="0" blurRad="101600" dist="38100" dir="5400000">
              <a:srgbClr val="0D2F4F">
                <a:alpha val="18000"/>
              </a:srgbClr>
            </a:outerShdw>
          </a:effectLst>
        </p:spPr>
      </p:sp>
      <p:sp>
        <p:nvSpPr>
          <p:cNvPr id="7" name="Text 5"/>
          <p:cNvSpPr txBox="1"/>
          <p:nvPr/>
        </p:nvSpPr>
        <p:spPr>
          <a:xfrm>
            <a:off x="3794760" y="1920240"/>
            <a:ext cx="2103120" cy="1600200"/>
          </a:xfrm>
          <a:prstGeom prst="rect">
            <a:avLst/>
          </a:prstGeom>
          <a:noFill/>
          <a:ln/>
        </p:spPr>
        <p:txBody>
          <a:bodyPr wrap="square" lIns="0" tIns="0" rIns="0" bIns="0" rtlCol="0" anchor="ctr"/>
          <a:lstStyle/>
          <a:p>
            <a:pPr indent="0" marL="0">
              <a:spcAft>
                <a:spcPts val="400"/>
              </a:spcAft>
              <a:buNone/>
            </a:pPr>
            <a:r>
              <a:rPr lang="en-US" sz="1500" b="1" dirty="0">
                <a:solidFill>
                  <a:srgbClr val="FFFFFF"/>
                </a:solidFill>
              </a:rPr>
              <a:t>Mahsulotni rivojlantirish</a:t>
            </a:r>
            <a:endParaRPr lang="en-US" sz="1500" dirty="0"/>
          </a:p>
          <a:p>
            <a:pPr indent="0" marL="0">
              <a:spcAft>
                <a:spcPts val="400"/>
              </a:spcAft>
              <a:buNone/>
            </a:pPr>
            <a:r>
              <a:rPr lang="en-US" sz="1300" dirty="0">
                <a:solidFill>
                  <a:srgbClr val="FFFFFF"/>
                </a:solidFill>
              </a:rPr>
              <a:t>Yangi mahsulot – mavjud bozor: assortimentni yangilash</a:t>
            </a:r>
            <a:endParaRPr lang="en-US" sz="1500" dirty="0"/>
          </a:p>
        </p:txBody>
      </p:sp>
      <p:sp>
        <p:nvSpPr>
          <p:cNvPr id="8" name="Shape 6"/>
          <p:cNvSpPr/>
          <p:nvPr/>
        </p:nvSpPr>
        <p:spPr>
          <a:xfrm>
            <a:off x="1188720" y="3703320"/>
            <a:ext cx="2377440" cy="1783080"/>
          </a:xfrm>
          <a:prstGeom prst="roundRect">
            <a:avLst>
              <a:gd name="adj" fmla="val 5128"/>
            </a:avLst>
          </a:prstGeom>
          <a:solidFill>
            <a:srgbClr val="3B6EA5"/>
          </a:solidFill>
          <a:ln w="12700">
            <a:solidFill>
              <a:srgbClr val="3B6EA5"/>
            </a:solidFill>
            <a:prstDash val="solid"/>
          </a:ln>
          <a:effectLst>
            <a:outerShdw sx="100000" sy="100000" kx="0" ky="0" algn="bl" rotWithShape="0" blurRad="101600" dist="38100" dir="5400000">
              <a:srgbClr val="0D2F4F">
                <a:alpha val="18000"/>
              </a:srgbClr>
            </a:outerShdw>
          </a:effectLst>
        </p:spPr>
      </p:sp>
      <p:sp>
        <p:nvSpPr>
          <p:cNvPr id="9" name="Text 7"/>
          <p:cNvSpPr txBox="1"/>
          <p:nvPr/>
        </p:nvSpPr>
        <p:spPr>
          <a:xfrm>
            <a:off x="1325880" y="3794760"/>
            <a:ext cx="2103120" cy="1600200"/>
          </a:xfrm>
          <a:prstGeom prst="rect">
            <a:avLst/>
          </a:prstGeom>
          <a:noFill/>
          <a:ln/>
        </p:spPr>
        <p:txBody>
          <a:bodyPr wrap="square" lIns="0" tIns="0" rIns="0" bIns="0" rtlCol="0" anchor="ctr"/>
          <a:lstStyle/>
          <a:p>
            <a:pPr indent="0" marL="0">
              <a:spcAft>
                <a:spcPts val="400"/>
              </a:spcAft>
              <a:buNone/>
            </a:pPr>
            <a:r>
              <a:rPr lang="en-US" sz="1500" b="1" dirty="0">
                <a:solidFill>
                  <a:srgbClr val="FFFFFF"/>
                </a:solidFill>
              </a:rPr>
              <a:t>Bozorni rivojlantirish</a:t>
            </a:r>
            <a:endParaRPr lang="en-US" sz="1500" dirty="0"/>
          </a:p>
          <a:p>
            <a:pPr indent="0" marL="0">
              <a:spcAft>
                <a:spcPts val="400"/>
              </a:spcAft>
              <a:buNone/>
            </a:pPr>
            <a:r>
              <a:rPr lang="en-US" sz="1300" dirty="0">
                <a:solidFill>
                  <a:srgbClr val="FFFFFF"/>
                </a:solidFill>
              </a:rPr>
              <a:t>Mavjud mahsulot – yangi bozor: yangi hudud va segmentlarga chiqish</a:t>
            </a:r>
            <a:endParaRPr lang="en-US" sz="1500" dirty="0"/>
          </a:p>
        </p:txBody>
      </p:sp>
      <p:sp>
        <p:nvSpPr>
          <p:cNvPr id="10" name="Shape 8"/>
          <p:cNvSpPr/>
          <p:nvPr/>
        </p:nvSpPr>
        <p:spPr>
          <a:xfrm>
            <a:off x="3657600" y="3703320"/>
            <a:ext cx="2377440" cy="1783080"/>
          </a:xfrm>
          <a:prstGeom prst="roundRect">
            <a:avLst>
              <a:gd name="adj" fmla="val 5128"/>
            </a:avLst>
          </a:prstGeom>
          <a:solidFill>
            <a:srgbClr val="0D2F4F"/>
          </a:solidFill>
          <a:ln w="12700">
            <a:solidFill>
              <a:srgbClr val="0D2F4F"/>
            </a:solidFill>
            <a:prstDash val="solid"/>
          </a:ln>
          <a:effectLst>
            <a:outerShdw sx="100000" sy="100000" kx="0" ky="0" algn="bl" rotWithShape="0" blurRad="101600" dist="38100" dir="5400000">
              <a:srgbClr val="0D2F4F">
                <a:alpha val="18000"/>
              </a:srgbClr>
            </a:outerShdw>
          </a:effectLst>
        </p:spPr>
      </p:sp>
      <p:sp>
        <p:nvSpPr>
          <p:cNvPr id="11" name="Text 9"/>
          <p:cNvSpPr txBox="1"/>
          <p:nvPr/>
        </p:nvSpPr>
        <p:spPr>
          <a:xfrm>
            <a:off x="3794760" y="3794760"/>
            <a:ext cx="2103120" cy="1600200"/>
          </a:xfrm>
          <a:prstGeom prst="rect">
            <a:avLst/>
          </a:prstGeom>
          <a:noFill/>
          <a:ln/>
        </p:spPr>
        <p:txBody>
          <a:bodyPr wrap="square" lIns="0" tIns="0" rIns="0" bIns="0" rtlCol="0" anchor="ctr"/>
          <a:lstStyle/>
          <a:p>
            <a:pPr indent="0" marL="0">
              <a:spcAft>
                <a:spcPts val="400"/>
              </a:spcAft>
              <a:buNone/>
            </a:pPr>
            <a:r>
              <a:rPr lang="en-US" sz="1500" b="1" dirty="0">
                <a:solidFill>
                  <a:srgbClr val="FFFFFF"/>
                </a:solidFill>
              </a:rPr>
              <a:t>Diversifikatsiya</a:t>
            </a:r>
            <a:endParaRPr lang="en-US" sz="1500" dirty="0"/>
          </a:p>
          <a:p>
            <a:pPr indent="0" marL="0">
              <a:spcAft>
                <a:spcPts val="400"/>
              </a:spcAft>
              <a:buNone/>
            </a:pPr>
            <a:r>
              <a:rPr lang="en-US" sz="1300" dirty="0">
                <a:solidFill>
                  <a:srgbClr val="FFFFFF"/>
                </a:solidFill>
              </a:rPr>
              <a:t>Yangi mahsulot – yangi bozor: eng yuqori xavf va imkoniyat</a:t>
            </a:r>
            <a:endParaRPr lang="en-US" sz="1500" dirty="0"/>
          </a:p>
        </p:txBody>
      </p:sp>
      <p:sp>
        <p:nvSpPr>
          <p:cNvPr id="12" name="Text 10"/>
          <p:cNvSpPr txBox="1"/>
          <p:nvPr/>
        </p:nvSpPr>
        <p:spPr>
          <a:xfrm>
            <a:off x="1188720" y="5577840"/>
            <a:ext cx="2377440" cy="274320"/>
          </a:xfrm>
          <a:prstGeom prst="rect">
            <a:avLst/>
          </a:prstGeom>
          <a:noFill/>
          <a:ln/>
        </p:spPr>
        <p:txBody>
          <a:bodyPr wrap="square" lIns="0" tIns="0" rIns="0" bIns="0" rtlCol="0" anchor="ctr"/>
          <a:lstStyle/>
          <a:p>
            <a:pPr algn="ctr" indent="0" marL="0">
              <a:buNone/>
            </a:pPr>
            <a:r>
              <a:rPr lang="en-US" sz="1200" dirty="0">
                <a:solidFill>
                  <a:srgbClr val="4A5B6C"/>
                </a:solidFill>
              </a:rPr>
              <a:t>Mavjud</a:t>
            </a:r>
            <a:endParaRPr lang="en-US" sz="1200" dirty="0"/>
          </a:p>
        </p:txBody>
      </p:sp>
      <p:sp>
        <p:nvSpPr>
          <p:cNvPr id="13" name="Text 11"/>
          <p:cNvSpPr txBox="1"/>
          <p:nvPr/>
        </p:nvSpPr>
        <p:spPr>
          <a:xfrm>
            <a:off x="3657600" y="5577840"/>
            <a:ext cx="2377440" cy="274320"/>
          </a:xfrm>
          <a:prstGeom prst="rect">
            <a:avLst/>
          </a:prstGeom>
          <a:noFill/>
          <a:ln/>
        </p:spPr>
        <p:txBody>
          <a:bodyPr wrap="square" lIns="0" tIns="0" rIns="0" bIns="0" rtlCol="0" anchor="ctr"/>
          <a:lstStyle/>
          <a:p>
            <a:pPr algn="ctr" indent="0" marL="0">
              <a:buNone/>
            </a:pPr>
            <a:r>
              <a:rPr lang="en-US" sz="1200" dirty="0">
                <a:solidFill>
                  <a:srgbClr val="4A5B6C"/>
                </a:solidFill>
              </a:rPr>
              <a:t>Yangi</a:t>
            </a:r>
            <a:endParaRPr lang="en-US" sz="1200" dirty="0"/>
          </a:p>
        </p:txBody>
      </p:sp>
      <p:sp>
        <p:nvSpPr>
          <p:cNvPr id="14" name="Text 12"/>
          <p:cNvSpPr txBox="1"/>
          <p:nvPr/>
        </p:nvSpPr>
        <p:spPr>
          <a:xfrm>
            <a:off x="1188720" y="5833872"/>
            <a:ext cx="4846320" cy="274320"/>
          </a:xfrm>
          <a:prstGeom prst="rect">
            <a:avLst/>
          </a:prstGeom>
          <a:noFill/>
          <a:ln/>
        </p:spPr>
        <p:txBody>
          <a:bodyPr wrap="square" lIns="0" tIns="0" rIns="0" bIns="0" rtlCol="0" anchor="ctr"/>
          <a:lstStyle/>
          <a:p>
            <a:pPr algn="ctr" indent="0" marL="0">
              <a:buNone/>
            </a:pPr>
            <a:r>
              <a:rPr lang="en-US" sz="1200" b="1" spc="300" kern="0" dirty="0">
                <a:solidFill>
                  <a:srgbClr val="0D2F4F"/>
                </a:solidFill>
              </a:rPr>
              <a:t>MAHSULOT</a:t>
            </a:r>
            <a:endParaRPr lang="en-US" sz="1200" dirty="0"/>
          </a:p>
        </p:txBody>
      </p:sp>
      <p:sp>
        <p:nvSpPr>
          <p:cNvPr id="15" name="Text 13"/>
          <p:cNvSpPr txBox="1"/>
          <p:nvPr/>
        </p:nvSpPr>
        <p:spPr>
          <a:xfrm rot="16200000">
            <a:off x="182880" y="3474720"/>
            <a:ext cx="1280160" cy="274320"/>
          </a:xfrm>
          <a:prstGeom prst="rect">
            <a:avLst/>
          </a:prstGeom>
          <a:noFill/>
          <a:ln/>
        </p:spPr>
        <p:txBody>
          <a:bodyPr wrap="square" lIns="0" tIns="0" rIns="0" bIns="0" rtlCol="0" anchor="ctr"/>
          <a:lstStyle/>
          <a:p>
            <a:pPr algn="ctr" indent="0" marL="0">
              <a:buNone/>
            </a:pPr>
            <a:r>
              <a:rPr lang="en-US" sz="1200" b="1" spc="300" kern="0" dirty="0">
                <a:solidFill>
                  <a:srgbClr val="0D2F4F"/>
                </a:solidFill>
              </a:rPr>
              <a:t>BOZOR</a:t>
            </a:r>
            <a:endParaRPr lang="en-US" sz="1200" dirty="0"/>
          </a:p>
        </p:txBody>
      </p:sp>
      <p:sp>
        <p:nvSpPr>
          <p:cNvPr id="16" name="Text 14"/>
          <p:cNvSpPr txBox="1"/>
          <p:nvPr/>
        </p:nvSpPr>
        <p:spPr>
          <a:xfrm>
            <a:off x="502920" y="2560320"/>
            <a:ext cx="640080" cy="274320"/>
          </a:xfrm>
          <a:prstGeom prst="rect">
            <a:avLst/>
          </a:prstGeom>
          <a:noFill/>
          <a:ln/>
        </p:spPr>
        <p:txBody>
          <a:bodyPr wrap="square" lIns="0" tIns="0" rIns="0" bIns="0" rtlCol="0" anchor="ctr"/>
          <a:lstStyle/>
          <a:p>
            <a:pPr algn="ctr" indent="0" marL="0">
              <a:buNone/>
            </a:pPr>
            <a:r>
              <a:rPr lang="en-US" sz="1100" dirty="0">
                <a:solidFill>
                  <a:srgbClr val="4A5B6C"/>
                </a:solidFill>
              </a:rPr>
              <a:t>Mavjud</a:t>
            </a:r>
            <a:endParaRPr lang="en-US" sz="1100" dirty="0"/>
          </a:p>
        </p:txBody>
      </p:sp>
      <p:sp>
        <p:nvSpPr>
          <p:cNvPr id="17" name="Text 15"/>
          <p:cNvSpPr txBox="1"/>
          <p:nvPr/>
        </p:nvSpPr>
        <p:spPr>
          <a:xfrm>
            <a:off x="502920" y="4434840"/>
            <a:ext cx="640080" cy="274320"/>
          </a:xfrm>
          <a:prstGeom prst="rect">
            <a:avLst/>
          </a:prstGeom>
          <a:noFill/>
          <a:ln/>
        </p:spPr>
        <p:txBody>
          <a:bodyPr wrap="square" lIns="0" tIns="0" rIns="0" bIns="0" rtlCol="0" anchor="ctr"/>
          <a:lstStyle/>
          <a:p>
            <a:pPr algn="ctr" indent="0" marL="0">
              <a:buNone/>
            </a:pPr>
            <a:r>
              <a:rPr lang="en-US" sz="1100" dirty="0">
                <a:solidFill>
                  <a:srgbClr val="4A5B6C"/>
                </a:solidFill>
              </a:rPr>
              <a:t>Yangi</a:t>
            </a:r>
            <a:endParaRPr lang="en-US" sz="1100" dirty="0"/>
          </a:p>
        </p:txBody>
      </p:sp>
      <p:sp>
        <p:nvSpPr>
          <p:cNvPr id="18" name="Text 16"/>
          <p:cNvSpPr txBox="1"/>
          <p:nvPr/>
        </p:nvSpPr>
        <p:spPr>
          <a:xfrm>
            <a:off x="6675120" y="1325880"/>
            <a:ext cx="4937760" cy="365760"/>
          </a:xfrm>
          <a:prstGeom prst="rect">
            <a:avLst/>
          </a:prstGeom>
          <a:noFill/>
          <a:ln/>
        </p:spPr>
        <p:txBody>
          <a:bodyPr wrap="square" lIns="0" tIns="0" rIns="0" bIns="0" rtlCol="0" anchor="ctr"/>
          <a:lstStyle/>
          <a:p>
            <a:pPr indent="0" marL="0">
              <a:buNone/>
            </a:pPr>
            <a:r>
              <a:rPr lang="en-US" sz="1600" b="1" dirty="0">
                <a:solidFill>
                  <a:srgbClr val="0D2F4F"/>
                </a:solidFill>
              </a:rPr>
              <a:t>Rivojlanish yo‘nalishiga ko‘ra strategiyalar:</a:t>
            </a:r>
            <a:endParaRPr lang="en-US" sz="1600" dirty="0"/>
          </a:p>
        </p:txBody>
      </p:sp>
      <p:sp>
        <p:nvSpPr>
          <p:cNvPr id="19" name="Text 17"/>
          <p:cNvSpPr txBox="1"/>
          <p:nvPr/>
        </p:nvSpPr>
        <p:spPr>
          <a:xfrm>
            <a:off x="6675120" y="1783080"/>
            <a:ext cx="4937760" cy="3291840"/>
          </a:xfrm>
          <a:prstGeom prst="rect">
            <a:avLst/>
          </a:prstGeom>
          <a:noFill/>
          <a:ln/>
        </p:spPr>
        <p:txBody>
          <a:bodyPr wrap="square" lIns="0" tIns="0" rIns="0" bIns="0" rtlCol="0" anchor="t"/>
          <a:lstStyle/>
          <a:p>
            <a:pPr marL="177800" indent="-177800">
              <a:spcAft>
                <a:spcPts val="700"/>
              </a:spcAft>
              <a:buSzPct val="100000"/>
              <a:buChar char="•"/>
            </a:pPr>
            <a:r>
              <a:rPr lang="en-US" sz="1400" b="1" dirty="0">
                <a:solidFill>
                  <a:srgbClr val="0E9F9A"/>
                </a:solidFill>
                <a:latin typeface="Calibri" pitchFamily="34" charset="0"/>
                <a:ea typeface="Calibri" pitchFamily="34" charset="-122"/>
                <a:cs typeface="Calibri" pitchFamily="34" charset="-120"/>
              </a:rPr>
              <a:t>Jadal (intensiv) o‘sish</a:t>
            </a:r>
            <a:pPr indent="0" marL="0">
              <a:spcAft>
                <a:spcPts val="700"/>
              </a:spcAft>
              <a:buNone/>
            </a:pPr>
            <a:r>
              <a:rPr lang="en-US" sz="1400" dirty="0">
                <a:solidFill>
                  <a:srgbClr val="1B2A3A"/>
                </a:solidFill>
                <a:latin typeface="Calibri" pitchFamily="34" charset="0"/>
                <a:ea typeface="Calibri" pitchFamily="34" charset="-122"/>
                <a:cs typeface="Calibri" pitchFamily="34" charset="-120"/>
              </a:rPr>
              <a:t> – mavjud mahsulot va bozorlardan to‘liqroq foydalanish (Ansoff matritsasining uchta katakchasi).</a:t>
            </a:r>
            <a:endParaRPr lang="en-US" sz="1400" dirty="0"/>
          </a:p>
          <a:p>
            <a:pPr marL="177800" indent="-177800">
              <a:spcAft>
                <a:spcPts val="700"/>
              </a:spcAft>
              <a:buSzPct val="100000"/>
              <a:buChar char="•"/>
            </a:pPr>
            <a:r>
              <a:rPr lang="en-US" sz="1400" b="1" dirty="0">
                <a:solidFill>
                  <a:srgbClr val="0E9F9A"/>
                </a:solidFill>
                <a:latin typeface="Calibri" pitchFamily="34" charset="0"/>
                <a:ea typeface="Calibri" pitchFamily="34" charset="-122"/>
                <a:cs typeface="Calibri" pitchFamily="34" charset="-120"/>
              </a:rPr>
              <a:t>Integratsion o‘sish</a:t>
            </a:r>
            <a:pPr indent="0" marL="0">
              <a:spcAft>
                <a:spcPts val="700"/>
              </a:spcAft>
              <a:buNone/>
            </a:pPr>
            <a:r>
              <a:rPr lang="en-US" sz="1400" dirty="0">
                <a:solidFill>
                  <a:srgbClr val="1B2A3A"/>
                </a:solidFill>
                <a:latin typeface="Calibri" pitchFamily="34" charset="0"/>
                <a:ea typeface="Calibri" pitchFamily="34" charset="-122"/>
                <a:cs typeface="Calibri" pitchFamily="34" charset="-120"/>
              </a:rPr>
              <a:t> – ta’minotchilar (orqaga) yoki sotish tarmoqlari (oldinga) ustidan nazoratni kuchaytirish, gorizontal birlashish.</a:t>
            </a:r>
            <a:endParaRPr lang="en-US" sz="1400" dirty="0"/>
          </a:p>
          <a:p>
            <a:pPr marL="177800" indent="-177800">
              <a:spcAft>
                <a:spcPts val="700"/>
              </a:spcAft>
              <a:buSzPct val="100000"/>
              <a:buChar char="•"/>
            </a:pPr>
            <a:r>
              <a:rPr lang="en-US" sz="1400" b="1" dirty="0">
                <a:solidFill>
                  <a:srgbClr val="0E9F9A"/>
                </a:solidFill>
                <a:latin typeface="Calibri" pitchFamily="34" charset="0"/>
                <a:ea typeface="Calibri" pitchFamily="34" charset="-122"/>
                <a:cs typeface="Calibri" pitchFamily="34" charset="-120"/>
              </a:rPr>
              <a:t>Diversifikatsion o‘sish</a:t>
            </a:r>
            <a:pPr indent="0" marL="0">
              <a:spcAft>
                <a:spcPts val="700"/>
              </a:spcAft>
              <a:buNone/>
            </a:pPr>
            <a:r>
              <a:rPr lang="en-US" sz="1400" dirty="0">
                <a:solidFill>
                  <a:srgbClr val="1B2A3A"/>
                </a:solidFill>
                <a:latin typeface="Calibri" pitchFamily="34" charset="0"/>
                <a:ea typeface="Calibri" pitchFamily="34" charset="-122"/>
                <a:cs typeface="Calibri" pitchFamily="34" charset="-120"/>
              </a:rPr>
              <a:t> – bog‘liq yoki bog‘liq bo‘lmagan yangi faoliyat turlariga kirib, xavfni taqsimlash.</a:t>
            </a:r>
            <a:endParaRPr lang="en-US" sz="1400" dirty="0"/>
          </a:p>
          <a:p>
            <a:pPr marL="177800" indent="-177800">
              <a:spcAft>
                <a:spcPts val="700"/>
              </a:spcAft>
              <a:buSzPct val="100000"/>
              <a:buChar char="•"/>
            </a:pPr>
            <a:r>
              <a:rPr lang="en-US" sz="1400" b="1" dirty="0">
                <a:solidFill>
                  <a:srgbClr val="0E9F9A"/>
                </a:solidFill>
                <a:latin typeface="Calibri" pitchFamily="34" charset="0"/>
                <a:ea typeface="Calibri" pitchFamily="34" charset="-122"/>
                <a:cs typeface="Calibri" pitchFamily="34" charset="-120"/>
              </a:rPr>
              <a:t>Qisqartirish strategiyasi</a:t>
            </a:r>
            <a:pPr indent="0" marL="0">
              <a:spcAft>
                <a:spcPts val="700"/>
              </a:spcAft>
              <a:buNone/>
            </a:pPr>
            <a:r>
              <a:rPr lang="en-US" sz="1400" dirty="0">
                <a:solidFill>
                  <a:srgbClr val="1B2A3A"/>
                </a:solidFill>
                <a:latin typeface="Calibri" pitchFamily="34" charset="0"/>
                <a:ea typeface="Calibri" pitchFamily="34" charset="-122"/>
                <a:cs typeface="Calibri" pitchFamily="34" charset="-120"/>
              </a:rPr>
              <a:t> – samarasiz bo‘linmalardan voz kechish, xarajatlarni kamaytirish, tugatish yoki qayta tashkil etish.</a:t>
            </a:r>
            <a:endParaRPr lang="en-US" sz="1400" dirty="0"/>
          </a:p>
          <a:p>
            <a:pPr marL="177800" indent="-177800">
              <a:spcAft>
                <a:spcPts val="700"/>
              </a:spcAft>
              <a:buSzPct val="100000"/>
              <a:buChar char="•"/>
            </a:pPr>
            <a:r>
              <a:rPr lang="en-US" sz="1400" b="1" dirty="0">
                <a:solidFill>
                  <a:srgbClr val="0E9F9A"/>
                </a:solidFill>
                <a:latin typeface="Calibri" pitchFamily="34" charset="0"/>
                <a:ea typeface="Calibri" pitchFamily="34" charset="-122"/>
                <a:cs typeface="Calibri" pitchFamily="34" charset="-120"/>
              </a:rPr>
              <a:t>Barqarorlik strategiyasi</a:t>
            </a:r>
            <a:pPr indent="0" marL="0">
              <a:spcAft>
                <a:spcPts val="700"/>
              </a:spcAft>
              <a:buNone/>
            </a:pPr>
            <a:r>
              <a:rPr lang="en-US" sz="1400" dirty="0">
                <a:solidFill>
                  <a:srgbClr val="1B2A3A"/>
                </a:solidFill>
                <a:latin typeface="Calibri" pitchFamily="34" charset="0"/>
                <a:ea typeface="Calibri" pitchFamily="34" charset="-122"/>
                <a:cs typeface="Calibri" pitchFamily="34" charset="-120"/>
              </a:rPr>
              <a:t> – erishilgan pozitsiyani saqlab qolish, cheklangan o‘sish.</a:t>
            </a:r>
            <a:endParaRPr lang="en-US" sz="1400" dirty="0"/>
          </a:p>
        </p:txBody>
      </p:sp>
      <p:sp>
        <p:nvSpPr>
          <p:cNvPr id="20" name="Shape 18"/>
          <p:cNvSpPr/>
          <p:nvPr/>
        </p:nvSpPr>
        <p:spPr>
          <a:xfrm>
            <a:off x="6675120" y="5120640"/>
            <a:ext cx="4937760" cy="1051560"/>
          </a:xfrm>
          <a:prstGeom prst="roundRect">
            <a:avLst>
              <a:gd name="adj" fmla="val 10435"/>
            </a:avLst>
          </a:prstGeom>
          <a:solidFill>
            <a:srgbClr val="E8F3F6"/>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21" name="Text 19"/>
          <p:cNvSpPr txBox="1"/>
          <p:nvPr/>
        </p:nvSpPr>
        <p:spPr>
          <a:xfrm>
            <a:off x="6858000" y="5166360"/>
            <a:ext cx="4572000" cy="960120"/>
          </a:xfrm>
          <a:prstGeom prst="rect">
            <a:avLst/>
          </a:prstGeom>
          <a:noFill/>
          <a:ln/>
        </p:spPr>
        <p:txBody>
          <a:bodyPr wrap="square" lIns="0" tIns="0" rIns="0" bIns="0" rtlCol="0" anchor="ctr"/>
          <a:lstStyle/>
          <a:p>
            <a:pPr indent="0" marL="0">
              <a:buNone/>
            </a:pPr>
            <a:r>
              <a:rPr lang="en-US" sz="1400" b="1" dirty="0">
                <a:solidFill>
                  <a:srgbClr val="0D2F4F"/>
                </a:solidFill>
                <a:latin typeface="Calibri" pitchFamily="34" charset="0"/>
                <a:ea typeface="Calibri" pitchFamily="34" charset="-122"/>
                <a:cs typeface="Calibri" pitchFamily="34" charset="-120"/>
              </a:rPr>
              <a:t>M. Porterning umumiy raqobat strategiyalari: </a:t>
            </a:r>
            <a:pPr indent="0" marL="0">
              <a:buNone/>
            </a:pPr>
            <a:r>
              <a:rPr lang="en-US" sz="1400" dirty="0">
                <a:solidFill>
                  <a:srgbClr val="1B2A3A"/>
                </a:solidFill>
                <a:latin typeface="Calibri" pitchFamily="34" charset="0"/>
                <a:ea typeface="Calibri" pitchFamily="34" charset="-122"/>
                <a:cs typeface="Calibri" pitchFamily="34" charset="-120"/>
              </a:rPr>
              <a:t>xarajatlar bo‘yicha yetakchilik, differensiatsiya va fokuslash (tor segmentga yo‘naltirilish).</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3. Rivojlantirish strategiyasining maqsadlari</a:t>
            </a:r>
            <a:endParaRPr lang="en-US" sz="3000" dirty="0"/>
          </a:p>
        </p:txBody>
      </p:sp>
      <p:sp>
        <p:nvSpPr>
          <p:cNvPr id="3" name="Text 1"/>
          <p:cNvSpPr txBox="1"/>
          <p:nvPr/>
        </p:nvSpPr>
        <p:spPr>
          <a:xfrm>
            <a:off x="548640" y="1325880"/>
            <a:ext cx="6766560" cy="1371600"/>
          </a:xfrm>
          <a:prstGeom prst="rect">
            <a:avLst/>
          </a:prstGeom>
          <a:noFill/>
          <a:ln/>
        </p:spPr>
        <p:txBody>
          <a:bodyPr wrap="square" lIns="0" tIns="0" rIns="0" bIns="0" rtlCol="0" anchor="t"/>
          <a:lstStyle/>
          <a:p>
            <a:pPr indent="0" marL="0">
              <a:spcAft>
                <a:spcPts val="600"/>
              </a:spcAft>
              <a:buNone/>
            </a:pPr>
            <a:r>
              <a:rPr lang="en-US" sz="1500" b="1" dirty="0">
                <a:solidFill>
                  <a:srgbClr val="0E9F9A"/>
                </a:solidFill>
                <a:latin typeface="Calibri" pitchFamily="34" charset="0"/>
                <a:ea typeface="Calibri" pitchFamily="34" charset="-122"/>
                <a:cs typeface="Calibri" pitchFamily="34" charset="-120"/>
              </a:rPr>
              <a:t>Bosh maqsad</a:t>
            </a:r>
            <a:pPr indent="0" marL="0">
              <a:spcAft>
                <a:spcPts val="600"/>
              </a:spcAft>
              <a:buNone/>
            </a:pPr>
            <a:r>
              <a:rPr lang="en-US" sz="1500" dirty="0">
                <a:solidFill>
                  <a:srgbClr val="1B2A3A"/>
                </a:solidFill>
                <a:latin typeface="Calibri" pitchFamily="34" charset="0"/>
                <a:ea typeface="Calibri" pitchFamily="34" charset="-122"/>
                <a:cs typeface="Calibri" pitchFamily="34" charset="-120"/>
              </a:rPr>
              <a:t> – korxonaning bozordagi raqobatbardoshligini oshirish, barqaror o‘sishni ta’minlash va mulkdorlar, xodimlar hamda jamiyat manfaatlarini muvozanatli qondirish orqali uzoq muddatli qiymat yaratishdir. Bosh maqsad “maqsadlar daraxti” asosida aniq, o‘lchanadigan quyi maqsadlarga bo‘linadi:</a:t>
            </a:r>
            <a:endParaRPr lang="en-US" sz="1500" dirty="0"/>
          </a:p>
        </p:txBody>
      </p:sp>
      <p:sp>
        <p:nvSpPr>
          <p:cNvPr id="4" name="Shape 2"/>
          <p:cNvSpPr/>
          <p:nvPr/>
        </p:nvSpPr>
        <p:spPr>
          <a:xfrm>
            <a:off x="548640" y="2734056"/>
            <a:ext cx="457200" cy="457200"/>
          </a:xfrm>
          <a:prstGeom prst="ellipse">
            <a:avLst/>
          </a:prstGeom>
          <a:solidFill>
            <a:srgbClr val="0E9F9A"/>
          </a:solidFill>
          <a:ln w="12700">
            <a:solidFill>
              <a:srgbClr val="0E9F9A"/>
            </a:solidFill>
            <a:prstDash val="solid"/>
          </a:ln>
        </p:spPr>
      </p:sp>
      <p:pic>
        <p:nvPicPr>
          <p:cNvPr id="5" name="Image 0" descr="preencoded.png">    </p:cNvPr>
          <p:cNvPicPr>
            <a:picLocks noChangeAspect="1"/>
          </p:cNvPicPr>
          <p:nvPr/>
        </p:nvPicPr>
        <p:blipFill>
          <a:blip r:embed="rId1"/>
          <a:stretch>
            <a:fillRect/>
          </a:stretch>
        </p:blipFill>
        <p:spPr>
          <a:xfrm>
            <a:off x="667512" y="2852928"/>
            <a:ext cx="219456" cy="219456"/>
          </a:xfrm>
          <a:prstGeom prst="rect">
            <a:avLst/>
          </a:prstGeom>
        </p:spPr>
      </p:pic>
      <p:sp>
        <p:nvSpPr>
          <p:cNvPr id="6" name="Text 3"/>
          <p:cNvSpPr txBox="1"/>
          <p:nvPr/>
        </p:nvSpPr>
        <p:spPr>
          <a:xfrm>
            <a:off x="1143000" y="2697480"/>
            <a:ext cx="6172200" cy="566928"/>
          </a:xfrm>
          <a:prstGeom prst="rect">
            <a:avLst/>
          </a:prstGeom>
          <a:noFill/>
          <a:ln/>
        </p:spPr>
        <p:txBody>
          <a:bodyPr wrap="square" lIns="0" tIns="0" rIns="0" bIns="0" rtlCol="0" anchor="ctr"/>
          <a:lstStyle/>
          <a:p>
            <a:pPr indent="0" marL="0">
              <a:buNone/>
            </a:pPr>
            <a:r>
              <a:rPr lang="en-US" sz="1400" b="1" dirty="0">
                <a:solidFill>
                  <a:srgbClr val="0D2F4F"/>
                </a:solidFill>
                <a:latin typeface="Calibri" pitchFamily="34" charset="0"/>
                <a:ea typeface="Calibri" pitchFamily="34" charset="-122"/>
                <a:cs typeface="Calibri" pitchFamily="34" charset="-120"/>
              </a:rPr>
              <a:t>Iqtisodiy maqsadlar: </a:t>
            </a:r>
            <a:pPr indent="0" marL="0">
              <a:buNone/>
            </a:pPr>
            <a:r>
              <a:rPr lang="en-US" sz="1400" dirty="0">
                <a:solidFill>
                  <a:srgbClr val="1B2A3A"/>
                </a:solidFill>
                <a:latin typeface="Calibri" pitchFamily="34" charset="0"/>
                <a:ea typeface="Calibri" pitchFamily="34" charset="-122"/>
                <a:cs typeface="Calibri" pitchFamily="34" charset="-120"/>
              </a:rPr>
              <a:t>foyda va rentabellikni oshirish, xarajatlarni kamaytirish, moliyaviy barqarorlik</a:t>
            </a:r>
            <a:endParaRPr lang="en-US" sz="1400" dirty="0"/>
          </a:p>
        </p:txBody>
      </p:sp>
      <p:sp>
        <p:nvSpPr>
          <p:cNvPr id="7" name="Shape 4"/>
          <p:cNvSpPr/>
          <p:nvPr/>
        </p:nvSpPr>
        <p:spPr>
          <a:xfrm>
            <a:off x="548640" y="3355848"/>
            <a:ext cx="457200" cy="457200"/>
          </a:xfrm>
          <a:prstGeom prst="ellipse">
            <a:avLst/>
          </a:prstGeom>
          <a:solidFill>
            <a:srgbClr val="0D2F4F"/>
          </a:solidFill>
          <a:ln w="12700">
            <a:solidFill>
              <a:srgbClr val="0D2F4F"/>
            </a:solidFill>
            <a:prstDash val="solid"/>
          </a:ln>
        </p:spPr>
      </p:sp>
      <p:pic>
        <p:nvPicPr>
          <p:cNvPr id="8" name="Image 1" descr="preencoded.png">    </p:cNvPr>
          <p:cNvPicPr>
            <a:picLocks noChangeAspect="1"/>
          </p:cNvPicPr>
          <p:nvPr/>
        </p:nvPicPr>
        <p:blipFill>
          <a:blip r:embed="rId2"/>
          <a:stretch>
            <a:fillRect/>
          </a:stretch>
        </p:blipFill>
        <p:spPr>
          <a:xfrm>
            <a:off x="667512" y="3474720"/>
            <a:ext cx="219456" cy="219456"/>
          </a:xfrm>
          <a:prstGeom prst="rect">
            <a:avLst/>
          </a:prstGeom>
        </p:spPr>
      </p:pic>
      <p:sp>
        <p:nvSpPr>
          <p:cNvPr id="9" name="Text 5"/>
          <p:cNvSpPr txBox="1"/>
          <p:nvPr/>
        </p:nvSpPr>
        <p:spPr>
          <a:xfrm>
            <a:off x="1143000" y="3319272"/>
            <a:ext cx="6172200" cy="566928"/>
          </a:xfrm>
          <a:prstGeom prst="rect">
            <a:avLst/>
          </a:prstGeom>
          <a:noFill/>
          <a:ln/>
        </p:spPr>
        <p:txBody>
          <a:bodyPr wrap="square" lIns="0" tIns="0" rIns="0" bIns="0" rtlCol="0" anchor="ctr"/>
          <a:lstStyle/>
          <a:p>
            <a:pPr indent="0" marL="0">
              <a:buNone/>
            </a:pPr>
            <a:r>
              <a:rPr lang="en-US" sz="1400" b="1" dirty="0">
                <a:solidFill>
                  <a:srgbClr val="0D2F4F"/>
                </a:solidFill>
                <a:latin typeface="Calibri" pitchFamily="34" charset="0"/>
                <a:ea typeface="Calibri" pitchFamily="34" charset="-122"/>
                <a:cs typeface="Calibri" pitchFamily="34" charset="-120"/>
              </a:rPr>
              <a:t>Bozor maqsadlari: </a:t>
            </a:r>
            <a:pPr indent="0" marL="0">
              <a:buNone/>
            </a:pPr>
            <a:r>
              <a:rPr lang="en-US" sz="1400" dirty="0">
                <a:solidFill>
                  <a:srgbClr val="1B2A3A"/>
                </a:solidFill>
                <a:latin typeface="Calibri" pitchFamily="34" charset="0"/>
                <a:ea typeface="Calibri" pitchFamily="34" charset="-122"/>
                <a:cs typeface="Calibri" pitchFamily="34" charset="-120"/>
              </a:rPr>
              <a:t>bozor ulushini kengaytirish, yangi bozorlarga chiqish, eksport hajmini oshirish</a:t>
            </a:r>
            <a:endParaRPr lang="en-US" sz="1400" dirty="0"/>
          </a:p>
        </p:txBody>
      </p:sp>
      <p:sp>
        <p:nvSpPr>
          <p:cNvPr id="10" name="Shape 6"/>
          <p:cNvSpPr/>
          <p:nvPr/>
        </p:nvSpPr>
        <p:spPr>
          <a:xfrm>
            <a:off x="548640" y="3977640"/>
            <a:ext cx="457200" cy="457200"/>
          </a:xfrm>
          <a:prstGeom prst="ellipse">
            <a:avLst/>
          </a:prstGeom>
          <a:solidFill>
            <a:srgbClr val="0E9F9A"/>
          </a:solidFill>
          <a:ln w="12700">
            <a:solidFill>
              <a:srgbClr val="0E9F9A"/>
            </a:solidFill>
            <a:prstDash val="solid"/>
          </a:ln>
        </p:spPr>
      </p:sp>
      <p:pic>
        <p:nvPicPr>
          <p:cNvPr id="11" name="Image 2" descr="preencoded.png">    </p:cNvPr>
          <p:cNvPicPr>
            <a:picLocks noChangeAspect="1"/>
          </p:cNvPicPr>
          <p:nvPr/>
        </p:nvPicPr>
        <p:blipFill>
          <a:blip r:embed="rId3"/>
          <a:stretch>
            <a:fillRect/>
          </a:stretch>
        </p:blipFill>
        <p:spPr>
          <a:xfrm>
            <a:off x="667512" y="4096512"/>
            <a:ext cx="219456" cy="219456"/>
          </a:xfrm>
          <a:prstGeom prst="rect">
            <a:avLst/>
          </a:prstGeom>
        </p:spPr>
      </p:pic>
      <p:sp>
        <p:nvSpPr>
          <p:cNvPr id="12" name="Text 7"/>
          <p:cNvSpPr txBox="1"/>
          <p:nvPr/>
        </p:nvSpPr>
        <p:spPr>
          <a:xfrm>
            <a:off x="1143000" y="3941064"/>
            <a:ext cx="6172200" cy="566928"/>
          </a:xfrm>
          <a:prstGeom prst="rect">
            <a:avLst/>
          </a:prstGeom>
          <a:noFill/>
          <a:ln/>
        </p:spPr>
        <p:txBody>
          <a:bodyPr wrap="square" lIns="0" tIns="0" rIns="0" bIns="0" rtlCol="0" anchor="ctr"/>
          <a:lstStyle/>
          <a:p>
            <a:pPr indent="0" marL="0">
              <a:buNone/>
            </a:pPr>
            <a:r>
              <a:rPr lang="en-US" sz="1400" b="1" dirty="0">
                <a:solidFill>
                  <a:srgbClr val="0D2F4F"/>
                </a:solidFill>
                <a:latin typeface="Calibri" pitchFamily="34" charset="0"/>
                <a:ea typeface="Calibri" pitchFamily="34" charset="-122"/>
                <a:cs typeface="Calibri" pitchFamily="34" charset="-120"/>
              </a:rPr>
              <a:t>Innovatsion maqsadlar: </a:t>
            </a:r>
            <a:pPr indent="0" marL="0">
              <a:buNone/>
            </a:pPr>
            <a:r>
              <a:rPr lang="en-US" sz="1400" dirty="0">
                <a:solidFill>
                  <a:srgbClr val="1B2A3A"/>
                </a:solidFill>
                <a:latin typeface="Calibri" pitchFamily="34" charset="0"/>
                <a:ea typeface="Calibri" pitchFamily="34" charset="-122"/>
                <a:cs typeface="Calibri" pitchFamily="34" charset="-120"/>
              </a:rPr>
              <a:t>yangi mahsulot va texnologiyalarni joriy etish, raqamlashtirish</a:t>
            </a:r>
            <a:endParaRPr lang="en-US" sz="1400" dirty="0"/>
          </a:p>
        </p:txBody>
      </p:sp>
      <p:sp>
        <p:nvSpPr>
          <p:cNvPr id="13" name="Shape 8"/>
          <p:cNvSpPr/>
          <p:nvPr/>
        </p:nvSpPr>
        <p:spPr>
          <a:xfrm>
            <a:off x="548640" y="4599432"/>
            <a:ext cx="457200" cy="457200"/>
          </a:xfrm>
          <a:prstGeom prst="ellipse">
            <a:avLst/>
          </a:prstGeom>
          <a:solidFill>
            <a:srgbClr val="0D2F4F"/>
          </a:solidFill>
          <a:ln w="12700">
            <a:solidFill>
              <a:srgbClr val="0D2F4F"/>
            </a:solidFill>
            <a:prstDash val="solid"/>
          </a:ln>
        </p:spPr>
      </p:sp>
      <p:pic>
        <p:nvPicPr>
          <p:cNvPr id="14" name="Image 3" descr="preencoded.png">    </p:cNvPr>
          <p:cNvPicPr>
            <a:picLocks noChangeAspect="1"/>
          </p:cNvPicPr>
          <p:nvPr/>
        </p:nvPicPr>
        <p:blipFill>
          <a:blip r:embed="rId4"/>
          <a:stretch>
            <a:fillRect/>
          </a:stretch>
        </p:blipFill>
        <p:spPr>
          <a:xfrm>
            <a:off x="667512" y="4718304"/>
            <a:ext cx="219456" cy="219456"/>
          </a:xfrm>
          <a:prstGeom prst="rect">
            <a:avLst/>
          </a:prstGeom>
        </p:spPr>
      </p:pic>
      <p:sp>
        <p:nvSpPr>
          <p:cNvPr id="15" name="Text 9"/>
          <p:cNvSpPr txBox="1"/>
          <p:nvPr/>
        </p:nvSpPr>
        <p:spPr>
          <a:xfrm>
            <a:off x="1143000" y="4562856"/>
            <a:ext cx="6172200" cy="566928"/>
          </a:xfrm>
          <a:prstGeom prst="rect">
            <a:avLst/>
          </a:prstGeom>
          <a:noFill/>
          <a:ln/>
        </p:spPr>
        <p:txBody>
          <a:bodyPr wrap="square" lIns="0" tIns="0" rIns="0" bIns="0" rtlCol="0" anchor="ctr"/>
          <a:lstStyle/>
          <a:p>
            <a:pPr indent="0" marL="0">
              <a:buNone/>
            </a:pPr>
            <a:r>
              <a:rPr lang="en-US" sz="1400" b="1" dirty="0">
                <a:solidFill>
                  <a:srgbClr val="0D2F4F"/>
                </a:solidFill>
                <a:latin typeface="Calibri" pitchFamily="34" charset="0"/>
                <a:ea typeface="Calibri" pitchFamily="34" charset="-122"/>
                <a:cs typeface="Calibri" pitchFamily="34" charset="-120"/>
              </a:rPr>
              <a:t>Ijtimoiy maqsadlar: </a:t>
            </a:r>
            <a:pPr indent="0" marL="0">
              <a:buNone/>
            </a:pPr>
            <a:r>
              <a:rPr lang="en-US" sz="1400" dirty="0">
                <a:solidFill>
                  <a:srgbClr val="1B2A3A"/>
                </a:solidFill>
                <a:latin typeface="Calibri" pitchFamily="34" charset="0"/>
                <a:ea typeface="Calibri" pitchFamily="34" charset="-122"/>
                <a:cs typeface="Calibri" pitchFamily="34" charset="-120"/>
              </a:rPr>
              <a:t>ish o‘rinlari yaratish, xodimlar malakasi va farovonligini oshirish</a:t>
            </a:r>
            <a:endParaRPr lang="en-US" sz="1400" dirty="0"/>
          </a:p>
        </p:txBody>
      </p:sp>
      <p:sp>
        <p:nvSpPr>
          <p:cNvPr id="16" name="Shape 10"/>
          <p:cNvSpPr/>
          <p:nvPr/>
        </p:nvSpPr>
        <p:spPr>
          <a:xfrm>
            <a:off x="548640" y="5221224"/>
            <a:ext cx="457200" cy="457200"/>
          </a:xfrm>
          <a:prstGeom prst="ellipse">
            <a:avLst/>
          </a:prstGeom>
          <a:solidFill>
            <a:srgbClr val="0E9F9A"/>
          </a:solidFill>
          <a:ln w="12700">
            <a:solidFill>
              <a:srgbClr val="0E9F9A"/>
            </a:solidFill>
            <a:prstDash val="solid"/>
          </a:ln>
        </p:spPr>
      </p:sp>
      <p:pic>
        <p:nvPicPr>
          <p:cNvPr id="17" name="Image 4" descr="preencoded.png">    </p:cNvPr>
          <p:cNvPicPr>
            <a:picLocks noChangeAspect="1"/>
          </p:cNvPicPr>
          <p:nvPr/>
        </p:nvPicPr>
        <p:blipFill>
          <a:blip r:embed="rId5"/>
          <a:stretch>
            <a:fillRect/>
          </a:stretch>
        </p:blipFill>
        <p:spPr>
          <a:xfrm>
            <a:off x="667512" y="5340096"/>
            <a:ext cx="219456" cy="219456"/>
          </a:xfrm>
          <a:prstGeom prst="rect">
            <a:avLst/>
          </a:prstGeom>
        </p:spPr>
      </p:pic>
      <p:sp>
        <p:nvSpPr>
          <p:cNvPr id="18" name="Text 11"/>
          <p:cNvSpPr txBox="1"/>
          <p:nvPr/>
        </p:nvSpPr>
        <p:spPr>
          <a:xfrm>
            <a:off x="1143000" y="5184648"/>
            <a:ext cx="6172200" cy="566928"/>
          </a:xfrm>
          <a:prstGeom prst="rect">
            <a:avLst/>
          </a:prstGeom>
          <a:noFill/>
          <a:ln/>
        </p:spPr>
        <p:txBody>
          <a:bodyPr wrap="square" lIns="0" tIns="0" rIns="0" bIns="0" rtlCol="0" anchor="ctr"/>
          <a:lstStyle/>
          <a:p>
            <a:pPr indent="0" marL="0">
              <a:buNone/>
            </a:pPr>
            <a:r>
              <a:rPr lang="en-US" sz="1400" b="1" dirty="0">
                <a:solidFill>
                  <a:srgbClr val="0D2F4F"/>
                </a:solidFill>
                <a:latin typeface="Calibri" pitchFamily="34" charset="0"/>
                <a:ea typeface="Calibri" pitchFamily="34" charset="-122"/>
                <a:cs typeface="Calibri" pitchFamily="34" charset="-120"/>
              </a:rPr>
              <a:t>Ekologik maqsadlar: </a:t>
            </a:r>
            <a:pPr indent="0" marL="0">
              <a:buNone/>
            </a:pPr>
            <a:r>
              <a:rPr lang="en-US" sz="1400" dirty="0">
                <a:solidFill>
                  <a:srgbClr val="1B2A3A"/>
                </a:solidFill>
                <a:latin typeface="Calibri" pitchFamily="34" charset="0"/>
                <a:ea typeface="Calibri" pitchFamily="34" charset="-122"/>
                <a:cs typeface="Calibri" pitchFamily="34" charset="-120"/>
              </a:rPr>
              <a:t>resurs tejamkorligi, chiqindilarni kamaytirish, “yashil” ishlab chiqarish</a:t>
            </a:r>
            <a:endParaRPr lang="en-US" sz="1400" dirty="0"/>
          </a:p>
        </p:txBody>
      </p:sp>
      <p:pic>
        <p:nvPicPr>
          <p:cNvPr id="19" name="Image 5" descr="img/goals.png">    </p:cNvPr>
          <p:cNvPicPr>
            <a:picLocks noChangeAspect="1"/>
          </p:cNvPicPr>
          <p:nvPr/>
        </p:nvPicPr>
        <p:blipFill>
          <a:blip r:embed="rId6"/>
          <a:stretch>
            <a:fillRect/>
          </a:stretch>
        </p:blipFill>
        <p:spPr>
          <a:xfrm>
            <a:off x="7680960" y="1325880"/>
            <a:ext cx="3931920" cy="3054096"/>
          </a:xfrm>
          <a:prstGeom prst="rect">
            <a:avLst/>
          </a:prstGeom>
        </p:spPr>
      </p:pic>
      <p:sp>
        <p:nvSpPr>
          <p:cNvPr id="20" name="Text 12"/>
          <p:cNvSpPr txBox="1"/>
          <p:nvPr/>
        </p:nvSpPr>
        <p:spPr>
          <a:xfrm>
            <a:off x="7680960" y="4526280"/>
            <a:ext cx="3931920" cy="320040"/>
          </a:xfrm>
          <a:prstGeom prst="rect">
            <a:avLst/>
          </a:prstGeom>
          <a:noFill/>
          <a:ln/>
        </p:spPr>
        <p:txBody>
          <a:bodyPr wrap="square" lIns="0" tIns="0" rIns="0" bIns="0" rtlCol="0" anchor="ctr"/>
          <a:lstStyle/>
          <a:p>
            <a:pPr indent="0" marL="0">
              <a:buNone/>
            </a:pPr>
            <a:r>
              <a:rPr lang="en-US" sz="1400" b="1" dirty="0">
                <a:solidFill>
                  <a:srgbClr val="0D2F4F"/>
                </a:solidFill>
              </a:rPr>
              <a:t>SMART talablari – maqsad bo‘lishi kerak:</a:t>
            </a:r>
            <a:endParaRPr lang="en-US" sz="1400" dirty="0"/>
          </a:p>
        </p:txBody>
      </p:sp>
      <p:sp>
        <p:nvSpPr>
          <p:cNvPr id="21" name="Shape 13"/>
          <p:cNvSpPr/>
          <p:nvPr/>
        </p:nvSpPr>
        <p:spPr>
          <a:xfrm>
            <a:off x="7772400" y="4937760"/>
            <a:ext cx="566928" cy="566928"/>
          </a:xfrm>
          <a:prstGeom prst="ellipse">
            <a:avLst/>
          </a:prstGeom>
          <a:solidFill>
            <a:srgbClr val="F2A541"/>
          </a:solidFill>
          <a:ln w="12700">
            <a:solidFill>
              <a:srgbClr val="F2A541"/>
            </a:solidFill>
            <a:prstDash val="solid"/>
          </a:ln>
        </p:spPr>
      </p:sp>
      <p:sp>
        <p:nvSpPr>
          <p:cNvPr id="22" name="Text 14"/>
          <p:cNvSpPr txBox="1"/>
          <p:nvPr/>
        </p:nvSpPr>
        <p:spPr>
          <a:xfrm>
            <a:off x="7772400" y="493776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S</a:t>
            </a:r>
            <a:endParaRPr lang="en-US" sz="2000" dirty="0"/>
          </a:p>
        </p:txBody>
      </p:sp>
      <p:sp>
        <p:nvSpPr>
          <p:cNvPr id="23" name="Text 15"/>
          <p:cNvSpPr txBox="1"/>
          <p:nvPr/>
        </p:nvSpPr>
        <p:spPr>
          <a:xfrm>
            <a:off x="7635240" y="5577840"/>
            <a:ext cx="841248" cy="457200"/>
          </a:xfrm>
          <a:prstGeom prst="rect">
            <a:avLst/>
          </a:prstGeom>
          <a:noFill/>
          <a:ln/>
        </p:spPr>
        <p:txBody>
          <a:bodyPr wrap="square" lIns="0" tIns="0" rIns="0" bIns="0" rtlCol="0" anchor="ctr"/>
          <a:lstStyle/>
          <a:p>
            <a:pPr algn="ctr" indent="0" marL="0">
              <a:buNone/>
            </a:pPr>
            <a:r>
              <a:rPr lang="en-US" sz="1000" dirty="0">
                <a:solidFill>
                  <a:srgbClr val="1B2A3A"/>
                </a:solidFill>
              </a:rPr>
              <a:t>Aniq</a:t>
            </a:r>
            <a:endParaRPr lang="en-US" sz="1000" dirty="0"/>
          </a:p>
        </p:txBody>
      </p:sp>
      <p:sp>
        <p:nvSpPr>
          <p:cNvPr id="24" name="Shape 16"/>
          <p:cNvSpPr/>
          <p:nvPr/>
        </p:nvSpPr>
        <p:spPr>
          <a:xfrm>
            <a:off x="8567928" y="4937760"/>
            <a:ext cx="566928" cy="566928"/>
          </a:xfrm>
          <a:prstGeom prst="ellipse">
            <a:avLst/>
          </a:prstGeom>
          <a:solidFill>
            <a:srgbClr val="0D2F4F"/>
          </a:solidFill>
          <a:ln w="12700">
            <a:solidFill>
              <a:srgbClr val="0D2F4F"/>
            </a:solidFill>
            <a:prstDash val="solid"/>
          </a:ln>
        </p:spPr>
      </p:sp>
      <p:sp>
        <p:nvSpPr>
          <p:cNvPr id="25" name="Text 17"/>
          <p:cNvSpPr txBox="1"/>
          <p:nvPr/>
        </p:nvSpPr>
        <p:spPr>
          <a:xfrm>
            <a:off x="8567928" y="493776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M</a:t>
            </a:r>
            <a:endParaRPr lang="en-US" sz="2000" dirty="0"/>
          </a:p>
        </p:txBody>
      </p:sp>
      <p:sp>
        <p:nvSpPr>
          <p:cNvPr id="26" name="Text 18"/>
          <p:cNvSpPr txBox="1"/>
          <p:nvPr/>
        </p:nvSpPr>
        <p:spPr>
          <a:xfrm>
            <a:off x="8430768" y="5577840"/>
            <a:ext cx="841248" cy="457200"/>
          </a:xfrm>
          <a:prstGeom prst="rect">
            <a:avLst/>
          </a:prstGeom>
          <a:noFill/>
          <a:ln/>
        </p:spPr>
        <p:txBody>
          <a:bodyPr wrap="square" lIns="0" tIns="0" rIns="0" bIns="0" rtlCol="0" anchor="ctr"/>
          <a:lstStyle/>
          <a:p>
            <a:pPr algn="ctr" indent="0" marL="0">
              <a:buNone/>
            </a:pPr>
            <a:r>
              <a:rPr lang="en-US" sz="1000" dirty="0">
                <a:solidFill>
                  <a:srgbClr val="1B2A3A"/>
                </a:solidFill>
              </a:rPr>
              <a:t>O‘lchanadigan</a:t>
            </a:r>
            <a:endParaRPr lang="en-US" sz="1000" dirty="0"/>
          </a:p>
        </p:txBody>
      </p:sp>
      <p:sp>
        <p:nvSpPr>
          <p:cNvPr id="27" name="Shape 19"/>
          <p:cNvSpPr/>
          <p:nvPr/>
        </p:nvSpPr>
        <p:spPr>
          <a:xfrm>
            <a:off x="9363456" y="4937760"/>
            <a:ext cx="566928" cy="566928"/>
          </a:xfrm>
          <a:prstGeom prst="ellipse">
            <a:avLst/>
          </a:prstGeom>
          <a:solidFill>
            <a:srgbClr val="F2A541"/>
          </a:solidFill>
          <a:ln w="12700">
            <a:solidFill>
              <a:srgbClr val="F2A541"/>
            </a:solidFill>
            <a:prstDash val="solid"/>
          </a:ln>
        </p:spPr>
      </p:sp>
      <p:sp>
        <p:nvSpPr>
          <p:cNvPr id="28" name="Text 20"/>
          <p:cNvSpPr txBox="1"/>
          <p:nvPr/>
        </p:nvSpPr>
        <p:spPr>
          <a:xfrm>
            <a:off x="9363456" y="493776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A</a:t>
            </a:r>
            <a:endParaRPr lang="en-US" sz="2000" dirty="0"/>
          </a:p>
        </p:txBody>
      </p:sp>
      <p:sp>
        <p:nvSpPr>
          <p:cNvPr id="29" name="Text 21"/>
          <p:cNvSpPr txBox="1"/>
          <p:nvPr/>
        </p:nvSpPr>
        <p:spPr>
          <a:xfrm>
            <a:off x="9226296" y="5577840"/>
            <a:ext cx="841248" cy="457200"/>
          </a:xfrm>
          <a:prstGeom prst="rect">
            <a:avLst/>
          </a:prstGeom>
          <a:noFill/>
          <a:ln/>
        </p:spPr>
        <p:txBody>
          <a:bodyPr wrap="square" lIns="0" tIns="0" rIns="0" bIns="0" rtlCol="0" anchor="ctr"/>
          <a:lstStyle/>
          <a:p>
            <a:pPr algn="ctr" indent="0" marL="0">
              <a:buNone/>
            </a:pPr>
            <a:r>
              <a:rPr lang="en-US" sz="1000" dirty="0">
                <a:solidFill>
                  <a:srgbClr val="1B2A3A"/>
                </a:solidFill>
              </a:rPr>
              <a:t>Erishiladigan</a:t>
            </a:r>
            <a:endParaRPr lang="en-US" sz="1000" dirty="0"/>
          </a:p>
        </p:txBody>
      </p:sp>
      <p:sp>
        <p:nvSpPr>
          <p:cNvPr id="30" name="Shape 22"/>
          <p:cNvSpPr/>
          <p:nvPr/>
        </p:nvSpPr>
        <p:spPr>
          <a:xfrm>
            <a:off x="10158984" y="4937760"/>
            <a:ext cx="566928" cy="566928"/>
          </a:xfrm>
          <a:prstGeom prst="ellipse">
            <a:avLst/>
          </a:prstGeom>
          <a:solidFill>
            <a:srgbClr val="0D2F4F"/>
          </a:solidFill>
          <a:ln w="12700">
            <a:solidFill>
              <a:srgbClr val="0D2F4F"/>
            </a:solidFill>
            <a:prstDash val="solid"/>
          </a:ln>
        </p:spPr>
      </p:sp>
      <p:sp>
        <p:nvSpPr>
          <p:cNvPr id="31" name="Text 23"/>
          <p:cNvSpPr txBox="1"/>
          <p:nvPr/>
        </p:nvSpPr>
        <p:spPr>
          <a:xfrm>
            <a:off x="10158984" y="493776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R</a:t>
            </a:r>
            <a:endParaRPr lang="en-US" sz="2000" dirty="0"/>
          </a:p>
        </p:txBody>
      </p:sp>
      <p:sp>
        <p:nvSpPr>
          <p:cNvPr id="32" name="Text 24"/>
          <p:cNvSpPr txBox="1"/>
          <p:nvPr/>
        </p:nvSpPr>
        <p:spPr>
          <a:xfrm>
            <a:off x="10021824" y="5577840"/>
            <a:ext cx="841248" cy="457200"/>
          </a:xfrm>
          <a:prstGeom prst="rect">
            <a:avLst/>
          </a:prstGeom>
          <a:noFill/>
          <a:ln/>
        </p:spPr>
        <p:txBody>
          <a:bodyPr wrap="square" lIns="0" tIns="0" rIns="0" bIns="0" rtlCol="0" anchor="ctr"/>
          <a:lstStyle/>
          <a:p>
            <a:pPr algn="ctr" indent="0" marL="0">
              <a:buNone/>
            </a:pPr>
            <a:r>
              <a:rPr lang="en-US" sz="1000" dirty="0">
                <a:solidFill>
                  <a:srgbClr val="1B2A3A"/>
                </a:solidFill>
              </a:rPr>
              <a:t>Dolzarb</a:t>
            </a:r>
            <a:endParaRPr lang="en-US" sz="1000" dirty="0"/>
          </a:p>
        </p:txBody>
      </p:sp>
      <p:sp>
        <p:nvSpPr>
          <p:cNvPr id="33" name="Shape 25"/>
          <p:cNvSpPr/>
          <p:nvPr/>
        </p:nvSpPr>
        <p:spPr>
          <a:xfrm>
            <a:off x="10954512" y="4937760"/>
            <a:ext cx="566928" cy="566928"/>
          </a:xfrm>
          <a:prstGeom prst="ellipse">
            <a:avLst/>
          </a:prstGeom>
          <a:solidFill>
            <a:srgbClr val="F2A541"/>
          </a:solidFill>
          <a:ln w="12700">
            <a:solidFill>
              <a:srgbClr val="F2A541"/>
            </a:solidFill>
            <a:prstDash val="solid"/>
          </a:ln>
        </p:spPr>
      </p:sp>
      <p:sp>
        <p:nvSpPr>
          <p:cNvPr id="34" name="Text 26"/>
          <p:cNvSpPr txBox="1"/>
          <p:nvPr/>
        </p:nvSpPr>
        <p:spPr>
          <a:xfrm>
            <a:off x="10954512" y="493776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T</a:t>
            </a:r>
            <a:endParaRPr lang="en-US" sz="2000" dirty="0"/>
          </a:p>
        </p:txBody>
      </p:sp>
      <p:sp>
        <p:nvSpPr>
          <p:cNvPr id="35" name="Text 27"/>
          <p:cNvSpPr txBox="1"/>
          <p:nvPr/>
        </p:nvSpPr>
        <p:spPr>
          <a:xfrm>
            <a:off x="10817352" y="5577840"/>
            <a:ext cx="841248" cy="457200"/>
          </a:xfrm>
          <a:prstGeom prst="rect">
            <a:avLst/>
          </a:prstGeom>
          <a:noFill/>
          <a:ln/>
        </p:spPr>
        <p:txBody>
          <a:bodyPr wrap="square" lIns="0" tIns="0" rIns="0" bIns="0" rtlCol="0" anchor="ctr"/>
          <a:lstStyle/>
          <a:p>
            <a:pPr algn="ctr" indent="0" marL="0">
              <a:buNone/>
            </a:pPr>
            <a:r>
              <a:rPr lang="en-US" sz="1000" dirty="0">
                <a:solidFill>
                  <a:srgbClr val="1B2A3A"/>
                </a:solidFill>
              </a:rPr>
              <a:t>Muddatli</a:t>
            </a:r>
            <a:endParaRPr lang="en-US" sz="1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3. Rivojlantirish strategiyasining vazifalari</a:t>
            </a:r>
            <a:endParaRPr lang="en-US" sz="3000" dirty="0"/>
          </a:p>
        </p:txBody>
      </p:sp>
      <p:sp>
        <p:nvSpPr>
          <p:cNvPr id="3" name="Text 1"/>
          <p:cNvSpPr txBox="1"/>
          <p:nvPr/>
        </p:nvSpPr>
        <p:spPr>
          <a:xfrm>
            <a:off x="548640" y="1325880"/>
            <a:ext cx="11064240" cy="365760"/>
          </a:xfrm>
          <a:prstGeom prst="rect">
            <a:avLst/>
          </a:prstGeom>
          <a:noFill/>
          <a:ln/>
        </p:spPr>
        <p:txBody>
          <a:bodyPr wrap="square" lIns="0" tIns="0" rIns="0" bIns="0" rtlCol="0" anchor="t"/>
          <a:lstStyle/>
          <a:p>
            <a:pPr indent="0" marL="0">
              <a:spcAft>
                <a:spcPts val="600"/>
              </a:spcAft>
              <a:buNone/>
            </a:pPr>
            <a:r>
              <a:rPr lang="en-US" sz="1500" dirty="0">
                <a:solidFill>
                  <a:srgbClr val="1B2A3A"/>
                </a:solidFill>
                <a:latin typeface="Calibri" pitchFamily="34" charset="0"/>
                <a:ea typeface="Calibri" pitchFamily="34" charset="-122"/>
                <a:cs typeface="Calibri" pitchFamily="34" charset="-120"/>
              </a:rPr>
              <a:t>Maqsadlarga erishish uchun strategiya quyidagi o‘zaro bog‘liq vazifalarni hal etadi:</a:t>
            </a:r>
            <a:endParaRPr lang="en-US" sz="1500" dirty="0"/>
          </a:p>
        </p:txBody>
      </p:sp>
      <p:sp>
        <p:nvSpPr>
          <p:cNvPr id="4" name="Shape 2"/>
          <p:cNvSpPr/>
          <p:nvPr/>
        </p:nvSpPr>
        <p:spPr>
          <a:xfrm>
            <a:off x="548640" y="1828800"/>
            <a:ext cx="3520440" cy="2057400"/>
          </a:xfrm>
          <a:prstGeom prst="roundRect">
            <a:avLst>
              <a:gd name="adj" fmla="val 5333"/>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5" name="Shape 3"/>
          <p:cNvSpPr/>
          <p:nvPr/>
        </p:nvSpPr>
        <p:spPr>
          <a:xfrm>
            <a:off x="777240" y="2057400"/>
            <a:ext cx="594360" cy="594360"/>
          </a:xfrm>
          <a:prstGeom prst="ellipse">
            <a:avLst/>
          </a:prstGeom>
          <a:solidFill>
            <a:srgbClr val="0E9F9A"/>
          </a:solidFill>
          <a:ln w="12700">
            <a:solidFill>
              <a:srgbClr val="0E9F9A"/>
            </a:solidFill>
            <a:prstDash val="solid"/>
          </a:ln>
        </p:spPr>
      </p:sp>
      <p:pic>
        <p:nvPicPr>
          <p:cNvPr id="6" name="Image 0" descr="preencoded.png">    </p:cNvPr>
          <p:cNvPicPr>
            <a:picLocks noChangeAspect="1"/>
          </p:cNvPicPr>
          <p:nvPr/>
        </p:nvPicPr>
        <p:blipFill>
          <a:blip r:embed="rId1"/>
          <a:stretch>
            <a:fillRect/>
          </a:stretch>
        </p:blipFill>
        <p:spPr>
          <a:xfrm>
            <a:off x="931774" y="2211934"/>
            <a:ext cx="285293" cy="285293"/>
          </a:xfrm>
          <a:prstGeom prst="rect">
            <a:avLst/>
          </a:prstGeom>
        </p:spPr>
      </p:pic>
      <p:sp>
        <p:nvSpPr>
          <p:cNvPr id="7" name="Text 4"/>
          <p:cNvSpPr txBox="1"/>
          <p:nvPr/>
        </p:nvSpPr>
        <p:spPr>
          <a:xfrm>
            <a:off x="3291840" y="2011680"/>
            <a:ext cx="594360" cy="457200"/>
          </a:xfrm>
          <a:prstGeom prst="rect">
            <a:avLst/>
          </a:prstGeom>
          <a:noFill/>
          <a:ln/>
        </p:spPr>
        <p:txBody>
          <a:bodyPr wrap="square" lIns="0" tIns="0" rIns="0" bIns="0" rtlCol="0" anchor="ctr"/>
          <a:lstStyle/>
          <a:p>
            <a:pPr algn="r" indent="0" marL="0">
              <a:buNone/>
            </a:pPr>
            <a:r>
              <a:rPr lang="en-US" sz="2200" b="1" dirty="0">
                <a:solidFill>
                  <a:srgbClr val="F2A541"/>
                </a:solidFill>
                <a:latin typeface="Cambria" pitchFamily="34" charset="0"/>
                <a:ea typeface="Cambria" pitchFamily="34" charset="-122"/>
                <a:cs typeface="Cambria" pitchFamily="34" charset="-120"/>
              </a:rPr>
              <a:t>01</a:t>
            </a:r>
            <a:endParaRPr lang="en-US" sz="2200" dirty="0"/>
          </a:p>
        </p:txBody>
      </p:sp>
      <p:sp>
        <p:nvSpPr>
          <p:cNvPr id="8" name="Text 5"/>
          <p:cNvSpPr txBox="1"/>
          <p:nvPr/>
        </p:nvSpPr>
        <p:spPr>
          <a:xfrm>
            <a:off x="1508760" y="2057400"/>
            <a:ext cx="1783080" cy="594360"/>
          </a:xfrm>
          <a:prstGeom prst="rect">
            <a:avLst/>
          </a:prstGeom>
          <a:noFill/>
          <a:ln/>
        </p:spPr>
        <p:txBody>
          <a:bodyPr wrap="square" lIns="0" tIns="0" rIns="0" bIns="0" rtlCol="0" anchor="ctr"/>
          <a:lstStyle/>
          <a:p>
            <a:pPr indent="0" marL="0">
              <a:buNone/>
            </a:pPr>
            <a:r>
              <a:rPr lang="en-US" sz="1600" b="1" dirty="0">
                <a:solidFill>
                  <a:srgbClr val="0D2F4F"/>
                </a:solidFill>
              </a:rPr>
              <a:t>Muhitni tahlil qilish</a:t>
            </a:r>
            <a:endParaRPr lang="en-US" sz="1600" dirty="0"/>
          </a:p>
        </p:txBody>
      </p:sp>
      <p:sp>
        <p:nvSpPr>
          <p:cNvPr id="9" name="Text 6"/>
          <p:cNvSpPr txBox="1"/>
          <p:nvPr/>
        </p:nvSpPr>
        <p:spPr>
          <a:xfrm>
            <a:off x="777240" y="2743200"/>
            <a:ext cx="3063240" cy="1051560"/>
          </a:xfrm>
          <a:prstGeom prst="rect">
            <a:avLst/>
          </a:prstGeom>
          <a:noFill/>
          <a:ln/>
        </p:spPr>
        <p:txBody>
          <a:bodyPr wrap="square" lIns="0" tIns="0" rIns="0" bIns="0" rtlCol="0" anchor="t"/>
          <a:lstStyle/>
          <a:p>
            <a:pPr indent="0" marL="0">
              <a:buNone/>
            </a:pPr>
            <a:r>
              <a:rPr lang="en-US" sz="1400" dirty="0">
                <a:solidFill>
                  <a:srgbClr val="1B2A3A"/>
                </a:solidFill>
                <a:latin typeface="Calibri" pitchFamily="34" charset="0"/>
                <a:ea typeface="Calibri" pitchFamily="34" charset="-122"/>
                <a:cs typeface="Calibri" pitchFamily="34" charset="-120"/>
              </a:rPr>
              <a:t>Tashqi muhit (iqtisodiyot, siyosat, texnologiya, raqobat) va ichki salohiyatni muntazam o‘rganib, imkoniyat va tahdidlarni aniqlash.</a:t>
            </a:r>
            <a:endParaRPr lang="en-US" sz="1400" dirty="0"/>
          </a:p>
        </p:txBody>
      </p:sp>
      <p:sp>
        <p:nvSpPr>
          <p:cNvPr id="10" name="Shape 7"/>
          <p:cNvSpPr/>
          <p:nvPr/>
        </p:nvSpPr>
        <p:spPr>
          <a:xfrm>
            <a:off x="4343400" y="1828800"/>
            <a:ext cx="3520440" cy="2057400"/>
          </a:xfrm>
          <a:prstGeom prst="roundRect">
            <a:avLst>
              <a:gd name="adj" fmla="val 5333"/>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11" name="Shape 8"/>
          <p:cNvSpPr/>
          <p:nvPr/>
        </p:nvSpPr>
        <p:spPr>
          <a:xfrm>
            <a:off x="4572000" y="2057400"/>
            <a:ext cx="594360" cy="594360"/>
          </a:xfrm>
          <a:prstGeom prst="ellipse">
            <a:avLst/>
          </a:prstGeom>
          <a:solidFill>
            <a:srgbClr val="0D2F4F"/>
          </a:solidFill>
          <a:ln w="12700">
            <a:solidFill>
              <a:srgbClr val="0D2F4F"/>
            </a:solidFill>
            <a:prstDash val="solid"/>
          </a:ln>
        </p:spPr>
      </p:sp>
      <p:pic>
        <p:nvPicPr>
          <p:cNvPr id="12" name="Image 1" descr="preencoded.png">    </p:cNvPr>
          <p:cNvPicPr>
            <a:picLocks noChangeAspect="1"/>
          </p:cNvPicPr>
          <p:nvPr/>
        </p:nvPicPr>
        <p:blipFill>
          <a:blip r:embed="rId2"/>
          <a:stretch>
            <a:fillRect/>
          </a:stretch>
        </p:blipFill>
        <p:spPr>
          <a:xfrm>
            <a:off x="4726534" y="2211934"/>
            <a:ext cx="285293" cy="285293"/>
          </a:xfrm>
          <a:prstGeom prst="rect">
            <a:avLst/>
          </a:prstGeom>
        </p:spPr>
      </p:pic>
      <p:sp>
        <p:nvSpPr>
          <p:cNvPr id="13" name="Text 9"/>
          <p:cNvSpPr txBox="1"/>
          <p:nvPr/>
        </p:nvSpPr>
        <p:spPr>
          <a:xfrm>
            <a:off x="7086600" y="2011680"/>
            <a:ext cx="594360" cy="457200"/>
          </a:xfrm>
          <a:prstGeom prst="rect">
            <a:avLst/>
          </a:prstGeom>
          <a:noFill/>
          <a:ln/>
        </p:spPr>
        <p:txBody>
          <a:bodyPr wrap="square" lIns="0" tIns="0" rIns="0" bIns="0" rtlCol="0" anchor="ctr"/>
          <a:lstStyle/>
          <a:p>
            <a:pPr algn="r" indent="0" marL="0">
              <a:buNone/>
            </a:pPr>
            <a:r>
              <a:rPr lang="en-US" sz="2200" b="1" dirty="0">
                <a:solidFill>
                  <a:srgbClr val="F2A541"/>
                </a:solidFill>
                <a:latin typeface="Cambria" pitchFamily="34" charset="0"/>
                <a:ea typeface="Cambria" pitchFamily="34" charset="-122"/>
                <a:cs typeface="Cambria" pitchFamily="34" charset="-120"/>
              </a:rPr>
              <a:t>02</a:t>
            </a:r>
            <a:endParaRPr lang="en-US" sz="2200" dirty="0"/>
          </a:p>
        </p:txBody>
      </p:sp>
      <p:sp>
        <p:nvSpPr>
          <p:cNvPr id="14" name="Text 10"/>
          <p:cNvSpPr txBox="1"/>
          <p:nvPr/>
        </p:nvSpPr>
        <p:spPr>
          <a:xfrm>
            <a:off x="5303520" y="2057400"/>
            <a:ext cx="1783080" cy="594360"/>
          </a:xfrm>
          <a:prstGeom prst="rect">
            <a:avLst/>
          </a:prstGeom>
          <a:noFill/>
          <a:ln/>
        </p:spPr>
        <p:txBody>
          <a:bodyPr wrap="square" lIns="0" tIns="0" rIns="0" bIns="0" rtlCol="0" anchor="ctr"/>
          <a:lstStyle/>
          <a:p>
            <a:pPr indent="0" marL="0">
              <a:buNone/>
            </a:pPr>
            <a:r>
              <a:rPr lang="en-US" sz="1600" b="1" dirty="0">
                <a:solidFill>
                  <a:srgbClr val="0D2F4F"/>
                </a:solidFill>
              </a:rPr>
              <a:t>Raqobat ustunligini yaratish</a:t>
            </a:r>
            <a:endParaRPr lang="en-US" sz="1600" dirty="0"/>
          </a:p>
        </p:txBody>
      </p:sp>
      <p:sp>
        <p:nvSpPr>
          <p:cNvPr id="15" name="Text 11"/>
          <p:cNvSpPr txBox="1"/>
          <p:nvPr/>
        </p:nvSpPr>
        <p:spPr>
          <a:xfrm>
            <a:off x="4572000" y="2743200"/>
            <a:ext cx="3063240" cy="1051560"/>
          </a:xfrm>
          <a:prstGeom prst="rect">
            <a:avLst/>
          </a:prstGeom>
          <a:noFill/>
          <a:ln/>
        </p:spPr>
        <p:txBody>
          <a:bodyPr wrap="square" lIns="0" tIns="0" rIns="0" bIns="0" rtlCol="0" anchor="t"/>
          <a:lstStyle/>
          <a:p>
            <a:pPr indent="0" marL="0">
              <a:buNone/>
            </a:pPr>
            <a:r>
              <a:rPr lang="en-US" sz="1400" dirty="0">
                <a:solidFill>
                  <a:srgbClr val="1B2A3A"/>
                </a:solidFill>
                <a:latin typeface="Calibri" pitchFamily="34" charset="0"/>
                <a:ea typeface="Calibri" pitchFamily="34" charset="-122"/>
                <a:cs typeface="Calibri" pitchFamily="34" charset="-120"/>
              </a:rPr>
              <a:t>Mahsulot sifati, narx, xizmat ko‘rsatish yoki innovatsiya orqali korxonaning boshqalardan ajralib turuvchi jihatini shakllantirish.</a:t>
            </a:r>
            <a:endParaRPr lang="en-US" sz="1400" dirty="0"/>
          </a:p>
        </p:txBody>
      </p:sp>
      <p:sp>
        <p:nvSpPr>
          <p:cNvPr id="16" name="Shape 12"/>
          <p:cNvSpPr/>
          <p:nvPr/>
        </p:nvSpPr>
        <p:spPr>
          <a:xfrm>
            <a:off x="8138160" y="1828800"/>
            <a:ext cx="3520440" cy="2057400"/>
          </a:xfrm>
          <a:prstGeom prst="roundRect">
            <a:avLst>
              <a:gd name="adj" fmla="val 5333"/>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17" name="Shape 13"/>
          <p:cNvSpPr/>
          <p:nvPr/>
        </p:nvSpPr>
        <p:spPr>
          <a:xfrm>
            <a:off x="8366760" y="2057400"/>
            <a:ext cx="594360" cy="594360"/>
          </a:xfrm>
          <a:prstGeom prst="ellipse">
            <a:avLst/>
          </a:prstGeom>
          <a:solidFill>
            <a:srgbClr val="0E9F9A"/>
          </a:solidFill>
          <a:ln w="12700">
            <a:solidFill>
              <a:srgbClr val="0E9F9A"/>
            </a:solidFill>
            <a:prstDash val="solid"/>
          </a:ln>
        </p:spPr>
      </p:sp>
      <p:pic>
        <p:nvPicPr>
          <p:cNvPr id="18" name="Image 2" descr="preencoded.png">    </p:cNvPr>
          <p:cNvPicPr>
            <a:picLocks noChangeAspect="1"/>
          </p:cNvPicPr>
          <p:nvPr/>
        </p:nvPicPr>
        <p:blipFill>
          <a:blip r:embed="rId3"/>
          <a:stretch>
            <a:fillRect/>
          </a:stretch>
        </p:blipFill>
        <p:spPr>
          <a:xfrm>
            <a:off x="8521294" y="2211934"/>
            <a:ext cx="285293" cy="285293"/>
          </a:xfrm>
          <a:prstGeom prst="rect">
            <a:avLst/>
          </a:prstGeom>
        </p:spPr>
      </p:pic>
      <p:sp>
        <p:nvSpPr>
          <p:cNvPr id="19" name="Text 14"/>
          <p:cNvSpPr txBox="1"/>
          <p:nvPr/>
        </p:nvSpPr>
        <p:spPr>
          <a:xfrm>
            <a:off x="10881360" y="2011680"/>
            <a:ext cx="594360" cy="457200"/>
          </a:xfrm>
          <a:prstGeom prst="rect">
            <a:avLst/>
          </a:prstGeom>
          <a:noFill/>
          <a:ln/>
        </p:spPr>
        <p:txBody>
          <a:bodyPr wrap="square" lIns="0" tIns="0" rIns="0" bIns="0" rtlCol="0" anchor="ctr"/>
          <a:lstStyle/>
          <a:p>
            <a:pPr algn="r" indent="0" marL="0">
              <a:buNone/>
            </a:pPr>
            <a:r>
              <a:rPr lang="en-US" sz="2200" b="1" dirty="0">
                <a:solidFill>
                  <a:srgbClr val="F2A541"/>
                </a:solidFill>
                <a:latin typeface="Cambria" pitchFamily="34" charset="0"/>
                <a:ea typeface="Cambria" pitchFamily="34" charset="-122"/>
                <a:cs typeface="Cambria" pitchFamily="34" charset="-120"/>
              </a:rPr>
              <a:t>03</a:t>
            </a:r>
            <a:endParaRPr lang="en-US" sz="2200" dirty="0"/>
          </a:p>
        </p:txBody>
      </p:sp>
      <p:sp>
        <p:nvSpPr>
          <p:cNvPr id="20" name="Text 15"/>
          <p:cNvSpPr txBox="1"/>
          <p:nvPr/>
        </p:nvSpPr>
        <p:spPr>
          <a:xfrm>
            <a:off x="9098280" y="2057400"/>
            <a:ext cx="1783080" cy="594360"/>
          </a:xfrm>
          <a:prstGeom prst="rect">
            <a:avLst/>
          </a:prstGeom>
          <a:noFill/>
          <a:ln/>
        </p:spPr>
        <p:txBody>
          <a:bodyPr wrap="square" lIns="0" tIns="0" rIns="0" bIns="0" rtlCol="0" anchor="ctr"/>
          <a:lstStyle/>
          <a:p>
            <a:pPr indent="0" marL="0">
              <a:buNone/>
            </a:pPr>
            <a:r>
              <a:rPr lang="en-US" sz="1600" b="1" dirty="0">
                <a:solidFill>
                  <a:srgbClr val="0D2F4F"/>
                </a:solidFill>
              </a:rPr>
              <a:t>Resurslarni taqsimlash</a:t>
            </a:r>
            <a:endParaRPr lang="en-US" sz="1600" dirty="0"/>
          </a:p>
        </p:txBody>
      </p:sp>
      <p:sp>
        <p:nvSpPr>
          <p:cNvPr id="21" name="Text 16"/>
          <p:cNvSpPr txBox="1"/>
          <p:nvPr/>
        </p:nvSpPr>
        <p:spPr>
          <a:xfrm>
            <a:off x="8366760" y="2743200"/>
            <a:ext cx="3063240" cy="1051560"/>
          </a:xfrm>
          <a:prstGeom prst="rect">
            <a:avLst/>
          </a:prstGeom>
          <a:noFill/>
          <a:ln/>
        </p:spPr>
        <p:txBody>
          <a:bodyPr wrap="square" lIns="0" tIns="0" rIns="0" bIns="0" rtlCol="0" anchor="t"/>
          <a:lstStyle/>
          <a:p>
            <a:pPr indent="0" marL="0">
              <a:buNone/>
            </a:pPr>
            <a:r>
              <a:rPr lang="en-US" sz="1400" dirty="0">
                <a:solidFill>
                  <a:srgbClr val="1B2A3A"/>
                </a:solidFill>
                <a:latin typeface="Calibri" pitchFamily="34" charset="0"/>
                <a:ea typeface="Calibri" pitchFamily="34" charset="-122"/>
                <a:cs typeface="Calibri" pitchFamily="34" charset="-120"/>
              </a:rPr>
              <a:t>Moliyaviy, moddiy, mehnat va axborot resurslarini ustuvor yo‘nalishlarga yo‘naltirib, ulardan samarali foydalanish.</a:t>
            </a:r>
            <a:endParaRPr lang="en-US" sz="1400" dirty="0"/>
          </a:p>
        </p:txBody>
      </p:sp>
      <p:sp>
        <p:nvSpPr>
          <p:cNvPr id="22" name="Shape 17"/>
          <p:cNvSpPr/>
          <p:nvPr/>
        </p:nvSpPr>
        <p:spPr>
          <a:xfrm>
            <a:off x="548640" y="4069080"/>
            <a:ext cx="3520440" cy="2057400"/>
          </a:xfrm>
          <a:prstGeom prst="roundRect">
            <a:avLst>
              <a:gd name="adj" fmla="val 5333"/>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23" name="Shape 18"/>
          <p:cNvSpPr/>
          <p:nvPr/>
        </p:nvSpPr>
        <p:spPr>
          <a:xfrm>
            <a:off x="777240" y="4297680"/>
            <a:ext cx="594360" cy="594360"/>
          </a:xfrm>
          <a:prstGeom prst="ellipse">
            <a:avLst/>
          </a:prstGeom>
          <a:solidFill>
            <a:srgbClr val="0D2F4F"/>
          </a:solidFill>
          <a:ln w="12700">
            <a:solidFill>
              <a:srgbClr val="0D2F4F"/>
            </a:solidFill>
            <a:prstDash val="solid"/>
          </a:ln>
        </p:spPr>
      </p:sp>
      <p:pic>
        <p:nvPicPr>
          <p:cNvPr id="24" name="Image 3" descr="preencoded.png">    </p:cNvPr>
          <p:cNvPicPr>
            <a:picLocks noChangeAspect="1"/>
          </p:cNvPicPr>
          <p:nvPr/>
        </p:nvPicPr>
        <p:blipFill>
          <a:blip r:embed="rId4"/>
          <a:stretch>
            <a:fillRect/>
          </a:stretch>
        </p:blipFill>
        <p:spPr>
          <a:xfrm>
            <a:off x="931774" y="4452214"/>
            <a:ext cx="285293" cy="285293"/>
          </a:xfrm>
          <a:prstGeom prst="rect">
            <a:avLst/>
          </a:prstGeom>
        </p:spPr>
      </p:pic>
      <p:sp>
        <p:nvSpPr>
          <p:cNvPr id="25" name="Text 19"/>
          <p:cNvSpPr txBox="1"/>
          <p:nvPr/>
        </p:nvSpPr>
        <p:spPr>
          <a:xfrm>
            <a:off x="3291840" y="4251960"/>
            <a:ext cx="594360" cy="457200"/>
          </a:xfrm>
          <a:prstGeom prst="rect">
            <a:avLst/>
          </a:prstGeom>
          <a:noFill/>
          <a:ln/>
        </p:spPr>
        <p:txBody>
          <a:bodyPr wrap="square" lIns="0" tIns="0" rIns="0" bIns="0" rtlCol="0" anchor="ctr"/>
          <a:lstStyle/>
          <a:p>
            <a:pPr algn="r" indent="0" marL="0">
              <a:buNone/>
            </a:pPr>
            <a:r>
              <a:rPr lang="en-US" sz="2200" b="1" dirty="0">
                <a:solidFill>
                  <a:srgbClr val="F2A541"/>
                </a:solidFill>
                <a:latin typeface="Cambria" pitchFamily="34" charset="0"/>
                <a:ea typeface="Cambria" pitchFamily="34" charset="-122"/>
                <a:cs typeface="Cambria" pitchFamily="34" charset="-120"/>
              </a:rPr>
              <a:t>04</a:t>
            </a:r>
            <a:endParaRPr lang="en-US" sz="2200" dirty="0"/>
          </a:p>
        </p:txBody>
      </p:sp>
      <p:sp>
        <p:nvSpPr>
          <p:cNvPr id="26" name="Text 20"/>
          <p:cNvSpPr txBox="1"/>
          <p:nvPr/>
        </p:nvSpPr>
        <p:spPr>
          <a:xfrm>
            <a:off x="1508760" y="4297680"/>
            <a:ext cx="1783080" cy="594360"/>
          </a:xfrm>
          <a:prstGeom prst="rect">
            <a:avLst/>
          </a:prstGeom>
          <a:noFill/>
          <a:ln/>
        </p:spPr>
        <p:txBody>
          <a:bodyPr wrap="square" lIns="0" tIns="0" rIns="0" bIns="0" rtlCol="0" anchor="ctr"/>
          <a:lstStyle/>
          <a:p>
            <a:pPr indent="0" marL="0">
              <a:buNone/>
            </a:pPr>
            <a:r>
              <a:rPr lang="en-US" sz="1600" b="1" dirty="0">
                <a:solidFill>
                  <a:srgbClr val="0D2F4F"/>
                </a:solidFill>
              </a:rPr>
              <a:t>Innovatsiyalarni joriy etish</a:t>
            </a:r>
            <a:endParaRPr lang="en-US" sz="1600" dirty="0"/>
          </a:p>
        </p:txBody>
      </p:sp>
      <p:sp>
        <p:nvSpPr>
          <p:cNvPr id="27" name="Text 21"/>
          <p:cNvSpPr txBox="1"/>
          <p:nvPr/>
        </p:nvSpPr>
        <p:spPr>
          <a:xfrm>
            <a:off x="777240" y="4983480"/>
            <a:ext cx="3063240" cy="1051560"/>
          </a:xfrm>
          <a:prstGeom prst="rect">
            <a:avLst/>
          </a:prstGeom>
          <a:noFill/>
          <a:ln/>
        </p:spPr>
        <p:txBody>
          <a:bodyPr wrap="square" lIns="0" tIns="0" rIns="0" bIns="0" rtlCol="0" anchor="t"/>
          <a:lstStyle/>
          <a:p>
            <a:pPr indent="0" marL="0">
              <a:buNone/>
            </a:pPr>
            <a:r>
              <a:rPr lang="en-US" sz="1400" dirty="0">
                <a:solidFill>
                  <a:srgbClr val="1B2A3A"/>
                </a:solidFill>
                <a:latin typeface="Calibri" pitchFamily="34" charset="0"/>
                <a:ea typeface="Calibri" pitchFamily="34" charset="-122"/>
                <a:cs typeface="Calibri" pitchFamily="34" charset="-120"/>
              </a:rPr>
              <a:t>Yangi texnologiyalar, raqamli yechimlar va ilg‘or boshqaruv usullarini o‘zlashtirib, ishlab chiqarishni modernizatsiya qilish.</a:t>
            </a:r>
            <a:endParaRPr lang="en-US" sz="1400" dirty="0"/>
          </a:p>
        </p:txBody>
      </p:sp>
      <p:sp>
        <p:nvSpPr>
          <p:cNvPr id="28" name="Shape 22"/>
          <p:cNvSpPr/>
          <p:nvPr/>
        </p:nvSpPr>
        <p:spPr>
          <a:xfrm>
            <a:off x="4343400" y="4069080"/>
            <a:ext cx="3520440" cy="2057400"/>
          </a:xfrm>
          <a:prstGeom prst="roundRect">
            <a:avLst>
              <a:gd name="adj" fmla="val 5333"/>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29" name="Shape 23"/>
          <p:cNvSpPr/>
          <p:nvPr/>
        </p:nvSpPr>
        <p:spPr>
          <a:xfrm>
            <a:off x="4572000" y="4297680"/>
            <a:ext cx="594360" cy="594360"/>
          </a:xfrm>
          <a:prstGeom prst="ellipse">
            <a:avLst/>
          </a:prstGeom>
          <a:solidFill>
            <a:srgbClr val="0E9F9A"/>
          </a:solidFill>
          <a:ln w="12700">
            <a:solidFill>
              <a:srgbClr val="0E9F9A"/>
            </a:solidFill>
            <a:prstDash val="solid"/>
          </a:ln>
        </p:spPr>
      </p:sp>
      <p:pic>
        <p:nvPicPr>
          <p:cNvPr id="30" name="Image 4" descr="preencoded.png">    </p:cNvPr>
          <p:cNvPicPr>
            <a:picLocks noChangeAspect="1"/>
          </p:cNvPicPr>
          <p:nvPr/>
        </p:nvPicPr>
        <p:blipFill>
          <a:blip r:embed="rId5"/>
          <a:stretch>
            <a:fillRect/>
          </a:stretch>
        </p:blipFill>
        <p:spPr>
          <a:xfrm>
            <a:off x="4726534" y="4452214"/>
            <a:ext cx="285293" cy="285293"/>
          </a:xfrm>
          <a:prstGeom prst="rect">
            <a:avLst/>
          </a:prstGeom>
        </p:spPr>
      </p:pic>
      <p:sp>
        <p:nvSpPr>
          <p:cNvPr id="31" name="Text 24"/>
          <p:cNvSpPr txBox="1"/>
          <p:nvPr/>
        </p:nvSpPr>
        <p:spPr>
          <a:xfrm>
            <a:off x="7086600" y="4251960"/>
            <a:ext cx="594360" cy="457200"/>
          </a:xfrm>
          <a:prstGeom prst="rect">
            <a:avLst/>
          </a:prstGeom>
          <a:noFill/>
          <a:ln/>
        </p:spPr>
        <p:txBody>
          <a:bodyPr wrap="square" lIns="0" tIns="0" rIns="0" bIns="0" rtlCol="0" anchor="ctr"/>
          <a:lstStyle/>
          <a:p>
            <a:pPr algn="r" indent="0" marL="0">
              <a:buNone/>
            </a:pPr>
            <a:r>
              <a:rPr lang="en-US" sz="2200" b="1" dirty="0">
                <a:solidFill>
                  <a:srgbClr val="F2A541"/>
                </a:solidFill>
                <a:latin typeface="Cambria" pitchFamily="34" charset="0"/>
                <a:ea typeface="Cambria" pitchFamily="34" charset="-122"/>
                <a:cs typeface="Cambria" pitchFamily="34" charset="-120"/>
              </a:rPr>
              <a:t>05</a:t>
            </a:r>
            <a:endParaRPr lang="en-US" sz="2200" dirty="0"/>
          </a:p>
        </p:txBody>
      </p:sp>
      <p:sp>
        <p:nvSpPr>
          <p:cNvPr id="32" name="Text 25"/>
          <p:cNvSpPr txBox="1"/>
          <p:nvPr/>
        </p:nvSpPr>
        <p:spPr>
          <a:xfrm>
            <a:off x="5303520" y="4297680"/>
            <a:ext cx="1783080" cy="594360"/>
          </a:xfrm>
          <a:prstGeom prst="rect">
            <a:avLst/>
          </a:prstGeom>
          <a:noFill/>
          <a:ln/>
        </p:spPr>
        <p:txBody>
          <a:bodyPr wrap="square" lIns="0" tIns="0" rIns="0" bIns="0" rtlCol="0" anchor="ctr"/>
          <a:lstStyle/>
          <a:p>
            <a:pPr indent="0" marL="0">
              <a:buNone/>
            </a:pPr>
            <a:r>
              <a:rPr lang="en-US" sz="1600" b="1" dirty="0">
                <a:solidFill>
                  <a:srgbClr val="0D2F4F"/>
                </a:solidFill>
              </a:rPr>
              <a:t>Xavf-xatarlarni boshqarish</a:t>
            </a:r>
            <a:endParaRPr lang="en-US" sz="1600" dirty="0"/>
          </a:p>
        </p:txBody>
      </p:sp>
      <p:sp>
        <p:nvSpPr>
          <p:cNvPr id="33" name="Text 26"/>
          <p:cNvSpPr txBox="1"/>
          <p:nvPr/>
        </p:nvSpPr>
        <p:spPr>
          <a:xfrm>
            <a:off x="4572000" y="4983480"/>
            <a:ext cx="3063240" cy="1051560"/>
          </a:xfrm>
          <a:prstGeom prst="rect">
            <a:avLst/>
          </a:prstGeom>
          <a:noFill/>
          <a:ln/>
        </p:spPr>
        <p:txBody>
          <a:bodyPr wrap="square" lIns="0" tIns="0" rIns="0" bIns="0" rtlCol="0" anchor="t"/>
          <a:lstStyle/>
          <a:p>
            <a:pPr indent="0" marL="0">
              <a:buNone/>
            </a:pPr>
            <a:r>
              <a:rPr lang="en-US" sz="1400" dirty="0">
                <a:solidFill>
                  <a:srgbClr val="1B2A3A"/>
                </a:solidFill>
                <a:latin typeface="Calibri" pitchFamily="34" charset="0"/>
                <a:ea typeface="Calibri" pitchFamily="34" charset="-122"/>
                <a:cs typeface="Calibri" pitchFamily="34" charset="-120"/>
              </a:rPr>
              <a:t>Bozor, moliyaviy va operatsion xatarlarni oldindan baholab, ularni kamaytirish choralarini ishlab chiqish.</a:t>
            </a:r>
            <a:endParaRPr lang="en-US" sz="1400" dirty="0"/>
          </a:p>
        </p:txBody>
      </p:sp>
      <p:sp>
        <p:nvSpPr>
          <p:cNvPr id="34" name="Shape 27"/>
          <p:cNvSpPr/>
          <p:nvPr/>
        </p:nvSpPr>
        <p:spPr>
          <a:xfrm>
            <a:off x="8138160" y="4069080"/>
            <a:ext cx="3520440" cy="2057400"/>
          </a:xfrm>
          <a:prstGeom prst="roundRect">
            <a:avLst>
              <a:gd name="adj" fmla="val 5333"/>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35" name="Shape 28"/>
          <p:cNvSpPr/>
          <p:nvPr/>
        </p:nvSpPr>
        <p:spPr>
          <a:xfrm>
            <a:off x="8366760" y="4297680"/>
            <a:ext cx="594360" cy="594360"/>
          </a:xfrm>
          <a:prstGeom prst="ellipse">
            <a:avLst/>
          </a:prstGeom>
          <a:solidFill>
            <a:srgbClr val="0D2F4F"/>
          </a:solidFill>
          <a:ln w="12700">
            <a:solidFill>
              <a:srgbClr val="0D2F4F"/>
            </a:solidFill>
            <a:prstDash val="solid"/>
          </a:ln>
        </p:spPr>
      </p:sp>
      <p:pic>
        <p:nvPicPr>
          <p:cNvPr id="36" name="Image 5" descr="preencoded.png">    </p:cNvPr>
          <p:cNvPicPr>
            <a:picLocks noChangeAspect="1"/>
          </p:cNvPicPr>
          <p:nvPr/>
        </p:nvPicPr>
        <p:blipFill>
          <a:blip r:embed="rId6"/>
          <a:stretch>
            <a:fillRect/>
          </a:stretch>
        </p:blipFill>
        <p:spPr>
          <a:xfrm>
            <a:off x="8521294" y="4452214"/>
            <a:ext cx="285293" cy="285293"/>
          </a:xfrm>
          <a:prstGeom prst="rect">
            <a:avLst/>
          </a:prstGeom>
        </p:spPr>
      </p:pic>
      <p:sp>
        <p:nvSpPr>
          <p:cNvPr id="37" name="Text 29"/>
          <p:cNvSpPr txBox="1"/>
          <p:nvPr/>
        </p:nvSpPr>
        <p:spPr>
          <a:xfrm>
            <a:off x="10881360" y="4251960"/>
            <a:ext cx="594360" cy="457200"/>
          </a:xfrm>
          <a:prstGeom prst="rect">
            <a:avLst/>
          </a:prstGeom>
          <a:noFill/>
          <a:ln/>
        </p:spPr>
        <p:txBody>
          <a:bodyPr wrap="square" lIns="0" tIns="0" rIns="0" bIns="0" rtlCol="0" anchor="ctr"/>
          <a:lstStyle/>
          <a:p>
            <a:pPr algn="r" indent="0" marL="0">
              <a:buNone/>
            </a:pPr>
            <a:r>
              <a:rPr lang="en-US" sz="2200" b="1" dirty="0">
                <a:solidFill>
                  <a:srgbClr val="F2A541"/>
                </a:solidFill>
                <a:latin typeface="Cambria" pitchFamily="34" charset="0"/>
                <a:ea typeface="Cambria" pitchFamily="34" charset="-122"/>
                <a:cs typeface="Cambria" pitchFamily="34" charset="-120"/>
              </a:rPr>
              <a:t>06</a:t>
            </a:r>
            <a:endParaRPr lang="en-US" sz="2200" dirty="0"/>
          </a:p>
        </p:txBody>
      </p:sp>
      <p:sp>
        <p:nvSpPr>
          <p:cNvPr id="38" name="Text 30"/>
          <p:cNvSpPr txBox="1"/>
          <p:nvPr/>
        </p:nvSpPr>
        <p:spPr>
          <a:xfrm>
            <a:off x="9098280" y="4297680"/>
            <a:ext cx="1783080" cy="594360"/>
          </a:xfrm>
          <a:prstGeom prst="rect">
            <a:avLst/>
          </a:prstGeom>
          <a:noFill/>
          <a:ln/>
        </p:spPr>
        <p:txBody>
          <a:bodyPr wrap="square" lIns="0" tIns="0" rIns="0" bIns="0" rtlCol="0" anchor="ctr"/>
          <a:lstStyle/>
          <a:p>
            <a:pPr indent="0" marL="0">
              <a:buNone/>
            </a:pPr>
            <a:r>
              <a:rPr lang="en-US" sz="1600" b="1" dirty="0">
                <a:solidFill>
                  <a:srgbClr val="0D2F4F"/>
                </a:solidFill>
              </a:rPr>
              <a:t>Nazorat va baholash</a:t>
            </a:r>
            <a:endParaRPr lang="en-US" sz="1600" dirty="0"/>
          </a:p>
        </p:txBody>
      </p:sp>
      <p:sp>
        <p:nvSpPr>
          <p:cNvPr id="39" name="Text 31"/>
          <p:cNvSpPr txBox="1"/>
          <p:nvPr/>
        </p:nvSpPr>
        <p:spPr>
          <a:xfrm>
            <a:off x="8366760" y="4983480"/>
            <a:ext cx="3063240" cy="1051560"/>
          </a:xfrm>
          <a:prstGeom prst="rect">
            <a:avLst/>
          </a:prstGeom>
          <a:noFill/>
          <a:ln/>
        </p:spPr>
        <p:txBody>
          <a:bodyPr wrap="square" lIns="0" tIns="0" rIns="0" bIns="0" rtlCol="0" anchor="t"/>
          <a:lstStyle/>
          <a:p>
            <a:pPr indent="0" marL="0">
              <a:buNone/>
            </a:pPr>
            <a:r>
              <a:rPr lang="en-US" sz="1400" dirty="0">
                <a:solidFill>
                  <a:srgbClr val="1B2A3A"/>
                </a:solidFill>
                <a:latin typeface="Calibri" pitchFamily="34" charset="0"/>
                <a:ea typeface="Calibri" pitchFamily="34" charset="-122"/>
                <a:cs typeface="Calibri" pitchFamily="34" charset="-120"/>
              </a:rPr>
              <a:t>Asosiy samaradorlik ko‘rsatkichlari (KPI) orqali natijalarni kuzatish va strategiyaga o‘z vaqtida tuzatish kiritish.</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4. Strategiyani ishlab chiqishning asosiy tamoyillari</a:t>
            </a:r>
            <a:endParaRPr lang="en-US" sz="3000" dirty="0"/>
          </a:p>
        </p:txBody>
      </p:sp>
      <p:pic>
        <p:nvPicPr>
          <p:cNvPr id="3" name="Image 0" descr="img/principles.png">    </p:cNvPr>
          <p:cNvPicPr>
            <a:picLocks noChangeAspect="1"/>
          </p:cNvPicPr>
          <p:nvPr/>
        </p:nvPicPr>
        <p:blipFill>
          <a:blip r:embed="rId1"/>
          <a:stretch>
            <a:fillRect/>
          </a:stretch>
        </p:blipFill>
        <p:spPr>
          <a:xfrm>
            <a:off x="548640" y="1371600"/>
            <a:ext cx="3383280" cy="4352544"/>
          </a:xfrm>
          <a:prstGeom prst="rect">
            <a:avLst/>
          </a:prstGeom>
        </p:spPr>
      </p:pic>
      <p:sp>
        <p:nvSpPr>
          <p:cNvPr id="4" name="Text 1"/>
          <p:cNvSpPr txBox="1"/>
          <p:nvPr/>
        </p:nvSpPr>
        <p:spPr>
          <a:xfrm>
            <a:off x="548640" y="5760720"/>
            <a:ext cx="3383280" cy="548640"/>
          </a:xfrm>
          <a:prstGeom prst="rect">
            <a:avLst/>
          </a:prstGeom>
          <a:noFill/>
          <a:ln/>
        </p:spPr>
        <p:txBody>
          <a:bodyPr wrap="square" lIns="0" tIns="0" rIns="0" bIns="0" rtlCol="0" anchor="ctr"/>
          <a:lstStyle/>
          <a:p>
            <a:pPr indent="0" marL="0">
              <a:buNone/>
            </a:pPr>
            <a:r>
              <a:rPr lang="en-US" sz="1200" i="1" dirty="0">
                <a:solidFill>
                  <a:srgbClr val="4A5B6C"/>
                </a:solidFill>
              </a:rPr>
              <a:t>Tamoyillar – strategiyani asosli, real va samarali qiladigan boshlang‘ich qoidalar</a:t>
            </a:r>
            <a:endParaRPr lang="en-US" sz="1200" dirty="0"/>
          </a:p>
        </p:txBody>
      </p:sp>
      <p:sp>
        <p:nvSpPr>
          <p:cNvPr id="5" name="Shape 2"/>
          <p:cNvSpPr/>
          <p:nvPr/>
        </p:nvSpPr>
        <p:spPr>
          <a:xfrm>
            <a:off x="4297680" y="1371600"/>
            <a:ext cx="3566160" cy="1078992"/>
          </a:xfrm>
          <a:prstGeom prst="roundRect">
            <a:avLst>
              <a:gd name="adj" fmla="val 10169"/>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6" name="Shape 3"/>
          <p:cNvSpPr/>
          <p:nvPr/>
        </p:nvSpPr>
        <p:spPr>
          <a:xfrm>
            <a:off x="4434840" y="1527048"/>
            <a:ext cx="384048" cy="384048"/>
          </a:xfrm>
          <a:prstGeom prst="ellipse">
            <a:avLst/>
          </a:prstGeom>
          <a:solidFill>
            <a:srgbClr val="0E9F9A"/>
          </a:solidFill>
          <a:ln w="12700">
            <a:solidFill>
              <a:srgbClr val="0E9F9A"/>
            </a:solidFill>
            <a:prstDash val="solid"/>
          </a:ln>
        </p:spPr>
      </p:sp>
      <p:sp>
        <p:nvSpPr>
          <p:cNvPr id="7" name="Text 4"/>
          <p:cNvSpPr txBox="1"/>
          <p:nvPr/>
        </p:nvSpPr>
        <p:spPr>
          <a:xfrm>
            <a:off x="4434840" y="152704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8" name="Text 5"/>
          <p:cNvSpPr txBox="1"/>
          <p:nvPr/>
        </p:nvSpPr>
        <p:spPr>
          <a:xfrm>
            <a:off x="4937760" y="1481328"/>
            <a:ext cx="2788920" cy="914400"/>
          </a:xfrm>
          <a:prstGeom prst="rect">
            <a:avLst/>
          </a:prstGeom>
          <a:noFill/>
          <a:ln/>
        </p:spPr>
        <p:txBody>
          <a:bodyPr wrap="square" lIns="0" tIns="0" rIns="0" bIns="0" rtlCol="0" anchor="t"/>
          <a:lstStyle/>
          <a:p>
            <a:pPr indent="0" marL="0">
              <a:buNone/>
            </a:pPr>
            <a:r>
              <a:rPr lang="en-US" sz="1400" b="1" dirty="0">
                <a:solidFill>
                  <a:srgbClr val="0D2F4F"/>
                </a:solidFill>
                <a:latin typeface="Calibri" pitchFamily="34" charset="0"/>
                <a:ea typeface="Calibri" pitchFamily="34" charset="-122"/>
                <a:cs typeface="Calibri" pitchFamily="34" charset="-120"/>
              </a:rPr>
              <a:t>Ilmiylik</a:t>
            </a:r>
            <a:endParaRPr lang="en-US" sz="1400" dirty="0"/>
          </a:p>
          <a:p>
            <a:pPr indent="0" marL="0">
              <a:buNone/>
            </a:pPr>
            <a:r>
              <a:rPr lang="en-US" sz="1250" dirty="0">
                <a:solidFill>
                  <a:srgbClr val="1B2A3A"/>
                </a:solidFill>
                <a:latin typeface="Calibri" pitchFamily="34" charset="0"/>
                <a:ea typeface="Calibri" pitchFamily="34" charset="-122"/>
                <a:cs typeface="Calibri" pitchFamily="34" charset="-120"/>
              </a:rPr>
              <a:t>qarorlar ishonchli ma’lumotlar, iqtisodiy qonuniyatlar va zamonaviy tahlil usullariga asoslanadi.</a:t>
            </a:r>
            <a:endParaRPr lang="en-US" sz="1400" dirty="0"/>
          </a:p>
        </p:txBody>
      </p:sp>
      <p:sp>
        <p:nvSpPr>
          <p:cNvPr id="9" name="Shape 6"/>
          <p:cNvSpPr/>
          <p:nvPr/>
        </p:nvSpPr>
        <p:spPr>
          <a:xfrm>
            <a:off x="8046720" y="1371600"/>
            <a:ext cx="3566160" cy="1078992"/>
          </a:xfrm>
          <a:prstGeom prst="roundRect">
            <a:avLst>
              <a:gd name="adj" fmla="val 10169"/>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10" name="Shape 7"/>
          <p:cNvSpPr/>
          <p:nvPr/>
        </p:nvSpPr>
        <p:spPr>
          <a:xfrm>
            <a:off x="8183880" y="1527048"/>
            <a:ext cx="384048" cy="384048"/>
          </a:xfrm>
          <a:prstGeom prst="ellipse">
            <a:avLst/>
          </a:prstGeom>
          <a:solidFill>
            <a:srgbClr val="0D2F4F"/>
          </a:solidFill>
          <a:ln w="12700">
            <a:solidFill>
              <a:srgbClr val="0D2F4F"/>
            </a:solidFill>
            <a:prstDash val="solid"/>
          </a:ln>
        </p:spPr>
      </p:sp>
      <p:sp>
        <p:nvSpPr>
          <p:cNvPr id="11" name="Text 8"/>
          <p:cNvSpPr txBox="1"/>
          <p:nvPr/>
        </p:nvSpPr>
        <p:spPr>
          <a:xfrm>
            <a:off x="8183880" y="152704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2" name="Text 9"/>
          <p:cNvSpPr txBox="1"/>
          <p:nvPr/>
        </p:nvSpPr>
        <p:spPr>
          <a:xfrm>
            <a:off x="8686800" y="1481328"/>
            <a:ext cx="2788920" cy="914400"/>
          </a:xfrm>
          <a:prstGeom prst="rect">
            <a:avLst/>
          </a:prstGeom>
          <a:noFill/>
          <a:ln/>
        </p:spPr>
        <p:txBody>
          <a:bodyPr wrap="square" lIns="0" tIns="0" rIns="0" bIns="0" rtlCol="0" anchor="t"/>
          <a:lstStyle/>
          <a:p>
            <a:pPr indent="0" marL="0">
              <a:buNone/>
            </a:pPr>
            <a:r>
              <a:rPr lang="en-US" sz="1400" b="1" dirty="0">
                <a:solidFill>
                  <a:srgbClr val="0D2F4F"/>
                </a:solidFill>
                <a:latin typeface="Calibri" pitchFamily="34" charset="0"/>
                <a:ea typeface="Calibri" pitchFamily="34" charset="-122"/>
                <a:cs typeface="Calibri" pitchFamily="34" charset="-120"/>
              </a:rPr>
              <a:t>Tizimlilik</a:t>
            </a:r>
            <a:endParaRPr lang="en-US" sz="1400" dirty="0"/>
          </a:p>
          <a:p>
            <a:pPr indent="0" marL="0">
              <a:buNone/>
            </a:pPr>
            <a:r>
              <a:rPr lang="en-US" sz="1250" dirty="0">
                <a:solidFill>
                  <a:srgbClr val="1B2A3A"/>
                </a:solidFill>
                <a:latin typeface="Calibri" pitchFamily="34" charset="0"/>
                <a:ea typeface="Calibri" pitchFamily="34" charset="-122"/>
                <a:cs typeface="Calibri" pitchFamily="34" charset="-120"/>
              </a:rPr>
              <a:t>korxona barcha bo‘linmalari o‘zaro bog‘liq yagona tizim sifatida ko‘rib chiqiladi.</a:t>
            </a:r>
            <a:endParaRPr lang="en-US" sz="1400" dirty="0"/>
          </a:p>
        </p:txBody>
      </p:sp>
      <p:sp>
        <p:nvSpPr>
          <p:cNvPr id="13" name="Shape 10"/>
          <p:cNvSpPr/>
          <p:nvPr/>
        </p:nvSpPr>
        <p:spPr>
          <a:xfrm>
            <a:off x="4297680" y="2587752"/>
            <a:ext cx="3566160" cy="1078992"/>
          </a:xfrm>
          <a:prstGeom prst="roundRect">
            <a:avLst>
              <a:gd name="adj" fmla="val 10169"/>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14" name="Shape 11"/>
          <p:cNvSpPr/>
          <p:nvPr/>
        </p:nvSpPr>
        <p:spPr>
          <a:xfrm>
            <a:off x="4434840" y="2743200"/>
            <a:ext cx="384048" cy="384048"/>
          </a:xfrm>
          <a:prstGeom prst="ellipse">
            <a:avLst/>
          </a:prstGeom>
          <a:solidFill>
            <a:srgbClr val="0E9F9A"/>
          </a:solidFill>
          <a:ln w="12700">
            <a:solidFill>
              <a:srgbClr val="0E9F9A"/>
            </a:solidFill>
            <a:prstDash val="solid"/>
          </a:ln>
        </p:spPr>
      </p:sp>
      <p:sp>
        <p:nvSpPr>
          <p:cNvPr id="15" name="Text 12"/>
          <p:cNvSpPr txBox="1"/>
          <p:nvPr/>
        </p:nvSpPr>
        <p:spPr>
          <a:xfrm>
            <a:off x="4434840" y="27432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6" name="Text 13"/>
          <p:cNvSpPr txBox="1"/>
          <p:nvPr/>
        </p:nvSpPr>
        <p:spPr>
          <a:xfrm>
            <a:off x="4937760" y="2697480"/>
            <a:ext cx="2788920" cy="914400"/>
          </a:xfrm>
          <a:prstGeom prst="rect">
            <a:avLst/>
          </a:prstGeom>
          <a:noFill/>
          <a:ln/>
        </p:spPr>
        <p:txBody>
          <a:bodyPr wrap="square" lIns="0" tIns="0" rIns="0" bIns="0" rtlCol="0" anchor="t"/>
          <a:lstStyle/>
          <a:p>
            <a:pPr indent="0" marL="0">
              <a:buNone/>
            </a:pPr>
            <a:r>
              <a:rPr lang="en-US" sz="1400" b="1" dirty="0">
                <a:solidFill>
                  <a:srgbClr val="0D2F4F"/>
                </a:solidFill>
                <a:latin typeface="Calibri" pitchFamily="34" charset="0"/>
                <a:ea typeface="Calibri" pitchFamily="34" charset="-122"/>
                <a:cs typeface="Calibri" pitchFamily="34" charset="-120"/>
              </a:rPr>
              <a:t>Maqsadga yo‘naltirilganlik</a:t>
            </a:r>
            <a:endParaRPr lang="en-US" sz="1400" dirty="0"/>
          </a:p>
          <a:p>
            <a:pPr indent="0" marL="0">
              <a:buNone/>
            </a:pPr>
            <a:r>
              <a:rPr lang="en-US" sz="1250" dirty="0">
                <a:solidFill>
                  <a:srgbClr val="1B2A3A"/>
                </a:solidFill>
                <a:latin typeface="Calibri" pitchFamily="34" charset="0"/>
                <a:ea typeface="Calibri" pitchFamily="34" charset="-122"/>
                <a:cs typeface="Calibri" pitchFamily="34" charset="-120"/>
              </a:rPr>
              <a:t>barcha harakatlar aniq belgilangan uzoq muddatli maqsadlarga bo‘ysundiriladi.</a:t>
            </a:r>
            <a:endParaRPr lang="en-US" sz="1400" dirty="0"/>
          </a:p>
        </p:txBody>
      </p:sp>
      <p:sp>
        <p:nvSpPr>
          <p:cNvPr id="17" name="Shape 14"/>
          <p:cNvSpPr/>
          <p:nvPr/>
        </p:nvSpPr>
        <p:spPr>
          <a:xfrm>
            <a:off x="8046720" y="2587752"/>
            <a:ext cx="3566160" cy="1078992"/>
          </a:xfrm>
          <a:prstGeom prst="roundRect">
            <a:avLst>
              <a:gd name="adj" fmla="val 10169"/>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18" name="Shape 15"/>
          <p:cNvSpPr/>
          <p:nvPr/>
        </p:nvSpPr>
        <p:spPr>
          <a:xfrm>
            <a:off x="8183880" y="2743200"/>
            <a:ext cx="384048" cy="384048"/>
          </a:xfrm>
          <a:prstGeom prst="ellipse">
            <a:avLst/>
          </a:prstGeom>
          <a:solidFill>
            <a:srgbClr val="0D2F4F"/>
          </a:solidFill>
          <a:ln w="12700">
            <a:solidFill>
              <a:srgbClr val="0D2F4F"/>
            </a:solidFill>
            <a:prstDash val="solid"/>
          </a:ln>
        </p:spPr>
      </p:sp>
      <p:sp>
        <p:nvSpPr>
          <p:cNvPr id="19" name="Text 16"/>
          <p:cNvSpPr txBox="1"/>
          <p:nvPr/>
        </p:nvSpPr>
        <p:spPr>
          <a:xfrm>
            <a:off x="8183880" y="27432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20" name="Text 17"/>
          <p:cNvSpPr txBox="1"/>
          <p:nvPr/>
        </p:nvSpPr>
        <p:spPr>
          <a:xfrm>
            <a:off x="8686800" y="2697480"/>
            <a:ext cx="2788920" cy="914400"/>
          </a:xfrm>
          <a:prstGeom prst="rect">
            <a:avLst/>
          </a:prstGeom>
          <a:noFill/>
          <a:ln/>
        </p:spPr>
        <p:txBody>
          <a:bodyPr wrap="square" lIns="0" tIns="0" rIns="0" bIns="0" rtlCol="0" anchor="t"/>
          <a:lstStyle/>
          <a:p>
            <a:pPr indent="0" marL="0">
              <a:buNone/>
            </a:pPr>
            <a:r>
              <a:rPr lang="en-US" sz="1400" b="1" dirty="0">
                <a:solidFill>
                  <a:srgbClr val="0D2F4F"/>
                </a:solidFill>
                <a:latin typeface="Calibri" pitchFamily="34" charset="0"/>
                <a:ea typeface="Calibri" pitchFamily="34" charset="-122"/>
                <a:cs typeface="Calibri" pitchFamily="34" charset="-120"/>
              </a:rPr>
              <a:t>Moslashuvchanlik</a:t>
            </a:r>
            <a:endParaRPr lang="en-US" sz="1400" dirty="0"/>
          </a:p>
          <a:p>
            <a:pPr indent="0" marL="0">
              <a:buNone/>
            </a:pPr>
            <a:r>
              <a:rPr lang="en-US" sz="1250" dirty="0">
                <a:solidFill>
                  <a:srgbClr val="1B2A3A"/>
                </a:solidFill>
                <a:latin typeface="Calibri" pitchFamily="34" charset="0"/>
                <a:ea typeface="Calibri" pitchFamily="34" charset="-122"/>
                <a:cs typeface="Calibri" pitchFamily="34" charset="-120"/>
              </a:rPr>
              <a:t>strategiya tashqi muhit o‘zgarishiga qarab tez qayta ko‘rib chiqilishi mumkin.</a:t>
            </a:r>
            <a:endParaRPr lang="en-US" sz="1400" dirty="0"/>
          </a:p>
        </p:txBody>
      </p:sp>
      <p:sp>
        <p:nvSpPr>
          <p:cNvPr id="21" name="Shape 18"/>
          <p:cNvSpPr/>
          <p:nvPr/>
        </p:nvSpPr>
        <p:spPr>
          <a:xfrm>
            <a:off x="4297680" y="3803904"/>
            <a:ext cx="3566160" cy="1078992"/>
          </a:xfrm>
          <a:prstGeom prst="roundRect">
            <a:avLst>
              <a:gd name="adj" fmla="val 10169"/>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22" name="Shape 19"/>
          <p:cNvSpPr/>
          <p:nvPr/>
        </p:nvSpPr>
        <p:spPr>
          <a:xfrm>
            <a:off x="4434840" y="3959352"/>
            <a:ext cx="384048" cy="384048"/>
          </a:xfrm>
          <a:prstGeom prst="ellipse">
            <a:avLst/>
          </a:prstGeom>
          <a:solidFill>
            <a:srgbClr val="0E9F9A"/>
          </a:solidFill>
          <a:ln w="12700">
            <a:solidFill>
              <a:srgbClr val="0E9F9A"/>
            </a:solidFill>
            <a:prstDash val="solid"/>
          </a:ln>
        </p:spPr>
      </p:sp>
      <p:sp>
        <p:nvSpPr>
          <p:cNvPr id="23" name="Text 20"/>
          <p:cNvSpPr txBox="1"/>
          <p:nvPr/>
        </p:nvSpPr>
        <p:spPr>
          <a:xfrm>
            <a:off x="4434840" y="395935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24" name="Text 21"/>
          <p:cNvSpPr txBox="1"/>
          <p:nvPr/>
        </p:nvSpPr>
        <p:spPr>
          <a:xfrm>
            <a:off x="4937760" y="3913632"/>
            <a:ext cx="2788920" cy="914400"/>
          </a:xfrm>
          <a:prstGeom prst="rect">
            <a:avLst/>
          </a:prstGeom>
          <a:noFill/>
          <a:ln/>
        </p:spPr>
        <p:txBody>
          <a:bodyPr wrap="square" lIns="0" tIns="0" rIns="0" bIns="0" rtlCol="0" anchor="t"/>
          <a:lstStyle/>
          <a:p>
            <a:pPr indent="0" marL="0">
              <a:buNone/>
            </a:pPr>
            <a:r>
              <a:rPr lang="en-US" sz="1400" b="1" dirty="0">
                <a:solidFill>
                  <a:srgbClr val="0D2F4F"/>
                </a:solidFill>
                <a:latin typeface="Calibri" pitchFamily="34" charset="0"/>
                <a:ea typeface="Calibri" pitchFamily="34" charset="-122"/>
                <a:cs typeface="Calibri" pitchFamily="34" charset="-120"/>
              </a:rPr>
              <a:t>Muqobillik</a:t>
            </a:r>
            <a:endParaRPr lang="en-US" sz="1400" dirty="0"/>
          </a:p>
          <a:p>
            <a:pPr indent="0" marL="0">
              <a:buNone/>
            </a:pPr>
            <a:r>
              <a:rPr lang="en-US" sz="1250" dirty="0">
                <a:solidFill>
                  <a:srgbClr val="1B2A3A"/>
                </a:solidFill>
                <a:latin typeface="Calibri" pitchFamily="34" charset="0"/>
                <a:ea typeface="Calibri" pitchFamily="34" charset="-122"/>
                <a:cs typeface="Calibri" pitchFamily="34" charset="-120"/>
              </a:rPr>
              <a:t>bir nechta variantlar ishlab chiqilib, eng samaralisi asosli ravishda tanlanadi.</a:t>
            </a:r>
            <a:endParaRPr lang="en-US" sz="1400" dirty="0"/>
          </a:p>
        </p:txBody>
      </p:sp>
      <p:sp>
        <p:nvSpPr>
          <p:cNvPr id="25" name="Shape 22"/>
          <p:cNvSpPr/>
          <p:nvPr/>
        </p:nvSpPr>
        <p:spPr>
          <a:xfrm>
            <a:off x="8046720" y="3803904"/>
            <a:ext cx="3566160" cy="1078992"/>
          </a:xfrm>
          <a:prstGeom prst="roundRect">
            <a:avLst>
              <a:gd name="adj" fmla="val 10169"/>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26" name="Shape 23"/>
          <p:cNvSpPr/>
          <p:nvPr/>
        </p:nvSpPr>
        <p:spPr>
          <a:xfrm>
            <a:off x="8183880" y="3959352"/>
            <a:ext cx="384048" cy="384048"/>
          </a:xfrm>
          <a:prstGeom prst="ellipse">
            <a:avLst/>
          </a:prstGeom>
          <a:solidFill>
            <a:srgbClr val="0D2F4F"/>
          </a:solidFill>
          <a:ln w="12700">
            <a:solidFill>
              <a:srgbClr val="0D2F4F"/>
            </a:solidFill>
            <a:prstDash val="solid"/>
          </a:ln>
        </p:spPr>
      </p:sp>
      <p:sp>
        <p:nvSpPr>
          <p:cNvPr id="27" name="Text 24"/>
          <p:cNvSpPr txBox="1"/>
          <p:nvPr/>
        </p:nvSpPr>
        <p:spPr>
          <a:xfrm>
            <a:off x="8183880" y="395935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6</a:t>
            </a:r>
            <a:endParaRPr lang="en-US" sz="1400" dirty="0"/>
          </a:p>
        </p:txBody>
      </p:sp>
      <p:sp>
        <p:nvSpPr>
          <p:cNvPr id="28" name="Text 25"/>
          <p:cNvSpPr txBox="1"/>
          <p:nvPr/>
        </p:nvSpPr>
        <p:spPr>
          <a:xfrm>
            <a:off x="8686800" y="3913632"/>
            <a:ext cx="2788920" cy="914400"/>
          </a:xfrm>
          <a:prstGeom prst="rect">
            <a:avLst/>
          </a:prstGeom>
          <a:noFill/>
          <a:ln/>
        </p:spPr>
        <p:txBody>
          <a:bodyPr wrap="square" lIns="0" tIns="0" rIns="0" bIns="0" rtlCol="0" anchor="t"/>
          <a:lstStyle/>
          <a:p>
            <a:pPr indent="0" marL="0">
              <a:buNone/>
            </a:pPr>
            <a:r>
              <a:rPr lang="en-US" sz="1400" b="1" dirty="0">
                <a:solidFill>
                  <a:srgbClr val="0D2F4F"/>
                </a:solidFill>
                <a:latin typeface="Calibri" pitchFamily="34" charset="0"/>
                <a:ea typeface="Calibri" pitchFamily="34" charset="-122"/>
                <a:cs typeface="Calibri" pitchFamily="34" charset="-120"/>
              </a:rPr>
              <a:t>Uzluksizlik</a:t>
            </a:r>
            <a:endParaRPr lang="en-US" sz="1400" dirty="0"/>
          </a:p>
          <a:p>
            <a:pPr indent="0" marL="0">
              <a:buNone/>
            </a:pPr>
            <a:r>
              <a:rPr lang="en-US" sz="1250" dirty="0">
                <a:solidFill>
                  <a:srgbClr val="1B2A3A"/>
                </a:solidFill>
                <a:latin typeface="Calibri" pitchFamily="34" charset="0"/>
                <a:ea typeface="Calibri" pitchFamily="34" charset="-122"/>
                <a:cs typeface="Calibri" pitchFamily="34" charset="-120"/>
              </a:rPr>
              <a:t>rejalashtirish bir martalik ish emas, doimiy takrorlanuvchi jarayondir.</a:t>
            </a:r>
            <a:endParaRPr lang="en-US" sz="1400" dirty="0"/>
          </a:p>
        </p:txBody>
      </p:sp>
      <p:sp>
        <p:nvSpPr>
          <p:cNvPr id="29" name="Shape 26"/>
          <p:cNvSpPr/>
          <p:nvPr/>
        </p:nvSpPr>
        <p:spPr>
          <a:xfrm>
            <a:off x="4297680" y="5020056"/>
            <a:ext cx="3566160" cy="1078992"/>
          </a:xfrm>
          <a:prstGeom prst="roundRect">
            <a:avLst>
              <a:gd name="adj" fmla="val 10169"/>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30" name="Shape 27"/>
          <p:cNvSpPr/>
          <p:nvPr/>
        </p:nvSpPr>
        <p:spPr>
          <a:xfrm>
            <a:off x="4434840" y="5175504"/>
            <a:ext cx="384048" cy="384048"/>
          </a:xfrm>
          <a:prstGeom prst="ellipse">
            <a:avLst/>
          </a:prstGeom>
          <a:solidFill>
            <a:srgbClr val="0E9F9A"/>
          </a:solidFill>
          <a:ln w="12700">
            <a:solidFill>
              <a:srgbClr val="0E9F9A"/>
            </a:solidFill>
            <a:prstDash val="solid"/>
          </a:ln>
        </p:spPr>
      </p:sp>
      <p:sp>
        <p:nvSpPr>
          <p:cNvPr id="31" name="Text 28"/>
          <p:cNvSpPr txBox="1"/>
          <p:nvPr/>
        </p:nvSpPr>
        <p:spPr>
          <a:xfrm>
            <a:off x="4434840" y="517550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7</a:t>
            </a:r>
            <a:endParaRPr lang="en-US" sz="1400" dirty="0"/>
          </a:p>
        </p:txBody>
      </p:sp>
      <p:sp>
        <p:nvSpPr>
          <p:cNvPr id="32" name="Text 29"/>
          <p:cNvSpPr txBox="1"/>
          <p:nvPr/>
        </p:nvSpPr>
        <p:spPr>
          <a:xfrm>
            <a:off x="4937760" y="5129784"/>
            <a:ext cx="2788920" cy="914400"/>
          </a:xfrm>
          <a:prstGeom prst="rect">
            <a:avLst/>
          </a:prstGeom>
          <a:noFill/>
          <a:ln/>
        </p:spPr>
        <p:txBody>
          <a:bodyPr wrap="square" lIns="0" tIns="0" rIns="0" bIns="0" rtlCol="0" anchor="t"/>
          <a:lstStyle/>
          <a:p>
            <a:pPr indent="0" marL="0">
              <a:buNone/>
            </a:pPr>
            <a:r>
              <a:rPr lang="en-US" sz="1400" b="1" dirty="0">
                <a:solidFill>
                  <a:srgbClr val="0D2F4F"/>
                </a:solidFill>
                <a:latin typeface="Calibri" pitchFamily="34" charset="0"/>
                <a:ea typeface="Calibri" pitchFamily="34" charset="-122"/>
                <a:cs typeface="Calibri" pitchFamily="34" charset="-120"/>
              </a:rPr>
              <a:t>Reallik va resurs ta’minoti</a:t>
            </a:r>
            <a:endParaRPr lang="en-US" sz="1400" dirty="0"/>
          </a:p>
          <a:p>
            <a:pPr indent="0" marL="0">
              <a:buNone/>
            </a:pPr>
            <a:r>
              <a:rPr lang="en-US" sz="1250" dirty="0">
                <a:solidFill>
                  <a:srgbClr val="1B2A3A"/>
                </a:solidFill>
                <a:latin typeface="Calibri" pitchFamily="34" charset="0"/>
                <a:ea typeface="Calibri" pitchFamily="34" charset="-122"/>
                <a:cs typeface="Calibri" pitchFamily="34" charset="-120"/>
              </a:rPr>
              <a:t>maqsadlar korxonaning haqiqiy moliyaviy va inson salohiyatiga mos keladi.</a:t>
            </a:r>
            <a:endParaRPr lang="en-US" sz="1400" dirty="0"/>
          </a:p>
        </p:txBody>
      </p:sp>
      <p:sp>
        <p:nvSpPr>
          <p:cNvPr id="33" name="Shape 30"/>
          <p:cNvSpPr/>
          <p:nvPr/>
        </p:nvSpPr>
        <p:spPr>
          <a:xfrm>
            <a:off x="8046720" y="5020056"/>
            <a:ext cx="3566160" cy="1078992"/>
          </a:xfrm>
          <a:prstGeom prst="roundRect">
            <a:avLst>
              <a:gd name="adj" fmla="val 10169"/>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34" name="Shape 31"/>
          <p:cNvSpPr/>
          <p:nvPr/>
        </p:nvSpPr>
        <p:spPr>
          <a:xfrm>
            <a:off x="8183880" y="5175504"/>
            <a:ext cx="384048" cy="384048"/>
          </a:xfrm>
          <a:prstGeom prst="ellipse">
            <a:avLst/>
          </a:prstGeom>
          <a:solidFill>
            <a:srgbClr val="0D2F4F"/>
          </a:solidFill>
          <a:ln w="12700">
            <a:solidFill>
              <a:srgbClr val="0D2F4F"/>
            </a:solidFill>
            <a:prstDash val="solid"/>
          </a:ln>
        </p:spPr>
      </p:sp>
      <p:sp>
        <p:nvSpPr>
          <p:cNvPr id="35" name="Text 32"/>
          <p:cNvSpPr txBox="1"/>
          <p:nvPr/>
        </p:nvSpPr>
        <p:spPr>
          <a:xfrm>
            <a:off x="8183880" y="517550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8</a:t>
            </a:r>
            <a:endParaRPr lang="en-US" sz="1400" dirty="0"/>
          </a:p>
        </p:txBody>
      </p:sp>
      <p:sp>
        <p:nvSpPr>
          <p:cNvPr id="36" name="Text 33"/>
          <p:cNvSpPr txBox="1"/>
          <p:nvPr/>
        </p:nvSpPr>
        <p:spPr>
          <a:xfrm>
            <a:off x="8686800" y="5129784"/>
            <a:ext cx="2788920" cy="914400"/>
          </a:xfrm>
          <a:prstGeom prst="rect">
            <a:avLst/>
          </a:prstGeom>
          <a:noFill/>
          <a:ln/>
        </p:spPr>
        <p:txBody>
          <a:bodyPr wrap="square" lIns="0" tIns="0" rIns="0" bIns="0" rtlCol="0" anchor="t"/>
          <a:lstStyle/>
          <a:p>
            <a:pPr indent="0" marL="0">
              <a:buNone/>
            </a:pPr>
            <a:r>
              <a:rPr lang="en-US" sz="1400" b="1" dirty="0">
                <a:solidFill>
                  <a:srgbClr val="0D2F4F"/>
                </a:solidFill>
                <a:latin typeface="Calibri" pitchFamily="34" charset="0"/>
                <a:ea typeface="Calibri" pitchFamily="34" charset="-122"/>
                <a:cs typeface="Calibri" pitchFamily="34" charset="-120"/>
              </a:rPr>
              <a:t>Ishtirokchilik</a:t>
            </a:r>
            <a:endParaRPr lang="en-US" sz="1400" dirty="0"/>
          </a:p>
          <a:p>
            <a:pPr indent="0" marL="0">
              <a:buNone/>
            </a:pPr>
            <a:r>
              <a:rPr lang="en-US" sz="1250" dirty="0">
                <a:solidFill>
                  <a:srgbClr val="1B2A3A"/>
                </a:solidFill>
                <a:latin typeface="Calibri" pitchFamily="34" charset="0"/>
                <a:ea typeface="Calibri" pitchFamily="34" charset="-122"/>
                <a:cs typeface="Calibri" pitchFamily="34" charset="-120"/>
              </a:rPr>
              <a:t>rahbarlar va xodimlar strategiyani ishlab chiqish hamda amalga oshirishga jalb qilinadi.</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5. Strategik rejalashtirish bosqichlari va amaliy ahamiyati</a:t>
            </a:r>
            <a:endParaRPr lang="en-US" sz="3000" dirty="0"/>
          </a:p>
        </p:txBody>
      </p:sp>
      <p:sp>
        <p:nvSpPr>
          <p:cNvPr id="3" name="Shape 1"/>
          <p:cNvSpPr/>
          <p:nvPr/>
        </p:nvSpPr>
        <p:spPr>
          <a:xfrm>
            <a:off x="548640" y="1371600"/>
            <a:ext cx="2212848" cy="685800"/>
          </a:xfrm>
          <a:prstGeom prst="homePlate">
            <a:avLst/>
          </a:prstGeom>
          <a:solidFill>
            <a:srgbClr val="0E9F9A"/>
          </a:solidFill>
          <a:ln w="12700">
            <a:solidFill>
              <a:srgbClr val="FFFFFF"/>
            </a:solidFill>
            <a:prstDash val="solid"/>
          </a:ln>
        </p:spPr>
      </p:sp>
      <p:sp>
        <p:nvSpPr>
          <p:cNvPr id="4" name="Text 2"/>
          <p:cNvSpPr txBox="1"/>
          <p:nvPr/>
        </p:nvSpPr>
        <p:spPr>
          <a:xfrm>
            <a:off x="731520" y="1371600"/>
            <a:ext cx="1463040" cy="685800"/>
          </a:xfrm>
          <a:prstGeom prst="rect">
            <a:avLst/>
          </a:prstGeom>
          <a:noFill/>
          <a:ln/>
        </p:spPr>
        <p:txBody>
          <a:bodyPr wrap="square" lIns="0" tIns="0" rIns="0" bIns="0" rtlCol="0" anchor="ctr"/>
          <a:lstStyle/>
          <a:p>
            <a:pPr indent="0" marL="0">
              <a:buNone/>
            </a:pPr>
            <a:r>
              <a:rPr lang="en-US" sz="1400" b="1" dirty="0">
                <a:solidFill>
                  <a:srgbClr val="FFFFFF"/>
                </a:solidFill>
              </a:rPr>
              <a:t>1-bosqich</a:t>
            </a:r>
            <a:endParaRPr lang="en-US" sz="1400" dirty="0"/>
          </a:p>
        </p:txBody>
      </p:sp>
      <p:sp>
        <p:nvSpPr>
          <p:cNvPr id="5" name="Shape 3"/>
          <p:cNvSpPr/>
          <p:nvPr/>
        </p:nvSpPr>
        <p:spPr>
          <a:xfrm>
            <a:off x="594360" y="2240280"/>
            <a:ext cx="2057400" cy="2103120"/>
          </a:xfrm>
          <a:prstGeom prst="roundRect">
            <a:avLst>
              <a:gd name="adj" fmla="val 5333"/>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6" name="Shape 4"/>
          <p:cNvSpPr/>
          <p:nvPr/>
        </p:nvSpPr>
        <p:spPr>
          <a:xfrm>
            <a:off x="731520" y="2377440"/>
            <a:ext cx="457200" cy="457200"/>
          </a:xfrm>
          <a:prstGeom prst="ellipse">
            <a:avLst/>
          </a:prstGeom>
          <a:solidFill>
            <a:srgbClr val="F2A541"/>
          </a:solidFill>
          <a:ln w="12700">
            <a:solidFill>
              <a:srgbClr val="F2A541"/>
            </a:solidFill>
            <a:prstDash val="solid"/>
          </a:ln>
        </p:spPr>
      </p:sp>
      <p:pic>
        <p:nvPicPr>
          <p:cNvPr id="7" name="Image 0" descr="preencoded.png">    </p:cNvPr>
          <p:cNvPicPr>
            <a:picLocks noChangeAspect="1"/>
          </p:cNvPicPr>
          <p:nvPr/>
        </p:nvPicPr>
        <p:blipFill>
          <a:blip r:embed="rId1"/>
          <a:stretch>
            <a:fillRect/>
          </a:stretch>
        </p:blipFill>
        <p:spPr>
          <a:xfrm>
            <a:off x="850392" y="2496312"/>
            <a:ext cx="219456" cy="219456"/>
          </a:xfrm>
          <a:prstGeom prst="rect">
            <a:avLst/>
          </a:prstGeom>
        </p:spPr>
      </p:pic>
      <p:sp>
        <p:nvSpPr>
          <p:cNvPr id="8" name="Text 5"/>
          <p:cNvSpPr txBox="1"/>
          <p:nvPr/>
        </p:nvSpPr>
        <p:spPr>
          <a:xfrm>
            <a:off x="1280160" y="2377440"/>
            <a:ext cx="1325880" cy="457200"/>
          </a:xfrm>
          <a:prstGeom prst="rect">
            <a:avLst/>
          </a:prstGeom>
          <a:noFill/>
          <a:ln/>
        </p:spPr>
        <p:txBody>
          <a:bodyPr wrap="square" lIns="0" tIns="0" rIns="0" bIns="0" rtlCol="0" anchor="ctr"/>
          <a:lstStyle/>
          <a:p>
            <a:pPr indent="0" marL="0">
              <a:buNone/>
            </a:pPr>
            <a:r>
              <a:rPr lang="en-US" sz="1400" b="1" dirty="0">
                <a:solidFill>
                  <a:srgbClr val="0D2F4F"/>
                </a:solidFill>
              </a:rPr>
              <a:t>Strategik tahlil</a:t>
            </a:r>
            <a:endParaRPr lang="en-US" sz="1400" dirty="0"/>
          </a:p>
        </p:txBody>
      </p:sp>
      <p:sp>
        <p:nvSpPr>
          <p:cNvPr id="9" name="Text 6"/>
          <p:cNvSpPr txBox="1"/>
          <p:nvPr/>
        </p:nvSpPr>
        <p:spPr>
          <a:xfrm>
            <a:off x="731520" y="2926080"/>
            <a:ext cx="1783080" cy="1371600"/>
          </a:xfrm>
          <a:prstGeom prst="rect">
            <a:avLst/>
          </a:prstGeom>
          <a:noFill/>
          <a:ln/>
        </p:spPr>
        <p:txBody>
          <a:bodyPr wrap="square" lIns="0" tIns="0" rIns="0" bIns="0" rtlCol="0" anchor="t"/>
          <a:lstStyle/>
          <a:p>
            <a:pPr indent="0" marL="0">
              <a:buNone/>
            </a:pPr>
            <a:r>
              <a:rPr lang="en-US" sz="1300" dirty="0">
                <a:solidFill>
                  <a:srgbClr val="1B2A3A"/>
                </a:solidFill>
                <a:latin typeface="Calibri" pitchFamily="34" charset="0"/>
                <a:ea typeface="Calibri" pitchFamily="34" charset="-122"/>
                <a:cs typeface="Calibri" pitchFamily="34" charset="-120"/>
              </a:rPr>
              <a:t>SWOT, PEST, Porterning “besh kuch” tahlili; korxona salohiyatini baholash</a:t>
            </a:r>
            <a:endParaRPr lang="en-US" sz="1300" dirty="0"/>
          </a:p>
        </p:txBody>
      </p:sp>
      <p:sp>
        <p:nvSpPr>
          <p:cNvPr id="10" name="Shape 7"/>
          <p:cNvSpPr/>
          <p:nvPr/>
        </p:nvSpPr>
        <p:spPr>
          <a:xfrm>
            <a:off x="2761488" y="1371600"/>
            <a:ext cx="2212848" cy="685800"/>
          </a:xfrm>
          <a:prstGeom prst="chevron">
            <a:avLst/>
          </a:prstGeom>
          <a:solidFill>
            <a:srgbClr val="0D2F4F"/>
          </a:solidFill>
          <a:ln w="12700">
            <a:solidFill>
              <a:srgbClr val="FFFFFF"/>
            </a:solidFill>
            <a:prstDash val="solid"/>
          </a:ln>
        </p:spPr>
      </p:sp>
      <p:sp>
        <p:nvSpPr>
          <p:cNvPr id="11" name="Text 8"/>
          <p:cNvSpPr txBox="1"/>
          <p:nvPr/>
        </p:nvSpPr>
        <p:spPr>
          <a:xfrm>
            <a:off x="3218688" y="1371600"/>
            <a:ext cx="1463040" cy="685800"/>
          </a:xfrm>
          <a:prstGeom prst="rect">
            <a:avLst/>
          </a:prstGeom>
          <a:noFill/>
          <a:ln/>
        </p:spPr>
        <p:txBody>
          <a:bodyPr wrap="square" lIns="0" tIns="0" rIns="0" bIns="0" rtlCol="0" anchor="ctr"/>
          <a:lstStyle/>
          <a:p>
            <a:pPr indent="0" marL="0">
              <a:buNone/>
            </a:pPr>
            <a:r>
              <a:rPr lang="en-US" sz="1400" b="1" dirty="0">
                <a:solidFill>
                  <a:srgbClr val="FFFFFF"/>
                </a:solidFill>
              </a:rPr>
              <a:t>2-bosqich</a:t>
            </a:r>
            <a:endParaRPr lang="en-US" sz="1400" dirty="0"/>
          </a:p>
        </p:txBody>
      </p:sp>
      <p:sp>
        <p:nvSpPr>
          <p:cNvPr id="12" name="Shape 9"/>
          <p:cNvSpPr/>
          <p:nvPr/>
        </p:nvSpPr>
        <p:spPr>
          <a:xfrm>
            <a:off x="2807208" y="2240280"/>
            <a:ext cx="2057400" cy="2103120"/>
          </a:xfrm>
          <a:prstGeom prst="roundRect">
            <a:avLst>
              <a:gd name="adj" fmla="val 5333"/>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13" name="Shape 10"/>
          <p:cNvSpPr/>
          <p:nvPr/>
        </p:nvSpPr>
        <p:spPr>
          <a:xfrm>
            <a:off x="2944368" y="2377440"/>
            <a:ext cx="457200" cy="457200"/>
          </a:xfrm>
          <a:prstGeom prst="ellipse">
            <a:avLst/>
          </a:prstGeom>
          <a:solidFill>
            <a:srgbClr val="F2A541"/>
          </a:solidFill>
          <a:ln w="12700">
            <a:solidFill>
              <a:srgbClr val="F2A541"/>
            </a:solidFill>
            <a:prstDash val="solid"/>
          </a:ln>
        </p:spPr>
      </p:sp>
      <p:pic>
        <p:nvPicPr>
          <p:cNvPr id="14" name="Image 1" descr="preencoded.png">    </p:cNvPr>
          <p:cNvPicPr>
            <a:picLocks noChangeAspect="1"/>
          </p:cNvPicPr>
          <p:nvPr/>
        </p:nvPicPr>
        <p:blipFill>
          <a:blip r:embed="rId2"/>
          <a:stretch>
            <a:fillRect/>
          </a:stretch>
        </p:blipFill>
        <p:spPr>
          <a:xfrm>
            <a:off x="3063240" y="2496312"/>
            <a:ext cx="219456" cy="219456"/>
          </a:xfrm>
          <a:prstGeom prst="rect">
            <a:avLst/>
          </a:prstGeom>
        </p:spPr>
      </p:pic>
      <p:sp>
        <p:nvSpPr>
          <p:cNvPr id="15" name="Text 11"/>
          <p:cNvSpPr txBox="1"/>
          <p:nvPr/>
        </p:nvSpPr>
        <p:spPr>
          <a:xfrm>
            <a:off x="3493008" y="2377440"/>
            <a:ext cx="1325880" cy="457200"/>
          </a:xfrm>
          <a:prstGeom prst="rect">
            <a:avLst/>
          </a:prstGeom>
          <a:noFill/>
          <a:ln/>
        </p:spPr>
        <p:txBody>
          <a:bodyPr wrap="square" lIns="0" tIns="0" rIns="0" bIns="0" rtlCol="0" anchor="ctr"/>
          <a:lstStyle/>
          <a:p>
            <a:pPr indent="0" marL="0">
              <a:buNone/>
            </a:pPr>
            <a:r>
              <a:rPr lang="en-US" sz="1400" b="1" dirty="0">
                <a:solidFill>
                  <a:srgbClr val="0D2F4F"/>
                </a:solidFill>
              </a:rPr>
              <a:t>Missiya va maqsadlar</a:t>
            </a:r>
            <a:endParaRPr lang="en-US" sz="1400" dirty="0"/>
          </a:p>
        </p:txBody>
      </p:sp>
      <p:sp>
        <p:nvSpPr>
          <p:cNvPr id="16" name="Text 12"/>
          <p:cNvSpPr txBox="1"/>
          <p:nvPr/>
        </p:nvSpPr>
        <p:spPr>
          <a:xfrm>
            <a:off x="2944368" y="2926080"/>
            <a:ext cx="1783080" cy="1371600"/>
          </a:xfrm>
          <a:prstGeom prst="rect">
            <a:avLst/>
          </a:prstGeom>
          <a:noFill/>
          <a:ln/>
        </p:spPr>
        <p:txBody>
          <a:bodyPr wrap="square" lIns="0" tIns="0" rIns="0" bIns="0" rtlCol="0" anchor="t"/>
          <a:lstStyle/>
          <a:p>
            <a:pPr indent="0" marL="0">
              <a:buNone/>
            </a:pPr>
            <a:r>
              <a:rPr lang="en-US" sz="1300" dirty="0">
                <a:solidFill>
                  <a:srgbClr val="1B2A3A"/>
                </a:solidFill>
                <a:latin typeface="Calibri" pitchFamily="34" charset="0"/>
                <a:ea typeface="Calibri" pitchFamily="34" charset="-122"/>
                <a:cs typeface="Calibri" pitchFamily="34" charset="-120"/>
              </a:rPr>
              <a:t>missiya, vizyon va SMART maqsadlarni shakllantirish</a:t>
            </a:r>
            <a:endParaRPr lang="en-US" sz="1300" dirty="0"/>
          </a:p>
        </p:txBody>
      </p:sp>
      <p:sp>
        <p:nvSpPr>
          <p:cNvPr id="17" name="Shape 13"/>
          <p:cNvSpPr/>
          <p:nvPr/>
        </p:nvSpPr>
        <p:spPr>
          <a:xfrm>
            <a:off x="4974336" y="1371600"/>
            <a:ext cx="2212848" cy="685800"/>
          </a:xfrm>
          <a:prstGeom prst="chevron">
            <a:avLst/>
          </a:prstGeom>
          <a:solidFill>
            <a:srgbClr val="0E9F9A"/>
          </a:solidFill>
          <a:ln w="12700">
            <a:solidFill>
              <a:srgbClr val="FFFFFF"/>
            </a:solidFill>
            <a:prstDash val="solid"/>
          </a:ln>
        </p:spPr>
      </p:sp>
      <p:sp>
        <p:nvSpPr>
          <p:cNvPr id="18" name="Text 14"/>
          <p:cNvSpPr txBox="1"/>
          <p:nvPr/>
        </p:nvSpPr>
        <p:spPr>
          <a:xfrm>
            <a:off x="5431536" y="1371600"/>
            <a:ext cx="1463040" cy="685800"/>
          </a:xfrm>
          <a:prstGeom prst="rect">
            <a:avLst/>
          </a:prstGeom>
          <a:noFill/>
          <a:ln/>
        </p:spPr>
        <p:txBody>
          <a:bodyPr wrap="square" lIns="0" tIns="0" rIns="0" bIns="0" rtlCol="0" anchor="ctr"/>
          <a:lstStyle/>
          <a:p>
            <a:pPr indent="0" marL="0">
              <a:buNone/>
            </a:pPr>
            <a:r>
              <a:rPr lang="en-US" sz="1400" b="1" dirty="0">
                <a:solidFill>
                  <a:srgbClr val="FFFFFF"/>
                </a:solidFill>
              </a:rPr>
              <a:t>3-bosqich</a:t>
            </a:r>
            <a:endParaRPr lang="en-US" sz="1400" dirty="0"/>
          </a:p>
        </p:txBody>
      </p:sp>
      <p:sp>
        <p:nvSpPr>
          <p:cNvPr id="19" name="Shape 15"/>
          <p:cNvSpPr/>
          <p:nvPr/>
        </p:nvSpPr>
        <p:spPr>
          <a:xfrm>
            <a:off x="5020056" y="2240280"/>
            <a:ext cx="2057400" cy="2103120"/>
          </a:xfrm>
          <a:prstGeom prst="roundRect">
            <a:avLst>
              <a:gd name="adj" fmla="val 5333"/>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20" name="Shape 16"/>
          <p:cNvSpPr/>
          <p:nvPr/>
        </p:nvSpPr>
        <p:spPr>
          <a:xfrm>
            <a:off x="5157216" y="2377440"/>
            <a:ext cx="457200" cy="457200"/>
          </a:xfrm>
          <a:prstGeom prst="ellipse">
            <a:avLst/>
          </a:prstGeom>
          <a:solidFill>
            <a:srgbClr val="F2A541"/>
          </a:solidFill>
          <a:ln w="12700">
            <a:solidFill>
              <a:srgbClr val="F2A541"/>
            </a:solidFill>
            <a:prstDash val="solid"/>
          </a:ln>
        </p:spPr>
      </p:sp>
      <p:pic>
        <p:nvPicPr>
          <p:cNvPr id="21" name="Image 2" descr="preencoded.png">    </p:cNvPr>
          <p:cNvPicPr>
            <a:picLocks noChangeAspect="1"/>
          </p:cNvPicPr>
          <p:nvPr/>
        </p:nvPicPr>
        <p:blipFill>
          <a:blip r:embed="rId3"/>
          <a:stretch>
            <a:fillRect/>
          </a:stretch>
        </p:blipFill>
        <p:spPr>
          <a:xfrm>
            <a:off x="5276088" y="2496312"/>
            <a:ext cx="219456" cy="219456"/>
          </a:xfrm>
          <a:prstGeom prst="rect">
            <a:avLst/>
          </a:prstGeom>
        </p:spPr>
      </p:pic>
      <p:sp>
        <p:nvSpPr>
          <p:cNvPr id="22" name="Text 17"/>
          <p:cNvSpPr txBox="1"/>
          <p:nvPr/>
        </p:nvSpPr>
        <p:spPr>
          <a:xfrm>
            <a:off x="5705856" y="2377440"/>
            <a:ext cx="1325880" cy="457200"/>
          </a:xfrm>
          <a:prstGeom prst="rect">
            <a:avLst/>
          </a:prstGeom>
          <a:noFill/>
          <a:ln/>
        </p:spPr>
        <p:txBody>
          <a:bodyPr wrap="square" lIns="0" tIns="0" rIns="0" bIns="0" rtlCol="0" anchor="ctr"/>
          <a:lstStyle/>
          <a:p>
            <a:pPr indent="0" marL="0">
              <a:buNone/>
            </a:pPr>
            <a:r>
              <a:rPr lang="en-US" sz="1400" b="1" dirty="0">
                <a:solidFill>
                  <a:srgbClr val="0D2F4F"/>
                </a:solidFill>
              </a:rPr>
              <a:t>Muqobillarni tanlash</a:t>
            </a:r>
            <a:endParaRPr lang="en-US" sz="1400" dirty="0"/>
          </a:p>
        </p:txBody>
      </p:sp>
      <p:sp>
        <p:nvSpPr>
          <p:cNvPr id="23" name="Text 18"/>
          <p:cNvSpPr txBox="1"/>
          <p:nvPr/>
        </p:nvSpPr>
        <p:spPr>
          <a:xfrm>
            <a:off x="5157216" y="2926080"/>
            <a:ext cx="1783080" cy="1371600"/>
          </a:xfrm>
          <a:prstGeom prst="rect">
            <a:avLst/>
          </a:prstGeom>
          <a:noFill/>
          <a:ln/>
        </p:spPr>
        <p:txBody>
          <a:bodyPr wrap="square" lIns="0" tIns="0" rIns="0" bIns="0" rtlCol="0" anchor="t"/>
          <a:lstStyle/>
          <a:p>
            <a:pPr indent="0" marL="0">
              <a:buNone/>
            </a:pPr>
            <a:r>
              <a:rPr lang="en-US" sz="1300" dirty="0">
                <a:solidFill>
                  <a:srgbClr val="1B2A3A"/>
                </a:solidFill>
                <a:latin typeface="Calibri" pitchFamily="34" charset="0"/>
                <a:ea typeface="Calibri" pitchFamily="34" charset="-122"/>
                <a:cs typeface="Calibri" pitchFamily="34" charset="-120"/>
              </a:rPr>
              <a:t>strategik variantlarni ishlab chiqish va eng samaralisini tanlash</a:t>
            </a:r>
            <a:endParaRPr lang="en-US" sz="1300" dirty="0"/>
          </a:p>
        </p:txBody>
      </p:sp>
      <p:sp>
        <p:nvSpPr>
          <p:cNvPr id="24" name="Shape 19"/>
          <p:cNvSpPr/>
          <p:nvPr/>
        </p:nvSpPr>
        <p:spPr>
          <a:xfrm>
            <a:off x="7187184" y="1371600"/>
            <a:ext cx="2212848" cy="685800"/>
          </a:xfrm>
          <a:prstGeom prst="chevron">
            <a:avLst/>
          </a:prstGeom>
          <a:solidFill>
            <a:srgbClr val="0D2F4F"/>
          </a:solidFill>
          <a:ln w="12700">
            <a:solidFill>
              <a:srgbClr val="FFFFFF"/>
            </a:solidFill>
            <a:prstDash val="solid"/>
          </a:ln>
        </p:spPr>
      </p:sp>
      <p:sp>
        <p:nvSpPr>
          <p:cNvPr id="25" name="Text 20"/>
          <p:cNvSpPr txBox="1"/>
          <p:nvPr/>
        </p:nvSpPr>
        <p:spPr>
          <a:xfrm>
            <a:off x="7644384" y="1371600"/>
            <a:ext cx="1463040" cy="685800"/>
          </a:xfrm>
          <a:prstGeom prst="rect">
            <a:avLst/>
          </a:prstGeom>
          <a:noFill/>
          <a:ln/>
        </p:spPr>
        <p:txBody>
          <a:bodyPr wrap="square" lIns="0" tIns="0" rIns="0" bIns="0" rtlCol="0" anchor="ctr"/>
          <a:lstStyle/>
          <a:p>
            <a:pPr indent="0" marL="0">
              <a:buNone/>
            </a:pPr>
            <a:r>
              <a:rPr lang="en-US" sz="1400" b="1" dirty="0">
                <a:solidFill>
                  <a:srgbClr val="FFFFFF"/>
                </a:solidFill>
              </a:rPr>
              <a:t>4-bosqich</a:t>
            </a:r>
            <a:endParaRPr lang="en-US" sz="1400" dirty="0"/>
          </a:p>
        </p:txBody>
      </p:sp>
      <p:sp>
        <p:nvSpPr>
          <p:cNvPr id="26" name="Shape 21"/>
          <p:cNvSpPr/>
          <p:nvPr/>
        </p:nvSpPr>
        <p:spPr>
          <a:xfrm>
            <a:off x="7232904" y="2240280"/>
            <a:ext cx="2057400" cy="2103120"/>
          </a:xfrm>
          <a:prstGeom prst="roundRect">
            <a:avLst>
              <a:gd name="adj" fmla="val 5333"/>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27" name="Shape 22"/>
          <p:cNvSpPr/>
          <p:nvPr/>
        </p:nvSpPr>
        <p:spPr>
          <a:xfrm>
            <a:off x="7370064" y="2377440"/>
            <a:ext cx="457200" cy="457200"/>
          </a:xfrm>
          <a:prstGeom prst="ellipse">
            <a:avLst/>
          </a:prstGeom>
          <a:solidFill>
            <a:srgbClr val="F2A541"/>
          </a:solidFill>
          <a:ln w="12700">
            <a:solidFill>
              <a:srgbClr val="F2A541"/>
            </a:solidFill>
            <a:prstDash val="solid"/>
          </a:ln>
        </p:spPr>
      </p:sp>
      <p:pic>
        <p:nvPicPr>
          <p:cNvPr id="28" name="Image 3" descr="preencoded.png">    </p:cNvPr>
          <p:cNvPicPr>
            <a:picLocks noChangeAspect="1"/>
          </p:cNvPicPr>
          <p:nvPr/>
        </p:nvPicPr>
        <p:blipFill>
          <a:blip r:embed="rId4"/>
          <a:stretch>
            <a:fillRect/>
          </a:stretch>
        </p:blipFill>
        <p:spPr>
          <a:xfrm>
            <a:off x="7488936" y="2496312"/>
            <a:ext cx="219456" cy="219456"/>
          </a:xfrm>
          <a:prstGeom prst="rect">
            <a:avLst/>
          </a:prstGeom>
        </p:spPr>
      </p:pic>
      <p:sp>
        <p:nvSpPr>
          <p:cNvPr id="29" name="Text 23"/>
          <p:cNvSpPr txBox="1"/>
          <p:nvPr/>
        </p:nvSpPr>
        <p:spPr>
          <a:xfrm>
            <a:off x="7918704" y="2377440"/>
            <a:ext cx="1325880" cy="457200"/>
          </a:xfrm>
          <a:prstGeom prst="rect">
            <a:avLst/>
          </a:prstGeom>
          <a:noFill/>
          <a:ln/>
        </p:spPr>
        <p:txBody>
          <a:bodyPr wrap="square" lIns="0" tIns="0" rIns="0" bIns="0" rtlCol="0" anchor="ctr"/>
          <a:lstStyle/>
          <a:p>
            <a:pPr indent="0" marL="0">
              <a:buNone/>
            </a:pPr>
            <a:r>
              <a:rPr lang="en-US" sz="1400" b="1" dirty="0">
                <a:solidFill>
                  <a:srgbClr val="0D2F4F"/>
                </a:solidFill>
              </a:rPr>
              <a:t>Amalga oshirish</a:t>
            </a:r>
            <a:endParaRPr lang="en-US" sz="1400" dirty="0"/>
          </a:p>
        </p:txBody>
      </p:sp>
      <p:sp>
        <p:nvSpPr>
          <p:cNvPr id="30" name="Text 24"/>
          <p:cNvSpPr txBox="1"/>
          <p:nvPr/>
        </p:nvSpPr>
        <p:spPr>
          <a:xfrm>
            <a:off x="7370064" y="2926080"/>
            <a:ext cx="1783080" cy="1371600"/>
          </a:xfrm>
          <a:prstGeom prst="rect">
            <a:avLst/>
          </a:prstGeom>
          <a:noFill/>
          <a:ln/>
        </p:spPr>
        <p:txBody>
          <a:bodyPr wrap="square" lIns="0" tIns="0" rIns="0" bIns="0" rtlCol="0" anchor="t"/>
          <a:lstStyle/>
          <a:p>
            <a:pPr indent="0" marL="0">
              <a:buNone/>
            </a:pPr>
            <a:r>
              <a:rPr lang="en-US" sz="1300" dirty="0">
                <a:solidFill>
                  <a:srgbClr val="1B2A3A"/>
                </a:solidFill>
                <a:latin typeface="Calibri" pitchFamily="34" charset="0"/>
                <a:ea typeface="Calibri" pitchFamily="34" charset="-122"/>
                <a:cs typeface="Calibri" pitchFamily="34" charset="-120"/>
              </a:rPr>
              <a:t>dastur, byudjet, tashkiliy tuzilma va mas’ullarni belgilash</a:t>
            </a:r>
            <a:endParaRPr lang="en-US" sz="1300" dirty="0"/>
          </a:p>
        </p:txBody>
      </p:sp>
      <p:sp>
        <p:nvSpPr>
          <p:cNvPr id="31" name="Shape 25"/>
          <p:cNvSpPr/>
          <p:nvPr/>
        </p:nvSpPr>
        <p:spPr>
          <a:xfrm>
            <a:off x="9400032" y="1371600"/>
            <a:ext cx="2212848" cy="685800"/>
          </a:xfrm>
          <a:prstGeom prst="chevron">
            <a:avLst/>
          </a:prstGeom>
          <a:solidFill>
            <a:srgbClr val="0E9F9A"/>
          </a:solidFill>
          <a:ln w="12700">
            <a:solidFill>
              <a:srgbClr val="FFFFFF"/>
            </a:solidFill>
            <a:prstDash val="solid"/>
          </a:ln>
        </p:spPr>
      </p:sp>
      <p:sp>
        <p:nvSpPr>
          <p:cNvPr id="32" name="Text 26"/>
          <p:cNvSpPr txBox="1"/>
          <p:nvPr/>
        </p:nvSpPr>
        <p:spPr>
          <a:xfrm>
            <a:off x="9857232" y="1371600"/>
            <a:ext cx="1463040" cy="685800"/>
          </a:xfrm>
          <a:prstGeom prst="rect">
            <a:avLst/>
          </a:prstGeom>
          <a:noFill/>
          <a:ln/>
        </p:spPr>
        <p:txBody>
          <a:bodyPr wrap="square" lIns="0" tIns="0" rIns="0" bIns="0" rtlCol="0" anchor="ctr"/>
          <a:lstStyle/>
          <a:p>
            <a:pPr indent="0" marL="0">
              <a:buNone/>
            </a:pPr>
            <a:r>
              <a:rPr lang="en-US" sz="1400" b="1" dirty="0">
                <a:solidFill>
                  <a:srgbClr val="FFFFFF"/>
                </a:solidFill>
              </a:rPr>
              <a:t>5-bosqich</a:t>
            </a:r>
            <a:endParaRPr lang="en-US" sz="1400" dirty="0"/>
          </a:p>
        </p:txBody>
      </p:sp>
      <p:sp>
        <p:nvSpPr>
          <p:cNvPr id="33" name="Shape 27"/>
          <p:cNvSpPr/>
          <p:nvPr/>
        </p:nvSpPr>
        <p:spPr>
          <a:xfrm>
            <a:off x="9445752" y="2240280"/>
            <a:ext cx="2057400" cy="2103120"/>
          </a:xfrm>
          <a:prstGeom prst="roundRect">
            <a:avLst>
              <a:gd name="adj" fmla="val 5333"/>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34" name="Shape 28"/>
          <p:cNvSpPr/>
          <p:nvPr/>
        </p:nvSpPr>
        <p:spPr>
          <a:xfrm>
            <a:off x="9582912" y="2377440"/>
            <a:ext cx="457200" cy="457200"/>
          </a:xfrm>
          <a:prstGeom prst="ellipse">
            <a:avLst/>
          </a:prstGeom>
          <a:solidFill>
            <a:srgbClr val="F2A541"/>
          </a:solidFill>
          <a:ln w="12700">
            <a:solidFill>
              <a:srgbClr val="F2A541"/>
            </a:solidFill>
            <a:prstDash val="solid"/>
          </a:ln>
        </p:spPr>
      </p:sp>
      <p:pic>
        <p:nvPicPr>
          <p:cNvPr id="35" name="Image 4" descr="preencoded.png">    </p:cNvPr>
          <p:cNvPicPr>
            <a:picLocks noChangeAspect="1"/>
          </p:cNvPicPr>
          <p:nvPr/>
        </p:nvPicPr>
        <p:blipFill>
          <a:blip r:embed="rId5"/>
          <a:stretch>
            <a:fillRect/>
          </a:stretch>
        </p:blipFill>
        <p:spPr>
          <a:xfrm>
            <a:off x="9701784" y="2496312"/>
            <a:ext cx="219456" cy="219456"/>
          </a:xfrm>
          <a:prstGeom prst="rect">
            <a:avLst/>
          </a:prstGeom>
        </p:spPr>
      </p:pic>
      <p:sp>
        <p:nvSpPr>
          <p:cNvPr id="36" name="Text 29"/>
          <p:cNvSpPr txBox="1"/>
          <p:nvPr/>
        </p:nvSpPr>
        <p:spPr>
          <a:xfrm>
            <a:off x="10131552" y="2377440"/>
            <a:ext cx="1325880" cy="457200"/>
          </a:xfrm>
          <a:prstGeom prst="rect">
            <a:avLst/>
          </a:prstGeom>
          <a:noFill/>
          <a:ln/>
        </p:spPr>
        <p:txBody>
          <a:bodyPr wrap="square" lIns="0" tIns="0" rIns="0" bIns="0" rtlCol="0" anchor="ctr"/>
          <a:lstStyle/>
          <a:p>
            <a:pPr indent="0" marL="0">
              <a:buNone/>
            </a:pPr>
            <a:r>
              <a:rPr lang="en-US" sz="1400" b="1" dirty="0">
                <a:solidFill>
                  <a:srgbClr val="0D2F4F"/>
                </a:solidFill>
              </a:rPr>
              <a:t>Nazorat va baholash</a:t>
            </a:r>
            <a:endParaRPr lang="en-US" sz="1400" dirty="0"/>
          </a:p>
        </p:txBody>
      </p:sp>
      <p:sp>
        <p:nvSpPr>
          <p:cNvPr id="37" name="Text 30"/>
          <p:cNvSpPr txBox="1"/>
          <p:nvPr/>
        </p:nvSpPr>
        <p:spPr>
          <a:xfrm>
            <a:off x="9582912" y="2926080"/>
            <a:ext cx="1783080" cy="1371600"/>
          </a:xfrm>
          <a:prstGeom prst="rect">
            <a:avLst/>
          </a:prstGeom>
          <a:noFill/>
          <a:ln/>
        </p:spPr>
        <p:txBody>
          <a:bodyPr wrap="square" lIns="0" tIns="0" rIns="0" bIns="0" rtlCol="0" anchor="t"/>
          <a:lstStyle/>
          <a:p>
            <a:pPr indent="0" marL="0">
              <a:buNone/>
            </a:pPr>
            <a:r>
              <a:rPr lang="en-US" sz="1300" dirty="0">
                <a:solidFill>
                  <a:srgbClr val="1B2A3A"/>
                </a:solidFill>
                <a:latin typeface="Calibri" pitchFamily="34" charset="0"/>
                <a:ea typeface="Calibri" pitchFamily="34" charset="-122"/>
                <a:cs typeface="Calibri" pitchFamily="34" charset="-120"/>
              </a:rPr>
              <a:t>KPI asosida monitoring, og‘ishlarni tahlil qilish va tuzatish</a:t>
            </a:r>
            <a:endParaRPr lang="en-US" sz="1300" dirty="0"/>
          </a:p>
        </p:txBody>
      </p:sp>
      <p:pic>
        <p:nvPicPr>
          <p:cNvPr id="38" name="Image 5" descr="img/stages.png">    </p:cNvPr>
          <p:cNvPicPr>
            <a:picLocks noChangeAspect="1"/>
          </p:cNvPicPr>
          <p:nvPr/>
        </p:nvPicPr>
        <p:blipFill>
          <a:blip r:embed="rId6"/>
          <a:stretch>
            <a:fillRect/>
          </a:stretch>
        </p:blipFill>
        <p:spPr>
          <a:xfrm>
            <a:off x="548640" y="4526280"/>
            <a:ext cx="2194560" cy="1709928"/>
          </a:xfrm>
          <a:prstGeom prst="rect">
            <a:avLst/>
          </a:prstGeom>
        </p:spPr>
      </p:pic>
      <p:sp>
        <p:nvSpPr>
          <p:cNvPr id="39" name="Text 31"/>
          <p:cNvSpPr txBox="1"/>
          <p:nvPr/>
        </p:nvSpPr>
        <p:spPr>
          <a:xfrm>
            <a:off x="3017520" y="4526280"/>
            <a:ext cx="8595360" cy="1737360"/>
          </a:xfrm>
          <a:prstGeom prst="rect">
            <a:avLst/>
          </a:prstGeom>
          <a:noFill/>
          <a:ln/>
        </p:spPr>
        <p:txBody>
          <a:bodyPr wrap="square" lIns="0" tIns="0" rIns="0" bIns="0" rtlCol="0" anchor="t"/>
          <a:lstStyle/>
          <a:p>
            <a:pPr indent="0" marL="0">
              <a:buNone/>
            </a:pPr>
            <a:r>
              <a:rPr lang="en-US" sz="1400" b="1" dirty="0">
                <a:solidFill>
                  <a:srgbClr val="0E9F9A"/>
                </a:solidFill>
                <a:latin typeface="Calibri" pitchFamily="34" charset="0"/>
                <a:ea typeface="Calibri" pitchFamily="34" charset="-122"/>
                <a:cs typeface="Calibri" pitchFamily="34" charset="-120"/>
              </a:rPr>
              <a:t>Amaliy ahamiyati. </a:t>
            </a:r>
            <a:pPr indent="0" marL="0">
              <a:buNone/>
            </a:pPr>
            <a:r>
              <a:rPr lang="en-US" sz="1400" dirty="0">
                <a:solidFill>
                  <a:srgbClr val="1B2A3A"/>
                </a:solidFill>
                <a:latin typeface="Calibri" pitchFamily="34" charset="0"/>
                <a:ea typeface="Calibri" pitchFamily="34" charset="-122"/>
                <a:cs typeface="Calibri" pitchFamily="34" charset="-120"/>
              </a:rPr>
              <a:t>Aniq strategiyaga ega korxonalar resurslardan samaraliroq foydalanadi, investorlar va banklar ishonchini qozonadi, inqirozlarga tezroq moslashadi. O‘zbekistonda “Yangi O‘zbekistonning 2022–2026 yillarga mo‘ljallangan Taraqqiyot strategiyasi” va “O‘zbekiston – 2030” strategiyasi xususiy sektor, eksport va raqamli iqtisodiyotni rivojlantirishni ustuvor vazifa qilib qo‘ygan – bu korxonalardan ham o‘z rivojlanish strategiyalarini milliy maqsadlar bilan uyg‘unlashtirishni talab etadi.</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20040"/>
            <a:ext cx="11064240" cy="86868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Xulosa</a:t>
            </a:r>
            <a:endParaRPr lang="en-US" sz="3400" dirty="0"/>
          </a:p>
        </p:txBody>
      </p:sp>
      <p:sp>
        <p:nvSpPr>
          <p:cNvPr id="3" name="Text 1"/>
          <p:cNvSpPr txBox="1"/>
          <p:nvPr/>
        </p:nvSpPr>
        <p:spPr>
          <a:xfrm>
            <a:off x="548640" y="1280160"/>
            <a:ext cx="6858000" cy="1920240"/>
          </a:xfrm>
          <a:prstGeom prst="rect">
            <a:avLst/>
          </a:prstGeom>
          <a:noFill/>
          <a:ln/>
        </p:spPr>
        <p:txBody>
          <a:bodyPr wrap="square" lIns="0" tIns="0" rIns="0" bIns="0" rtlCol="0" anchor="t"/>
          <a:lstStyle/>
          <a:p>
            <a:pPr indent="0" marL="0">
              <a:spcAft>
                <a:spcPts val="600"/>
              </a:spcAft>
              <a:buNone/>
            </a:pPr>
            <a:r>
              <a:rPr lang="en-US" sz="1500" dirty="0">
                <a:solidFill>
                  <a:srgbClr val="E6F2F4"/>
                </a:solidFill>
                <a:latin typeface="Calibri" pitchFamily="34" charset="0"/>
                <a:ea typeface="Calibri" pitchFamily="34" charset="-122"/>
                <a:cs typeface="Calibri" pitchFamily="34" charset="-120"/>
              </a:rPr>
              <a:t>Korxonani rivojlantirish strategiyasi – bu shunchaki hujjat emas, balki korxona kelajagini oldindan ko‘ra bilish, raqobat muhitida o‘z o‘rnini topish va barqaror o‘sishga erishishning asosiy boshqaruv vositasidir. U korxona faoliyatining barcha jihatlarini yagona maqsad atrofida birlashtiradi, cheklangan resurslarni ustuvor yo‘nalishlarga jamlaydi va o‘zgaruvchan bozor sharoitida to‘g‘ri qarorlar qabul qilishga yordam beradi.</a:t>
            </a:r>
            <a:endParaRPr lang="en-US" sz="1500" dirty="0"/>
          </a:p>
        </p:txBody>
      </p:sp>
      <p:sp>
        <p:nvSpPr>
          <p:cNvPr id="4" name="Shape 2"/>
          <p:cNvSpPr/>
          <p:nvPr/>
        </p:nvSpPr>
        <p:spPr>
          <a:xfrm>
            <a:off x="548640" y="3337560"/>
            <a:ext cx="3291840" cy="1298448"/>
          </a:xfrm>
          <a:prstGeom prst="roundRect">
            <a:avLst>
              <a:gd name="adj" fmla="val 8451"/>
            </a:avLst>
          </a:prstGeom>
          <a:solidFill>
            <a:srgbClr val="FFFFFF">
              <a:alpha val="12000"/>
            </a:srgbClr>
          </a:solidFill>
          <a:ln w="9525">
            <a:solidFill>
              <a:srgbClr val="5FD3C9"/>
            </a:solidFill>
            <a:prstDash val="solid"/>
          </a:ln>
        </p:spPr>
      </p:sp>
      <p:pic>
        <p:nvPicPr>
          <p:cNvPr id="5" name="Image 0" descr="preencoded.png">    </p:cNvPr>
          <p:cNvPicPr>
            <a:picLocks noChangeAspect="1"/>
          </p:cNvPicPr>
          <p:nvPr/>
        </p:nvPicPr>
        <p:blipFill>
          <a:blip r:embed="rId1"/>
          <a:stretch>
            <a:fillRect/>
          </a:stretch>
        </p:blipFill>
        <p:spPr>
          <a:xfrm>
            <a:off x="713232" y="3520440"/>
            <a:ext cx="365760" cy="365760"/>
          </a:xfrm>
          <a:prstGeom prst="rect">
            <a:avLst/>
          </a:prstGeom>
        </p:spPr>
      </p:pic>
      <p:sp>
        <p:nvSpPr>
          <p:cNvPr id="6" name="Text 3"/>
          <p:cNvSpPr txBox="1"/>
          <p:nvPr/>
        </p:nvSpPr>
        <p:spPr>
          <a:xfrm>
            <a:off x="1188720" y="3447288"/>
            <a:ext cx="2514600" cy="1097280"/>
          </a:xfrm>
          <a:prstGeom prst="rect">
            <a:avLst/>
          </a:prstGeom>
          <a:noFill/>
          <a:ln/>
        </p:spPr>
        <p:txBody>
          <a:bodyPr wrap="square" lIns="0" tIns="0" rIns="0" bIns="0" rtlCol="0" anchor="t"/>
          <a:lstStyle/>
          <a:p>
            <a:pPr indent="0" marL="0">
              <a:spcAft>
                <a:spcPts val="200"/>
              </a:spcAft>
              <a:buNone/>
            </a:pPr>
            <a:r>
              <a:rPr lang="en-US" sz="1500" b="1" dirty="0">
                <a:solidFill>
                  <a:srgbClr val="F2A541"/>
                </a:solidFill>
              </a:rPr>
              <a:t>Mohiyati</a:t>
            </a:r>
            <a:endParaRPr lang="en-US" sz="1500" dirty="0"/>
          </a:p>
          <a:p>
            <a:pPr indent="0" marL="0">
              <a:spcAft>
                <a:spcPts val="200"/>
              </a:spcAft>
              <a:buNone/>
            </a:pPr>
            <a:r>
              <a:rPr lang="en-US" sz="1300" dirty="0">
                <a:solidFill>
                  <a:srgbClr val="FFFFFF"/>
                </a:solidFill>
              </a:rPr>
              <a:t>uzoq muddatli maqsadlar va ularga erishish yo‘llarining yaxlit tizimi</a:t>
            </a:r>
            <a:endParaRPr lang="en-US" sz="1500" dirty="0"/>
          </a:p>
        </p:txBody>
      </p:sp>
      <p:sp>
        <p:nvSpPr>
          <p:cNvPr id="7" name="Shape 4"/>
          <p:cNvSpPr/>
          <p:nvPr/>
        </p:nvSpPr>
        <p:spPr>
          <a:xfrm>
            <a:off x="4023360" y="3337560"/>
            <a:ext cx="3291840" cy="1298448"/>
          </a:xfrm>
          <a:prstGeom prst="roundRect">
            <a:avLst>
              <a:gd name="adj" fmla="val 8451"/>
            </a:avLst>
          </a:prstGeom>
          <a:solidFill>
            <a:srgbClr val="FFFFFF">
              <a:alpha val="12000"/>
            </a:srgbClr>
          </a:solidFill>
          <a:ln w="9525">
            <a:solidFill>
              <a:srgbClr val="5FD3C9"/>
            </a:solidFill>
            <a:prstDash val="solid"/>
          </a:ln>
        </p:spPr>
      </p:sp>
      <p:pic>
        <p:nvPicPr>
          <p:cNvPr id="8" name="Image 1" descr="preencoded.png">    </p:cNvPr>
          <p:cNvPicPr>
            <a:picLocks noChangeAspect="1"/>
          </p:cNvPicPr>
          <p:nvPr/>
        </p:nvPicPr>
        <p:blipFill>
          <a:blip r:embed="rId2"/>
          <a:stretch>
            <a:fillRect/>
          </a:stretch>
        </p:blipFill>
        <p:spPr>
          <a:xfrm>
            <a:off x="4187952" y="3520440"/>
            <a:ext cx="365760" cy="365760"/>
          </a:xfrm>
          <a:prstGeom prst="rect">
            <a:avLst/>
          </a:prstGeom>
        </p:spPr>
      </p:pic>
      <p:sp>
        <p:nvSpPr>
          <p:cNvPr id="9" name="Text 5"/>
          <p:cNvSpPr txBox="1"/>
          <p:nvPr/>
        </p:nvSpPr>
        <p:spPr>
          <a:xfrm>
            <a:off x="4663440" y="3447288"/>
            <a:ext cx="2514600" cy="1097280"/>
          </a:xfrm>
          <a:prstGeom prst="rect">
            <a:avLst/>
          </a:prstGeom>
          <a:noFill/>
          <a:ln/>
        </p:spPr>
        <p:txBody>
          <a:bodyPr wrap="square" lIns="0" tIns="0" rIns="0" bIns="0" rtlCol="0" anchor="t"/>
          <a:lstStyle/>
          <a:p>
            <a:pPr indent="0" marL="0">
              <a:spcAft>
                <a:spcPts val="200"/>
              </a:spcAft>
              <a:buNone/>
            </a:pPr>
            <a:r>
              <a:rPr lang="en-US" sz="1500" b="1" dirty="0">
                <a:solidFill>
                  <a:srgbClr val="F2A541"/>
                </a:solidFill>
              </a:rPr>
              <a:t>Maqsadi</a:t>
            </a:r>
            <a:endParaRPr lang="en-US" sz="1500" dirty="0"/>
          </a:p>
          <a:p>
            <a:pPr indent="0" marL="0">
              <a:spcAft>
                <a:spcPts val="200"/>
              </a:spcAft>
              <a:buNone/>
            </a:pPr>
            <a:r>
              <a:rPr lang="en-US" sz="1300" dirty="0">
                <a:solidFill>
                  <a:srgbClr val="FFFFFF"/>
                </a:solidFill>
              </a:rPr>
              <a:t>raqobatbardoshlik, barqaror o‘sish va manfaatdor tomonlar manfaatlari muvozanati</a:t>
            </a:r>
            <a:endParaRPr lang="en-US" sz="1500" dirty="0"/>
          </a:p>
        </p:txBody>
      </p:sp>
      <p:sp>
        <p:nvSpPr>
          <p:cNvPr id="10" name="Shape 6"/>
          <p:cNvSpPr/>
          <p:nvPr/>
        </p:nvSpPr>
        <p:spPr>
          <a:xfrm>
            <a:off x="548640" y="4800600"/>
            <a:ext cx="3291840" cy="1298448"/>
          </a:xfrm>
          <a:prstGeom prst="roundRect">
            <a:avLst>
              <a:gd name="adj" fmla="val 8451"/>
            </a:avLst>
          </a:prstGeom>
          <a:solidFill>
            <a:srgbClr val="FFFFFF">
              <a:alpha val="12000"/>
            </a:srgbClr>
          </a:solidFill>
          <a:ln w="9525">
            <a:solidFill>
              <a:srgbClr val="5FD3C9"/>
            </a:solidFill>
            <a:prstDash val="solid"/>
          </a:ln>
        </p:spPr>
      </p:sp>
      <p:pic>
        <p:nvPicPr>
          <p:cNvPr id="11" name="Image 2" descr="preencoded.png">    </p:cNvPr>
          <p:cNvPicPr>
            <a:picLocks noChangeAspect="1"/>
          </p:cNvPicPr>
          <p:nvPr/>
        </p:nvPicPr>
        <p:blipFill>
          <a:blip r:embed="rId3"/>
          <a:stretch>
            <a:fillRect/>
          </a:stretch>
        </p:blipFill>
        <p:spPr>
          <a:xfrm>
            <a:off x="713232" y="4983480"/>
            <a:ext cx="365760" cy="365760"/>
          </a:xfrm>
          <a:prstGeom prst="rect">
            <a:avLst/>
          </a:prstGeom>
        </p:spPr>
      </p:pic>
      <p:sp>
        <p:nvSpPr>
          <p:cNvPr id="12" name="Text 7"/>
          <p:cNvSpPr txBox="1"/>
          <p:nvPr/>
        </p:nvSpPr>
        <p:spPr>
          <a:xfrm>
            <a:off x="1188720" y="4910328"/>
            <a:ext cx="2514600" cy="1097280"/>
          </a:xfrm>
          <a:prstGeom prst="rect">
            <a:avLst/>
          </a:prstGeom>
          <a:noFill/>
          <a:ln/>
        </p:spPr>
        <p:txBody>
          <a:bodyPr wrap="square" lIns="0" tIns="0" rIns="0" bIns="0" rtlCol="0" anchor="t"/>
          <a:lstStyle/>
          <a:p>
            <a:pPr indent="0" marL="0">
              <a:spcAft>
                <a:spcPts val="200"/>
              </a:spcAft>
              <a:buNone/>
            </a:pPr>
            <a:r>
              <a:rPr lang="en-US" sz="1500" b="1" dirty="0">
                <a:solidFill>
                  <a:srgbClr val="F2A541"/>
                </a:solidFill>
              </a:rPr>
              <a:t>Tamoyillari</a:t>
            </a:r>
            <a:endParaRPr lang="en-US" sz="1500" dirty="0"/>
          </a:p>
          <a:p>
            <a:pPr indent="0" marL="0">
              <a:spcAft>
                <a:spcPts val="200"/>
              </a:spcAft>
              <a:buNone/>
            </a:pPr>
            <a:r>
              <a:rPr lang="en-US" sz="1300" dirty="0">
                <a:solidFill>
                  <a:srgbClr val="FFFFFF"/>
                </a:solidFill>
              </a:rPr>
              <a:t>ilmiylik, tizimlilik, moslashuvchanlik, muqobillik, uzluksizlik va reallik</a:t>
            </a:r>
            <a:endParaRPr lang="en-US" sz="1500" dirty="0"/>
          </a:p>
        </p:txBody>
      </p:sp>
      <p:sp>
        <p:nvSpPr>
          <p:cNvPr id="13" name="Shape 8"/>
          <p:cNvSpPr/>
          <p:nvPr/>
        </p:nvSpPr>
        <p:spPr>
          <a:xfrm>
            <a:off x="4023360" y="4800600"/>
            <a:ext cx="3291840" cy="1298448"/>
          </a:xfrm>
          <a:prstGeom prst="roundRect">
            <a:avLst>
              <a:gd name="adj" fmla="val 8451"/>
            </a:avLst>
          </a:prstGeom>
          <a:solidFill>
            <a:srgbClr val="FFFFFF">
              <a:alpha val="12000"/>
            </a:srgbClr>
          </a:solidFill>
          <a:ln w="9525">
            <a:solidFill>
              <a:srgbClr val="5FD3C9"/>
            </a:solidFill>
            <a:prstDash val="solid"/>
          </a:ln>
        </p:spPr>
      </p:sp>
      <p:pic>
        <p:nvPicPr>
          <p:cNvPr id="14" name="Image 3" descr="preencoded.png">    </p:cNvPr>
          <p:cNvPicPr>
            <a:picLocks noChangeAspect="1"/>
          </p:cNvPicPr>
          <p:nvPr/>
        </p:nvPicPr>
        <p:blipFill>
          <a:blip r:embed="rId4"/>
          <a:stretch>
            <a:fillRect/>
          </a:stretch>
        </p:blipFill>
        <p:spPr>
          <a:xfrm>
            <a:off x="4187952" y="4983480"/>
            <a:ext cx="365760" cy="365760"/>
          </a:xfrm>
          <a:prstGeom prst="rect">
            <a:avLst/>
          </a:prstGeom>
        </p:spPr>
      </p:pic>
      <p:sp>
        <p:nvSpPr>
          <p:cNvPr id="15" name="Text 9"/>
          <p:cNvSpPr txBox="1"/>
          <p:nvPr/>
        </p:nvSpPr>
        <p:spPr>
          <a:xfrm>
            <a:off x="4663440" y="4910328"/>
            <a:ext cx="2514600" cy="1097280"/>
          </a:xfrm>
          <a:prstGeom prst="rect">
            <a:avLst/>
          </a:prstGeom>
          <a:noFill/>
          <a:ln/>
        </p:spPr>
        <p:txBody>
          <a:bodyPr wrap="square" lIns="0" tIns="0" rIns="0" bIns="0" rtlCol="0" anchor="t"/>
          <a:lstStyle/>
          <a:p>
            <a:pPr indent="0" marL="0">
              <a:spcAft>
                <a:spcPts val="200"/>
              </a:spcAft>
              <a:buNone/>
            </a:pPr>
            <a:r>
              <a:rPr lang="en-US" sz="1500" b="1" dirty="0">
                <a:solidFill>
                  <a:srgbClr val="F2A541"/>
                </a:solidFill>
              </a:rPr>
              <a:t>Natijasi</a:t>
            </a:r>
            <a:endParaRPr lang="en-US" sz="1500" dirty="0"/>
          </a:p>
          <a:p>
            <a:pPr indent="0" marL="0">
              <a:spcAft>
                <a:spcPts val="200"/>
              </a:spcAft>
              <a:buNone/>
            </a:pPr>
            <a:r>
              <a:rPr lang="en-US" sz="1300" dirty="0">
                <a:solidFill>
                  <a:srgbClr val="FFFFFF"/>
                </a:solidFill>
              </a:rPr>
              <a:t>SWOT tahlildan KPI nazoratigacha bo‘lgan izchil jarayon samaradorlikni oshiradi</a:t>
            </a:r>
            <a:endParaRPr lang="en-US" sz="1500" dirty="0"/>
          </a:p>
        </p:txBody>
      </p:sp>
      <p:pic>
        <p:nvPicPr>
          <p:cNvPr id="16" name="Image 4" descr="img/conclusion.png">    </p:cNvPr>
          <p:cNvPicPr>
            <a:picLocks noChangeAspect="1"/>
          </p:cNvPicPr>
          <p:nvPr/>
        </p:nvPicPr>
        <p:blipFill>
          <a:blip r:embed="rId5"/>
          <a:stretch>
            <a:fillRect/>
          </a:stretch>
        </p:blipFill>
        <p:spPr>
          <a:xfrm>
            <a:off x="7772400" y="1325880"/>
            <a:ext cx="3840480" cy="2990088"/>
          </a:xfrm>
          <a:prstGeom prst="rect">
            <a:avLst/>
          </a:prstGeom>
        </p:spPr>
      </p:pic>
      <p:sp>
        <p:nvSpPr>
          <p:cNvPr id="17" name="Text 10"/>
          <p:cNvSpPr txBox="1"/>
          <p:nvPr/>
        </p:nvSpPr>
        <p:spPr>
          <a:xfrm>
            <a:off x="7772400" y="4526280"/>
            <a:ext cx="3840480" cy="1463040"/>
          </a:xfrm>
          <a:prstGeom prst="rect">
            <a:avLst/>
          </a:prstGeom>
          <a:noFill/>
          <a:ln/>
        </p:spPr>
        <p:txBody>
          <a:bodyPr wrap="square" lIns="0" tIns="0" rIns="0" bIns="0" rtlCol="0" anchor="t"/>
          <a:lstStyle/>
          <a:p>
            <a:pPr indent="0" marL="0">
              <a:buNone/>
            </a:pPr>
            <a:r>
              <a:rPr lang="en-US" sz="1700" i="1" dirty="0">
                <a:solidFill>
                  <a:srgbClr val="F2A541"/>
                </a:solidFill>
                <a:latin typeface="Cambria" pitchFamily="34" charset="0"/>
                <a:ea typeface="Cambria" pitchFamily="34" charset="-122"/>
                <a:cs typeface="Cambria" pitchFamily="34" charset="-120"/>
              </a:rPr>
              <a:t>Strategiyasiz korxona – yo‘nalishsiz kema: u harakatlanadi, lekin manzilga yetib bormaydi.</a:t>
            </a:r>
            <a:endParaRPr lang="en-US" sz="17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D9E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img/thanks.png">    </p:cNvPr>
          <p:cNvPicPr>
            <a:picLocks noChangeAspect="1"/>
          </p:cNvPicPr>
          <p:nvPr/>
        </p:nvPicPr>
        <p:blipFill>
          <a:blip r:embed="rId1"/>
          <a:stretch>
            <a:fillRect/>
          </a:stretch>
        </p:blipFill>
        <p:spPr>
          <a:xfrm>
            <a:off x="6766560" y="1280160"/>
            <a:ext cx="4846320" cy="3767328"/>
          </a:xfrm>
          <a:prstGeom prst="rect">
            <a:avLst/>
          </a:prstGeom>
        </p:spPr>
      </p:pic>
      <p:sp>
        <p:nvSpPr>
          <p:cNvPr id="3" name="Text 0"/>
          <p:cNvSpPr txBox="1"/>
          <p:nvPr/>
        </p:nvSpPr>
        <p:spPr>
          <a:xfrm>
            <a:off x="548640" y="2011680"/>
            <a:ext cx="5943600" cy="18288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E’TIBORINGIZ UCHUN RAHMAT!</a:t>
            </a:r>
            <a:endParaRPr lang="en-US" sz="4000" dirty="0"/>
          </a:p>
        </p:txBody>
      </p:sp>
      <p:sp>
        <p:nvSpPr>
          <p:cNvPr id="4" name="Text 1"/>
          <p:cNvSpPr txBox="1"/>
          <p:nvPr/>
        </p:nvSpPr>
        <p:spPr>
          <a:xfrm>
            <a:off x="548640" y="3931920"/>
            <a:ext cx="5943600" cy="457200"/>
          </a:xfrm>
          <a:prstGeom prst="rect">
            <a:avLst/>
          </a:prstGeom>
          <a:noFill/>
          <a:ln/>
        </p:spPr>
        <p:txBody>
          <a:bodyPr wrap="square" lIns="0" tIns="0" rIns="0" bIns="0" rtlCol="0" anchor="ctr"/>
          <a:lstStyle/>
          <a:p>
            <a:pPr indent="0" marL="0">
              <a:buNone/>
            </a:pPr>
            <a:r>
              <a:rPr lang="en-US" sz="1800" i="1" dirty="0">
                <a:solidFill>
                  <a:srgbClr val="F2A541"/>
                </a:solidFill>
              </a:rPr>
              <a:t>Savollaringiz bo‘lsa, marhamat</a:t>
            </a:r>
            <a:endParaRPr lang="en-US" sz="18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D9E0"/>
                </a:solidFill>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Strategiya">
  <a:themeElements>
    <a:clrScheme name="Strategiya">
      <a:dk1>
        <a:srgbClr val="1B2A3A"/>
      </a:dk1>
      <a:lt1>
        <a:srgbClr val="FFFFFF"/>
      </a:lt1>
      <a:dk2>
        <a:srgbClr val="0D2F4F"/>
      </a:dk2>
      <a:lt2>
        <a:srgbClr val="E8F3F6"/>
      </a:lt2>
      <a:accent1>
        <a:srgbClr val="0E9F9A"/>
      </a:accent1>
      <a:accent2>
        <a:srgbClr val="F2A541"/>
      </a:accent2>
      <a:accent3>
        <a:srgbClr val="0D2F4F"/>
      </a:accent3>
      <a:accent4>
        <a:srgbClr val="3B6EA5"/>
      </a:accent4>
      <a:accent5>
        <a:srgbClr val="5FD3C9"/>
      </a:accent5>
      <a:accent6>
        <a:srgbClr val="B5651D"/>
      </a:accent6>
      <a:hlink>
        <a:srgbClr val="0E9F9A"/>
      </a:hlink>
      <a:folHlink>
        <a:srgbClr val="3B6EA5"/>
      </a:folHlink>
    </a:clrScheme>
    <a:fontScheme name="Strategiya">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Korxonalarni rivojlantirish strategiyasi</dc:title>
  <dc:subject>PptxGenJS Presentation</dc:subject>
  <dc:creator>PptxGenJS</dc:creator>
  <cp:lastModifiedBy>PptxGenJS</cp:lastModifiedBy>
  <cp:revision>1</cp:revision>
  <dcterms:created xsi:type="dcterms:W3CDTF">2026-10-12T11:35:59Z</dcterms:created>
  <dcterms:modified xsi:type="dcterms:W3CDTF">2026-10-12T11:35:59Z</dcterms:modified>
</cp:coreProperties>
</file>