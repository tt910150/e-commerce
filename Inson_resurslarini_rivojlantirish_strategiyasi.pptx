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Joriy etishdan oldin</c:v>
                </c:pt>
              </c:strCache>
            </c:strRef>
          </c:tx>
          <c:spPr>
            <a:solidFill>
              <a:srgbClr val="0E9F9A"/>
            </a:solidFill>
            <a:ln w="31750" cap="flat">
              <a:solidFill>
                <a:srgbClr val="0E9F9A"/>
              </a:solidFill>
              <a:prstDash val="solid"/>
              <a:round/>
            </a:ln>
            <a:effectLst/>
          </c:spPr>
          <c:invertIfNegative val="0"/>
          <c:marker>
            <c:symbol val="circle"/>
            <c:size val="7"/>
            <c:spPr>
              <a:solidFill>
                <a:srgbClr val="0E9F9A"/>
              </a:solidFill>
              <a:ln w="9525" cap="flat">
                <a:solidFill>
                  <a:srgbClr val="0E9F9A"/>
                </a:solidFill>
                <a:prstDash val="solid"/>
                <a:round/>
              </a:ln>
              <a:effectLst/>
            </c:spPr>
          </c:marker>
          <c:cat>
            <c:multiLvlStrRef>
              <c:f>Sheet1!$A$2:$A$7</c:f>
              <c:multiLvlStrCache>
                <c:ptCount val="6"/>
                <c:lvl>
                  <c:pt idx="0">
                    <c:v>Jalb qilish</c:v>
                  </c:pt>
                  <c:pt idx="1">
                    <c:v>Moslashtirish</c:v>
                  </c:pt>
                  <c:pt idx="2">
                    <c:v>O‘qitish</c:v>
                  </c:pt>
                  <c:pt idx="3">
                    <c:v>Motivatsiya</c:v>
                  </c:pt>
                  <c:pt idx="4">
                    <c:v>Sodiqlik</c:v>
                  </c:pt>
                  <c:pt idx="5">
                    <c:v>Unumdorlik</c:v>
                  </c:pt>
                </c:lvl>
              </c:multiLvlStrCache>
            </c:multiLvlStrRef>
          </c:cat>
          <c:val>
            <c:numRef>
              <c:f>Sheet1!$B$2:$B$7</c:f>
              <c:numCache>
                <c:formatCode>General</c:formatCode>
                <c:ptCount val="6"/>
                <c:pt idx="0">
                  <c:v>5</c:v>
                </c:pt>
                <c:pt idx="1">
                  <c:v>4</c:v>
                </c:pt>
                <c:pt idx="2">
                  <c:v>4</c:v>
                </c:pt>
                <c:pt idx="3">
                  <c:v>5</c:v>
                </c:pt>
                <c:pt idx="4">
                  <c:v>4</c:v>
                </c:pt>
                <c:pt idx="5">
                  <c:v>5</c:v>
                </c:pt>
              </c:numCache>
            </c:numRef>
          </c:val>
        </c:ser>
        <c:ser>
          <c:idx val="1"/>
          <c:order val="1"/>
          <c:tx>
            <c:strRef>
              <c:f>Sheet1!$C$1</c:f>
              <c:strCache>
                <c:ptCount val="1"/>
                <c:pt idx="0">
                  <c:v>2 yildan keyin</c:v>
                </c:pt>
              </c:strCache>
            </c:strRef>
          </c:tx>
          <c:spPr>
            <a:solidFill>
              <a:srgbClr val="B5651D"/>
            </a:solidFill>
            <a:ln w="31750" cap="flat">
              <a:solidFill>
                <a:srgbClr val="B5651D"/>
              </a:solidFill>
              <a:prstDash val="solid"/>
              <a:round/>
            </a:ln>
            <a:effectLst/>
          </c:spPr>
          <c:invertIfNegative val="0"/>
          <c:marker>
            <c:symbol val="circle"/>
            <c:size val="7"/>
            <c:spPr>
              <a:solidFill>
                <a:srgbClr val="B5651D"/>
              </a:solidFill>
              <a:ln w="9525" cap="flat">
                <a:solidFill>
                  <a:srgbClr val="B5651D"/>
                </a:solidFill>
                <a:prstDash val="solid"/>
                <a:round/>
              </a:ln>
              <a:effectLst/>
            </c:spPr>
          </c:marker>
          <c:cat>
            <c:multiLvlStrRef>
              <c:f>Sheet1!$A$2:$A$7</c:f>
              <c:multiLvlStrCache>
                <c:ptCount val="6"/>
                <c:lvl>
                  <c:pt idx="0">
                    <c:v>Jalb qilish</c:v>
                  </c:pt>
                  <c:pt idx="1">
                    <c:v>Moslashtirish</c:v>
                  </c:pt>
                  <c:pt idx="2">
                    <c:v>O‘qitish</c:v>
                  </c:pt>
                  <c:pt idx="3">
                    <c:v>Motivatsiya</c:v>
                  </c:pt>
                  <c:pt idx="4">
                    <c:v>Sodiqlik</c:v>
                  </c:pt>
                  <c:pt idx="5">
                    <c:v>Unumdorlik</c:v>
                  </c:pt>
                </c:lvl>
              </c:multiLvlStrCache>
            </c:multiLvlStrRef>
          </c:cat>
          <c:val>
            <c:numRef>
              <c:f>Sheet1!$C$2:$C$7</c:f>
              <c:numCache>
                <c:formatCode>General</c:formatCode>
                <c:ptCount val="6"/>
                <c:pt idx="0">
                  <c:v>7</c:v>
                </c:pt>
                <c:pt idx="1">
                  <c:v>8</c:v>
                </c:pt>
                <c:pt idx="2">
                  <c:v>8</c:v>
                </c:pt>
                <c:pt idx="3">
                  <c:v>7</c:v>
                </c:pt>
                <c:pt idx="4">
                  <c:v>7</c:v>
                </c:pt>
                <c:pt idx="5">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C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B2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11/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KORXONA INSON RESURSLARINI RIVOJLANTIRISH STRATEGIYASI VA XODIMLAR SALOHIYATINI OSHIRISH</a:t>
            </a:r>
            <a:endParaRPr lang="en-US" sz="27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Inson resurslari va HR strategiyasi tushunchasi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HR strategiyasi yondashuvlari va modellari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Xodimlarni jalb qilish, tanlash va moslashtirish</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Xodimlar salohiyatini rivojlantirish: o‘qitish va karyera</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Motivatsiya va HR samaradorligini baholash</a:t>
            </a:r>
            <a:endParaRPr lang="en-US" sz="1600" dirty="0"/>
          </a:p>
        </p:txBody>
      </p:sp>
      <p:pic>
        <p:nvPicPr>
          <p:cNvPr id="28" name="Image 5" descr="img11/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Inson resurslarini boshqarish g‘oyalari rivoji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Inson resurslari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 xodimlarining bilimi, malakasi, tajribasi, ijodiy qobiliyati va motivatsiyasi majmui. Zamonaviy iqtisodiyotda aynan inson kapitali raqobat ustunligining eng muhim va nusxa ko‘chirish qiyin bo‘lgan manbai hisoblanadi.</a:t>
            </a:r>
            <a:endParaRPr lang="en-US" sz="1400" dirty="0"/>
          </a:p>
        </p:txBody>
      </p:sp>
      <p:sp>
        <p:nvSpPr>
          <p:cNvPr id="4" name="Shape 2"/>
          <p:cNvSpPr/>
          <p:nvPr/>
        </p:nvSpPr>
        <p:spPr>
          <a:xfrm>
            <a:off x="548640" y="3246120"/>
            <a:ext cx="1143000" cy="548640"/>
          </a:xfrm>
          <a:prstGeom prst="roundRect">
            <a:avLst>
              <a:gd name="adj" fmla="val 16667"/>
            </a:avLst>
          </a:prstGeom>
          <a:solidFill>
            <a:srgbClr val="0E9F9A"/>
          </a:solidFill>
          <a:ln w="12700">
            <a:solidFill>
              <a:srgbClr val="0E9F9A"/>
            </a:solidFill>
            <a:prstDash val="solid"/>
          </a:ln>
        </p:spPr>
      </p:sp>
      <p:sp>
        <p:nvSpPr>
          <p:cNvPr id="5" name="Text 3"/>
          <p:cNvSpPr txBox="1"/>
          <p:nvPr/>
        </p:nvSpPr>
        <p:spPr>
          <a:xfrm>
            <a:off x="548640" y="324612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1911</a:t>
            </a:r>
            <a:endParaRPr lang="en-US" sz="1500" dirty="0"/>
          </a:p>
        </p:txBody>
      </p:sp>
      <p:sp>
        <p:nvSpPr>
          <p:cNvPr id="6" name="Text 4"/>
          <p:cNvSpPr txBox="1"/>
          <p:nvPr/>
        </p:nvSpPr>
        <p:spPr>
          <a:xfrm>
            <a:off x="1874520" y="320954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F. Teylor – </a:t>
            </a:r>
            <a:pPr indent="0" marL="0">
              <a:buNone/>
            </a:pPr>
            <a:r>
              <a:rPr lang="en-US" sz="1400" dirty="0">
                <a:solidFill>
                  <a:srgbClr val="1B2A3A"/>
                </a:solidFill>
                <a:latin typeface="Calibri" pitchFamily="34" charset="0"/>
                <a:ea typeface="Calibri" pitchFamily="34" charset="-122"/>
                <a:cs typeface="Calibri" pitchFamily="34" charset="-120"/>
              </a:rPr>
              <a:t>“ilmiy boshqaruv”: mehnatni normalash va unumdorlikka qarab haq to‘lash</a:t>
            </a:r>
            <a:endParaRPr lang="en-US" sz="1400" dirty="0"/>
          </a:p>
        </p:txBody>
      </p:sp>
      <p:sp>
        <p:nvSpPr>
          <p:cNvPr id="7" name="Shape 5"/>
          <p:cNvSpPr/>
          <p:nvPr/>
        </p:nvSpPr>
        <p:spPr>
          <a:xfrm>
            <a:off x="548640" y="3977640"/>
            <a:ext cx="1143000" cy="548640"/>
          </a:xfrm>
          <a:prstGeom prst="roundRect">
            <a:avLst>
              <a:gd name="adj" fmla="val 16667"/>
            </a:avLst>
          </a:prstGeom>
          <a:solidFill>
            <a:srgbClr val="0D2F4F"/>
          </a:solidFill>
          <a:ln w="12700">
            <a:solidFill>
              <a:srgbClr val="0D2F4F"/>
            </a:solidFill>
            <a:prstDash val="solid"/>
          </a:ln>
        </p:spPr>
      </p:sp>
      <p:sp>
        <p:nvSpPr>
          <p:cNvPr id="8" name="Text 6"/>
          <p:cNvSpPr txBox="1"/>
          <p:nvPr/>
        </p:nvSpPr>
        <p:spPr>
          <a:xfrm>
            <a:off x="548640" y="397764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1924–32</a:t>
            </a:r>
            <a:endParaRPr lang="en-US" sz="1500" dirty="0"/>
          </a:p>
        </p:txBody>
      </p:sp>
      <p:sp>
        <p:nvSpPr>
          <p:cNvPr id="9" name="Text 7"/>
          <p:cNvSpPr txBox="1"/>
          <p:nvPr/>
        </p:nvSpPr>
        <p:spPr>
          <a:xfrm>
            <a:off x="1874520" y="394106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E. Meyo – </a:t>
            </a:r>
            <a:pPr indent="0" marL="0">
              <a:buNone/>
            </a:pPr>
            <a:r>
              <a:rPr lang="en-US" sz="1400" dirty="0">
                <a:solidFill>
                  <a:srgbClr val="1B2A3A"/>
                </a:solidFill>
                <a:latin typeface="Calibri" pitchFamily="34" charset="0"/>
                <a:ea typeface="Calibri" pitchFamily="34" charset="-122"/>
                <a:cs typeface="Calibri" pitchFamily="34" charset="-120"/>
              </a:rPr>
              <a:t>Xotorn tajribalari: ijtimoiy omillar va e’tibor unumdorlikka ta’sir qiladi</a:t>
            </a:r>
            <a:endParaRPr lang="en-US" sz="1400" dirty="0"/>
          </a:p>
        </p:txBody>
      </p:sp>
      <p:sp>
        <p:nvSpPr>
          <p:cNvPr id="10" name="Shape 8"/>
          <p:cNvSpPr/>
          <p:nvPr/>
        </p:nvSpPr>
        <p:spPr>
          <a:xfrm>
            <a:off x="548640" y="4709160"/>
            <a:ext cx="1143000" cy="548640"/>
          </a:xfrm>
          <a:prstGeom prst="roundRect">
            <a:avLst>
              <a:gd name="adj" fmla="val 16667"/>
            </a:avLst>
          </a:prstGeom>
          <a:solidFill>
            <a:srgbClr val="0E9F9A"/>
          </a:solidFill>
          <a:ln w="12700">
            <a:solidFill>
              <a:srgbClr val="0E9F9A"/>
            </a:solidFill>
            <a:prstDash val="solid"/>
          </a:ln>
        </p:spPr>
      </p:sp>
      <p:sp>
        <p:nvSpPr>
          <p:cNvPr id="11" name="Text 9"/>
          <p:cNvSpPr txBox="1"/>
          <p:nvPr/>
        </p:nvSpPr>
        <p:spPr>
          <a:xfrm>
            <a:off x="548640" y="470916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1943</a:t>
            </a:r>
            <a:endParaRPr lang="en-US" sz="1500" dirty="0"/>
          </a:p>
        </p:txBody>
      </p:sp>
      <p:sp>
        <p:nvSpPr>
          <p:cNvPr id="12" name="Text 10"/>
          <p:cNvSpPr txBox="1"/>
          <p:nvPr/>
        </p:nvSpPr>
        <p:spPr>
          <a:xfrm>
            <a:off x="1874520" y="467258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A. Maslou – </a:t>
            </a:r>
            <a:pPr indent="0" marL="0">
              <a:buNone/>
            </a:pPr>
            <a:r>
              <a:rPr lang="en-US" sz="1400" dirty="0">
                <a:solidFill>
                  <a:srgbClr val="1B2A3A"/>
                </a:solidFill>
                <a:latin typeface="Calibri" pitchFamily="34" charset="0"/>
                <a:ea typeface="Calibri" pitchFamily="34" charset="-122"/>
                <a:cs typeface="Calibri" pitchFamily="34" charset="-120"/>
              </a:rPr>
              <a:t>ehtiyojlar ierarxiyasi – motivatsiya nazariyalarining asosi</a:t>
            </a:r>
            <a:endParaRPr lang="en-US" sz="1400" dirty="0"/>
          </a:p>
        </p:txBody>
      </p:sp>
      <p:sp>
        <p:nvSpPr>
          <p:cNvPr id="13" name="Shape 11"/>
          <p:cNvSpPr/>
          <p:nvPr/>
        </p:nvSpPr>
        <p:spPr>
          <a:xfrm>
            <a:off x="548640" y="5440680"/>
            <a:ext cx="1143000" cy="548640"/>
          </a:xfrm>
          <a:prstGeom prst="roundRect">
            <a:avLst>
              <a:gd name="adj" fmla="val 16667"/>
            </a:avLst>
          </a:prstGeom>
          <a:solidFill>
            <a:srgbClr val="0D2F4F"/>
          </a:solidFill>
          <a:ln w="12700">
            <a:solidFill>
              <a:srgbClr val="0D2F4F"/>
            </a:solidFill>
            <a:prstDash val="solid"/>
          </a:ln>
        </p:spPr>
      </p:sp>
      <p:sp>
        <p:nvSpPr>
          <p:cNvPr id="14" name="Text 12"/>
          <p:cNvSpPr txBox="1"/>
          <p:nvPr/>
        </p:nvSpPr>
        <p:spPr>
          <a:xfrm>
            <a:off x="548640" y="544068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1984</a:t>
            </a:r>
            <a:endParaRPr lang="en-US" sz="1500" dirty="0"/>
          </a:p>
        </p:txBody>
      </p:sp>
      <p:sp>
        <p:nvSpPr>
          <p:cNvPr id="15" name="Text 13"/>
          <p:cNvSpPr txBox="1"/>
          <p:nvPr/>
        </p:nvSpPr>
        <p:spPr>
          <a:xfrm>
            <a:off x="1874520" y="540410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Garvard modeli – </a:t>
            </a:r>
            <a:pPr indent="0" marL="0">
              <a:buNone/>
            </a:pPr>
            <a:r>
              <a:rPr lang="en-US" sz="1400" dirty="0">
                <a:solidFill>
                  <a:srgbClr val="1B2A3A"/>
                </a:solidFill>
                <a:latin typeface="Calibri" pitchFamily="34" charset="0"/>
                <a:ea typeface="Calibri" pitchFamily="34" charset="-122"/>
                <a:cs typeface="Calibri" pitchFamily="34" charset="-120"/>
              </a:rPr>
              <a:t>xodimlarni xarajat emas, rivojlantiriladigan aktiv sifatida ko‘rish</a:t>
            </a:r>
            <a:endParaRPr lang="en-US" sz="1400" dirty="0"/>
          </a:p>
        </p:txBody>
      </p:sp>
      <p:pic>
        <p:nvPicPr>
          <p:cNvPr id="16" name="Image 0" descr="img11/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Evolyutsiya:</a:t>
            </a:r>
            <a:pPr indent="0" marL="0">
              <a:buNone/>
            </a:pPr>
            <a:r>
              <a:rPr lang="en-US" sz="1400" dirty="0">
                <a:solidFill>
                  <a:srgbClr val="1B2A3A"/>
                </a:solidFill>
                <a:latin typeface="Calibri" pitchFamily="34" charset="0"/>
                <a:ea typeface="Calibri" pitchFamily="34" charset="-122"/>
                <a:cs typeface="Calibri" pitchFamily="34" charset="-120"/>
              </a:rPr>
              <a:t> “kadrlar bo‘limi”dan → “inson resurslarini boshqarish”ga → “inson kapitalini rivojlantirish”ga.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HR strategiyasining mohiyati</a:t>
            </a:r>
            <a:endParaRPr lang="en-US" sz="3000" dirty="0"/>
          </a:p>
        </p:txBody>
      </p:sp>
      <p:pic>
        <p:nvPicPr>
          <p:cNvPr id="3" name="Image 0" descr="img11/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HR strategiyasi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korxonaning umumiy strategik maqsadlariga erishish uchun zarur bo‘lgan xodimlarni jalb qilish, rivojlantirish, rag‘batlantirish va saqlab qolish bo‘yicha uzoq muddatli reja va tamoyillar tizimi.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HR strategiyasining asosiy vazifalari:</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Biznes strategiyasi bilan uyg‘unlik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kadrlar soni, tarkibi va malakasi korxona maqsadlariga mos bo‘lishi.</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Iste’dodlarni jalb qilish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kerakli mutaxassislarni o‘z vaqtida topish va ishga olish.</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Salohiyatni rivojlantirish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uzluksiz o‘qitish, malaka oshirish, karyera o‘sishi.</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Motivatsiya va sodiqlik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adolatli haq to‘lash, qulay muhit, korporativ madaniyat.</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Xodimlarni saqlab qolish</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kadrlar qo‘nimsizligini kamaytirish, “oltin fond”ni asrash.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HR strategiyasi yondashuvlari va modellari</a:t>
            </a:r>
            <a:endParaRPr lang="en-US" sz="3000" dirty="0"/>
          </a:p>
        </p:txBody>
      </p:sp>
      <p:pic>
        <p:nvPicPr>
          <p:cNvPr id="3" name="Image 0" descr="img11/model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Strategiya korxona sharoiti va maqsadlariga qarab tanlanadi</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828800"/>
                <a:gridCol w="3520440"/>
                <a:gridCol w="2148840"/>
              </a:tblGrid>
              <a:tr h="548640">
                <a:tc>
                  <a:txBody>
                    <a:bodyPr/>
                    <a:lstStyle/>
                    <a:p>
                      <a:pPr algn="l" indent="0" marL="0">
                        <a:buNone/>
                      </a:pPr>
                      <a:r>
                        <a:rPr lang="en-US" sz="1300" b="1" dirty="0">
                          <a:solidFill>
                            <a:srgbClr val="FFFFFF"/>
                          </a:solidFill>
                        </a:rPr>
                        <a:t>Yondashuv</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Mohiyati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Qachon qo‘llanadi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“Eng yaxshi amaliyot”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dunyodagi samarali HR usullarini universal qo‘llash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barqaror, standart jarayonlar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“Eng yaxshi moslik”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HR siyosatini biznes strategiyasiga moslashtirish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aniq raqobat strategiyasi bo‘lganda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Resursga asoslangan</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noyob inson kapitalini raqobat ustunligi manbai qilish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bilim va innovatsiyaga tayangan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Garvard modeli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manfaatdor tomonlar va xodim farovonligini hisobga olish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ijtimoiy mas’uliyatli korxonalar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Michigan modeli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tanlash, baholash, rag‘batlantirish va rivojlantirish sikli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natijaga yo‘naltirilgan boshqaruv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Yuqori samarali ish tizimi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keng vakolat, jamoaviy ish, o‘qitish va bonuslar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yuqori unumdorlik talab etilganda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Ko‘pchilik korxonalar </a:t>
            </a:r>
            <a:pPr indent="0" marL="0">
              <a:buNone/>
            </a:pPr>
            <a:r>
              <a:rPr lang="en-US" sz="1400" b="1" dirty="0">
                <a:solidFill>
                  <a:srgbClr val="0D2F4F"/>
                </a:solidFill>
                <a:latin typeface="Calibri" pitchFamily="34" charset="0"/>
                <a:ea typeface="Calibri" pitchFamily="34" charset="-122"/>
                <a:cs typeface="Calibri" pitchFamily="34" charset="-120"/>
              </a:rPr>
              <a:t>aralash yondashuv</a:t>
            </a:r>
            <a:pPr indent="0" marL="0">
              <a:buNone/>
            </a:pPr>
            <a:r>
              <a:rPr lang="en-US" sz="1400" dirty="0">
                <a:solidFill>
                  <a:srgbClr val="1B2A3A"/>
                </a:solidFill>
                <a:latin typeface="Calibri" pitchFamily="34" charset="0"/>
                <a:ea typeface="Calibri" pitchFamily="34" charset="-122"/>
                <a:cs typeface="Calibri" pitchFamily="34" charset="-120"/>
              </a:rPr>
              <a:t>dan foydalanadi: universal amaliyot + o‘z strategiyasiga moslashtirish.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Xodimlarni jalb qilish, tanlash va moslashtirish</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Ehtiyojni rejalashtirish</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qancha va qanday malakadagi xodim kerakligini aniqlash, lavozim tavsifi</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Nomzodlarni jalb qilish</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ish e’lonlari, HR saytlar, ijtimoiy tarmoqlar, OTMlar, tavsiyalar</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Tanlash</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rezyume tahlili, testlar, kompetensiya bo‘yicha suhbat</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Ishga qabul qilish</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taklif, mehnat shartnomasi, sinov muddati</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Moslashtirish</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onboarding: tanishtirish, murabbiy biriktirish, birinchi 90 kun rejasi</a:t>
            </a:r>
            <a:endParaRPr lang="en-US" sz="1300" dirty="0"/>
          </a:p>
        </p:txBody>
      </p:sp>
      <p:pic>
        <p:nvPicPr>
          <p:cNvPr id="38" name="Image 5" descr="img11/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Jalb qilish manbalari:</a:t>
            </a:r>
            <a:pPr indent="0" marL="0">
              <a:buNone/>
            </a:pPr>
            <a:r>
              <a:rPr lang="en-US" sz="1400" dirty="0">
                <a:solidFill>
                  <a:srgbClr val="1B2A3A"/>
                </a:solidFill>
                <a:latin typeface="Calibri" pitchFamily="34" charset="0"/>
                <a:ea typeface="Calibri" pitchFamily="34" charset="-122"/>
                <a:cs typeface="Calibri" pitchFamily="34" charset="-120"/>
              </a:rPr>
              <a:t> ichki (lavozimga ko‘tarish, rotatsiya – xodimlar sodiqligini oshiradi, arzon va tez) va tashqi (yangi g‘oya va tajriba olib keladi, lekin qimmatroq va moslashuv uzoqroq). Sifatli </a:t>
            </a:r>
            <a:pPr indent="0" marL="0">
              <a:buNone/>
            </a:pPr>
            <a:r>
              <a:rPr lang="en-US" sz="1400" b="1" dirty="0">
                <a:solidFill>
                  <a:srgbClr val="0E9F9A"/>
                </a:solidFill>
                <a:latin typeface="Calibri" pitchFamily="34" charset="0"/>
                <a:ea typeface="Calibri" pitchFamily="34" charset="-122"/>
                <a:cs typeface="Calibri" pitchFamily="34" charset="-120"/>
              </a:rPr>
              <a:t>onboarding</a:t>
            </a:r>
            <a:pPr indent="0" marL="0">
              <a:buNone/>
            </a:pPr>
            <a:r>
              <a:rPr lang="en-US" sz="1400" dirty="0">
                <a:solidFill>
                  <a:srgbClr val="1B2A3A"/>
                </a:solidFill>
                <a:latin typeface="Calibri" pitchFamily="34" charset="0"/>
                <a:ea typeface="Calibri" pitchFamily="34" charset="-122"/>
                <a:cs typeface="Calibri" pitchFamily="34" charset="-120"/>
              </a:rPr>
              <a:t> yangi xodimning tezroq samarali ishlay boshlashi va erta ishdan ketish holatlarini kamaytirishga xizmat qiladi.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Xodimlarni o‘qitish va malakasini oshirish</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Uzluksiz o‘qitish – xodimlar salohiyatini oshirishning asosiy vositasi. O‘qitish shakllari uch guruhga bo‘linadi:</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“70-20-10” modeli:</a:t>
            </a:r>
            <a:pPr indent="0" marL="0">
              <a:buNone/>
            </a:pPr>
            <a:r>
              <a:rPr lang="en-US" sz="1400" dirty="0">
                <a:solidFill>
                  <a:srgbClr val="1B2A3A"/>
                </a:solidFill>
                <a:latin typeface="Calibri" pitchFamily="34" charset="0"/>
                <a:ea typeface="Calibri" pitchFamily="34" charset="-122"/>
                <a:cs typeface="Calibri" pitchFamily="34" charset="-120"/>
              </a:rPr>
              <a:t> bilimning 70% ish tajribasidan, 20% hamkasblar va murabbiydan, 10% rasmiy o‘qitishdan olinadi.</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0E9F9A"/>
          </a:solidFill>
          <a:ln w="12700">
            <a:solidFill>
              <a:srgbClr val="0E9F9A"/>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Ish joyida o‘qitish</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amaliyot orqali o‘rganish</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murabbiylik (mentorlik)</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lavozimlar rotatsiyasi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stajirovka va ko‘chma tajriba</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loyiha guruhlarida ishlash</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D2F4F"/>
          </a:solidFill>
          <a:ln w="12700">
            <a:solidFill>
              <a:srgbClr val="0D2F4F"/>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Ish joyidan tashqarida</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rasmiy ta’lim</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malaka oshirish kurslari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treninglar va seminarlar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konferensiyalar, MBA dasturlari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sertifikatlash</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3B6EA5"/>
          </a:solidFill>
          <a:ln w="12700">
            <a:solidFill>
              <a:srgbClr val="3B6EA5"/>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Raqamli o‘qitish</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e-learning</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onlayn platformalar va kurslar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korporativ universitet</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vebinarlar va video-darslar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mikroo‘qitish (qisqa modullar)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Iste’dodlarni boshqarish va karyera rivoji</a:t>
            </a:r>
            <a:endParaRPr lang="en-US" sz="3000" dirty="0"/>
          </a:p>
        </p:txBody>
      </p:sp>
      <p:pic>
        <p:nvPicPr>
          <p:cNvPr id="3" name="Image 0" descr="img11/talent.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Iste’dodlarni boshqarish – eng qimmatli xodimlarni aniqlash, rivojlantirish va saqlash tizimi</a:t>
            </a:r>
            <a:endParaRPr lang="en-US" sz="1200" dirty="0"/>
          </a:p>
        </p:txBody>
      </p:sp>
      <p:sp>
        <p:nvSpPr>
          <p:cNvPr id="5" name="Shape 2"/>
          <p:cNvSpPr/>
          <p:nvPr/>
        </p:nvSpPr>
        <p:spPr>
          <a:xfrm>
            <a:off x="4114800" y="137160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3"/>
          <p:cNvSpPr/>
          <p:nvPr/>
        </p:nvSpPr>
        <p:spPr>
          <a:xfrm>
            <a:off x="4297680" y="1572768"/>
            <a:ext cx="640080" cy="640080"/>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4464101" y="1739189"/>
            <a:ext cx="307238" cy="307238"/>
          </a:xfrm>
          <a:prstGeom prst="rect">
            <a:avLst/>
          </a:prstGeom>
        </p:spPr>
      </p:pic>
      <p:sp>
        <p:nvSpPr>
          <p:cNvPr id="8" name="Text 4"/>
          <p:cNvSpPr txBox="1"/>
          <p:nvPr/>
        </p:nvSpPr>
        <p:spPr>
          <a:xfrm>
            <a:off x="5120640" y="146304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Kompetensiya modeli</a:t>
            </a:r>
            <a:endParaRPr lang="en-US" sz="1500" dirty="0"/>
          </a:p>
        </p:txBody>
      </p:sp>
      <p:sp>
        <p:nvSpPr>
          <p:cNvPr id="9" name="Text 5"/>
          <p:cNvSpPr txBox="1"/>
          <p:nvPr/>
        </p:nvSpPr>
        <p:spPr>
          <a:xfrm>
            <a:off x="7269480" y="1444752"/>
            <a:ext cx="420624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har bir lavozim uchun zarur bilim, ko‘nikma va shaxsiy sifatlar ro‘yxati – baholash va o‘qitish asosi</a:t>
            </a:r>
            <a:endParaRPr lang="en-US" sz="1350" dirty="0"/>
          </a:p>
        </p:txBody>
      </p:sp>
      <p:sp>
        <p:nvSpPr>
          <p:cNvPr id="10" name="Shape 6"/>
          <p:cNvSpPr/>
          <p:nvPr/>
        </p:nvSpPr>
        <p:spPr>
          <a:xfrm>
            <a:off x="4114800" y="256032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7"/>
          <p:cNvSpPr/>
          <p:nvPr/>
        </p:nvSpPr>
        <p:spPr>
          <a:xfrm>
            <a:off x="4297680" y="2761488"/>
            <a:ext cx="640080" cy="640080"/>
          </a:xfrm>
          <a:prstGeom prst="ellipse">
            <a:avLst/>
          </a:prstGeom>
          <a:solidFill>
            <a:srgbClr val="3B6EA5"/>
          </a:solidFill>
          <a:ln w="12700">
            <a:solidFill>
              <a:srgbClr val="3B6EA5"/>
            </a:solidFill>
            <a:prstDash val="solid"/>
          </a:ln>
        </p:spPr>
      </p:sp>
      <p:pic>
        <p:nvPicPr>
          <p:cNvPr id="12" name="Image 2" descr="preencoded.png">    </p:cNvPr>
          <p:cNvPicPr>
            <a:picLocks noChangeAspect="1"/>
          </p:cNvPicPr>
          <p:nvPr/>
        </p:nvPicPr>
        <p:blipFill>
          <a:blip r:embed="rId3"/>
          <a:stretch>
            <a:fillRect/>
          </a:stretch>
        </p:blipFill>
        <p:spPr>
          <a:xfrm>
            <a:off x="4464101" y="2927909"/>
            <a:ext cx="307238" cy="307238"/>
          </a:xfrm>
          <a:prstGeom prst="rect">
            <a:avLst/>
          </a:prstGeom>
        </p:spPr>
      </p:pic>
      <p:sp>
        <p:nvSpPr>
          <p:cNvPr id="13" name="Text 8"/>
          <p:cNvSpPr txBox="1"/>
          <p:nvPr/>
        </p:nvSpPr>
        <p:spPr>
          <a:xfrm>
            <a:off x="5120640" y="265176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Karyerani rejalashtirish</a:t>
            </a:r>
            <a:endParaRPr lang="en-US" sz="1500" dirty="0"/>
          </a:p>
        </p:txBody>
      </p:sp>
      <p:sp>
        <p:nvSpPr>
          <p:cNvPr id="14" name="Text 9"/>
          <p:cNvSpPr txBox="1"/>
          <p:nvPr/>
        </p:nvSpPr>
        <p:spPr>
          <a:xfrm>
            <a:off x="7269480" y="2633472"/>
            <a:ext cx="420624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xodim uchun gorizontal va vertikal o‘sish yo‘llarini belgilash, individual rivojlanish rejasi</a:t>
            </a:r>
            <a:endParaRPr lang="en-US" sz="1350" dirty="0"/>
          </a:p>
        </p:txBody>
      </p:sp>
      <p:sp>
        <p:nvSpPr>
          <p:cNvPr id="15" name="Shape 10"/>
          <p:cNvSpPr/>
          <p:nvPr/>
        </p:nvSpPr>
        <p:spPr>
          <a:xfrm>
            <a:off x="4114800" y="374904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6" name="Shape 11"/>
          <p:cNvSpPr/>
          <p:nvPr/>
        </p:nvSpPr>
        <p:spPr>
          <a:xfrm>
            <a:off x="4297680" y="3950208"/>
            <a:ext cx="640080" cy="640080"/>
          </a:xfrm>
          <a:prstGeom prst="ellipse">
            <a:avLst/>
          </a:prstGeom>
          <a:solidFill>
            <a:srgbClr val="0D2F4F"/>
          </a:solidFill>
          <a:ln w="12700">
            <a:solidFill>
              <a:srgbClr val="0D2F4F"/>
            </a:solidFill>
            <a:prstDash val="solid"/>
          </a:ln>
        </p:spPr>
      </p:sp>
      <p:pic>
        <p:nvPicPr>
          <p:cNvPr id="17" name="Image 3" descr="preencoded.png">    </p:cNvPr>
          <p:cNvPicPr>
            <a:picLocks noChangeAspect="1"/>
          </p:cNvPicPr>
          <p:nvPr/>
        </p:nvPicPr>
        <p:blipFill>
          <a:blip r:embed="rId4"/>
          <a:stretch>
            <a:fillRect/>
          </a:stretch>
        </p:blipFill>
        <p:spPr>
          <a:xfrm>
            <a:off x="4464101" y="4116629"/>
            <a:ext cx="307238" cy="307238"/>
          </a:xfrm>
          <a:prstGeom prst="rect">
            <a:avLst/>
          </a:prstGeom>
        </p:spPr>
      </p:pic>
      <p:sp>
        <p:nvSpPr>
          <p:cNvPr id="18" name="Text 12"/>
          <p:cNvSpPr txBox="1"/>
          <p:nvPr/>
        </p:nvSpPr>
        <p:spPr>
          <a:xfrm>
            <a:off x="5120640" y="384048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Kadrlar zaxirasi</a:t>
            </a:r>
            <a:endParaRPr lang="en-US" sz="1500" dirty="0"/>
          </a:p>
        </p:txBody>
      </p:sp>
      <p:sp>
        <p:nvSpPr>
          <p:cNvPr id="19" name="Text 13"/>
          <p:cNvSpPr txBox="1"/>
          <p:nvPr/>
        </p:nvSpPr>
        <p:spPr>
          <a:xfrm>
            <a:off x="7269480" y="3822192"/>
            <a:ext cx="420624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rahbarlik lavozimlariga istiqbolli xodimlarni oldindan tayyorlash (vorislik rejasi)</a:t>
            </a:r>
            <a:endParaRPr lang="en-US" sz="1350" dirty="0"/>
          </a:p>
        </p:txBody>
      </p:sp>
      <p:sp>
        <p:nvSpPr>
          <p:cNvPr id="20" name="Shape 14"/>
          <p:cNvSpPr/>
          <p:nvPr/>
        </p:nvSpPr>
        <p:spPr>
          <a:xfrm>
            <a:off x="4114800" y="493776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1" name="Shape 15"/>
          <p:cNvSpPr/>
          <p:nvPr/>
        </p:nvSpPr>
        <p:spPr>
          <a:xfrm>
            <a:off x="4297680" y="5138928"/>
            <a:ext cx="640080" cy="640080"/>
          </a:xfrm>
          <a:prstGeom prst="ellipse">
            <a:avLst/>
          </a:prstGeom>
          <a:solidFill>
            <a:srgbClr val="B5651D"/>
          </a:solidFill>
          <a:ln w="12700">
            <a:solidFill>
              <a:srgbClr val="B5651D"/>
            </a:solidFill>
            <a:prstDash val="solid"/>
          </a:ln>
        </p:spPr>
      </p:sp>
      <p:pic>
        <p:nvPicPr>
          <p:cNvPr id="22" name="Image 4" descr="preencoded.png">    </p:cNvPr>
          <p:cNvPicPr>
            <a:picLocks noChangeAspect="1"/>
          </p:cNvPicPr>
          <p:nvPr/>
        </p:nvPicPr>
        <p:blipFill>
          <a:blip r:embed="rId5"/>
          <a:stretch>
            <a:fillRect/>
          </a:stretch>
        </p:blipFill>
        <p:spPr>
          <a:xfrm>
            <a:off x="4464101" y="5305349"/>
            <a:ext cx="307238" cy="307238"/>
          </a:xfrm>
          <a:prstGeom prst="rect">
            <a:avLst/>
          </a:prstGeom>
        </p:spPr>
      </p:pic>
      <p:sp>
        <p:nvSpPr>
          <p:cNvPr id="23" name="Text 16"/>
          <p:cNvSpPr txBox="1"/>
          <p:nvPr/>
        </p:nvSpPr>
        <p:spPr>
          <a:xfrm>
            <a:off x="5120640" y="502920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Xodimlarni baholash</a:t>
            </a:r>
            <a:endParaRPr lang="en-US" sz="1500" dirty="0"/>
          </a:p>
        </p:txBody>
      </p:sp>
      <p:sp>
        <p:nvSpPr>
          <p:cNvPr id="24" name="Text 17"/>
          <p:cNvSpPr txBox="1"/>
          <p:nvPr/>
        </p:nvSpPr>
        <p:spPr>
          <a:xfrm>
            <a:off x="7269480" y="5010912"/>
            <a:ext cx="420624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attestatsiya, KPI, “360 daraja” baholash – rivojlanish va rag‘batlantirish uchun asos</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Xodimlarni motivatsiyalash tizimi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Motivatsiya – xodimni maqsadga erishish uchun faol harakat qilishga undovchi ichki va tashqi omillar majmui. Samarali tizim moddiy va nomoddiy rag‘batlarni birlashtiradi:</a:t>
            </a:r>
            <a:endParaRPr lang="en-US" sz="1400" dirty="0"/>
          </a:p>
        </p:txBody>
      </p:sp>
      <p:sp>
        <p:nvSpPr>
          <p:cNvPr id="4" name="Shape 2"/>
          <p:cNvSpPr/>
          <p:nvPr/>
        </p:nvSpPr>
        <p:spPr>
          <a:xfrm>
            <a:off x="54864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548640" y="2148840"/>
            <a:ext cx="3611880" cy="731520"/>
          </a:xfrm>
          <a:prstGeom prst="roundRect">
            <a:avLst>
              <a:gd name="adj" fmla="val 15000"/>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731520" y="2304288"/>
            <a:ext cx="411480" cy="411480"/>
          </a:xfrm>
          <a:prstGeom prst="rect">
            <a:avLst/>
          </a:prstGeom>
        </p:spPr>
      </p:pic>
      <p:sp>
        <p:nvSpPr>
          <p:cNvPr id="7" name="Text 4"/>
          <p:cNvSpPr txBox="1"/>
          <p:nvPr/>
        </p:nvSpPr>
        <p:spPr>
          <a:xfrm>
            <a:off x="128016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Moddiy rag‘batlar</a:t>
            </a:r>
            <a:endParaRPr lang="en-US" sz="1600" dirty="0"/>
          </a:p>
        </p:txBody>
      </p:sp>
      <p:sp>
        <p:nvSpPr>
          <p:cNvPr id="8" name="Text 5"/>
          <p:cNvSpPr txBox="1"/>
          <p:nvPr/>
        </p:nvSpPr>
        <p:spPr>
          <a:xfrm>
            <a:off x="77724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raqobatbardosh ish haqi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natijaga bog‘liq bonus va mukofotlar</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foydada ishtirok etish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tibbiy sug‘urta</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ovqatlanish, transport kompensatsiyasi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o‘qish xarajatlarini qoplash</a:t>
            </a:r>
            <a:endParaRPr lang="en-US" sz="1400" dirty="0"/>
          </a:p>
        </p:txBody>
      </p:sp>
      <p:sp>
        <p:nvSpPr>
          <p:cNvPr id="9" name="Shape 6"/>
          <p:cNvSpPr/>
          <p:nvPr/>
        </p:nvSpPr>
        <p:spPr>
          <a:xfrm>
            <a:off x="429768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Shape 7"/>
          <p:cNvSpPr/>
          <p:nvPr/>
        </p:nvSpPr>
        <p:spPr>
          <a:xfrm>
            <a:off x="4297680" y="2148840"/>
            <a:ext cx="3611880" cy="731520"/>
          </a:xfrm>
          <a:prstGeom prst="roundRect">
            <a:avLst>
              <a:gd name="adj" fmla="val 15000"/>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4480560" y="2304288"/>
            <a:ext cx="411480" cy="411480"/>
          </a:xfrm>
          <a:prstGeom prst="rect">
            <a:avLst/>
          </a:prstGeom>
        </p:spPr>
      </p:pic>
      <p:sp>
        <p:nvSpPr>
          <p:cNvPr id="12" name="Text 8"/>
          <p:cNvSpPr txBox="1"/>
          <p:nvPr/>
        </p:nvSpPr>
        <p:spPr>
          <a:xfrm>
            <a:off x="502920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Nomoddiy rag‘batlar</a:t>
            </a:r>
            <a:endParaRPr lang="en-US" sz="1600" dirty="0"/>
          </a:p>
        </p:txBody>
      </p:sp>
      <p:sp>
        <p:nvSpPr>
          <p:cNvPr id="13" name="Text 9"/>
          <p:cNvSpPr txBox="1"/>
          <p:nvPr/>
        </p:nvSpPr>
        <p:spPr>
          <a:xfrm>
            <a:off x="452628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e’tirof va maqtov</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karyera o‘sishi imkoniyati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qiziqarli va mazmunli ish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moslashuvchan ish grafigi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qulay ish muhiti va jamoa</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qarorlarda ishtirok etish</a:t>
            </a:r>
            <a:endParaRPr lang="en-US" sz="1400" dirty="0"/>
          </a:p>
        </p:txBody>
      </p:sp>
      <p:sp>
        <p:nvSpPr>
          <p:cNvPr id="14" name="Shape 10"/>
          <p:cNvSpPr/>
          <p:nvPr/>
        </p:nvSpPr>
        <p:spPr>
          <a:xfrm>
            <a:off x="8046720" y="2148840"/>
            <a:ext cx="3566160" cy="4023360"/>
          </a:xfrm>
          <a:prstGeom prst="roundRect">
            <a:avLst>
              <a:gd name="adj" fmla="val 3077"/>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5" name="Text 11"/>
          <p:cNvSpPr txBox="1"/>
          <p:nvPr/>
        </p:nvSpPr>
        <p:spPr>
          <a:xfrm>
            <a:off x="8229600" y="2286000"/>
            <a:ext cx="3200400" cy="411480"/>
          </a:xfrm>
          <a:prstGeom prst="rect">
            <a:avLst/>
          </a:prstGeom>
          <a:noFill/>
          <a:ln/>
        </p:spPr>
        <p:txBody>
          <a:bodyPr wrap="square" lIns="0" tIns="0" rIns="0" bIns="0" rtlCol="0" anchor="ctr"/>
          <a:lstStyle/>
          <a:p>
            <a:pPr indent="0" marL="0">
              <a:buNone/>
            </a:pPr>
            <a:r>
              <a:rPr lang="en-US" sz="1600" b="1" dirty="0">
                <a:solidFill>
                  <a:srgbClr val="0D2F4F"/>
                </a:solidFill>
              </a:rPr>
              <a:t>Motivatsiya nazariyalari</a:t>
            </a:r>
            <a:endParaRPr lang="en-US" sz="1600" dirty="0"/>
          </a:p>
        </p:txBody>
      </p:sp>
      <p:sp>
        <p:nvSpPr>
          <p:cNvPr id="16" name="Shape 12"/>
          <p:cNvSpPr/>
          <p:nvPr/>
        </p:nvSpPr>
        <p:spPr>
          <a:xfrm>
            <a:off x="8229600" y="2880360"/>
            <a:ext cx="548640" cy="548640"/>
          </a:xfrm>
          <a:prstGeom prst="ellipse">
            <a:avLst/>
          </a:prstGeom>
          <a:solidFill>
            <a:srgbClr val="0E9F9A"/>
          </a:solidFill>
          <a:ln w="12700">
            <a:solidFill>
              <a:srgbClr val="0E9F9A"/>
            </a:solidFill>
            <a:prstDash val="solid"/>
          </a:ln>
        </p:spPr>
      </p:sp>
      <p:pic>
        <p:nvPicPr>
          <p:cNvPr id="17" name="Image 2" descr="preencoded.png">    </p:cNvPr>
          <p:cNvPicPr>
            <a:picLocks noChangeAspect="1"/>
          </p:cNvPicPr>
          <p:nvPr/>
        </p:nvPicPr>
        <p:blipFill>
          <a:blip r:embed="rId3"/>
          <a:stretch>
            <a:fillRect/>
          </a:stretch>
        </p:blipFill>
        <p:spPr>
          <a:xfrm>
            <a:off x="8372246" y="3023006"/>
            <a:ext cx="263347" cy="263347"/>
          </a:xfrm>
          <a:prstGeom prst="rect">
            <a:avLst/>
          </a:prstGeom>
        </p:spPr>
      </p:pic>
      <p:sp>
        <p:nvSpPr>
          <p:cNvPr id="18" name="Text 13"/>
          <p:cNvSpPr txBox="1"/>
          <p:nvPr/>
        </p:nvSpPr>
        <p:spPr>
          <a:xfrm>
            <a:off x="8915400" y="2834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A. Maslou</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fiziologikdan o‘zini namoyon qilishgacha 5 ehtiyoj darajasi</a:t>
            </a:r>
            <a:endParaRPr lang="en-US" sz="1400" dirty="0"/>
          </a:p>
        </p:txBody>
      </p:sp>
      <p:sp>
        <p:nvSpPr>
          <p:cNvPr id="19" name="Shape 14"/>
          <p:cNvSpPr/>
          <p:nvPr/>
        </p:nvSpPr>
        <p:spPr>
          <a:xfrm>
            <a:off x="8229600" y="4023360"/>
            <a:ext cx="548640" cy="548640"/>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8372246" y="4166006"/>
            <a:ext cx="263347" cy="263347"/>
          </a:xfrm>
          <a:prstGeom prst="rect">
            <a:avLst/>
          </a:prstGeom>
        </p:spPr>
      </p:pic>
      <p:sp>
        <p:nvSpPr>
          <p:cNvPr id="21" name="Text 15"/>
          <p:cNvSpPr txBox="1"/>
          <p:nvPr/>
        </p:nvSpPr>
        <p:spPr>
          <a:xfrm>
            <a:off x="8915400" y="3977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F. Gersberg</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gigiyena omillari norozilikni oldini oladi, motivatorlar ilhomlantiradi</a:t>
            </a:r>
            <a:endParaRPr lang="en-US" sz="1400" dirty="0"/>
          </a:p>
        </p:txBody>
      </p:sp>
      <p:sp>
        <p:nvSpPr>
          <p:cNvPr id="22" name="Shape 16"/>
          <p:cNvSpPr/>
          <p:nvPr/>
        </p:nvSpPr>
        <p:spPr>
          <a:xfrm>
            <a:off x="8229600" y="5166360"/>
            <a:ext cx="548640" cy="548640"/>
          </a:xfrm>
          <a:prstGeom prst="ellipse">
            <a:avLst/>
          </a:prstGeom>
          <a:solidFill>
            <a:srgbClr val="0E9F9A"/>
          </a:solidFill>
          <a:ln w="12700">
            <a:solidFill>
              <a:srgbClr val="0E9F9A"/>
            </a:solidFill>
            <a:prstDash val="solid"/>
          </a:ln>
        </p:spPr>
      </p:sp>
      <p:pic>
        <p:nvPicPr>
          <p:cNvPr id="23" name="Image 4" descr="preencoded.png">    </p:cNvPr>
          <p:cNvPicPr>
            <a:picLocks noChangeAspect="1"/>
          </p:cNvPicPr>
          <p:nvPr/>
        </p:nvPicPr>
        <p:blipFill>
          <a:blip r:embed="rId5"/>
          <a:stretch>
            <a:fillRect/>
          </a:stretch>
        </p:blipFill>
        <p:spPr>
          <a:xfrm>
            <a:off x="8372246" y="5309006"/>
            <a:ext cx="263347" cy="263347"/>
          </a:xfrm>
          <a:prstGeom prst="rect">
            <a:avLst/>
          </a:prstGeom>
        </p:spPr>
      </p:pic>
      <p:sp>
        <p:nvSpPr>
          <p:cNvPr id="24" name="Text 17"/>
          <p:cNvSpPr txBox="1"/>
          <p:nvPr/>
        </p:nvSpPr>
        <p:spPr>
          <a:xfrm>
            <a:off x="8915400" y="5120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V. Vrum</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kutish nazariyasi: harakat natija va mukofotga ishonchga bog‘liq</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HR strategiyasi samaradorligini baholash</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Kadrlar qo‘nimsizligi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yil davomida ishdan ketganlar ulushi (%).</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Mehnat unumdorligi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bir xodimga to‘g‘ri keladigan tushum yoki mahsulot.</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Xodimlar qoniqishi (eNPS)</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xodimlarning korxonani tavsiya qilish darajasi.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O‘qitish samaradorligi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o‘qitishga sarflangan mablag‘ va natija nisbati.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Vakansiyani yopish muddati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bo‘sh o‘rinni to‘ldirishga ketgan kunlar.</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Shartli misol:</a:t>
            </a:r>
            <a:pPr indent="0" marL="0">
              <a:buNone/>
            </a:pPr>
            <a:r>
              <a:rPr lang="en-US" sz="1400" dirty="0">
                <a:solidFill>
                  <a:srgbClr val="1B2A3A"/>
                </a:solidFill>
                <a:latin typeface="Calibri" pitchFamily="34" charset="0"/>
                <a:ea typeface="Calibri" pitchFamily="34" charset="-122"/>
                <a:cs typeface="Calibri" pitchFamily="34" charset="-120"/>
              </a:rPr>
              <a:t> HR strategiyasi joriy etilgach, korxona ko‘rsatkichlari maqsadli darajaga yaqinlashgan.</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HR ko‘rsatkichlari profili (shartli misol, 10 ballik)</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Inson resurslari – korxonaning eng qimmatli va noyob boyligi. HR strategiyasi biznes maqsadlari bilan uyg‘un holda iste’dodlarni jalb qilish, sifatli tanlash va moslashtirish, uzluksiz o‘qitish, karyera rivoji va adolatli motivatsiya tizimini o‘z ichiga oladi. Uning samaradorligi qo‘nimsizlik, unumdorlik va xodimlar qoniqishi kabi ko‘rsatkichlar orqali muntazam baholanishi zarur.</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a:t>
            </a:r>
            <a:endParaRPr lang="en-US" sz="1500" dirty="0"/>
          </a:p>
          <a:p>
            <a:pPr indent="0" marL="0">
              <a:spcAft>
                <a:spcPts val="200"/>
              </a:spcAft>
              <a:buNone/>
            </a:pPr>
            <a:r>
              <a:rPr lang="en-US" sz="1300" dirty="0">
                <a:solidFill>
                  <a:srgbClr val="FFFFFF"/>
                </a:solidFill>
              </a:rPr>
              <a:t>xodim – xarajat emas, rivojlantiriladigan strategik aktiv</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Jalb qilish</a:t>
            </a:r>
            <a:endParaRPr lang="en-US" sz="1500" dirty="0"/>
          </a:p>
          <a:p>
            <a:pPr indent="0" marL="0">
              <a:spcAft>
                <a:spcPts val="200"/>
              </a:spcAft>
              <a:buNone/>
            </a:pPr>
            <a:r>
              <a:rPr lang="en-US" sz="1300" dirty="0">
                <a:solidFill>
                  <a:srgbClr val="FFFFFF"/>
                </a:solidFill>
              </a:rPr>
              <a:t>rejalashtirish → jalb qilish → tanlash → qabul → onboarding</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Rivojlanish</a:t>
            </a:r>
            <a:endParaRPr lang="en-US" sz="1500" dirty="0"/>
          </a:p>
          <a:p>
            <a:pPr indent="0" marL="0">
              <a:spcAft>
                <a:spcPts val="200"/>
              </a:spcAft>
              <a:buNone/>
            </a:pPr>
            <a:r>
              <a:rPr lang="en-US" sz="1300" dirty="0">
                <a:solidFill>
                  <a:srgbClr val="FFFFFF"/>
                </a:solidFill>
              </a:rPr>
              <a:t>70-20-10 modeli, kompetensiyalar, karyera va kadrlar zaxirasi</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Motivatsiya</a:t>
            </a:r>
            <a:endParaRPr lang="en-US" sz="1500" dirty="0"/>
          </a:p>
          <a:p>
            <a:pPr indent="0" marL="0">
              <a:spcAft>
                <a:spcPts val="200"/>
              </a:spcAft>
              <a:buNone/>
            </a:pPr>
            <a:r>
              <a:rPr lang="en-US" sz="1300" dirty="0">
                <a:solidFill>
                  <a:srgbClr val="FFFFFF"/>
                </a:solidFill>
              </a:rPr>
              <a:t>moddiy va nomoddiy rag‘batlar uyg‘unligi, KPI asosida baholash</a:t>
            </a:r>
            <a:endParaRPr lang="en-US" sz="1500" dirty="0"/>
          </a:p>
        </p:txBody>
      </p:sp>
      <p:pic>
        <p:nvPicPr>
          <p:cNvPr id="16" name="Image 4" descr="img11/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Xodimlarni ketishlari mumkin bo‘ladigan darajada o‘qiting, lekin qolishni istaydigan darajada munosabatda bo‘ling. (R. Brenson)</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11/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Inson resurslarini rivojlantirish strategiyasi</dc:title>
  <dc:subject>PptxGenJS Presentation</dc:subject>
  <dc:creator>PptxGenJS</dc:creator>
  <cp:lastModifiedBy>PptxGenJS</cp:lastModifiedBy>
  <cp:revision>1</cp:revision>
  <dcterms:created xsi:type="dcterms:W3CDTF">2026-10-12T12:31:34Z</dcterms:created>
  <dcterms:modified xsi:type="dcterms:W3CDTF">2026-10-12T12:31:34Z</dcterms:modified>
</cp:coreProperties>
</file>