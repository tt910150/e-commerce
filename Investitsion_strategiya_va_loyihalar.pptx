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Pul oqimi</c:v>
                </c:pt>
              </c:strCache>
            </c:strRef>
          </c:tx>
          <c:spPr>
            <a:solidFill>
              <a:srgbClr val="0E9F9A"/>
            </a:solidFill>
            <a:effectLst/>
          </c:spPr>
          <c:invertIfNegative val="0"/>
          <c:dLbls>
            <c:numFmt formatCode="General"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dPt>
            <c:idx val="0"/>
            <c:invertIfNegative val="0"/>
            <c:bubble3D val="0"/>
            <c:spPr>
              <a:solidFill>
                <a:srgbClr val="B5651D"/>
              </a:solidFill>
              <a:effectLst/>
            </c:spPr>
          </c:dPt>
          <c:dPt>
            <c:idx val="1"/>
            <c:invertIfNegative val="0"/>
            <c:bubble3D val="0"/>
            <c:spPr>
              <a:solidFill>
                <a:srgbClr val="0E9F9A"/>
              </a:solidFill>
              <a:effectLst/>
            </c:spPr>
          </c:dPt>
          <c:dPt>
            <c:idx val="2"/>
            <c:invertIfNegative val="0"/>
            <c:bubble3D val="0"/>
            <c:spPr>
              <a:solidFill>
                <a:srgbClr val="0E9F9A"/>
              </a:solidFill>
              <a:effectLst/>
            </c:spPr>
          </c:dPt>
          <c:dPt>
            <c:idx val="3"/>
            <c:invertIfNegative val="0"/>
            <c:bubble3D val="0"/>
            <c:spPr>
              <a:solidFill>
                <a:srgbClr val="0E9F9A"/>
              </a:solidFill>
              <a:effectLst/>
            </c:spPr>
          </c:dPt>
          <c:dPt>
            <c:idx val="4"/>
            <c:invertIfNegative val="0"/>
            <c:bubble3D val="0"/>
            <c:spPr>
              <a:solidFill>
                <a:srgbClr val="0E9F9A"/>
              </a:solidFill>
              <a:effectLst/>
            </c:spPr>
          </c:dPt>
          <c:dPt>
            <c:idx val="5"/>
            <c:invertIfNegative val="0"/>
            <c:bubble3D val="0"/>
            <c:spPr>
              <a:solidFill>
                <a:srgbClr val="0E9F9A"/>
              </a:solidFill>
              <a:effectLst/>
            </c:spPr>
          </c:dPt>
          <c:cat>
            <c:multiLvlStrRef>
              <c:f>Sheet1!$A$2:$A$7</c:f>
              <c:multiLvlStrCache>
                <c:ptCount val="6"/>
                <c:lvl>
                  <c:pt idx="0">
                    <c:v>0-yil</c:v>
                  </c:pt>
                  <c:pt idx="1">
                    <c:v>1-yil</c:v>
                  </c:pt>
                  <c:pt idx="2">
                    <c:v>2-yil</c:v>
                  </c:pt>
                  <c:pt idx="3">
                    <c:v>3-yil</c:v>
                  </c:pt>
                  <c:pt idx="4">
                    <c:v>4-yil</c:v>
                  </c:pt>
                  <c:pt idx="5">
                    <c:v>5-yil</c:v>
                  </c:pt>
                </c:lvl>
              </c:multiLvlStrCache>
            </c:multiLvlStrRef>
          </c:cat>
          <c:val>
            <c:numRef>
              <c:f>Sheet1!$B$2:$B$7</c:f>
              <c:numCache>
                <c:formatCode>General</c:formatCode>
                <c:ptCount val="6"/>
                <c:pt idx="0">
                  <c:v>-1000</c:v>
                </c:pt>
                <c:pt idx="1">
                  <c:v>300</c:v>
                </c:pt>
                <c:pt idx="2">
                  <c:v>350</c:v>
                </c:pt>
                <c:pt idx="3">
                  <c:v>400</c:v>
                </c:pt>
                <c:pt idx="4">
                  <c:v>400</c:v>
                </c:pt>
                <c:pt idx="5">
                  <c:v>350</c:v>
                </c:pt>
              </c:numCache>
            </c:numRef>
          </c:val>
        </c:ser>
        <c:dLbls>
          <c:numFmt formatCode="General"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600"/>
          <c:min val="-1200"/>
        </c:scaling>
        <c:delete val="0"/>
        <c:axPos val="l"/>
        <c:majorGridlines>
          <c:spPr>
            <a:ln w="9525" cap="flat">
              <a:solidFill>
                <a:srgbClr val="C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3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8/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KORXONANING INVESTITSION STRATEGIYASI VA INVESTITSION LOYIHALARNI BOSHQARISH</a:t>
            </a:r>
            <a:endParaRPr lang="en-US" sz="28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Investitsiya va investitsion strategiya tushunchasi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Investitsion strategiya turlari va ishlab chiqish bosqichlari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Investitsiyalarni moliyalashtirish manbalari</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Investitsion loyihalar samaradorligini baholash</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Investitsion loyihalarni boshqarish va xatarlarni kamaytirish</a:t>
            </a:r>
            <a:endParaRPr lang="en-US" sz="1600" dirty="0"/>
          </a:p>
        </p:txBody>
      </p:sp>
      <p:pic>
        <p:nvPicPr>
          <p:cNvPr id="28" name="Image 5" descr="img8/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Investitsiya tushunchasi va turlari</a:t>
            </a:r>
            <a:endParaRPr lang="en-US" sz="3000" dirty="0"/>
          </a:p>
        </p:txBody>
      </p:sp>
      <p:pic>
        <p:nvPicPr>
          <p:cNvPr id="3" name="Image 0" descr="img8/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Investitsiya</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(lot. “investire” – kiyintirmoq) – kelajakda foyda yoki ijtimoiy samara olish maqsadida tadbirkorlik va boshqa faoliyat ob’ektlariga kiritiladigan pul, mol-mulk, huquq va intellektual qiymatliklar.</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Investitsiyalarning asosiy turlari:</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Real (kapital) investitsiyalar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bino, inshoot, uskuna va texnologiyalarga – ishlab chiqarish quvvatini oshirish uchun.</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Moliyaviy investitsiyalar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aksiya, obligatsiya va boshqa qimmatli qog‘ozlarga qo‘yilmalar.</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Intellektual investitsiyalar</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patent, litsenziya, dasturiy ta’minot, kadrlar tayyorlash va ITRga.</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To‘g‘ridan-to‘g‘ri va portfel</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boshqaruvda ishtirok etish (10% dan ortiq ulush) yoki faqat daromad olish uchun.</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Ichki va xorijiy</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mahalliy investorlar yoki chet el kapitali hisobidan amalga oshiriladi.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Investitsion strategiyaning mohiyati va maqsadlari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Investitsion strategiya</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korxonaning uzoq muddatli investitsion maqsadlarini, ularga erishish yo‘nalishlarini, moliyalashtirish manbalarini va investitsion faoliyat tamoyillarini belgilovchi tizim. U korxonaning umumiy rivojlanish strategiyasining asosiy tarkibiy qismi bo‘lib, uni moliyaviy jihatdan ta’minlaydi.</a:t>
            </a:r>
            <a:endParaRPr lang="en-US" sz="1400" dirty="0"/>
          </a:p>
        </p:txBody>
      </p:sp>
      <p:sp>
        <p:nvSpPr>
          <p:cNvPr id="4" name="Text 2"/>
          <p:cNvSpPr txBox="1"/>
          <p:nvPr/>
        </p:nvSpPr>
        <p:spPr>
          <a:xfrm>
            <a:off x="548640" y="3063240"/>
            <a:ext cx="6766560" cy="365760"/>
          </a:xfrm>
          <a:prstGeom prst="rect">
            <a:avLst/>
          </a:prstGeom>
          <a:noFill/>
          <a:ln/>
        </p:spPr>
        <p:txBody>
          <a:bodyPr wrap="square" lIns="0" tIns="0" rIns="0" bIns="0" rtlCol="0" anchor="ctr"/>
          <a:lstStyle/>
          <a:p>
            <a:pPr indent="0" marL="0">
              <a:buNone/>
            </a:pPr>
            <a:r>
              <a:rPr lang="en-US" sz="1600" b="1" dirty="0">
                <a:solidFill>
                  <a:srgbClr val="0D2F4F"/>
                </a:solidFill>
              </a:rPr>
              <a:t>Investitsion strategiyaning asosiy maqsadlari:</a:t>
            </a:r>
            <a:endParaRPr lang="en-US" sz="1600" dirty="0"/>
          </a:p>
        </p:txBody>
      </p:sp>
      <p:sp>
        <p:nvSpPr>
          <p:cNvPr id="5" name="Shape 3"/>
          <p:cNvSpPr/>
          <p:nvPr/>
        </p:nvSpPr>
        <p:spPr>
          <a:xfrm>
            <a:off x="548640" y="353872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681777" y="3671865"/>
            <a:ext cx="245791" cy="245791"/>
          </a:xfrm>
          <a:prstGeom prst="rect">
            <a:avLst/>
          </a:prstGeom>
        </p:spPr>
      </p:pic>
      <p:sp>
        <p:nvSpPr>
          <p:cNvPr id="7" name="Text 4"/>
          <p:cNvSpPr txBox="1"/>
          <p:nvPr/>
        </p:nvSpPr>
        <p:spPr>
          <a:xfrm>
            <a:off x="1234440" y="3483864"/>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O‘sish – </a:t>
            </a:r>
            <a:pPr indent="0" marL="0">
              <a:buNone/>
            </a:pPr>
            <a:r>
              <a:rPr lang="en-US" sz="1400" dirty="0">
                <a:solidFill>
                  <a:srgbClr val="1B2A3A"/>
                </a:solidFill>
                <a:latin typeface="Calibri" pitchFamily="34" charset="0"/>
                <a:ea typeface="Calibri" pitchFamily="34" charset="-122"/>
                <a:cs typeface="Calibri" pitchFamily="34" charset="-120"/>
              </a:rPr>
              <a:t>ishlab chiqarish hajmi va bozor ulushini kengaytirish</a:t>
            </a:r>
            <a:endParaRPr lang="en-US" sz="1400" dirty="0"/>
          </a:p>
        </p:txBody>
      </p:sp>
      <p:sp>
        <p:nvSpPr>
          <p:cNvPr id="8" name="Shape 5"/>
          <p:cNvSpPr/>
          <p:nvPr/>
        </p:nvSpPr>
        <p:spPr>
          <a:xfrm>
            <a:off x="548640" y="4206240"/>
            <a:ext cx="512064" cy="512064"/>
          </a:xfrm>
          <a:prstGeom prst="ellipse">
            <a:avLst/>
          </a:prstGeom>
          <a:solidFill>
            <a:srgbClr val="0D2F4F"/>
          </a:solidFill>
          <a:ln w="12700">
            <a:solidFill>
              <a:srgbClr val="0D2F4F"/>
            </a:solidFill>
            <a:prstDash val="solid"/>
          </a:ln>
        </p:spPr>
      </p:sp>
      <p:pic>
        <p:nvPicPr>
          <p:cNvPr id="9" name="Image 1" descr="preencoded.png">    </p:cNvPr>
          <p:cNvPicPr>
            <a:picLocks noChangeAspect="1"/>
          </p:cNvPicPr>
          <p:nvPr/>
        </p:nvPicPr>
        <p:blipFill>
          <a:blip r:embed="rId2"/>
          <a:stretch>
            <a:fillRect/>
          </a:stretch>
        </p:blipFill>
        <p:spPr>
          <a:xfrm>
            <a:off x="681777" y="4339377"/>
            <a:ext cx="245791" cy="245791"/>
          </a:xfrm>
          <a:prstGeom prst="rect">
            <a:avLst/>
          </a:prstGeom>
        </p:spPr>
      </p:pic>
      <p:sp>
        <p:nvSpPr>
          <p:cNvPr id="10" name="Text 6"/>
          <p:cNvSpPr txBox="1"/>
          <p:nvPr/>
        </p:nvSpPr>
        <p:spPr>
          <a:xfrm>
            <a:off x="1234440" y="4151376"/>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Modernizatsiya – </a:t>
            </a:r>
            <a:pPr indent="0" marL="0">
              <a:buNone/>
            </a:pPr>
            <a:r>
              <a:rPr lang="en-US" sz="1400" dirty="0">
                <a:solidFill>
                  <a:srgbClr val="1B2A3A"/>
                </a:solidFill>
                <a:latin typeface="Calibri" pitchFamily="34" charset="0"/>
                <a:ea typeface="Calibri" pitchFamily="34" charset="-122"/>
                <a:cs typeface="Calibri" pitchFamily="34" charset="-120"/>
              </a:rPr>
              <a:t>eskirgan uskunalarni yangilash, tannarxni kamaytirish</a:t>
            </a:r>
            <a:endParaRPr lang="en-US" sz="1400" dirty="0"/>
          </a:p>
        </p:txBody>
      </p:sp>
      <p:sp>
        <p:nvSpPr>
          <p:cNvPr id="11" name="Shape 7"/>
          <p:cNvSpPr/>
          <p:nvPr/>
        </p:nvSpPr>
        <p:spPr>
          <a:xfrm>
            <a:off x="548640" y="4873752"/>
            <a:ext cx="512064" cy="512064"/>
          </a:xfrm>
          <a:prstGeom prst="ellipse">
            <a:avLst/>
          </a:prstGeom>
          <a:solidFill>
            <a:srgbClr val="0E9F9A"/>
          </a:solidFill>
          <a:ln w="12700">
            <a:solidFill>
              <a:srgbClr val="0E9F9A"/>
            </a:solidFill>
            <a:prstDash val="solid"/>
          </a:ln>
        </p:spPr>
      </p:sp>
      <p:pic>
        <p:nvPicPr>
          <p:cNvPr id="12" name="Image 2" descr="preencoded.png">    </p:cNvPr>
          <p:cNvPicPr>
            <a:picLocks noChangeAspect="1"/>
          </p:cNvPicPr>
          <p:nvPr/>
        </p:nvPicPr>
        <p:blipFill>
          <a:blip r:embed="rId3"/>
          <a:stretch>
            <a:fillRect/>
          </a:stretch>
        </p:blipFill>
        <p:spPr>
          <a:xfrm>
            <a:off x="681777" y="5006889"/>
            <a:ext cx="245791" cy="245791"/>
          </a:xfrm>
          <a:prstGeom prst="rect">
            <a:avLst/>
          </a:prstGeom>
        </p:spPr>
      </p:pic>
      <p:sp>
        <p:nvSpPr>
          <p:cNvPr id="13" name="Text 8"/>
          <p:cNvSpPr txBox="1"/>
          <p:nvPr/>
        </p:nvSpPr>
        <p:spPr>
          <a:xfrm>
            <a:off x="1234440" y="4818888"/>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Daromadlilik – </a:t>
            </a:r>
            <a:pPr indent="0" marL="0">
              <a:buNone/>
            </a:pPr>
            <a:r>
              <a:rPr lang="en-US" sz="1400" dirty="0">
                <a:solidFill>
                  <a:srgbClr val="1B2A3A"/>
                </a:solidFill>
                <a:latin typeface="Calibri" pitchFamily="34" charset="0"/>
                <a:ea typeface="Calibri" pitchFamily="34" charset="-122"/>
                <a:cs typeface="Calibri" pitchFamily="34" charset="-120"/>
              </a:rPr>
              <a:t>kiritilgan kapitaldan maksimal foyda olish</a:t>
            </a:r>
            <a:endParaRPr lang="en-US" sz="1400" dirty="0"/>
          </a:p>
        </p:txBody>
      </p:sp>
      <p:sp>
        <p:nvSpPr>
          <p:cNvPr id="14" name="Shape 9"/>
          <p:cNvSpPr/>
          <p:nvPr/>
        </p:nvSpPr>
        <p:spPr>
          <a:xfrm>
            <a:off x="548640" y="5541264"/>
            <a:ext cx="512064" cy="512064"/>
          </a:xfrm>
          <a:prstGeom prst="ellipse">
            <a:avLst/>
          </a:prstGeom>
          <a:solidFill>
            <a:srgbClr val="0D2F4F"/>
          </a:solidFill>
          <a:ln w="12700">
            <a:solidFill>
              <a:srgbClr val="0D2F4F"/>
            </a:solidFill>
            <a:prstDash val="solid"/>
          </a:ln>
        </p:spPr>
      </p:sp>
      <p:pic>
        <p:nvPicPr>
          <p:cNvPr id="15" name="Image 3" descr="preencoded.png">    </p:cNvPr>
          <p:cNvPicPr>
            <a:picLocks noChangeAspect="1"/>
          </p:cNvPicPr>
          <p:nvPr/>
        </p:nvPicPr>
        <p:blipFill>
          <a:blip r:embed="rId4"/>
          <a:stretch>
            <a:fillRect/>
          </a:stretch>
        </p:blipFill>
        <p:spPr>
          <a:xfrm>
            <a:off x="681777" y="5674401"/>
            <a:ext cx="245791" cy="245791"/>
          </a:xfrm>
          <a:prstGeom prst="rect">
            <a:avLst/>
          </a:prstGeom>
        </p:spPr>
      </p:pic>
      <p:sp>
        <p:nvSpPr>
          <p:cNvPr id="16" name="Text 10"/>
          <p:cNvSpPr txBox="1"/>
          <p:nvPr/>
        </p:nvSpPr>
        <p:spPr>
          <a:xfrm>
            <a:off x="1234440" y="5486400"/>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Xavfsizlik – </a:t>
            </a:r>
            <a:pPr indent="0" marL="0">
              <a:buNone/>
            </a:pPr>
            <a:r>
              <a:rPr lang="en-US" sz="1400" dirty="0">
                <a:solidFill>
                  <a:srgbClr val="1B2A3A"/>
                </a:solidFill>
                <a:latin typeface="Calibri" pitchFamily="34" charset="0"/>
                <a:ea typeface="Calibri" pitchFamily="34" charset="-122"/>
                <a:cs typeface="Calibri" pitchFamily="34" charset="-120"/>
              </a:rPr>
              <a:t>investitsion xatarlarni maqbul darajada ushlab turish</a:t>
            </a:r>
            <a:endParaRPr lang="en-US" sz="1400" dirty="0"/>
          </a:p>
        </p:txBody>
      </p:sp>
      <p:pic>
        <p:nvPicPr>
          <p:cNvPr id="17" name="Image 4" descr="img8/goals.png">    </p:cNvPr>
          <p:cNvPicPr>
            <a:picLocks noChangeAspect="1"/>
          </p:cNvPicPr>
          <p:nvPr/>
        </p:nvPicPr>
        <p:blipFill>
          <a:blip r:embed="rId5"/>
          <a:stretch>
            <a:fillRect/>
          </a:stretch>
        </p:blipFill>
        <p:spPr>
          <a:xfrm>
            <a:off x="7680960" y="1371600"/>
            <a:ext cx="3931920" cy="3054096"/>
          </a:xfrm>
          <a:prstGeom prst="rect">
            <a:avLst/>
          </a:prstGeom>
        </p:spPr>
      </p:pic>
      <p:sp>
        <p:nvSpPr>
          <p:cNvPr id="18" name="Shape 11"/>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2"/>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Asosiy tamoyil:</a:t>
            </a:r>
            <a:pPr indent="0" marL="0">
              <a:buNone/>
            </a:pPr>
            <a:r>
              <a:rPr lang="en-US" sz="1400" dirty="0">
                <a:solidFill>
                  <a:srgbClr val="1B2A3A"/>
                </a:solidFill>
                <a:latin typeface="Calibri" pitchFamily="34" charset="0"/>
                <a:ea typeface="Calibri" pitchFamily="34" charset="-122"/>
                <a:cs typeface="Calibri" pitchFamily="34" charset="-120"/>
              </a:rPr>
              <a:t> investitsiya qarori har doim “daromadlilik – xatar – likvidlik” muvozanatiga asoslanadi.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Investitsion strategiya turlari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Korxona maqsadlari va xatarga munosabatiga ko‘ra investitsion strategiyaning uch asosiy turi ajratiladi:</a:t>
            </a:r>
            <a:endParaRPr lang="en-US" sz="1400" dirty="0"/>
          </a:p>
        </p:txBody>
      </p:sp>
      <p:sp>
        <p:nvSpPr>
          <p:cNvPr id="4" name="Shape 2"/>
          <p:cNvSpPr/>
          <p:nvPr/>
        </p:nvSpPr>
        <p:spPr>
          <a:xfrm>
            <a:off x="548640" y="5532120"/>
            <a:ext cx="11064240" cy="685800"/>
          </a:xfrm>
          <a:prstGeom prst="roundRect">
            <a:avLst>
              <a:gd name="adj" fmla="val 16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5577840"/>
            <a:ext cx="10698480" cy="59436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Strategiya tanlovi korxonaning </a:t>
            </a:r>
            <a:pPr indent="0" marL="0">
              <a:buNone/>
            </a:pPr>
            <a:r>
              <a:rPr lang="en-US" sz="1400" b="1" dirty="0">
                <a:solidFill>
                  <a:srgbClr val="0D2F4F"/>
                </a:solidFill>
                <a:latin typeface="Calibri" pitchFamily="34" charset="0"/>
                <a:ea typeface="Calibri" pitchFamily="34" charset="-122"/>
                <a:cs typeface="Calibri" pitchFamily="34" charset="-120"/>
              </a:rPr>
              <a:t>moliyaviy holati, bozor sharoiti va rahbariyatning xatarga munosabati</a:t>
            </a:r>
            <a:pPr indent="0" marL="0">
              <a:buNone/>
            </a:pPr>
            <a:r>
              <a:rPr lang="en-US" sz="1400" dirty="0">
                <a:solidFill>
                  <a:srgbClr val="1B2A3A"/>
                </a:solidFill>
                <a:latin typeface="Calibri" pitchFamily="34" charset="0"/>
                <a:ea typeface="Calibri" pitchFamily="34" charset="-122"/>
                <a:cs typeface="Calibri" pitchFamily="34" charset="-120"/>
              </a:rPr>
              <a:t>ga bog‘liq.</a:t>
            </a:r>
            <a:endParaRPr lang="en-US" sz="1400" dirty="0"/>
          </a:p>
        </p:txBody>
      </p:sp>
      <p:sp>
        <p:nvSpPr>
          <p:cNvPr id="6" name="Shape 4"/>
          <p:cNvSpPr/>
          <p:nvPr/>
        </p:nvSpPr>
        <p:spPr>
          <a:xfrm>
            <a:off x="54864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Shape 5"/>
          <p:cNvSpPr/>
          <p:nvPr/>
        </p:nvSpPr>
        <p:spPr>
          <a:xfrm>
            <a:off x="822960" y="2468880"/>
            <a:ext cx="731520" cy="731520"/>
          </a:xfrm>
          <a:prstGeom prst="ellipse">
            <a:avLst/>
          </a:prstGeom>
          <a:solidFill>
            <a:srgbClr val="B5651D"/>
          </a:solidFill>
          <a:ln w="12700">
            <a:solidFill>
              <a:srgbClr val="B5651D"/>
            </a:solidFill>
            <a:prstDash val="solid"/>
          </a:ln>
        </p:spPr>
      </p:sp>
      <p:pic>
        <p:nvPicPr>
          <p:cNvPr id="8"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9" name="Text 6"/>
          <p:cNvSpPr txBox="1"/>
          <p:nvPr/>
        </p:nvSpPr>
        <p:spPr>
          <a:xfrm>
            <a:off x="169164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Agressiv (o‘sish)</a:t>
            </a:r>
            <a:endParaRPr lang="en-US" sz="1700" dirty="0"/>
          </a:p>
        </p:txBody>
      </p:sp>
      <p:sp>
        <p:nvSpPr>
          <p:cNvPr id="10" name="Text 7"/>
          <p:cNvSpPr txBox="1"/>
          <p:nvPr/>
        </p:nvSpPr>
        <p:spPr>
          <a:xfrm>
            <a:off x="169164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yuqori daromad – yuqori xatar</a:t>
            </a:r>
            <a:endParaRPr lang="en-US" sz="1200" dirty="0"/>
          </a:p>
        </p:txBody>
      </p:sp>
      <p:sp>
        <p:nvSpPr>
          <p:cNvPr id="11" name="Text 8"/>
          <p:cNvSpPr txBox="1"/>
          <p:nvPr/>
        </p:nvSpPr>
        <p:spPr>
          <a:xfrm>
            <a:off x="82296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yangi bozor va tarmoqlarga kirish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yirik innovatsion loyihalar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qarz mablag‘laridan faol foydalanish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tez o‘sayotgan korxonalar uchun</a:t>
            </a:r>
            <a:endParaRPr lang="en-US" sz="1400" dirty="0"/>
          </a:p>
        </p:txBody>
      </p:sp>
      <p:sp>
        <p:nvSpPr>
          <p:cNvPr id="12" name="Shape 9"/>
          <p:cNvSpPr/>
          <p:nvPr/>
        </p:nvSpPr>
        <p:spPr>
          <a:xfrm>
            <a:off x="434340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4617720" y="2468880"/>
            <a:ext cx="731520" cy="731520"/>
          </a:xfrm>
          <a:prstGeom prst="ellipse">
            <a:avLst/>
          </a:prstGeom>
          <a:solidFill>
            <a:srgbClr val="0E9F9A"/>
          </a:solidFill>
          <a:ln w="12700">
            <a:solidFill>
              <a:srgbClr val="0E9F9A"/>
            </a:solidFill>
            <a:prstDash val="solid"/>
          </a:ln>
        </p:spPr>
      </p:sp>
      <p:pic>
        <p:nvPicPr>
          <p:cNvPr id="14"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5" name="Text 11"/>
          <p:cNvSpPr txBox="1"/>
          <p:nvPr/>
        </p:nvSpPr>
        <p:spPr>
          <a:xfrm>
            <a:off x="548640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Mo‘tadil (muvozanatli)</a:t>
            </a:r>
            <a:endParaRPr lang="en-US" sz="1700" dirty="0"/>
          </a:p>
        </p:txBody>
      </p:sp>
      <p:sp>
        <p:nvSpPr>
          <p:cNvPr id="16" name="Text 12"/>
          <p:cNvSpPr txBox="1"/>
          <p:nvPr/>
        </p:nvSpPr>
        <p:spPr>
          <a:xfrm>
            <a:off x="548640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o‘rtacha daromad – o‘rtacha xatar</a:t>
            </a:r>
            <a:endParaRPr lang="en-US" sz="1200" dirty="0"/>
          </a:p>
        </p:txBody>
      </p:sp>
      <p:sp>
        <p:nvSpPr>
          <p:cNvPr id="17" name="Text 13"/>
          <p:cNvSpPr txBox="1"/>
          <p:nvPr/>
        </p:nvSpPr>
        <p:spPr>
          <a:xfrm>
            <a:off x="461772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mavjud faoliyatni kengaytirish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modernizatsiya va diversifikatsiya</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o‘z va qarz mablag‘lari muvozanati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barqaror korxonalar uchun</a:t>
            </a:r>
            <a:endParaRPr lang="en-US" sz="1400" dirty="0"/>
          </a:p>
        </p:txBody>
      </p:sp>
      <p:sp>
        <p:nvSpPr>
          <p:cNvPr id="18" name="Shape 14"/>
          <p:cNvSpPr/>
          <p:nvPr/>
        </p:nvSpPr>
        <p:spPr>
          <a:xfrm>
            <a:off x="813816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412480" y="2468880"/>
            <a:ext cx="731520" cy="731520"/>
          </a:xfrm>
          <a:prstGeom prst="ellipse">
            <a:avLst/>
          </a:prstGeom>
          <a:solidFill>
            <a:srgbClr val="0D2F4F"/>
          </a:solidFill>
          <a:ln w="12700">
            <a:solidFill>
              <a:srgbClr val="0D2F4F"/>
            </a:solidFill>
            <a:prstDash val="solid"/>
          </a:ln>
        </p:spPr>
      </p:sp>
      <p:pic>
        <p:nvPicPr>
          <p:cNvPr id="20"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21" name="Text 16"/>
          <p:cNvSpPr txBox="1"/>
          <p:nvPr/>
        </p:nvSpPr>
        <p:spPr>
          <a:xfrm>
            <a:off x="928116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Konservativ (himoyaviy)</a:t>
            </a:r>
            <a:endParaRPr lang="en-US" sz="1700" dirty="0"/>
          </a:p>
        </p:txBody>
      </p:sp>
      <p:sp>
        <p:nvSpPr>
          <p:cNvPr id="22" name="Text 17"/>
          <p:cNvSpPr txBox="1"/>
          <p:nvPr/>
        </p:nvSpPr>
        <p:spPr>
          <a:xfrm>
            <a:off x="928116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past daromad – past xatar</a:t>
            </a:r>
            <a:endParaRPr lang="en-US" sz="1200" dirty="0"/>
          </a:p>
        </p:txBody>
      </p:sp>
      <p:sp>
        <p:nvSpPr>
          <p:cNvPr id="23" name="Text 18"/>
          <p:cNvSpPr txBox="1"/>
          <p:nvPr/>
        </p:nvSpPr>
        <p:spPr>
          <a:xfrm>
            <a:off x="841248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mavjud aktivlarni saqlash va yangilash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kafolatlangan daromadli loyihalar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asosan o‘z mablag‘lari hisobidan</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noaniq sharoitlarda qo‘llaniladi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Investitsion strategiyani ishlab chiqish bosqichlari</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Maqsadlarni belgilash</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umumiy strategiyadan kelib chiqib investitsion maqsadlarni aniqlash</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Investitsion muhit tahlili</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iqtisodiy vaziyat, foiz stavkalari, soha jozibadorligini o‘rganish</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Yo‘nalishlarni tanlash</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real, moliyaviy yoki intellektual investitsiyalar ustuvorligi</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Loyihalar portfeli</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loyihalarni baholab, eng samaralilarini portfelga kiritish</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Amalga oshirish va monitoring</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moliyalashtirish, ijro nazorati va natijalarni baholash</a:t>
            </a:r>
            <a:endParaRPr lang="en-US" sz="1300" dirty="0"/>
          </a:p>
        </p:txBody>
      </p:sp>
      <p:pic>
        <p:nvPicPr>
          <p:cNvPr id="38" name="Image 5" descr="img8/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b="1" dirty="0">
                <a:solidFill>
                  <a:srgbClr val="0E9F9A"/>
                </a:solidFill>
                <a:latin typeface="Calibri" pitchFamily="34" charset="0"/>
                <a:ea typeface="Calibri" pitchFamily="34" charset="-122"/>
                <a:cs typeface="Calibri" pitchFamily="34" charset="-120"/>
              </a:rPr>
              <a:t>Investitsion portfel</a:t>
            </a:r>
            <a:pPr indent="0" marL="0">
              <a:buNone/>
            </a:pPr>
            <a:r>
              <a:rPr lang="en-US" sz="1400" dirty="0">
                <a:solidFill>
                  <a:srgbClr val="1B2A3A"/>
                </a:solidFill>
                <a:latin typeface="Calibri" pitchFamily="34" charset="0"/>
                <a:ea typeface="Calibri" pitchFamily="34" charset="-122"/>
                <a:cs typeface="Calibri" pitchFamily="34" charset="-120"/>
              </a:rPr>
              <a:t> – korxona amalga oshirayotgan investitsion loyihalar majmui. Portfelni shakllantirishda loyihalar daromadliligi, xatari va qoplanish muddati bo‘yicha diversifikatsiya qilinadi: bir loyihadagi muvaffaqiyatsizlik boshqasining daromadi bilan qoplanadi. Shuningdek, portfel korxonaning moliyaviy imkoniyatlari doirasida bo‘lishi va strategik maqsadlarga xizmat qilishi zarur.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Investitsiyalarni moliyalashtirish manbalari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Manbalar </a:t>
            </a:r>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o‘z, qarz va jalb qilingan</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mablag‘larga bo‘linadi. Ularning maqbul nisbati kapital qiymatini kamaytiradi:</a:t>
            </a:r>
            <a:endParaRPr lang="en-US" sz="1400" dirty="0"/>
          </a:p>
        </p:txBody>
      </p:sp>
      <p:sp>
        <p:nvSpPr>
          <p:cNvPr id="4" name="Shape 2"/>
          <p:cNvSpPr/>
          <p:nvPr/>
        </p:nvSpPr>
        <p:spPr>
          <a:xfrm>
            <a:off x="54864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228600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86054" y="2440534"/>
            <a:ext cx="285293" cy="285293"/>
          </a:xfrm>
          <a:prstGeom prst="rect">
            <a:avLst/>
          </a:prstGeom>
        </p:spPr>
      </p:pic>
      <p:sp>
        <p:nvSpPr>
          <p:cNvPr id="7" name="Text 4"/>
          <p:cNvSpPr txBox="1"/>
          <p:nvPr/>
        </p:nvSpPr>
        <p:spPr>
          <a:xfrm>
            <a:off x="333756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46304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O‘z mablag‘lari</a:t>
            </a:r>
            <a:endParaRPr lang="en-US" sz="1550" dirty="0"/>
          </a:p>
        </p:txBody>
      </p:sp>
      <p:sp>
        <p:nvSpPr>
          <p:cNvPr id="9" name="Text 6"/>
          <p:cNvSpPr txBox="1"/>
          <p:nvPr/>
        </p:nvSpPr>
        <p:spPr>
          <a:xfrm>
            <a:off x="73152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sof foyda va amortizatsiya ajratmalari – eng arzon va xavfsiz manba, lekin hajmi cheklangan.</a:t>
            </a:r>
            <a:endParaRPr lang="en-US" sz="1350" dirty="0"/>
          </a:p>
        </p:txBody>
      </p:sp>
      <p:sp>
        <p:nvSpPr>
          <p:cNvPr id="10" name="Shape 7"/>
          <p:cNvSpPr/>
          <p:nvPr/>
        </p:nvSpPr>
        <p:spPr>
          <a:xfrm>
            <a:off x="434340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8"/>
          <p:cNvSpPr/>
          <p:nvPr/>
        </p:nvSpPr>
        <p:spPr>
          <a:xfrm>
            <a:off x="4526280" y="2286000"/>
            <a:ext cx="594360" cy="594360"/>
          </a:xfrm>
          <a:prstGeom prst="ellipse">
            <a:avLst/>
          </a:prstGeom>
          <a:solidFill>
            <a:srgbClr val="0D2F4F"/>
          </a:solidFill>
          <a:ln w="12700">
            <a:solidFill>
              <a:srgbClr val="0D2F4F"/>
            </a:solidFill>
            <a:prstDash val="solid"/>
          </a:ln>
        </p:spPr>
      </p:sp>
      <p:pic>
        <p:nvPicPr>
          <p:cNvPr id="12" name="Image 1" descr="preencoded.png">    </p:cNvPr>
          <p:cNvPicPr>
            <a:picLocks noChangeAspect="1"/>
          </p:cNvPicPr>
          <p:nvPr/>
        </p:nvPicPr>
        <p:blipFill>
          <a:blip r:embed="rId2"/>
          <a:stretch>
            <a:fillRect/>
          </a:stretch>
        </p:blipFill>
        <p:spPr>
          <a:xfrm>
            <a:off x="4680814" y="2440534"/>
            <a:ext cx="285293" cy="285293"/>
          </a:xfrm>
          <a:prstGeom prst="rect">
            <a:avLst/>
          </a:prstGeom>
        </p:spPr>
      </p:pic>
      <p:sp>
        <p:nvSpPr>
          <p:cNvPr id="13" name="Text 9"/>
          <p:cNvSpPr txBox="1"/>
          <p:nvPr/>
        </p:nvSpPr>
        <p:spPr>
          <a:xfrm>
            <a:off x="713232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02</a:t>
            </a:r>
            <a:endParaRPr lang="en-US" sz="2000" dirty="0"/>
          </a:p>
        </p:txBody>
      </p:sp>
      <p:sp>
        <p:nvSpPr>
          <p:cNvPr id="14" name="Text 10"/>
          <p:cNvSpPr txBox="1"/>
          <p:nvPr/>
        </p:nvSpPr>
        <p:spPr>
          <a:xfrm>
            <a:off x="525780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Bank kreditlari</a:t>
            </a:r>
            <a:endParaRPr lang="en-US" sz="1550" dirty="0"/>
          </a:p>
        </p:txBody>
      </p:sp>
      <p:sp>
        <p:nvSpPr>
          <p:cNvPr id="15" name="Text 11"/>
          <p:cNvSpPr txBox="1"/>
          <p:nvPr/>
        </p:nvSpPr>
        <p:spPr>
          <a:xfrm>
            <a:off x="452628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tez jalb qilinadi, ammo foiz to‘lovlari va garov talab etiladi.</a:t>
            </a:r>
            <a:endParaRPr lang="en-US" sz="1350" dirty="0"/>
          </a:p>
        </p:txBody>
      </p:sp>
      <p:sp>
        <p:nvSpPr>
          <p:cNvPr id="16" name="Shape 12"/>
          <p:cNvSpPr/>
          <p:nvPr/>
        </p:nvSpPr>
        <p:spPr>
          <a:xfrm>
            <a:off x="813816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3"/>
          <p:cNvSpPr/>
          <p:nvPr/>
        </p:nvSpPr>
        <p:spPr>
          <a:xfrm>
            <a:off x="8321040" y="2286000"/>
            <a:ext cx="594360" cy="594360"/>
          </a:xfrm>
          <a:prstGeom prst="ellipse">
            <a:avLst/>
          </a:prstGeom>
          <a:solidFill>
            <a:srgbClr val="0E9F9A"/>
          </a:solidFill>
          <a:ln w="12700">
            <a:solidFill>
              <a:srgbClr val="0E9F9A"/>
            </a:solidFill>
            <a:prstDash val="solid"/>
          </a:ln>
        </p:spPr>
      </p:sp>
      <p:pic>
        <p:nvPicPr>
          <p:cNvPr id="18" name="Image 2" descr="preencoded.png">    </p:cNvPr>
          <p:cNvPicPr>
            <a:picLocks noChangeAspect="1"/>
          </p:cNvPicPr>
          <p:nvPr/>
        </p:nvPicPr>
        <p:blipFill>
          <a:blip r:embed="rId3"/>
          <a:stretch>
            <a:fillRect/>
          </a:stretch>
        </p:blipFill>
        <p:spPr>
          <a:xfrm>
            <a:off x="8475574" y="2440534"/>
            <a:ext cx="285293" cy="285293"/>
          </a:xfrm>
          <a:prstGeom prst="rect">
            <a:avLst/>
          </a:prstGeom>
        </p:spPr>
      </p:pic>
      <p:sp>
        <p:nvSpPr>
          <p:cNvPr id="19" name="Text 14"/>
          <p:cNvSpPr txBox="1"/>
          <p:nvPr/>
        </p:nvSpPr>
        <p:spPr>
          <a:xfrm>
            <a:off x="1092708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03</a:t>
            </a:r>
            <a:endParaRPr lang="en-US" sz="2000" dirty="0"/>
          </a:p>
        </p:txBody>
      </p:sp>
      <p:sp>
        <p:nvSpPr>
          <p:cNvPr id="20" name="Text 15"/>
          <p:cNvSpPr txBox="1"/>
          <p:nvPr/>
        </p:nvSpPr>
        <p:spPr>
          <a:xfrm>
            <a:off x="905256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Aksiyalar emissiyasi</a:t>
            </a:r>
            <a:endParaRPr lang="en-US" sz="1550" dirty="0"/>
          </a:p>
        </p:txBody>
      </p:sp>
      <p:sp>
        <p:nvSpPr>
          <p:cNvPr id="21" name="Text 16"/>
          <p:cNvSpPr txBox="1"/>
          <p:nvPr/>
        </p:nvSpPr>
        <p:spPr>
          <a:xfrm>
            <a:off x="832104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IPO yoki qo‘shimcha aksiyalar chiqarish orqali kapitalni oshirish.</a:t>
            </a:r>
            <a:endParaRPr lang="en-US" sz="1350" dirty="0"/>
          </a:p>
        </p:txBody>
      </p:sp>
      <p:sp>
        <p:nvSpPr>
          <p:cNvPr id="22" name="Shape 17"/>
          <p:cNvSpPr/>
          <p:nvPr/>
        </p:nvSpPr>
        <p:spPr>
          <a:xfrm>
            <a:off x="54864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3" name="Shape 18"/>
          <p:cNvSpPr/>
          <p:nvPr/>
        </p:nvSpPr>
        <p:spPr>
          <a:xfrm>
            <a:off x="731520" y="4023360"/>
            <a:ext cx="594360" cy="594360"/>
          </a:xfrm>
          <a:prstGeom prst="ellipse">
            <a:avLst/>
          </a:prstGeom>
          <a:solidFill>
            <a:srgbClr val="0D2F4F"/>
          </a:solidFill>
          <a:ln w="12700">
            <a:solidFill>
              <a:srgbClr val="0D2F4F"/>
            </a:solidFill>
            <a:prstDash val="solid"/>
          </a:ln>
        </p:spPr>
      </p:sp>
      <p:pic>
        <p:nvPicPr>
          <p:cNvPr id="24" name="Image 3" descr="preencoded.png">    </p:cNvPr>
          <p:cNvPicPr>
            <a:picLocks noChangeAspect="1"/>
          </p:cNvPicPr>
          <p:nvPr/>
        </p:nvPicPr>
        <p:blipFill>
          <a:blip r:embed="rId4"/>
          <a:stretch>
            <a:fillRect/>
          </a:stretch>
        </p:blipFill>
        <p:spPr>
          <a:xfrm>
            <a:off x="886054" y="4177894"/>
            <a:ext cx="285293" cy="285293"/>
          </a:xfrm>
          <a:prstGeom prst="rect">
            <a:avLst/>
          </a:prstGeom>
        </p:spPr>
      </p:pic>
      <p:sp>
        <p:nvSpPr>
          <p:cNvPr id="25" name="Text 19"/>
          <p:cNvSpPr txBox="1"/>
          <p:nvPr/>
        </p:nvSpPr>
        <p:spPr>
          <a:xfrm>
            <a:off x="333756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04</a:t>
            </a:r>
            <a:endParaRPr lang="en-US" sz="2000" dirty="0"/>
          </a:p>
        </p:txBody>
      </p:sp>
      <p:sp>
        <p:nvSpPr>
          <p:cNvPr id="26" name="Text 20"/>
          <p:cNvSpPr txBox="1"/>
          <p:nvPr/>
        </p:nvSpPr>
        <p:spPr>
          <a:xfrm>
            <a:off x="146304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Obligatsiyalar</a:t>
            </a:r>
            <a:endParaRPr lang="en-US" sz="1550" dirty="0"/>
          </a:p>
        </p:txBody>
      </p:sp>
      <p:sp>
        <p:nvSpPr>
          <p:cNvPr id="27" name="Text 21"/>
          <p:cNvSpPr txBox="1"/>
          <p:nvPr/>
        </p:nvSpPr>
        <p:spPr>
          <a:xfrm>
            <a:off x="73152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korporativ obligatsiyalar chiqarib, uzoq muddatli qarz kapitali jalb qilish.</a:t>
            </a:r>
            <a:endParaRPr lang="en-US" sz="1350" dirty="0"/>
          </a:p>
        </p:txBody>
      </p:sp>
      <p:sp>
        <p:nvSpPr>
          <p:cNvPr id="28" name="Shape 22"/>
          <p:cNvSpPr/>
          <p:nvPr/>
        </p:nvSpPr>
        <p:spPr>
          <a:xfrm>
            <a:off x="434340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3"/>
          <p:cNvSpPr/>
          <p:nvPr/>
        </p:nvSpPr>
        <p:spPr>
          <a:xfrm>
            <a:off x="4526280" y="4023360"/>
            <a:ext cx="594360" cy="594360"/>
          </a:xfrm>
          <a:prstGeom prst="ellipse">
            <a:avLst/>
          </a:prstGeom>
          <a:solidFill>
            <a:srgbClr val="0E9F9A"/>
          </a:solidFill>
          <a:ln w="12700">
            <a:solidFill>
              <a:srgbClr val="0E9F9A"/>
            </a:solidFill>
            <a:prstDash val="solid"/>
          </a:ln>
        </p:spPr>
      </p:sp>
      <p:pic>
        <p:nvPicPr>
          <p:cNvPr id="30" name="Image 4" descr="preencoded.png">    </p:cNvPr>
          <p:cNvPicPr>
            <a:picLocks noChangeAspect="1"/>
          </p:cNvPicPr>
          <p:nvPr/>
        </p:nvPicPr>
        <p:blipFill>
          <a:blip r:embed="rId5"/>
          <a:stretch>
            <a:fillRect/>
          </a:stretch>
        </p:blipFill>
        <p:spPr>
          <a:xfrm>
            <a:off x="4680814" y="4177894"/>
            <a:ext cx="285293" cy="285293"/>
          </a:xfrm>
          <a:prstGeom prst="rect">
            <a:avLst/>
          </a:prstGeom>
        </p:spPr>
      </p:pic>
      <p:sp>
        <p:nvSpPr>
          <p:cNvPr id="31" name="Text 24"/>
          <p:cNvSpPr txBox="1"/>
          <p:nvPr/>
        </p:nvSpPr>
        <p:spPr>
          <a:xfrm>
            <a:off x="713232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05</a:t>
            </a:r>
            <a:endParaRPr lang="en-US" sz="2000" dirty="0"/>
          </a:p>
        </p:txBody>
      </p:sp>
      <p:sp>
        <p:nvSpPr>
          <p:cNvPr id="32" name="Text 25"/>
          <p:cNvSpPr txBox="1"/>
          <p:nvPr/>
        </p:nvSpPr>
        <p:spPr>
          <a:xfrm>
            <a:off x="525780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Lizing</a:t>
            </a:r>
            <a:endParaRPr lang="en-US" sz="1550" dirty="0"/>
          </a:p>
        </p:txBody>
      </p:sp>
      <p:sp>
        <p:nvSpPr>
          <p:cNvPr id="33" name="Text 26"/>
          <p:cNvSpPr txBox="1"/>
          <p:nvPr/>
        </p:nvSpPr>
        <p:spPr>
          <a:xfrm>
            <a:off x="452628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uskunani sotib olmasdan ijaraga olib, keyin xarid qilish imkoniyati.</a:t>
            </a:r>
            <a:endParaRPr lang="en-US" sz="1350" dirty="0"/>
          </a:p>
        </p:txBody>
      </p:sp>
      <p:sp>
        <p:nvSpPr>
          <p:cNvPr id="34" name="Shape 27"/>
          <p:cNvSpPr/>
          <p:nvPr/>
        </p:nvSpPr>
        <p:spPr>
          <a:xfrm>
            <a:off x="813816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5" name="Shape 28"/>
          <p:cNvSpPr/>
          <p:nvPr/>
        </p:nvSpPr>
        <p:spPr>
          <a:xfrm>
            <a:off x="8321040" y="4023360"/>
            <a:ext cx="594360" cy="594360"/>
          </a:xfrm>
          <a:prstGeom prst="ellipse">
            <a:avLst/>
          </a:prstGeom>
          <a:solidFill>
            <a:srgbClr val="0D2F4F"/>
          </a:solidFill>
          <a:ln w="12700">
            <a:solidFill>
              <a:srgbClr val="0D2F4F"/>
            </a:solidFill>
            <a:prstDash val="solid"/>
          </a:ln>
        </p:spPr>
      </p:sp>
      <p:pic>
        <p:nvPicPr>
          <p:cNvPr id="36" name="Image 5" descr="preencoded.png">    </p:cNvPr>
          <p:cNvPicPr>
            <a:picLocks noChangeAspect="1"/>
          </p:cNvPicPr>
          <p:nvPr/>
        </p:nvPicPr>
        <p:blipFill>
          <a:blip r:embed="rId6"/>
          <a:stretch>
            <a:fillRect/>
          </a:stretch>
        </p:blipFill>
        <p:spPr>
          <a:xfrm>
            <a:off x="8475574" y="4177894"/>
            <a:ext cx="285293" cy="285293"/>
          </a:xfrm>
          <a:prstGeom prst="rect">
            <a:avLst/>
          </a:prstGeom>
        </p:spPr>
      </p:pic>
      <p:sp>
        <p:nvSpPr>
          <p:cNvPr id="37" name="Text 29"/>
          <p:cNvSpPr txBox="1"/>
          <p:nvPr/>
        </p:nvSpPr>
        <p:spPr>
          <a:xfrm>
            <a:off x="1092708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06</a:t>
            </a:r>
            <a:endParaRPr lang="en-US" sz="2000" dirty="0"/>
          </a:p>
        </p:txBody>
      </p:sp>
      <p:sp>
        <p:nvSpPr>
          <p:cNvPr id="38" name="Text 30"/>
          <p:cNvSpPr txBox="1"/>
          <p:nvPr/>
        </p:nvSpPr>
        <p:spPr>
          <a:xfrm>
            <a:off x="905256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Xorijiy investitsiyalar va grantlar</a:t>
            </a:r>
            <a:endParaRPr lang="en-US" sz="1550" dirty="0"/>
          </a:p>
        </p:txBody>
      </p:sp>
      <p:sp>
        <p:nvSpPr>
          <p:cNvPr id="39" name="Text 31"/>
          <p:cNvSpPr txBox="1"/>
          <p:nvPr/>
        </p:nvSpPr>
        <p:spPr>
          <a:xfrm>
            <a:off x="832104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to‘g‘ridan-to‘g‘ri xorijiy investitsiyalar, xalqaro moliya institutlari, davlat dasturlari.</a:t>
            </a:r>
            <a:endParaRPr lang="en-US" sz="1350" dirty="0"/>
          </a:p>
        </p:txBody>
      </p:sp>
      <p:sp>
        <p:nvSpPr>
          <p:cNvPr id="40" name="Shape 32"/>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1" name="Text 33"/>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Kapitalning o‘rtacha tortilgan qiymati (WACC)</a:t>
            </a:r>
            <a:pPr indent="0" marL="0">
              <a:buNone/>
            </a:pPr>
            <a:r>
              <a:rPr lang="en-US" sz="1350" dirty="0">
                <a:solidFill>
                  <a:srgbClr val="1B2A3A"/>
                </a:solidFill>
                <a:latin typeface="Calibri" pitchFamily="34" charset="0"/>
                <a:ea typeface="Calibri" pitchFamily="34" charset="-122"/>
                <a:cs typeface="Calibri" pitchFamily="34" charset="-120"/>
              </a:rPr>
              <a:t> – manbalar narxining o‘rtachasi; loyiha daromadliligi undan yuqori bo‘lishi kerak.</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Investitsion loyihalar samaradorligini baholash usullari</a:t>
            </a:r>
            <a:endParaRPr lang="en-US" sz="3000" dirty="0"/>
          </a:p>
        </p:txBody>
      </p:sp>
      <p:pic>
        <p:nvPicPr>
          <p:cNvPr id="3" name="Image 0" descr="img8/eval.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Dinamik usullar pulning vaqt qiymatini (diskontlash) hisobga oladi</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1828800"/>
                <a:gridCol w="3657600"/>
                <a:gridCol w="2011680"/>
              </a:tblGrid>
              <a:tr h="548640">
                <a:tc>
                  <a:txBody>
                    <a:bodyPr/>
                    <a:lstStyle/>
                    <a:p>
                      <a:pPr algn="l" indent="0" marL="0">
                        <a:buNone/>
                      </a:pPr>
                      <a:r>
                        <a:rPr lang="en-US" sz="1300" b="1" dirty="0">
                          <a:solidFill>
                            <a:srgbClr val="FFFFFF"/>
                          </a:solidFill>
                        </a:rPr>
                        <a:t>Ko‘rsatkich</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Mazmuni / hisoblash</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Qabul qilish mezoni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48640">
                <a:tc>
                  <a:txBody>
                    <a:bodyPr/>
                    <a:lstStyle/>
                    <a:p>
                      <a:pPr algn="l" indent="0" marL="0">
                        <a:buNone/>
                      </a:pPr>
                      <a:r>
                        <a:rPr lang="en-US" sz="1250" b="1" dirty="0">
                          <a:solidFill>
                            <a:srgbClr val="0D2F4F"/>
                          </a:solidFill>
                        </a:rPr>
                        <a:t>NPV – sof joriy qiymat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NPV = Σ CFₜ / (1 + r)ᵗ − I₀; diskontlangan pul oqimlari va investitsiya farqi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NPV &gt; 0</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IRR – ichki daromadlilik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NPV nolga teng bo‘ladigan diskont stavkasi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IRR &gt; kapital qiymati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PI – rentabellik indeksi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PI = Σ diskontlangan CF / I₀</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PI &gt; 1</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PP – qoplanish muddati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investitsiya pul oqimlari hisobidan necha yilda qaytishi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imkon qadar qisqa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DPP – diskontlangan PP</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diskontlangan pul oqimlari asosida qoplanish muddati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loyiha muddatidan kam</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ARR – hisobiy rentabellik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o‘rtacha yillik foyda / investitsiya hajmi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belgilangan me’yordan yuqori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Belgilar:</a:t>
            </a:r>
            <a:pPr indent="0" marL="0">
              <a:buNone/>
            </a:pPr>
            <a:r>
              <a:rPr lang="en-US" sz="1400" dirty="0">
                <a:solidFill>
                  <a:srgbClr val="1B2A3A"/>
                </a:solidFill>
                <a:latin typeface="Calibri" pitchFamily="34" charset="0"/>
                <a:ea typeface="Calibri" pitchFamily="34" charset="-122"/>
                <a:cs typeface="Calibri" pitchFamily="34" charset="-120"/>
              </a:rPr>
              <a:t> CFₜ – t-yildagi pul oqimi, r – diskont stavkasi, I₀ – boshlang‘ich investitsiya.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Amaliy misol: investitsion loyihani baholash</a:t>
            </a:r>
            <a:endParaRPr lang="en-US" sz="3000" dirty="0"/>
          </a:p>
        </p:txBody>
      </p:sp>
      <p:sp>
        <p:nvSpPr>
          <p:cNvPr id="3" name="Shape 1"/>
          <p:cNvSpPr/>
          <p:nvPr/>
        </p:nvSpPr>
        <p:spPr>
          <a:xfrm>
            <a:off x="548640" y="1371600"/>
            <a:ext cx="2468880" cy="1463040"/>
          </a:xfrm>
          <a:prstGeom prst="roundRect">
            <a:avLst>
              <a:gd name="adj" fmla="val 75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548640" y="1481328"/>
            <a:ext cx="2468880" cy="731520"/>
          </a:xfrm>
          <a:prstGeom prst="rect">
            <a:avLst/>
          </a:prstGeom>
          <a:noFill/>
          <a:ln/>
        </p:spPr>
        <p:txBody>
          <a:bodyPr wrap="square" lIns="0" tIns="0" rIns="0" bIns="0" rtlCol="0" anchor="ctr"/>
          <a:lstStyle/>
          <a:p>
            <a:pPr algn="ctr" indent="0" marL="0">
              <a:buNone/>
            </a:pPr>
            <a:r>
              <a:rPr lang="en-US" sz="3000" b="1" dirty="0">
                <a:solidFill>
                  <a:srgbClr val="0E9F9A"/>
                </a:solidFill>
                <a:latin typeface="Cambria" pitchFamily="34" charset="0"/>
                <a:ea typeface="Cambria" pitchFamily="34" charset="-122"/>
                <a:cs typeface="Cambria" pitchFamily="34" charset="-120"/>
              </a:rPr>
              <a:t>284 mln</a:t>
            </a:r>
            <a:endParaRPr lang="en-US" sz="3000" dirty="0"/>
          </a:p>
        </p:txBody>
      </p:sp>
      <p:sp>
        <p:nvSpPr>
          <p:cNvPr id="5" name="Text 3"/>
          <p:cNvSpPr txBox="1"/>
          <p:nvPr/>
        </p:nvSpPr>
        <p:spPr>
          <a:xfrm>
            <a:off x="640080" y="2194560"/>
            <a:ext cx="2286000" cy="548640"/>
          </a:xfrm>
          <a:prstGeom prst="rect">
            <a:avLst/>
          </a:prstGeom>
          <a:noFill/>
          <a:ln/>
        </p:spPr>
        <p:txBody>
          <a:bodyPr wrap="square" lIns="0" tIns="0" rIns="0" bIns="0" rtlCol="0" anchor="t"/>
          <a:lstStyle/>
          <a:p>
            <a:pPr algn="ctr" indent="0" marL="0">
              <a:buNone/>
            </a:pPr>
            <a:r>
              <a:rPr lang="en-US" sz="1250" dirty="0">
                <a:solidFill>
                  <a:srgbClr val="4A5B6C"/>
                </a:solidFill>
              </a:rPr>
              <a:t>NPV (r = 12%) &gt; 0 – loyiha foydali</a:t>
            </a:r>
            <a:endParaRPr lang="en-US" sz="1250" dirty="0"/>
          </a:p>
        </p:txBody>
      </p:sp>
      <p:sp>
        <p:nvSpPr>
          <p:cNvPr id="6" name="Shape 4"/>
          <p:cNvSpPr/>
          <p:nvPr/>
        </p:nvSpPr>
        <p:spPr>
          <a:xfrm>
            <a:off x="3154680" y="1371600"/>
            <a:ext cx="2468880" cy="1463040"/>
          </a:xfrm>
          <a:prstGeom prst="roundRect">
            <a:avLst>
              <a:gd name="adj" fmla="val 75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5"/>
          <p:cNvSpPr txBox="1"/>
          <p:nvPr/>
        </p:nvSpPr>
        <p:spPr>
          <a:xfrm>
            <a:off x="3154680" y="1481328"/>
            <a:ext cx="2468880" cy="731520"/>
          </a:xfrm>
          <a:prstGeom prst="rect">
            <a:avLst/>
          </a:prstGeom>
          <a:noFill/>
          <a:ln/>
        </p:spPr>
        <p:txBody>
          <a:bodyPr wrap="square" lIns="0" tIns="0" rIns="0" bIns="0" rtlCol="0" anchor="ctr"/>
          <a:lstStyle/>
          <a:p>
            <a:pPr algn="ctr" indent="0" marL="0">
              <a:buNone/>
            </a:pPr>
            <a:r>
              <a:rPr lang="en-US" sz="3000" b="1" dirty="0">
                <a:solidFill>
                  <a:srgbClr val="0D2F4F"/>
                </a:solidFill>
                <a:latin typeface="Cambria" pitchFamily="34" charset="0"/>
                <a:ea typeface="Cambria" pitchFamily="34" charset="-122"/>
                <a:cs typeface="Cambria" pitchFamily="34" charset="-120"/>
              </a:rPr>
              <a:t>22,5%</a:t>
            </a:r>
            <a:endParaRPr lang="en-US" sz="3000" dirty="0"/>
          </a:p>
        </p:txBody>
      </p:sp>
      <p:sp>
        <p:nvSpPr>
          <p:cNvPr id="8" name="Text 6"/>
          <p:cNvSpPr txBox="1"/>
          <p:nvPr/>
        </p:nvSpPr>
        <p:spPr>
          <a:xfrm>
            <a:off x="3246120" y="2194560"/>
            <a:ext cx="2286000" cy="548640"/>
          </a:xfrm>
          <a:prstGeom prst="rect">
            <a:avLst/>
          </a:prstGeom>
          <a:noFill/>
          <a:ln/>
        </p:spPr>
        <p:txBody>
          <a:bodyPr wrap="square" lIns="0" tIns="0" rIns="0" bIns="0" rtlCol="0" anchor="t"/>
          <a:lstStyle/>
          <a:p>
            <a:pPr algn="ctr" indent="0" marL="0">
              <a:buNone/>
            </a:pPr>
            <a:r>
              <a:rPr lang="en-US" sz="1250" dirty="0">
                <a:solidFill>
                  <a:srgbClr val="4A5B6C"/>
                </a:solidFill>
              </a:rPr>
              <a:t>IRR &gt; 12% – kapital qiymatidan yuqori</a:t>
            </a:r>
            <a:endParaRPr lang="en-US" sz="1250" dirty="0"/>
          </a:p>
        </p:txBody>
      </p:sp>
      <p:sp>
        <p:nvSpPr>
          <p:cNvPr id="9" name="Shape 7"/>
          <p:cNvSpPr/>
          <p:nvPr/>
        </p:nvSpPr>
        <p:spPr>
          <a:xfrm>
            <a:off x="548640" y="2971800"/>
            <a:ext cx="2468880" cy="1463040"/>
          </a:xfrm>
          <a:prstGeom prst="roundRect">
            <a:avLst>
              <a:gd name="adj" fmla="val 75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0" name="Text 8"/>
          <p:cNvSpPr txBox="1"/>
          <p:nvPr/>
        </p:nvSpPr>
        <p:spPr>
          <a:xfrm>
            <a:off x="548640" y="3081528"/>
            <a:ext cx="2468880" cy="731520"/>
          </a:xfrm>
          <a:prstGeom prst="rect">
            <a:avLst/>
          </a:prstGeom>
          <a:noFill/>
          <a:ln/>
        </p:spPr>
        <p:txBody>
          <a:bodyPr wrap="square" lIns="0" tIns="0" rIns="0" bIns="0" rtlCol="0" anchor="ctr"/>
          <a:lstStyle/>
          <a:p>
            <a:pPr algn="ctr" indent="0" marL="0">
              <a:buNone/>
            </a:pPr>
            <a:r>
              <a:rPr lang="en-US" sz="3000" b="1" dirty="0">
                <a:solidFill>
                  <a:srgbClr val="0E9F9A"/>
                </a:solidFill>
                <a:latin typeface="Cambria" pitchFamily="34" charset="0"/>
                <a:ea typeface="Cambria" pitchFamily="34" charset="-122"/>
                <a:cs typeface="Cambria" pitchFamily="34" charset="-120"/>
              </a:rPr>
              <a:t>1,28</a:t>
            </a:r>
            <a:endParaRPr lang="en-US" sz="3000" dirty="0"/>
          </a:p>
        </p:txBody>
      </p:sp>
      <p:sp>
        <p:nvSpPr>
          <p:cNvPr id="11" name="Text 9"/>
          <p:cNvSpPr txBox="1"/>
          <p:nvPr/>
        </p:nvSpPr>
        <p:spPr>
          <a:xfrm>
            <a:off x="640080" y="3794760"/>
            <a:ext cx="2286000" cy="548640"/>
          </a:xfrm>
          <a:prstGeom prst="rect">
            <a:avLst/>
          </a:prstGeom>
          <a:noFill/>
          <a:ln/>
        </p:spPr>
        <p:txBody>
          <a:bodyPr wrap="square" lIns="0" tIns="0" rIns="0" bIns="0" rtlCol="0" anchor="t"/>
          <a:lstStyle/>
          <a:p>
            <a:pPr algn="ctr" indent="0" marL="0">
              <a:buNone/>
            </a:pPr>
            <a:r>
              <a:rPr lang="en-US" sz="1250" dirty="0">
                <a:solidFill>
                  <a:srgbClr val="4A5B6C"/>
                </a:solidFill>
              </a:rPr>
              <a:t>PI &gt; 1 – har 1 so‘m 1,28 so‘m qaytaradi</a:t>
            </a:r>
            <a:endParaRPr lang="en-US" sz="1250" dirty="0"/>
          </a:p>
        </p:txBody>
      </p:sp>
      <p:sp>
        <p:nvSpPr>
          <p:cNvPr id="12" name="Shape 10"/>
          <p:cNvSpPr/>
          <p:nvPr/>
        </p:nvSpPr>
        <p:spPr>
          <a:xfrm>
            <a:off x="3154680" y="2971800"/>
            <a:ext cx="2468880" cy="1463040"/>
          </a:xfrm>
          <a:prstGeom prst="roundRect">
            <a:avLst>
              <a:gd name="adj" fmla="val 75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Text 11"/>
          <p:cNvSpPr txBox="1"/>
          <p:nvPr/>
        </p:nvSpPr>
        <p:spPr>
          <a:xfrm>
            <a:off x="3154680" y="3081528"/>
            <a:ext cx="2468880" cy="731520"/>
          </a:xfrm>
          <a:prstGeom prst="rect">
            <a:avLst/>
          </a:prstGeom>
          <a:noFill/>
          <a:ln/>
        </p:spPr>
        <p:txBody>
          <a:bodyPr wrap="square" lIns="0" tIns="0" rIns="0" bIns="0" rtlCol="0" anchor="ctr"/>
          <a:lstStyle/>
          <a:p>
            <a:pPr algn="ctr" indent="0" marL="0">
              <a:buNone/>
            </a:pPr>
            <a:r>
              <a:rPr lang="en-US" sz="3000" b="1" dirty="0">
                <a:solidFill>
                  <a:srgbClr val="0D2F4F"/>
                </a:solidFill>
                <a:latin typeface="Cambria" pitchFamily="34" charset="0"/>
                <a:ea typeface="Cambria" pitchFamily="34" charset="-122"/>
                <a:cs typeface="Cambria" pitchFamily="34" charset="-120"/>
              </a:rPr>
              <a:t>2,9 yil</a:t>
            </a:r>
            <a:endParaRPr lang="en-US" sz="3000" dirty="0"/>
          </a:p>
        </p:txBody>
      </p:sp>
      <p:sp>
        <p:nvSpPr>
          <p:cNvPr id="14" name="Text 12"/>
          <p:cNvSpPr txBox="1"/>
          <p:nvPr/>
        </p:nvSpPr>
        <p:spPr>
          <a:xfrm>
            <a:off x="3246120" y="3794760"/>
            <a:ext cx="2286000" cy="548640"/>
          </a:xfrm>
          <a:prstGeom prst="rect">
            <a:avLst/>
          </a:prstGeom>
          <a:noFill/>
          <a:ln/>
        </p:spPr>
        <p:txBody>
          <a:bodyPr wrap="square" lIns="0" tIns="0" rIns="0" bIns="0" rtlCol="0" anchor="t"/>
          <a:lstStyle/>
          <a:p>
            <a:pPr algn="ctr" indent="0" marL="0">
              <a:buNone/>
            </a:pPr>
            <a:r>
              <a:rPr lang="en-US" sz="1250" dirty="0">
                <a:solidFill>
                  <a:srgbClr val="4A5B6C"/>
                </a:solidFill>
              </a:rPr>
              <a:t>PP – oddiy qoplanish muddati</a:t>
            </a:r>
            <a:endParaRPr lang="en-US" sz="1250" dirty="0"/>
          </a:p>
        </p:txBody>
      </p:sp>
      <p:sp>
        <p:nvSpPr>
          <p:cNvPr id="15" name="Shape 13"/>
          <p:cNvSpPr/>
          <p:nvPr/>
        </p:nvSpPr>
        <p:spPr>
          <a:xfrm>
            <a:off x="548640" y="466344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6" name="Text 14"/>
          <p:cNvSpPr txBox="1"/>
          <p:nvPr/>
        </p:nvSpPr>
        <p:spPr>
          <a:xfrm>
            <a:off x="731520" y="470916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Shartli misol:</a:t>
            </a:r>
            <a:pPr indent="0" marL="0">
              <a:buNone/>
            </a:pPr>
            <a:r>
              <a:rPr lang="en-US" sz="1400" dirty="0">
                <a:solidFill>
                  <a:srgbClr val="1B2A3A"/>
                </a:solidFill>
                <a:latin typeface="Calibri" pitchFamily="34" charset="0"/>
                <a:ea typeface="Calibri" pitchFamily="34" charset="-122"/>
                <a:cs typeface="Calibri" pitchFamily="34" charset="-120"/>
              </a:rPr>
              <a:t> yangi ishlab chiqarish liniyasiga 1 000 mln so‘m investitsiya, 5 yil davomida kutilayotgan pul oqimlari diagrammada. Xulosa: loyiha qabul qilinadi.</a:t>
            </a:r>
            <a:endParaRPr lang="en-US" sz="1400" dirty="0"/>
          </a:p>
        </p:txBody>
      </p:sp>
      <p:sp>
        <p:nvSpPr>
          <p:cNvPr id="17" name="Text 15"/>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Loyiha pul oqimlari, mln so‘m (shartli misol)</a:t>
            </a:r>
            <a:endParaRPr lang="en-US" sz="1500" dirty="0"/>
          </a:p>
        </p:txBody>
      </p:sp>
      <p:graphicFrame>
        <p:nvGraphicFramePr>
          <p:cNvPr id="18"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Investitsion loyihalarni boshqarish va xatarlarni kamaytirish</a:t>
            </a:r>
            <a:endParaRPr lang="en-US" sz="3000" dirty="0"/>
          </a:p>
        </p:txBody>
      </p:sp>
      <p:sp>
        <p:nvSpPr>
          <p:cNvPr id="3" name="Text 1"/>
          <p:cNvSpPr txBox="1"/>
          <p:nvPr/>
        </p:nvSpPr>
        <p:spPr>
          <a:xfrm>
            <a:off x="548640" y="1325880"/>
            <a:ext cx="6949440" cy="10058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Loyihalarni boshqarish</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loyihani belgilangan muddat, byudjet va sifatda amalga oshirish uchun resurslarni rejalashtirish, tashkil etish va nazorat qilish. Asosiy xatarlar va ularni kamaytirish usullari:</a:t>
            </a:r>
            <a:endParaRPr lang="en-US" sz="1400" dirty="0"/>
          </a:p>
        </p:txBody>
      </p:sp>
      <p:sp>
        <p:nvSpPr>
          <p:cNvPr id="4" name="Shape 2"/>
          <p:cNvSpPr/>
          <p:nvPr/>
        </p:nvSpPr>
        <p:spPr>
          <a:xfrm>
            <a:off x="548640" y="242316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685800" y="265176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40334" y="2806294"/>
            <a:ext cx="285293" cy="285293"/>
          </a:xfrm>
          <a:prstGeom prst="rect">
            <a:avLst/>
          </a:prstGeom>
        </p:spPr>
      </p:pic>
      <p:sp>
        <p:nvSpPr>
          <p:cNvPr id="7" name="Text 4"/>
          <p:cNvSpPr txBox="1"/>
          <p:nvPr/>
        </p:nvSpPr>
        <p:spPr>
          <a:xfrm>
            <a:off x="1417320" y="251460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Sug‘urtalash</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mol-mulk, qurilish va moliyaviy xatarlarni sug‘urta qilish</a:t>
            </a:r>
            <a:endParaRPr lang="en-US" sz="1400" dirty="0"/>
          </a:p>
        </p:txBody>
      </p:sp>
      <p:sp>
        <p:nvSpPr>
          <p:cNvPr id="8" name="Shape 5"/>
          <p:cNvSpPr/>
          <p:nvPr/>
        </p:nvSpPr>
        <p:spPr>
          <a:xfrm>
            <a:off x="4069080" y="242316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4206240" y="2651760"/>
            <a:ext cx="594360" cy="594360"/>
          </a:xfrm>
          <a:prstGeom prst="ellipse">
            <a:avLst/>
          </a:prstGeom>
          <a:solidFill>
            <a:srgbClr val="0D2F4F"/>
          </a:solidFill>
          <a:ln w="12700">
            <a:solidFill>
              <a:srgbClr val="0D2F4F"/>
            </a:solidFill>
            <a:prstDash val="solid"/>
          </a:ln>
        </p:spPr>
      </p:sp>
      <p:pic>
        <p:nvPicPr>
          <p:cNvPr id="10" name="Image 1" descr="preencoded.png">    </p:cNvPr>
          <p:cNvPicPr>
            <a:picLocks noChangeAspect="1"/>
          </p:cNvPicPr>
          <p:nvPr/>
        </p:nvPicPr>
        <p:blipFill>
          <a:blip r:embed="rId2"/>
          <a:stretch>
            <a:fillRect/>
          </a:stretch>
        </p:blipFill>
        <p:spPr>
          <a:xfrm>
            <a:off x="4360774" y="2806294"/>
            <a:ext cx="285293" cy="285293"/>
          </a:xfrm>
          <a:prstGeom prst="rect">
            <a:avLst/>
          </a:prstGeom>
        </p:spPr>
      </p:pic>
      <p:sp>
        <p:nvSpPr>
          <p:cNvPr id="11" name="Text 7"/>
          <p:cNvSpPr txBox="1"/>
          <p:nvPr/>
        </p:nvSpPr>
        <p:spPr>
          <a:xfrm>
            <a:off x="4937760" y="251460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Diversifikatsiya</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mablag‘larni turli loyiha va yo‘nalishlarga taqsimlash</a:t>
            </a:r>
            <a:endParaRPr lang="en-US" sz="1400" dirty="0"/>
          </a:p>
        </p:txBody>
      </p:sp>
      <p:sp>
        <p:nvSpPr>
          <p:cNvPr id="12" name="Shape 8"/>
          <p:cNvSpPr/>
          <p:nvPr/>
        </p:nvSpPr>
        <p:spPr>
          <a:xfrm>
            <a:off x="548640" y="361188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9"/>
          <p:cNvSpPr/>
          <p:nvPr/>
        </p:nvSpPr>
        <p:spPr>
          <a:xfrm>
            <a:off x="685800" y="3840480"/>
            <a:ext cx="594360" cy="594360"/>
          </a:xfrm>
          <a:prstGeom prst="ellipse">
            <a:avLst/>
          </a:prstGeom>
          <a:solidFill>
            <a:srgbClr val="0E9F9A"/>
          </a:solidFill>
          <a:ln w="12700">
            <a:solidFill>
              <a:srgbClr val="0E9F9A"/>
            </a:solidFill>
            <a:prstDash val="solid"/>
          </a:ln>
        </p:spPr>
      </p:sp>
      <p:pic>
        <p:nvPicPr>
          <p:cNvPr id="14" name="Image 2" descr="preencoded.png">    </p:cNvPr>
          <p:cNvPicPr>
            <a:picLocks noChangeAspect="1"/>
          </p:cNvPicPr>
          <p:nvPr/>
        </p:nvPicPr>
        <p:blipFill>
          <a:blip r:embed="rId3"/>
          <a:stretch>
            <a:fillRect/>
          </a:stretch>
        </p:blipFill>
        <p:spPr>
          <a:xfrm>
            <a:off x="840334" y="3995014"/>
            <a:ext cx="285293" cy="285293"/>
          </a:xfrm>
          <a:prstGeom prst="rect">
            <a:avLst/>
          </a:prstGeom>
        </p:spPr>
      </p:pic>
      <p:sp>
        <p:nvSpPr>
          <p:cNvPr id="15" name="Text 10"/>
          <p:cNvSpPr txBox="1"/>
          <p:nvPr/>
        </p:nvSpPr>
        <p:spPr>
          <a:xfrm>
            <a:off x="1417320" y="370332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Shartnomaviy himoya</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kafolatlar, jarimalar, qat’iy narxli shartnomalar</a:t>
            </a:r>
            <a:endParaRPr lang="en-US" sz="1400" dirty="0"/>
          </a:p>
        </p:txBody>
      </p:sp>
      <p:sp>
        <p:nvSpPr>
          <p:cNvPr id="16" name="Shape 11"/>
          <p:cNvSpPr/>
          <p:nvPr/>
        </p:nvSpPr>
        <p:spPr>
          <a:xfrm>
            <a:off x="4069080" y="3611880"/>
            <a:ext cx="33832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2"/>
          <p:cNvSpPr/>
          <p:nvPr/>
        </p:nvSpPr>
        <p:spPr>
          <a:xfrm>
            <a:off x="4206240" y="3840480"/>
            <a:ext cx="594360" cy="594360"/>
          </a:xfrm>
          <a:prstGeom prst="ellipse">
            <a:avLst/>
          </a:prstGeom>
          <a:solidFill>
            <a:srgbClr val="0D2F4F"/>
          </a:solidFill>
          <a:ln w="12700">
            <a:solidFill>
              <a:srgbClr val="0D2F4F"/>
            </a:solidFill>
            <a:prstDash val="solid"/>
          </a:ln>
        </p:spPr>
      </p:sp>
      <p:pic>
        <p:nvPicPr>
          <p:cNvPr id="18" name="Image 3" descr="preencoded.png">    </p:cNvPr>
          <p:cNvPicPr>
            <a:picLocks noChangeAspect="1"/>
          </p:cNvPicPr>
          <p:nvPr/>
        </p:nvPicPr>
        <p:blipFill>
          <a:blip r:embed="rId4"/>
          <a:stretch>
            <a:fillRect/>
          </a:stretch>
        </p:blipFill>
        <p:spPr>
          <a:xfrm>
            <a:off x="4360774" y="3995014"/>
            <a:ext cx="285293" cy="285293"/>
          </a:xfrm>
          <a:prstGeom prst="rect">
            <a:avLst/>
          </a:prstGeom>
        </p:spPr>
      </p:pic>
      <p:sp>
        <p:nvSpPr>
          <p:cNvPr id="19" name="Text 13"/>
          <p:cNvSpPr txBox="1"/>
          <p:nvPr/>
        </p:nvSpPr>
        <p:spPr>
          <a:xfrm>
            <a:off x="4937760" y="3703320"/>
            <a:ext cx="2423160" cy="86868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Zaxira fondi</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kutilmagan xarajatlar uchun byudjetning 5–10% zaxirasi</a:t>
            </a:r>
            <a:endParaRPr lang="en-US" sz="1400" dirty="0"/>
          </a:p>
        </p:txBody>
      </p:sp>
      <p:pic>
        <p:nvPicPr>
          <p:cNvPr id="20" name="Image 4" descr="img8/conclusion.png">    </p:cNvPr>
          <p:cNvPicPr>
            <a:picLocks noChangeAspect="1"/>
          </p:cNvPicPr>
          <p:nvPr/>
        </p:nvPicPr>
        <p:blipFill>
          <a:blip r:embed="rId5"/>
          <a:stretch>
            <a:fillRect/>
          </a:stretch>
        </p:blipFill>
        <p:spPr>
          <a:xfrm>
            <a:off x="7863840" y="1371600"/>
            <a:ext cx="3749040" cy="2916936"/>
          </a:xfrm>
          <a:prstGeom prst="rect">
            <a:avLst/>
          </a:prstGeom>
        </p:spPr>
      </p:pic>
      <p:sp>
        <p:nvSpPr>
          <p:cNvPr id="21" name="Text 14"/>
          <p:cNvSpPr txBox="1"/>
          <p:nvPr/>
        </p:nvSpPr>
        <p:spPr>
          <a:xfrm>
            <a:off x="7863840" y="4434840"/>
            <a:ext cx="3749040" cy="731520"/>
          </a:xfrm>
          <a:prstGeom prst="rect">
            <a:avLst/>
          </a:prstGeom>
          <a:noFill/>
          <a:ln/>
        </p:spPr>
        <p:txBody>
          <a:bodyPr wrap="square" lIns="0" tIns="0" rIns="0" bIns="0" rtlCol="0" anchor="ctr"/>
          <a:lstStyle/>
          <a:p>
            <a:pPr indent="0" marL="0">
              <a:buNone/>
            </a:pPr>
            <a:r>
              <a:rPr lang="en-US" sz="1300" i="1" dirty="0">
                <a:solidFill>
                  <a:srgbClr val="4A5B6C"/>
                </a:solidFill>
              </a:rPr>
              <a:t>Loyiha boshqaruvi xalqaro standartlari: PMBOK, PRINCE2</a:t>
            </a:r>
            <a:endParaRPr lang="en-US" sz="1300" dirty="0"/>
          </a:p>
        </p:txBody>
      </p:sp>
      <p:sp>
        <p:nvSpPr>
          <p:cNvPr id="22" name="Text 15"/>
          <p:cNvSpPr txBox="1"/>
          <p:nvPr/>
        </p:nvSpPr>
        <p:spPr>
          <a:xfrm>
            <a:off x="548640" y="4892040"/>
            <a:ext cx="7315200" cy="365760"/>
          </a:xfrm>
          <a:prstGeom prst="rect">
            <a:avLst/>
          </a:prstGeom>
          <a:noFill/>
          <a:ln/>
        </p:spPr>
        <p:txBody>
          <a:bodyPr wrap="square" lIns="0" tIns="0" rIns="0" bIns="0" rtlCol="0" anchor="ctr"/>
          <a:lstStyle/>
          <a:p>
            <a:pPr indent="0" marL="0">
              <a:buNone/>
            </a:pPr>
            <a:r>
              <a:rPr lang="en-US" sz="1600" b="1" dirty="0">
                <a:solidFill>
                  <a:srgbClr val="0D2F4F"/>
                </a:solidFill>
              </a:rPr>
              <a:t>Investitsion loyihaning hayotiy sikli:</a:t>
            </a:r>
            <a:endParaRPr lang="en-US" sz="1600" dirty="0"/>
          </a:p>
        </p:txBody>
      </p:sp>
      <p:sp>
        <p:nvSpPr>
          <p:cNvPr id="23" name="Shape 16"/>
          <p:cNvSpPr/>
          <p:nvPr/>
        </p:nvSpPr>
        <p:spPr>
          <a:xfrm>
            <a:off x="548640" y="5303520"/>
            <a:ext cx="2743200" cy="685800"/>
          </a:xfrm>
          <a:prstGeom prst="homePlate">
            <a:avLst/>
          </a:prstGeom>
          <a:solidFill>
            <a:srgbClr val="0E9F9A"/>
          </a:solidFill>
          <a:ln w="12700">
            <a:solidFill>
              <a:srgbClr val="FFFFFF"/>
            </a:solidFill>
            <a:prstDash val="solid"/>
          </a:ln>
        </p:spPr>
      </p:sp>
      <p:sp>
        <p:nvSpPr>
          <p:cNvPr id="24" name="Text 17"/>
          <p:cNvSpPr txBox="1"/>
          <p:nvPr/>
        </p:nvSpPr>
        <p:spPr>
          <a:xfrm>
            <a:off x="731520" y="5303520"/>
            <a:ext cx="2103120" cy="685800"/>
          </a:xfrm>
          <a:prstGeom prst="rect">
            <a:avLst/>
          </a:prstGeom>
          <a:noFill/>
          <a:ln/>
        </p:spPr>
        <p:txBody>
          <a:bodyPr wrap="square" lIns="0" tIns="0" rIns="0" bIns="0" rtlCol="0" anchor="ctr"/>
          <a:lstStyle/>
          <a:p>
            <a:pPr indent="0" marL="0">
              <a:buNone/>
            </a:pPr>
            <a:r>
              <a:rPr lang="en-US" sz="1350" b="1" dirty="0">
                <a:solidFill>
                  <a:srgbClr val="FFFFFF"/>
                </a:solidFill>
              </a:rPr>
              <a:t>Investitsiyadan oldingi (TEA)</a:t>
            </a:r>
            <a:endParaRPr lang="en-US" sz="1350" dirty="0"/>
          </a:p>
        </p:txBody>
      </p:sp>
      <p:sp>
        <p:nvSpPr>
          <p:cNvPr id="25" name="Shape 18"/>
          <p:cNvSpPr/>
          <p:nvPr/>
        </p:nvSpPr>
        <p:spPr>
          <a:xfrm>
            <a:off x="3291840" y="5303520"/>
            <a:ext cx="2743200" cy="685800"/>
          </a:xfrm>
          <a:prstGeom prst="chevron">
            <a:avLst/>
          </a:prstGeom>
          <a:solidFill>
            <a:srgbClr val="0D2F4F"/>
          </a:solidFill>
          <a:ln w="12700">
            <a:solidFill>
              <a:srgbClr val="FFFFFF"/>
            </a:solidFill>
            <a:prstDash val="solid"/>
          </a:ln>
        </p:spPr>
      </p:sp>
      <p:sp>
        <p:nvSpPr>
          <p:cNvPr id="26" name="Text 19"/>
          <p:cNvSpPr txBox="1"/>
          <p:nvPr/>
        </p:nvSpPr>
        <p:spPr>
          <a:xfrm>
            <a:off x="3703320" y="5303520"/>
            <a:ext cx="2103120" cy="685800"/>
          </a:xfrm>
          <a:prstGeom prst="rect">
            <a:avLst/>
          </a:prstGeom>
          <a:noFill/>
          <a:ln/>
        </p:spPr>
        <p:txBody>
          <a:bodyPr wrap="square" lIns="0" tIns="0" rIns="0" bIns="0" rtlCol="0" anchor="ctr"/>
          <a:lstStyle/>
          <a:p>
            <a:pPr indent="0" marL="0">
              <a:buNone/>
            </a:pPr>
            <a:r>
              <a:rPr lang="en-US" sz="1350" b="1" dirty="0">
                <a:solidFill>
                  <a:srgbClr val="FFFFFF"/>
                </a:solidFill>
              </a:rPr>
              <a:t>Investitsion (qurilish)</a:t>
            </a:r>
            <a:endParaRPr lang="en-US" sz="1350" dirty="0"/>
          </a:p>
        </p:txBody>
      </p:sp>
      <p:sp>
        <p:nvSpPr>
          <p:cNvPr id="27" name="Shape 20"/>
          <p:cNvSpPr/>
          <p:nvPr/>
        </p:nvSpPr>
        <p:spPr>
          <a:xfrm>
            <a:off x="6035040" y="5303520"/>
            <a:ext cx="2743200" cy="685800"/>
          </a:xfrm>
          <a:prstGeom prst="chevron">
            <a:avLst/>
          </a:prstGeom>
          <a:solidFill>
            <a:srgbClr val="0E9F9A"/>
          </a:solidFill>
          <a:ln w="12700">
            <a:solidFill>
              <a:srgbClr val="FFFFFF"/>
            </a:solidFill>
            <a:prstDash val="solid"/>
          </a:ln>
        </p:spPr>
      </p:sp>
      <p:sp>
        <p:nvSpPr>
          <p:cNvPr id="28" name="Text 21"/>
          <p:cNvSpPr txBox="1"/>
          <p:nvPr/>
        </p:nvSpPr>
        <p:spPr>
          <a:xfrm>
            <a:off x="6446520" y="5303520"/>
            <a:ext cx="2103120" cy="685800"/>
          </a:xfrm>
          <a:prstGeom prst="rect">
            <a:avLst/>
          </a:prstGeom>
          <a:noFill/>
          <a:ln/>
        </p:spPr>
        <p:txBody>
          <a:bodyPr wrap="square" lIns="0" tIns="0" rIns="0" bIns="0" rtlCol="0" anchor="ctr"/>
          <a:lstStyle/>
          <a:p>
            <a:pPr indent="0" marL="0">
              <a:buNone/>
            </a:pPr>
            <a:r>
              <a:rPr lang="en-US" sz="1350" b="1" dirty="0">
                <a:solidFill>
                  <a:srgbClr val="FFFFFF"/>
                </a:solidFill>
              </a:rPr>
              <a:t>Ekspluatatsiya</a:t>
            </a:r>
            <a:endParaRPr lang="en-US" sz="1350" dirty="0"/>
          </a:p>
        </p:txBody>
      </p:sp>
      <p:sp>
        <p:nvSpPr>
          <p:cNvPr id="29" name="Shape 22"/>
          <p:cNvSpPr/>
          <p:nvPr/>
        </p:nvSpPr>
        <p:spPr>
          <a:xfrm>
            <a:off x="8778240" y="5303520"/>
            <a:ext cx="2743200" cy="685800"/>
          </a:xfrm>
          <a:prstGeom prst="chevron">
            <a:avLst/>
          </a:prstGeom>
          <a:solidFill>
            <a:srgbClr val="0D2F4F"/>
          </a:solidFill>
          <a:ln w="12700">
            <a:solidFill>
              <a:srgbClr val="FFFFFF"/>
            </a:solidFill>
            <a:prstDash val="solid"/>
          </a:ln>
        </p:spPr>
      </p:sp>
      <p:sp>
        <p:nvSpPr>
          <p:cNvPr id="30" name="Text 23"/>
          <p:cNvSpPr txBox="1"/>
          <p:nvPr/>
        </p:nvSpPr>
        <p:spPr>
          <a:xfrm>
            <a:off x="9189720" y="5303520"/>
            <a:ext cx="2103120" cy="685800"/>
          </a:xfrm>
          <a:prstGeom prst="rect">
            <a:avLst/>
          </a:prstGeom>
          <a:noFill/>
          <a:ln/>
        </p:spPr>
        <p:txBody>
          <a:bodyPr wrap="square" lIns="0" tIns="0" rIns="0" bIns="0" rtlCol="0" anchor="ctr"/>
          <a:lstStyle/>
          <a:p>
            <a:pPr indent="0" marL="0">
              <a:buNone/>
            </a:pPr>
            <a:r>
              <a:rPr lang="en-US" sz="1350" b="1" dirty="0">
                <a:solidFill>
                  <a:srgbClr val="FFFFFF"/>
                </a:solidFill>
              </a:rPr>
              <a:t>Yakunlash va baholash</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Investitsion strategiya korxona rivojlanishining moliyaviy poydevoridir. U investitsion maqsadlar, ustuvor yo‘nalishlar, moliyalashtirish manbalari va loyihalar portfelini belgilaydi. Loyihalarni NPV, IRR, PI va qoplanish muddati kabi ko‘rsatkichlar asosida baholash, xatarlarni boshqarish va hayotiy sikl davomida qat’iy nazorat qilish kapitaldan samarali foydalanishni ta’minlaydi.</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Strategiya</a:t>
            </a:r>
            <a:endParaRPr lang="en-US" sz="1500" dirty="0"/>
          </a:p>
          <a:p>
            <a:pPr indent="0" marL="0">
              <a:spcAft>
                <a:spcPts val="200"/>
              </a:spcAft>
              <a:buNone/>
            </a:pPr>
            <a:r>
              <a:rPr lang="en-US" sz="1300" dirty="0">
                <a:solidFill>
                  <a:srgbClr val="FFFFFF"/>
                </a:solidFill>
              </a:rPr>
              <a:t>agressiv, mo‘tadil yoki konservativ – xatarga munosabatga ko‘ra</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Manbalar</a:t>
            </a:r>
            <a:endParaRPr lang="en-US" sz="1500" dirty="0"/>
          </a:p>
          <a:p>
            <a:pPr indent="0" marL="0">
              <a:spcAft>
                <a:spcPts val="200"/>
              </a:spcAft>
              <a:buNone/>
            </a:pPr>
            <a:r>
              <a:rPr lang="en-US" sz="1300" dirty="0">
                <a:solidFill>
                  <a:srgbClr val="FFFFFF"/>
                </a:solidFill>
              </a:rPr>
              <a:t>o‘z mablag‘lari, kredit, aksiya, obligatsiya, lizing, xorijiy kapital</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Baholash</a:t>
            </a:r>
            <a:endParaRPr lang="en-US" sz="1500" dirty="0"/>
          </a:p>
          <a:p>
            <a:pPr indent="0" marL="0">
              <a:spcAft>
                <a:spcPts val="200"/>
              </a:spcAft>
              <a:buNone/>
            </a:pPr>
            <a:r>
              <a:rPr lang="en-US" sz="1300" dirty="0">
                <a:solidFill>
                  <a:srgbClr val="FFFFFF"/>
                </a:solidFill>
              </a:rPr>
              <a:t>NPV &gt; 0, IRR &gt; WACC, PI &gt; 1, qisqa qoplanish muddati</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Boshqaruv</a:t>
            </a:r>
            <a:endParaRPr lang="en-US" sz="1500" dirty="0"/>
          </a:p>
          <a:p>
            <a:pPr indent="0" marL="0">
              <a:spcAft>
                <a:spcPts val="200"/>
              </a:spcAft>
              <a:buNone/>
            </a:pPr>
            <a:r>
              <a:rPr lang="en-US" sz="1300" dirty="0">
                <a:solidFill>
                  <a:srgbClr val="FFFFFF"/>
                </a:solidFill>
              </a:rPr>
              <a:t>portfel diversifikatsiyasi, sug‘urta va doimiy monitoring</a:t>
            </a:r>
            <a:endParaRPr lang="en-US" sz="1500" dirty="0"/>
          </a:p>
        </p:txBody>
      </p:sp>
      <p:pic>
        <p:nvPicPr>
          <p:cNvPr id="16" name="Image 4" descr="img8/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Bugungi to‘g‘ri investitsiya – ertangi barqaror daromad manbai.</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8/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Investitsion strategiya va loyihalarni boshqarish</dc:title>
  <dc:subject>PptxGenJS Presentation</dc:subject>
  <dc:creator>PptxGenJS</dc:creator>
  <cp:lastModifiedBy>PptxGenJS</cp:lastModifiedBy>
  <cp:revision>1</cp:revision>
  <dcterms:created xsi:type="dcterms:W3CDTF">2026-10-12T12:22:44Z</dcterms:created>
  <dcterms:modified xsi:type="dcterms:W3CDTF">2026-10-12T12:22:44Z</dcterms:modified>
</cp:coreProperties>
</file>