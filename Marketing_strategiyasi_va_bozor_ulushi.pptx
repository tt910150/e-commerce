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Bizning korxona</c:v>
                </c:pt>
              </c:strCache>
            </c:strRef>
          </c:tx>
          <c:spPr>
            <a:solidFill>
              <a:srgbClr val="0E9F9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1-yil</c:v>
                  </c:pt>
                  <c:pt idx="1">
                    <c:v>2-yil</c:v>
                  </c:pt>
                  <c:pt idx="2">
                    <c:v>3-yil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15</c:v>
                </c:pt>
                <c:pt idx="2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Asosiy raqobatchi</c:v>
                </c:pt>
              </c:strCache>
            </c:strRef>
          </c:tx>
          <c:spPr>
            <a:solidFill>
              <a:srgbClr val="B565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1-yil</c:v>
                  </c:pt>
                  <c:pt idx="1">
                    <c:v>2-yil</c:v>
                  </c:pt>
                  <c:pt idx="2">
                    <c:v>3-yil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24</c:v>
                </c:pt>
                <c:pt idx="2">
                  <c:v>22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C9DD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B6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E0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B6C"/>
                </a:solidFill>
              </a:rPr>
              <a:t>12.10.2026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10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36208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0" y="1005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541"/>
                </a:solidFill>
              </a:rPr>
              <a:t>MAVZU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675120" y="14630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KORXONA MARKETING STRATEGIYASI VA BOZOR ULUSHINI KENGAYTIRISH YO‘LLARI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9E4"/>
                </a:solidFill>
              </a:rPr>
              <a:t>Strategik menejment fanidan taqdimot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5212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Bajardi: ______________________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CEBEF"/>
                </a:solidFill>
              </a:rPr>
              <a:t>Tekshirdi: ____________________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5727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737" y="1705905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Marketing strategiyasi tushunchasi va uning o‘rni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77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71600" y="24871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37" y="262030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57400" y="23774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Bozorni segmentlash, maqsadli bozor va pozitsiyalash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3152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1371600" y="34015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37" y="3534705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3291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Marketing-miks: 4P va 7P modeli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42062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31520" y="4206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1371600" y="4315968"/>
            <a:ext cx="512064" cy="512064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737" y="444910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057400" y="4206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Bozor ulushini kengaytirish strategiyalari va usullari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512064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731520" y="5120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1371600" y="5230368"/>
            <a:ext cx="512064" cy="512064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737" y="5363505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5740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Raqamli marketing va marketing samaradorligini baholash</a:t>
            </a:r>
            <a:endParaRPr lang="en-US" sz="1600" dirty="0"/>
          </a:p>
        </p:txBody>
      </p:sp>
      <p:pic>
        <p:nvPicPr>
          <p:cNvPr id="28" name="Image 5" descr="img10/pl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463040"/>
            <a:ext cx="3931920" cy="30540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680960" y="4663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B6C"/>
                </a:solidFill>
              </a:rPr>
              <a:t>Xulosa va asosiy xulosalar taqdimot so‘ngida beriladi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Marketing va uning rivojlanish bosqichlari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iste’molchi ehtiyojlarini aniqlash, ularni raqobatchilardan yaxshiroq qondiradigan mahsulot yaratish va foyda olishga qaratilgan boshqaruv faoliyati. F. Kotler ta’rificha, marketing – “ehtiyojlarni foydali tarzda qondirish” san’atidir.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246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320954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Makkarti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marketing-miksning klassik “4P” modelini taklif etdi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977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94106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Kotler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“Marketing menejmenti” asari – zamonaviy marketing nazariyasi asosi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09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67258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Bums va M. Bitner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xizmatlar uchun “7P” – kengaytirilgan marketing-miks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4406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2000-y.+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5404104"/>
            <a:ext cx="5440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marketing – 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ijtimoiy tarmoqlar va ma’lumotlar tahliliga asoslangan marketing</a:t>
            </a:r>
            <a:endParaRPr lang="en-US" sz="1400" dirty="0"/>
          </a:p>
        </p:txBody>
      </p:sp>
      <p:pic>
        <p:nvPicPr>
          <p:cNvPr id="16" name="Image 0" descr="img10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371600"/>
            <a:ext cx="3931920" cy="3054096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680960" y="4617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863840" y="46634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evolyutsiyasi: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ishlab chiqarishga yo‘naltirilganlikdan → sotuvga → mijozga → jamiyat va qadriyatlarga yo‘naltirilganlikka.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Marketing strategiyasining mohiyati</a:t>
            </a:r>
            <a:endParaRPr lang="en-US" sz="3000" dirty="0"/>
          </a:p>
        </p:txBody>
      </p:sp>
      <p:pic>
        <p:nvPicPr>
          <p:cNvPr id="3" name="Image 0" descr="img10/ess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32735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006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strategiyasi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korxonaning maqsadli bozorlarni tanlash, ularga qiymat taklif etish va raqobat ustunligiga erishish bo‘yicha uzoq muddatli harakatlar rejasi. U umumiy rivojlanish strategiyasining bozor bilan bog‘liq qismidir.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371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F4F"/>
                </a:solidFill>
              </a:rPr>
              <a:t>Marketing strategiyasining asosiy xususiyatlari: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20640" y="192024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41" y="2067641"/>
            <a:ext cx="272125" cy="272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18745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Mijozga yo‘naltirilganlik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qarorlar iste’molchi ehtiyoji va xulqini o‘rganishdan boshlanadi.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120640" y="2788920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041" y="2936321"/>
            <a:ext cx="272125" cy="2721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852160" y="2743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tadqiqotlariga tayanish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talab, raqobatchilar va bozor tendensiyalari muntazam tahlil qilinadi.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120640" y="365760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041" y="3805001"/>
            <a:ext cx="272125" cy="2721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852160" y="36118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 ustunligini shakllantirish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korxona taklifini raqobatchilardan ajratib turadigan qiymat yaratiladi.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120640" y="4526280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8041" y="4673681"/>
            <a:ext cx="272125" cy="27212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852160" y="44805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Uzoq muddatli yo‘nalish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va mijozlar bazasi yillar davomida shakllanadi.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120640" y="5394960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8041" y="5542361"/>
            <a:ext cx="272125" cy="27212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852160" y="53492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O‘lchanadigan natijalar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ulushi, sotuv hajmi, mijozlar soni kabi ko‘rsatkichlar bilan baholanadi.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STP: segmentlash, maqsadli bozor va pozitsiyalash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marketing strategiyasi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modeli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asosida quriladi: avval bozor bo‘linadi, keyin eng jozibador qismi tanlanadi va mahsulot iste’molchi ongida aniq o‘ringa joylashtiriladi.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sport ichimligi ishlab chiqaruvchi faol yoshlar segmentini tanlab, mahsulotni “energiya va tabiiylik” sifatida pozitsiyalaydi.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68880"/>
            <a:ext cx="731520" cy="73152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6590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Segmentlash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Segmentation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474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geografik: hudud, shahar/qishloq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demografik: yosh, jins, daromad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psixografik: turmush tarzi, qadriyat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xulq-atvor: xarid odati, sodiqlik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219456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2468880"/>
            <a:ext cx="731520" cy="73152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265907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Maqsadli bozor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Targeting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474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ommaviy (differensiyalanmagan)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differensiyalangan – bir necha segment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konsentrlangan – bitta segment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hajmi, o‘sishi va foydaliligi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38160" y="2194560"/>
            <a:ext cx="35204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2468880"/>
            <a:ext cx="731520" cy="731520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75" y="265907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281160" y="2423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Pozitsiyalash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9281160" y="2971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Positioning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347472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mahsulotning noyob afzalligi (USP)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narx-sifat nisbati bo‘yicha o‘rin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raqobatchilardan farqlanish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obrazini shakllantirish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Marketing-miks: 4P va 7P modeli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53619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1683593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Product – mahsulot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sifat, dizayn, assortiment, brend, qadoq, kafolat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3756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02152" y="153619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553" y="16835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Price – narx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50215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narx darajasi, chegirmalar, to‘lov shartlari, narx strategiyasi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91072" y="153619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473" y="168359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Place – taqsimot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kanallari, do‘konlar, marketpleyslar, logistika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915400" y="137160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079992" y="153619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393" y="168359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38360" y="1508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Promotion – rag‘bat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9079992" y="224028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reklama, PR, sotuvni rag‘batlantirish, shaxsiy sotuv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3232" y="363931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378671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People – xodimlar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1323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bilan ishlovchi xodimlarning malakasi va madaniyati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333756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502152" y="363931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553" y="3786713"/>
            <a:ext cx="272125" cy="27212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16052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Process – jarayon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350215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buyurtma, yetkazish va xizmat ko‘rsatish jarayonining qulayligi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612648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91072" y="3639312"/>
            <a:ext cx="566928" cy="566928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473" y="3786713"/>
            <a:ext cx="272125" cy="27212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4944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Physical evidence</a:t>
            </a:r>
            <a:endParaRPr lang="en-US" sz="1450" dirty="0"/>
          </a:p>
        </p:txBody>
      </p:sp>
      <p:sp>
        <p:nvSpPr>
          <p:cNvPr id="37" name="Text 28"/>
          <p:cNvSpPr txBox="1"/>
          <p:nvPr/>
        </p:nvSpPr>
        <p:spPr>
          <a:xfrm>
            <a:off x="629107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ofis, do‘kon muhiti, sayt dizayni – xizmatning moddiy dalili</a:t>
            </a:r>
            <a:endParaRPr lang="en-US" sz="1350" dirty="0"/>
          </a:p>
        </p:txBody>
      </p:sp>
      <p:sp>
        <p:nvSpPr>
          <p:cNvPr id="38" name="Shape 29"/>
          <p:cNvSpPr/>
          <p:nvPr/>
        </p:nvSpPr>
        <p:spPr>
          <a:xfrm>
            <a:off x="8915400" y="3474720"/>
            <a:ext cx="26517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079992" y="3639312"/>
            <a:ext cx="566928" cy="566928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7393" y="3786713"/>
            <a:ext cx="272125" cy="27212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738360" y="3611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2F4F"/>
                </a:solidFill>
              </a:rPr>
              <a:t>Uyg‘unlik</a:t>
            </a:r>
            <a:endParaRPr lang="en-US" sz="1450" dirty="0"/>
          </a:p>
        </p:txBody>
      </p:sp>
      <p:sp>
        <p:nvSpPr>
          <p:cNvPr id="42" name="Text 32"/>
          <p:cNvSpPr txBox="1"/>
          <p:nvPr/>
        </p:nvSpPr>
        <p:spPr>
          <a:xfrm>
            <a:off x="9079992" y="4343400"/>
            <a:ext cx="23225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elementlar yagona pozitsiyalashga xizmat qilishi kerak</a:t>
            </a:r>
            <a:endParaRPr lang="en-US" sz="1350" dirty="0"/>
          </a:p>
        </p:txBody>
      </p:sp>
      <p:sp>
        <p:nvSpPr>
          <p:cNvPr id="43" name="Shape 33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4" name="Text 34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(Makkarti) – tovarlar uchun klassik model; </a:t>
            </a:r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(Bums va Bitner) – xizmatlar sohasida qo‘shimcha 3 element bilan kengaytirilgan.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Bozor ulushini kengaytirish strategiyalari</a:t>
            </a:r>
            <a:endParaRPr lang="en-US" sz="3000" dirty="0"/>
          </a:p>
        </p:txBody>
      </p:sp>
      <p:pic>
        <p:nvPicPr>
          <p:cNvPr id="3" name="Image 0" descr="img10/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B6C"/>
                </a:solidFill>
              </a:rPr>
              <a:t>I. Ansoff matritsasi asosida: xatar darajasi o‘sib boradi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114800" y="137160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297680" y="1572768"/>
            <a:ext cx="640080" cy="64008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01" y="1739189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20640" y="1463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Bozorga chuqur kirish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269480" y="144475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mahsulot bilan mavjud bozorda ulushni oshirish: narx, reklama, sodiqlik dasturlari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561320" y="146304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xatar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114800" y="256032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7680" y="2761488"/>
            <a:ext cx="640080" cy="640080"/>
          </a:xfrm>
          <a:prstGeom prst="ellipse">
            <a:avLst/>
          </a:prstGeom>
          <a:solidFill>
            <a:srgbClr val="3B6EA5"/>
          </a:solidFill>
          <a:ln w="12700">
            <a:solidFill>
              <a:srgbClr val="3B6EA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101" y="2927909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20640" y="2651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Bozorni rivojlantirish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263347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mahsulot bilan yangi hudud, segment yoki eksport bozorlariga chiqish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0561320" y="265176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O‘rta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114800" y="374904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297680" y="3950208"/>
            <a:ext cx="640080" cy="64008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101" y="411662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0640" y="38404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Mahsulotni rivojlantirish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269480" y="382219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mijozlar uchun yangi yoki takomillashgan mahsulotlar taklif etish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0561320" y="384048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O‘rta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114800" y="4937760"/>
            <a:ext cx="7498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297680" y="5138928"/>
            <a:ext cx="640080" cy="6400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101" y="5305349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120640" y="5029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Diversifikatsiya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269480" y="501091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mahsulot bilan yangi bozorga kirish – eng katta imkoniyat va xatar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0561320" y="5029200"/>
            <a:ext cx="960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Yuqori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Bozor ulushini oshirishning amaliy usullari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ulushini kengaytirish bir nechta marketing vositalarini birgalikda qo‘llashni talab qiladi: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24405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375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Moslashuvchan narx siyosati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narxi, chegirmalar, paketli takliflar, raqobatbardosh narx.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28600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Sifat va assortiment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sifatini oshirish, yangi modellar va o‘lchamlar qo‘shish.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4405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2708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05256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Sotuv kanallarini kengaytirish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dilerlar, hududiy filiallar, onlayn do‘kon va marketpleyslar.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4" y="41778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33756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46304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Brend va reklama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 taniqliligini oshirish, maqsadli reklama kampaniyalari.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34340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14" y="41778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323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Mijozlarni ushlab qolish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sodiqlik kartalari, sotuvdan keyingi servis – yangi mijoz jalb qilishdan arzon.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813816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402336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417789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2708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05256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Hamkorlik va qo‘shib olish</a:t>
            </a:r>
            <a:endParaRPr lang="en-US" sz="155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strategik ittifoqlar yoki raqobatchi korxonani sotib olish.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Qoida: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mavjud mijozni saqlash odatda yangi mijozni jalb qilishdan bir necha barobar arzonga tushadi.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Raqamli marketing vositalari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marketing maqsadli auditoriyaga aniq yetib borish va har bir so‘m natijasini o‘lchash imkonini beradi: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054" y="24405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33756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SMM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Telegram, Facebook, TikTok orqali auditoriya bilan muloqot va reklama.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28600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SEO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 qidiruv tizimlarida yuqori o‘rinlarga olib chiqish – bepul trafik manbai.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38160" y="21031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24405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2708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905256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Kontekst va target reklama</a:t>
            </a:r>
            <a:endParaRPr lang="en-US" sz="155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2971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qiziqish, yosh va hudud bo‘yicha aniq auditoriyaga reklama ko‘rsatish.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54" y="417789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33756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146304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Kontent-marketing</a:t>
            </a:r>
            <a:endParaRPr lang="en-US" sz="1550" dirty="0"/>
          </a:p>
        </p:txBody>
      </p:sp>
      <p:sp>
        <p:nvSpPr>
          <p:cNvPr id="27" name="Text 21"/>
          <p:cNvSpPr txBox="1"/>
          <p:nvPr/>
        </p:nvSpPr>
        <p:spPr>
          <a:xfrm>
            <a:off x="73152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foydali maqola, video va bloglar orqali ishonch va ekspertlik yaratish.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34340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26280" y="4023360"/>
            <a:ext cx="594360" cy="594360"/>
          </a:xfrm>
          <a:prstGeom prst="ellipse">
            <a:avLst/>
          </a:prstGeom>
          <a:solidFill>
            <a:srgbClr val="0E9F9A"/>
          </a:solidFill>
          <a:ln w="12700">
            <a:solidFill>
              <a:srgbClr val="0E9F9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14" y="41778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1323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E-mail va messenjer</a:t>
            </a:r>
            <a:endParaRPr lang="en-US" sz="155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mijozlarga shaxsiy takliflar, yangiliklar va eslatmalar yuborish.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8138160" y="384048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4023360"/>
            <a:ext cx="594360" cy="594360"/>
          </a:xfrm>
          <a:prstGeom prst="ellipse">
            <a:avLst/>
          </a:prstGeom>
          <a:solidFill>
            <a:srgbClr val="0D2F4F"/>
          </a:solidFill>
          <a:ln w="12700">
            <a:solidFill>
              <a:srgbClr val="0D2F4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4177894"/>
            <a:ext cx="285293" cy="285293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92708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9052560" y="4023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2F4F"/>
                </a:solidFill>
              </a:rPr>
              <a:t>Marketpleyslar</a:t>
            </a:r>
            <a:endParaRPr lang="en-US" sz="155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4709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Uzum, Wildberries kabi platformalarda keng auditoriyaga sotish.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41" name="Text 33"/>
          <p:cNvSpPr txBox="1"/>
          <p:nvPr/>
        </p:nvSpPr>
        <p:spPr>
          <a:xfrm>
            <a:off x="73152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voronkasi:</a:t>
            </a:r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e’tibor → qiziqish → istak → harakat (AIDA) – har bosqichdagi konversiya tahlil qilinadi.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Marketing samaradorligini baholash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ulushi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korxona sotuvining soha umumiy sotuvidagi ulushi.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bitta yangi mijozni jalb qilish xarajati.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mijozning butun hamkorlik davomida keltiradigan daromadi.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marketing investitsiyalarining rentabelligi = (marketing daromadi − xarajat) / xarajat.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0E9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Konversiya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qiziqqanlardan xaridorga aylanganlar ulushi.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8F3F6"/>
          </a:solidFill>
          <a:ln w="9525">
            <a:solidFill>
              <a:srgbClr val="D5E6EB"/>
            </a:solidFill>
            <a:prstDash val="solid"/>
          </a:ln>
          <a:effectLst>
            <a:outerShdw sx="100000" sy="100000" kx="0" ky="0" algn="bl" rotWithShape="0" blurRad="101600" dist="38100" dir="5400000">
              <a:srgbClr val="0D2F4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4343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Shartli misol:</a:t>
            </a:r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STP va raqamli marketing joriy etilgach, korxona 3 yilda bozor ulushini 12% dan 19% ga oshirgan.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F4F"/>
                </a:solidFill>
              </a:rPr>
              <a:t>Bozor ulushi dinamikasi, % (shartli misol)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035040" y="1737360"/>
          <a:ext cx="5577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6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858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strategiyasi korxonani bozor va iste’molchi bilan bog‘lovchi asosiy bo‘g‘indir. Bozorni to‘g‘ri segmentlash, maqsadli auditoriyani tanlash va aniq pozitsiyalash, marketing-miks elementlarini uyg‘unlashtirish hamda raqamli vositalardan samarali foydalanish bozor ulushini barqaror kengaytirish imkonini beradi. Natijalar esa bozor ulushi, CAC, CLV va ROMI ko‘rsatkichlari orqali muntazam baholanishi zarur.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66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STP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segmentlash → maqsadli bozor → pozitsiyalash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023360" y="338328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566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63440" y="349300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Marketing-miks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4P / 7P elementlarining yagona maqsadga uyg‘unligi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2920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O‘sish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bozorga chuqur kirish, yangi bozorlar, yangi mahsulotlar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023360" y="4846320"/>
            <a:ext cx="3291840" cy="1298448"/>
          </a:xfrm>
          <a:prstGeom prst="roundRect">
            <a:avLst>
              <a:gd name="adj" fmla="val 845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5FD3C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5029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63440" y="495604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2A541"/>
                </a:solidFill>
              </a:rPr>
              <a:t>Baholash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bozor ulushi, CAC, CLV, ROMI, konversiya</a:t>
            </a:r>
            <a:endParaRPr lang="en-US" sz="1500" dirty="0"/>
          </a:p>
        </p:txBody>
      </p:sp>
      <p:pic>
        <p:nvPicPr>
          <p:cNvPr id="16" name="Image 4" descr="img10/conclus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325880"/>
            <a:ext cx="3840480" cy="299008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0" y="45262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Marketingning maqsadi – sotishni ortiqcha qilib qo‘yadigan darajada mijozni tushunish. (P. Druker)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10/tha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280160"/>
            <a:ext cx="4846320" cy="37673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E’TIBORINGIZ UCHUN RAHMAT!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541"/>
                </a:solidFill>
              </a:rPr>
              <a:t>Savollaringiz bo‘lsa, marhamat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E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ya">
  <a:themeElements>
    <a:clrScheme name="Strategiya">
      <a:dk1>
        <a:srgbClr val="1B2A3A"/>
      </a:dk1>
      <a:lt1>
        <a:srgbClr val="FFFFFF"/>
      </a:lt1>
      <a:dk2>
        <a:srgbClr val="0D2F4F"/>
      </a:dk2>
      <a:lt2>
        <a:srgbClr val="E8F3F6"/>
      </a:lt2>
      <a:accent1>
        <a:srgbClr val="0E9F9A"/>
      </a:accent1>
      <a:accent2>
        <a:srgbClr val="F2A541"/>
      </a:accent2>
      <a:accent3>
        <a:srgbClr val="0D2F4F"/>
      </a:accent3>
      <a:accent4>
        <a:srgbClr val="3B6EA5"/>
      </a:accent4>
      <a:accent5>
        <a:srgbClr val="5FD3C9"/>
      </a:accent5>
      <a:accent6>
        <a:srgbClr val="B5651D"/>
      </a:accent6>
      <a:hlink>
        <a:srgbClr val="0E9F9A"/>
      </a:hlink>
      <a:folHlink>
        <a:srgbClr val="3B6EA5"/>
      </a:folHlink>
    </a:clrScheme>
    <a:fontScheme name="Strategiy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strategiyasi va bozor ulushini kengaytirish</dc:title>
  <dc:subject>PptxGenJS Presentation</dc:subject>
  <dc:creator>PptxGenJS</dc:creator>
  <cp:lastModifiedBy>PptxGenJS</cp:lastModifiedBy>
  <cp:revision>1</cp:revision>
  <dcterms:created xsi:type="dcterms:W3CDTF">2026-10-12T12:30:01Z</dcterms:created>
  <dcterms:modified xsi:type="dcterms:W3CDTF">2026-10-12T12:30:01Z</dcterms:modified>
</cp:coreProperties>
</file>