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Oldin</c:v>
                </c:pt>
              </c:strCache>
            </c:strRef>
          </c:tx>
          <c:spPr>
            <a:solidFill>
              <a:srgbClr val="B5651D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Buyurtma muddati (kun)</c:v>
                  </c:pt>
                  <c:pt idx="1">
                    <c:v>Nuqsonlar (%)</c:v>
                  </c:pt>
                  <c:pt idx="2">
                    <c:v>Zaxira aylanishi (kun)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6</c:v>
                </c:pt>
                <c:pt idx="2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Keyin</c:v>
                </c:pt>
              </c:strCache>
            </c:strRef>
          </c:tx>
          <c:spPr>
            <a:solidFill>
              <a:srgbClr val="0E9F9A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Buyurtma muddati (kun)</c:v>
                  </c:pt>
                  <c:pt idx="1">
                    <c:v>Nuqsonlar (%)</c:v>
                  </c:pt>
                  <c:pt idx="2">
                    <c:v>Zaxira aylanishi (kun)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</c:v>
                </c:pt>
                <c:pt idx="1">
                  <c:v>2.5</c:v>
                </c:pt>
                <c:pt idx="2">
                  <c:v>30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1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C9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6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9E0"/>
                </a:solidFill>
              </a:rPr>
              <a:t>12.10.2026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C"/>
                </a:solidFill>
              </a:rPr>
              <a:t>12.10.2026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12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236208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75120" y="1005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2A541"/>
                </a:solidFill>
              </a:rPr>
              <a:t>MAVZU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675120" y="146304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KORXONA FAOLIYATI SAMARADORLIGINI OSHIRISH VA BIZNES JARAYONLARINI OPTIMALLASHTIRISH STRATEGIYASI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9E4"/>
                </a:solidFill>
              </a:rPr>
              <a:t>Strategik menejment fanidan taqdimot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5212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CEBEF"/>
                </a:solidFill>
              </a:rPr>
              <a:t>Bajardi: ______________________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CEBEF"/>
                </a:solidFill>
              </a:rPr>
              <a:t>Tekshirdi: ____________________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1572768"/>
            <a:ext cx="512064" cy="51206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737" y="1705905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1463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Samaradorlik tushunchasi, turlari va ko‘rsatkichlari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2377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371600" y="2487168"/>
            <a:ext cx="512064" cy="512064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37" y="262030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057400" y="2377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Biznes jarayonlar va jarayonli yondashuv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2918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731520" y="3291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1371600" y="3401568"/>
            <a:ext cx="512064" cy="51206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37" y="3534705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57400" y="3291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Jarayonlarni optimallashtirish usullari: Lean, Six Sigma, Kaizen, BPR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2062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731520" y="42062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1371600" y="4315968"/>
            <a:ext cx="512064" cy="512064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737" y="444910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057400" y="4206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Biznes jarayonlarini optimallashtirish bosqichlari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48640" y="51206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731520" y="5120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5" name="Shape 19"/>
          <p:cNvSpPr/>
          <p:nvPr/>
        </p:nvSpPr>
        <p:spPr>
          <a:xfrm>
            <a:off x="1371600" y="5230368"/>
            <a:ext cx="512064" cy="51206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4737" y="5363505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057400" y="5120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Samaradorlikni oshirish yo‘llari va natijalarni baholash</a:t>
            </a:r>
            <a:endParaRPr lang="en-US" sz="1600" dirty="0"/>
          </a:p>
        </p:txBody>
      </p:sp>
      <p:pic>
        <p:nvPicPr>
          <p:cNvPr id="28" name="Image 5" descr="img12/pl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463040"/>
            <a:ext cx="3931920" cy="305409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680960" y="4663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B6C"/>
                </a:solidFill>
              </a:rPr>
              <a:t>Xulosa va asosiy xulosalar taqdimot so‘ngida beriladi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Samaradorlik tushunchasi va turlari</a:t>
            </a:r>
            <a:endParaRPr lang="en-US" sz="3000" dirty="0"/>
          </a:p>
        </p:txBody>
      </p:sp>
      <p:pic>
        <p:nvPicPr>
          <p:cNvPr id="3" name="Image 0" descr="img12/ess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206240" cy="32735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006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Samaradorlik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erishilgan natijaning unga sarflangan resurslarga nisbati. Korxona qanchalik kam resurs bilan ko‘p va sifatli natija olsa, uning faoliyati shunchalik samarali hisoblanadi: Samaradorlik = Natija / Xarajat.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13716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Samaradorlikning asosiy turlari: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120640" y="1920240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041" y="2067641"/>
            <a:ext cx="272125" cy="272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52160" y="18745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Iqtisodiy samaradorlik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foyda, rentabellik va kapitaldan foydalanish darajasi.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120640" y="2788920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041" y="2936321"/>
            <a:ext cx="272125" cy="27212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852160" y="2743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Mehnat samaradorligi (unumdorlik)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xodim yoki bir ish soatiga to‘g‘ri keladigan natija.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120640" y="3657600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041" y="3805001"/>
            <a:ext cx="272125" cy="27212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852160" y="36118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 samaradorligi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xomashyo, energiya va uskunalardan foydalanish darajasi.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120640" y="4526280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8041" y="4673681"/>
            <a:ext cx="272125" cy="27212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852160" y="44805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Tashkiliy samaradorlik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boshqaruv tuzilmasi va qarorlar qabul qilish tezligi.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5120640" y="5394960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8041" y="5542361"/>
            <a:ext cx="272125" cy="27212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852160" y="53492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Ijtimoiy-ekologik samaradorlik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xodimlar farovonligi, jamiyat va atrof-muhitga ta’sir.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Samaradorlikning asosiy ko‘rsatkichlari</a:t>
            </a:r>
            <a:endParaRPr lang="en-US" sz="3000" dirty="0"/>
          </a:p>
        </p:txBody>
      </p:sp>
      <p:pic>
        <p:nvPicPr>
          <p:cNvPr id="3" name="Image 0" descr="img12/rat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200400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77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B6C"/>
                </a:solidFill>
              </a:rPr>
              <a:t>Ko‘rsatkichlar dinamikada va raqobatchilar bilan taqqoslab tahlil qilinadi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47472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Ko‘rsatkich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Hisoblash formulasi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Yaxshilanish belgisi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2F4F"/>
                          </a:solidFill>
                        </a:rPr>
                        <a:t>Sotuv rentabelligi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</a:rPr>
                        <a:t>Sof foyda / Sotuvdan tushum × 100%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</a:rPr>
                        <a:t>o‘sishi ijobiy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2F4F"/>
                          </a:solidFill>
                        </a:rPr>
                        <a:t>Aktivlar rentabelligi (ROA)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</a:rPr>
                        <a:t>Sof foyda / Jami aktivlar × 100%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</a:rPr>
                        <a:t>o‘sishi ijobiy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2F4F"/>
                          </a:solidFill>
                        </a:rPr>
                        <a:t>Mehnat unumdorligi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</a:rPr>
                        <a:t>Ishlab chiqarish hajmi / Xodimlar soni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</a:rPr>
                        <a:t>o‘sishi ijobiy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2F4F"/>
                          </a:solidFill>
                        </a:rPr>
                        <a:t>Fond qaytimi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</a:rPr>
                        <a:t>Sotuvdan tushum / Asosiy fondlar qiymati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</a:rPr>
                        <a:t>o‘sishi ijobiy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2F4F"/>
                          </a:solidFill>
                        </a:rPr>
                        <a:t>Material sig‘imi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</a:rPr>
                        <a:t>Material xarajatlari / Mahsulot hajmi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</a:rPr>
                        <a:t>kamayishi ijobiy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2F4F"/>
                          </a:solidFill>
                        </a:rPr>
                        <a:t>Aylanma mablag‘lar aylanishi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</a:rPr>
                        <a:t>Sotuvdan tushum / O‘rtacha aylanma mablag‘lar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</a:rPr>
                        <a:t>tezlashishi ijobiy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114800" y="5486400"/>
            <a:ext cx="7498080" cy="731520"/>
          </a:xfrm>
          <a:prstGeom prst="roundRect">
            <a:avLst>
              <a:gd name="adj" fmla="val 15000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4297680" y="55321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Samaradorlikni baholashda </a:t>
            </a:r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 va natija ko‘rsatkichlarini birgalikda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tahlil qilish muhim.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Biznes jarayonlar va jarayonli yondashuv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766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jarayon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kirish resurslarini mijoz uchun qiymatga ega bo‘lgan natijaga aylantiruvchi o‘zaro bog‘liq faoliyatlar ketma-ketligi.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Jarayonli yondashuv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korxonani bo‘limlar yig‘indisi emas, mijozdan mijozgacha bo‘lgan jarayonlar tizimi sifatida boshqarishni anglatadi.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246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3209544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Ford – 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konveyer liniyasi – jarayonni bosqichlarga bo‘lish orqali unumdorlikni keskin oshirish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9776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1950–70-y.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3941064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(T. Ono) – 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ishlab chiqarish tizimi – “tejamkor ishlab chiqarish” (Lean) asosi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7091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1986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4672584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Motorola – 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Sigma – jarayon nuqsonlarini statistik usullar bilan kamaytirish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4406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5404104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Xammer – 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biznes-jarayonlarni tubdan qayta loyihalash (reinjiniring, BPR)</a:t>
            </a:r>
            <a:endParaRPr lang="en-US" sz="1400" dirty="0"/>
          </a:p>
        </p:txBody>
      </p:sp>
      <p:pic>
        <p:nvPicPr>
          <p:cNvPr id="16" name="Image 0" descr="img12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371600"/>
            <a:ext cx="3931920" cy="305409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680960" y="46177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863840" y="46634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sifat menejmenti standarti ham jarayonli yondashuvni asosiy tamoyillardan biri sifatida belgilaydi.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Biznes jarayonlar turlari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Korxona jarayonlari mijoz uchun qiymat yaratishdagi o‘rniga ko‘ra uch guruhga bo‘linadi. Har bir jarayonning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egasi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kirishi, chiqishi va samaradorlik ko‘rsatkichi bo‘lishi kerak: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5577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Muammo: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jarayonlar bo‘limlar orasidagi “chegaralarda” eng ko‘p uziladi – kechikish va xatolar shu yerda paydo bo‘ladi.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204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468880"/>
            <a:ext cx="731520" cy="73152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659075"/>
            <a:ext cx="351130" cy="3511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jarayonlar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B6C"/>
                </a:solidFill>
              </a:rPr>
              <a:t>mijoz uchun bevosita qiymat yaratadi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47472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xomashyo xaridi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ishlab chiqarish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sotish va yetkazib berish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sotuvdan keyingi servis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3400" y="2194560"/>
            <a:ext cx="35204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2468880"/>
            <a:ext cx="731520" cy="73152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265907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86400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Yordamchi jarayonlar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B6C"/>
                </a:solidFill>
              </a:rPr>
              <a:t>asosiy jarayonlarni ta’minlaydi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347472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kadrlar bilan ishlash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va texnik xizmat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buxgalteriya va moliya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ombor va xo‘jalik ishlari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138160" y="2194560"/>
            <a:ext cx="35204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12480" y="2468880"/>
            <a:ext cx="731520" cy="731520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675" y="2659075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281160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Boshqaruv jarayonlari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928116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B6C"/>
                </a:solidFill>
              </a:rPr>
              <a:t>butun tizimni yo‘naltiradi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412480" y="347472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strategik rejalashtirish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byudjetlashtirish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 menejmenti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va nazorat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Jarayonlarni optimallashtirish usullari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Zamonaviy amaliyotda jarayonlarni takomillashtirishning bir necha sinovdan o‘tgan usullari qo‘llaniladi: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286000"/>
            <a:ext cx="594360" cy="5943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4" y="24405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33756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Lean (tejamkor ishlab chiqarish)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971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uchun qiymat yaratmaydigan barcha isroflarni aniqlash va yo‘q qilish.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2103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286000"/>
            <a:ext cx="594360" cy="59436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14" y="24405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25780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Six Sigma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971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tahlil (DMAIC) orqali jarayon o‘zgaruvchanligi va nuqsonlarni kamaytirish.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38160" y="2103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2286000"/>
            <a:ext cx="594360" cy="5943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574" y="244053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92708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905256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Kaizen</a:t>
            </a:r>
            <a:endParaRPr lang="en-US" sz="155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971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kuni barcha xodimlar ishtirokida kichik, uzluksiz yaxshilanishlar.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48640" y="38404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4023360"/>
            <a:ext cx="594360" cy="59436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4" y="417789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33756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146304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Reinjiniring (BPR)</a:t>
            </a:r>
            <a:endParaRPr lang="en-US" sz="1550" dirty="0"/>
          </a:p>
        </p:txBody>
      </p:sp>
      <p:sp>
        <p:nvSpPr>
          <p:cNvPr id="27" name="Text 21"/>
          <p:cNvSpPr txBox="1"/>
          <p:nvPr/>
        </p:nvSpPr>
        <p:spPr>
          <a:xfrm>
            <a:off x="731520" y="47091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jarayonlarni noldan, tubdan qayta loyihalash – keskin natija, lekin yuqori xatar.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343400" y="38404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26280" y="4023360"/>
            <a:ext cx="594360" cy="5943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814" y="417789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3232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525780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5S tizimi</a:t>
            </a:r>
            <a:endParaRPr lang="en-US" sz="1550" dirty="0"/>
          </a:p>
        </p:txBody>
      </p:sp>
      <p:sp>
        <p:nvSpPr>
          <p:cNvPr id="33" name="Text 26"/>
          <p:cNvSpPr txBox="1"/>
          <p:nvPr/>
        </p:nvSpPr>
        <p:spPr>
          <a:xfrm>
            <a:off x="4526280" y="47091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joyini tartibga solish: saralash, joylashtirish, tozalash, standartlash, intizom.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8138160" y="38404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21040" y="4023360"/>
            <a:ext cx="594360" cy="59436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574" y="4177894"/>
            <a:ext cx="285293" cy="285293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92708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905256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TQM</a:t>
            </a:r>
            <a:endParaRPr lang="en-US" sz="1550" dirty="0"/>
          </a:p>
        </p:txBody>
      </p:sp>
      <p:sp>
        <p:nvSpPr>
          <p:cNvPr id="39" name="Text 31"/>
          <p:cNvSpPr txBox="1"/>
          <p:nvPr/>
        </p:nvSpPr>
        <p:spPr>
          <a:xfrm>
            <a:off x="8321040" y="47091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sifat menejmenti – sifat uchun butun jamoaning javobgarligi.</a:t>
            </a:r>
            <a:endParaRPr lang="en-US" sz="1350" dirty="0"/>
          </a:p>
        </p:txBody>
      </p:sp>
      <p:sp>
        <p:nvSpPr>
          <p:cNvPr id="40" name="Shape 32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1" name="Text 33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+ Six Sigma</a:t>
            </a:r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birgalikda “Lean Six Sigma” deb ataladi: tezlik va sifatni bir vaqtda oshiradi.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Lean: jarayondagi 8 turdagi isrof (muda)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536192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" y="1683593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Ortiqcha ishlab chiqarish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2402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talabdan ko‘p yoki erta ishlab chiqarish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337560" y="137160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02152" y="1536192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553" y="168359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Kutish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3502152" y="22402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xodim yoki uskunaning bekor turishi, navbatlar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126480" y="137160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91072" y="1536192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473" y="168359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Ortiqcha tashish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6291072" y="22402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materiallarni keraksiz ko‘chirish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915400" y="137160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079992" y="1536192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7393" y="1683593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73836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Ortiqcha ishlov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9079992" y="22402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mijozga kerak bo‘lmagan qo‘shimcha operatsiyalar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48640" y="34747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13232" y="3639312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33" y="3786713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Ortiqcha zaxiralar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713232" y="434340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omborda “muzlagan” pul va joy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3337560" y="34747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502152" y="3639312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9553" y="3786713"/>
            <a:ext cx="272125" cy="27212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16052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Keraksiz harakatlar</a:t>
            </a:r>
            <a:endParaRPr lang="en-US" sz="1450" dirty="0"/>
          </a:p>
        </p:txBody>
      </p:sp>
      <p:sp>
        <p:nvSpPr>
          <p:cNvPr id="32" name="Text 24"/>
          <p:cNvSpPr txBox="1"/>
          <p:nvPr/>
        </p:nvSpPr>
        <p:spPr>
          <a:xfrm>
            <a:off x="3502152" y="434340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xodimning ortiqcha yurishi va qidirishi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6126480" y="34747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291072" y="3639312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473" y="3786713"/>
            <a:ext cx="272125" cy="27212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94944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Nuqsonlar</a:t>
            </a:r>
            <a:endParaRPr lang="en-US" sz="1450" dirty="0"/>
          </a:p>
        </p:txBody>
      </p:sp>
      <p:sp>
        <p:nvSpPr>
          <p:cNvPr id="37" name="Text 28"/>
          <p:cNvSpPr txBox="1"/>
          <p:nvPr/>
        </p:nvSpPr>
        <p:spPr>
          <a:xfrm>
            <a:off x="6291072" y="434340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brak, qayta ishlash va shikoyatlar</a:t>
            </a:r>
            <a:endParaRPr lang="en-US" sz="1350" dirty="0"/>
          </a:p>
        </p:txBody>
      </p:sp>
      <p:sp>
        <p:nvSpPr>
          <p:cNvPr id="38" name="Shape 29"/>
          <p:cNvSpPr/>
          <p:nvPr/>
        </p:nvSpPr>
        <p:spPr>
          <a:xfrm>
            <a:off x="8915400" y="34747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9079992" y="3639312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7393" y="3786713"/>
            <a:ext cx="272125" cy="27212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73836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Foydalanilmagan salohiyat</a:t>
            </a:r>
            <a:endParaRPr lang="en-US" sz="1450" dirty="0"/>
          </a:p>
        </p:txBody>
      </p:sp>
      <p:sp>
        <p:nvSpPr>
          <p:cNvPr id="42" name="Text 32"/>
          <p:cNvSpPr txBox="1"/>
          <p:nvPr/>
        </p:nvSpPr>
        <p:spPr>
          <a:xfrm>
            <a:off x="9079992" y="434340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xodimlar bilimi va g‘oyalaridan foydalanmaslik</a:t>
            </a:r>
            <a:endParaRPr lang="en-US" sz="1350" dirty="0"/>
          </a:p>
        </p:txBody>
      </p:sp>
      <p:sp>
        <p:nvSpPr>
          <p:cNvPr id="43" name="Shape 33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4" name="Text 34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Dastlabki 7 isrof T. Ono tomonidan ajratilgan; “foydalanilmagan salohiyat” keyinchalik 8-isrof sifatida qo‘shilgan.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Biznes jarayonlarini optimallashtirish bosqichlari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212848" cy="685800"/>
          </a:xfrm>
          <a:prstGeom prst="homePlate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1-bosqich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4963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3317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</a:rPr>
              <a:t>Jarayonlarni aniqlash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97180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jarayonlar xaritasini tuzish, egalarini belgilash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61488" y="1371600"/>
            <a:ext cx="2212848" cy="685800"/>
          </a:xfrm>
          <a:prstGeom prst="chevron">
            <a:avLst/>
          </a:prstGeom>
          <a:solidFill>
            <a:srgbClr val="0D2F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18688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2-bosqich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807208" y="224028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44368" y="23774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49631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93008" y="23317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</a:rPr>
              <a:t>“AS-IS” modeli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2944368" y="297180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joriy holatni BPMN, oqim sxemalari bilan tavsiflash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974336" y="1371600"/>
            <a:ext cx="2212848" cy="685800"/>
          </a:xfrm>
          <a:prstGeom prst="chevron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31536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3-bosqich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020056" y="224028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157216" y="23774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2496312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705856" y="23317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</a:rPr>
              <a:t>Tahlil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5157216" y="297180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“tor joylar”, isroflar, takrorlar va kechikishlarni aniqlash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7187184" y="1371600"/>
            <a:ext cx="2212848" cy="685800"/>
          </a:xfrm>
          <a:prstGeom prst="chevron">
            <a:avLst/>
          </a:prstGeom>
          <a:solidFill>
            <a:srgbClr val="0D2F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644384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4-bosqich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7232904" y="224028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70064" y="23774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2496312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918704" y="23317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</a:rPr>
              <a:t>“TO-BE” modeli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7370064" y="297180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yangi, soddalashtirilgan va raqamlashtirilgan jarayon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9400032" y="1371600"/>
            <a:ext cx="2212848" cy="685800"/>
          </a:xfrm>
          <a:prstGeom prst="chevron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857232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5-bosqich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9445752" y="224028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582912" y="23774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2496312"/>
            <a:ext cx="219456" cy="21945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131552" y="23317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</a:rPr>
              <a:t>Joriy etish va nazorat</a:t>
            </a:r>
            <a:endParaRPr lang="en-US" sz="1350" dirty="0"/>
          </a:p>
        </p:txBody>
      </p:sp>
      <p:sp>
        <p:nvSpPr>
          <p:cNvPr id="37" name="Text 30"/>
          <p:cNvSpPr txBox="1"/>
          <p:nvPr/>
        </p:nvSpPr>
        <p:spPr>
          <a:xfrm>
            <a:off x="9582912" y="297180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pilot, o‘qitish, KPI orqali natijani kuzatish</a:t>
            </a:r>
            <a:endParaRPr lang="en-US" sz="1300" dirty="0"/>
          </a:p>
        </p:txBody>
      </p:sp>
      <p:pic>
        <p:nvPicPr>
          <p:cNvPr id="38" name="Image 5" descr="img12/step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526280"/>
            <a:ext cx="2194560" cy="170992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3017520" y="452628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Optimallashtirish bir martalik loyiha emas, balki uzluksiz sikl. Buning uchun </a:t>
            </a:r>
            <a:pPr indent="0" marL="0"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Deming sikli (PDCA)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qo‘llaniladi: </a:t>
            </a:r>
            <a:pPr indent="0" marL="0"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Rejalashtir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(muammo va maqsad) → </a:t>
            </a:r>
            <a:pPr indent="0" marL="0"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(o‘zgarishni sinab ko‘r) → </a:t>
            </a:r>
            <a:pPr indent="0" marL="0"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(natijani o‘lcha) → </a:t>
            </a:r>
            <a:pPr indent="0" marL="0"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Harakat qil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(muvaffaqiyatlini standartga aylantir yoki qayta boshla).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Samaradorlikni oshirish yo‘llari va natijalar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Jarayonlarni raqamlashtirish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ERP, elektron hujjat aylanishi, avtomatlashtirish.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Standartlashtirish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ish yo‘riqnomalari va reglamentlar.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Xodimlarni rag‘batlantirish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takliflar tizimi va KPI asosida mukofot.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Resurslarni tejash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energiya, material va vaqt sarfini kamaytirish.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Autsorsing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asosiy bo‘lmagan funksiyalarni ixtisoslashgan tashkilotlarga berish.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429768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43434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Shartli misol: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Lean va raqamlashtirish joriy etilgach, buyurtma bajarish muddati 12 kundan 7 kunga qisqargan.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325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Optimallashtirishdan oldin va keyin (shartli misol)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035040" y="1737360"/>
          <a:ext cx="55778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Xulosa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858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Korxona faoliyati samaradorligi – natija va xarajatlar nisbati bo‘lib, raqobatbardoshlikning asosiy omilidir. Uni oshirish uchun korxonani jarayonlar tizimi sifatida boshqarish, Lean, Six Sigma, Kaizen va reinjiniring kabi usullar yordamida isroflarni yo‘qotish, “AS-IS” va “TO-BE” modellari asosida jarayonlarni qayta qurish hamda natijalarni PDCA sikli va KPI orqali doimiy nazorat qilish zarur.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566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349300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Ko‘rsatkichlar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rentabellik, unumdorlik, fond qaytimi, aylanuvchanlik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023360" y="338328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35661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663440" y="349300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Yondashuv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korxona – mijoz uchun qiymat yaratuvchi jarayonlar tizimi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484632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0292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495604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Usullar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Lean, Six Sigma, Kaizen, BPR, 5S, TQM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023360" y="484632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952" y="502920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663440" y="495604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Sikl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AS-IS → tahlil → TO-BE → joriy etish → PDCA</a:t>
            </a:r>
            <a:endParaRPr lang="en-US" sz="1500" dirty="0"/>
          </a:p>
        </p:txBody>
      </p:sp>
      <p:pic>
        <p:nvPicPr>
          <p:cNvPr id="16" name="Image 4" descr="img12/conclus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325880"/>
            <a:ext cx="3840480" cy="299008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772400" y="45262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O‘lchab bo‘lmaydigan narsani boshqarib bo‘lmaydi, boshqarib bo‘lmaydigan narsani yaxshilab bo‘lmaydi.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12/than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280160"/>
            <a:ext cx="4846320" cy="37673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E’TIBORINGIZ UCHUN RAHMAT!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931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A541"/>
                </a:solidFill>
              </a:rPr>
              <a:t>Savollaringiz bo‘lsa, marhamat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ategiya">
  <a:themeElements>
    <a:clrScheme name="Strategiya">
      <a:dk1>
        <a:srgbClr val="1B2A3A"/>
      </a:dk1>
      <a:lt1>
        <a:srgbClr val="FFFFFF"/>
      </a:lt1>
      <a:dk2>
        <a:srgbClr val="0D2F4F"/>
      </a:dk2>
      <a:lt2>
        <a:srgbClr val="E8F3F6"/>
      </a:lt2>
      <a:accent1>
        <a:srgbClr val="0E9F9A"/>
      </a:accent1>
      <a:accent2>
        <a:srgbClr val="F2A541"/>
      </a:accent2>
      <a:accent3>
        <a:srgbClr val="0D2F4F"/>
      </a:accent3>
      <a:accent4>
        <a:srgbClr val="3B6EA5"/>
      </a:accent4>
      <a:accent5>
        <a:srgbClr val="5FD3C9"/>
      </a:accent5>
      <a:accent6>
        <a:srgbClr val="B5651D"/>
      </a:accent6>
      <a:hlink>
        <a:srgbClr val="0E9F9A"/>
      </a:hlink>
      <a:folHlink>
        <a:srgbClr val="3B6EA5"/>
      </a:folHlink>
    </a:clrScheme>
    <a:fontScheme name="Strategiy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Samaradorlik va biznes jarayonlarini optimallashtirish</dc:title>
  <dc:subject>PptxGenJS Presentation</dc:subject>
  <dc:creator>PptxGenJS</dc:creator>
  <cp:lastModifiedBy>PptxGenJS</cp:lastModifiedBy>
  <cp:revision>1</cp:revision>
  <dcterms:created xsi:type="dcterms:W3CDTF">2026-10-12T12:33:06Z</dcterms:created>
  <dcterms:modified xsi:type="dcterms:W3CDTF">2026-10-12T12:33:06Z</dcterms:modified>
</cp:coreProperties>
</file>