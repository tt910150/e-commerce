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Reja</c:v>
                </c:pt>
              </c:strCache>
            </c:strRef>
          </c:tx>
          <c:spPr>
            <a:solidFill>
              <a:srgbClr val="0D2F4F"/>
            </a:solidFill>
            <a:effectLst/>
          </c:spPr>
          <c:invertIfNegative val="0"/>
          <c:dLbls>
            <c:numFmt formatCode="General"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cat>
            <c:multiLvlStrRef>
              <c:f>Sheet1!$A$2:$A$5</c:f>
              <c:multiLvlStrCache>
                <c:ptCount val="4"/>
                <c:lvl>
                  <c:pt idx="0">
                    <c:v>Tushum o‘sishi, %</c:v>
                  </c:pt>
                  <c:pt idx="1">
                    <c:v>Bozor ulushi, %</c:v>
                  </c:pt>
                  <c:pt idx="2">
                    <c:v>Mijoz qoniqishi, ball</c:v>
                  </c:pt>
                  <c:pt idx="3">
                    <c:v>O‘qitilganlar, %</c:v>
                  </c:pt>
                </c:lvl>
              </c:multiLvlStrCache>
            </c:multiLvlStrRef>
          </c:cat>
          <c:val>
            <c:numRef>
              <c:f>Sheet1!$B$2:$B$5</c:f>
              <c:numCache>
                <c:formatCode>General</c:formatCode>
                <c:ptCount val="4"/>
                <c:pt idx="0">
                  <c:v>15</c:v>
                </c:pt>
                <c:pt idx="1">
                  <c:v>20</c:v>
                </c:pt>
                <c:pt idx="2">
                  <c:v>80</c:v>
                </c:pt>
                <c:pt idx="3">
                  <c:v>70</c:v>
                </c:pt>
              </c:numCache>
            </c:numRef>
          </c:val>
        </c:ser>
        <c:ser>
          <c:idx val="1"/>
          <c:order val="1"/>
          <c:tx>
            <c:strRef>
              <c:f>Sheet1!$C$1</c:f>
              <c:strCache>
                <c:ptCount val="1"/>
                <c:pt idx="0">
                  <c:v>Fakt</c:v>
                </c:pt>
              </c:strCache>
            </c:strRef>
          </c:tx>
          <c:spPr>
            <a:solidFill>
              <a:srgbClr val="0E9F9A"/>
            </a:solidFill>
            <a:effectLst/>
          </c:spPr>
          <c:invertIfNegative val="0"/>
          <c:dLbls>
            <c:numFmt formatCode="General"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cat>
            <c:multiLvlStrRef>
              <c:f>Sheet1!$A$2:$A$5</c:f>
              <c:multiLvlStrCache>
                <c:ptCount val="4"/>
                <c:lvl>
                  <c:pt idx="0">
                    <c:v>Tushum o‘sishi, %</c:v>
                  </c:pt>
                  <c:pt idx="1">
                    <c:v>Bozor ulushi, %</c:v>
                  </c:pt>
                  <c:pt idx="2">
                    <c:v>Mijoz qoniqishi, ball</c:v>
                  </c:pt>
                  <c:pt idx="3">
                    <c:v>O‘qitilganlar, %</c:v>
                  </c:pt>
                </c:lvl>
              </c:multiLvlStrCache>
            </c:multiLvlStrRef>
          </c:cat>
          <c:val>
            <c:numRef>
              <c:f>Sheet1!$C$2:$C$5</c:f>
              <c:numCache>
                <c:formatCode>General</c:formatCode>
                <c:ptCount val="4"/>
                <c:pt idx="0">
                  <c:v>12</c:v>
                </c:pt>
                <c:pt idx="1">
                  <c:v>21</c:v>
                </c:pt>
                <c:pt idx="2">
                  <c:v>76</c:v>
                </c:pt>
                <c:pt idx="3">
                  <c:v>74</c:v>
                </c:pt>
              </c:numCache>
            </c:numRef>
          </c:val>
        </c:ser>
        <c:dLbls>
          <c:numFmt formatCode="General"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C9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B6C"/>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1B2A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BFD9E0"/>
                </a:solidFill>
              </a:rPr>
              <a:t>12.10.2026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4A5B6C"/>
                </a:solidFill>
              </a:rPr>
              <a:t>12.10.2026</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15/title.png">    </p:cNvPr>
          <p:cNvPicPr>
            <a:picLocks noChangeAspect="1"/>
          </p:cNvPicPr>
          <p:nvPr/>
        </p:nvPicPr>
        <p:blipFill>
          <a:blip r:embed="rId1"/>
          <a:stretch>
            <a:fillRect/>
          </a:stretch>
        </p:blipFill>
        <p:spPr>
          <a:xfrm>
            <a:off x="0" y="0"/>
            <a:ext cx="6236208" cy="6858000"/>
          </a:xfrm>
          <a:prstGeom prst="rect">
            <a:avLst/>
          </a:prstGeom>
        </p:spPr>
      </p:pic>
      <p:sp>
        <p:nvSpPr>
          <p:cNvPr id="3" name="Text 0"/>
          <p:cNvSpPr txBox="1"/>
          <p:nvPr/>
        </p:nvSpPr>
        <p:spPr>
          <a:xfrm>
            <a:off x="6675120" y="1005840"/>
            <a:ext cx="4937760" cy="365760"/>
          </a:xfrm>
          <a:prstGeom prst="rect">
            <a:avLst/>
          </a:prstGeom>
          <a:noFill/>
          <a:ln/>
        </p:spPr>
        <p:txBody>
          <a:bodyPr wrap="square" lIns="0" tIns="0" rIns="0" bIns="0" rtlCol="0" anchor="ctr"/>
          <a:lstStyle/>
          <a:p>
            <a:pPr indent="0" marL="0">
              <a:buNone/>
            </a:pPr>
            <a:r>
              <a:rPr lang="en-US" sz="1400" b="1" spc="600" kern="0" dirty="0">
                <a:solidFill>
                  <a:srgbClr val="F2A541"/>
                </a:solidFill>
              </a:rPr>
              <a:t>MAVZU</a:t>
            </a:r>
            <a:endParaRPr lang="en-US" sz="1400" dirty="0"/>
          </a:p>
        </p:txBody>
      </p:sp>
      <p:sp>
        <p:nvSpPr>
          <p:cNvPr id="4" name="Text 1"/>
          <p:cNvSpPr txBox="1"/>
          <p:nvPr/>
        </p:nvSpPr>
        <p:spPr>
          <a:xfrm>
            <a:off x="6675120" y="1463040"/>
            <a:ext cx="5029200" cy="3108960"/>
          </a:xfrm>
          <a:prstGeom prst="rect">
            <a:avLst/>
          </a:prstGeom>
          <a:noFill/>
          <a:ln/>
        </p:spPr>
        <p:txBody>
          <a:bodyPr wrap="square" lIns="0" tIns="0" rIns="0" bIns="0" rtlCol="0" anchor="t"/>
          <a:lstStyle/>
          <a:p>
            <a:pPr indent="0" marL="0">
              <a:buNone/>
            </a:pPr>
            <a:r>
              <a:rPr lang="en-US" sz="2500" b="1" dirty="0">
                <a:solidFill>
                  <a:srgbClr val="FFFFFF"/>
                </a:solidFill>
                <a:latin typeface="Cambria" pitchFamily="34" charset="0"/>
                <a:ea typeface="Cambria" pitchFamily="34" charset="-122"/>
                <a:cs typeface="Cambria" pitchFamily="34" charset="-120"/>
              </a:rPr>
              <a:t>KORXONANI RIVOJLANTIRISH STRATEGIYASINI AMALGA OSHIRISH, MONITORING QILISH VA NATIJALARINI BAHOLASH</a:t>
            </a:r>
            <a:endParaRPr lang="en-US" sz="2500" dirty="0"/>
          </a:p>
        </p:txBody>
      </p:sp>
      <p:sp>
        <p:nvSpPr>
          <p:cNvPr id="5" name="Text 2"/>
          <p:cNvSpPr txBox="1"/>
          <p:nvPr/>
        </p:nvSpPr>
        <p:spPr>
          <a:xfrm>
            <a:off x="6675120" y="4663440"/>
            <a:ext cx="4937760" cy="365760"/>
          </a:xfrm>
          <a:prstGeom prst="rect">
            <a:avLst/>
          </a:prstGeom>
          <a:noFill/>
          <a:ln/>
        </p:spPr>
        <p:txBody>
          <a:bodyPr wrap="square" lIns="0" tIns="0" rIns="0" bIns="0" rtlCol="0" anchor="ctr"/>
          <a:lstStyle/>
          <a:p>
            <a:pPr indent="0" marL="0">
              <a:buNone/>
            </a:pPr>
            <a:r>
              <a:rPr lang="en-US" sz="1600" i="1" dirty="0">
                <a:solidFill>
                  <a:srgbClr val="BFE9E4"/>
                </a:solidFill>
              </a:rPr>
              <a:t>Strategik menejment fanidan taqdimot</a:t>
            </a:r>
            <a:endParaRPr lang="en-US" sz="1600" dirty="0"/>
          </a:p>
        </p:txBody>
      </p:sp>
      <p:sp>
        <p:nvSpPr>
          <p:cNvPr id="6" name="Text 3"/>
          <p:cNvSpPr txBox="1"/>
          <p:nvPr/>
        </p:nvSpPr>
        <p:spPr>
          <a:xfrm>
            <a:off x="6675120" y="5212080"/>
            <a:ext cx="4937760" cy="731520"/>
          </a:xfrm>
          <a:prstGeom prst="rect">
            <a:avLst/>
          </a:prstGeom>
          <a:noFill/>
          <a:ln/>
        </p:spPr>
        <p:txBody>
          <a:bodyPr wrap="square" lIns="0" tIns="0" rIns="0" bIns="0" rtlCol="0" anchor="ctr"/>
          <a:lstStyle/>
          <a:p>
            <a:pPr indent="0" marL="0">
              <a:spcAft>
                <a:spcPts val="400"/>
              </a:spcAft>
              <a:buNone/>
            </a:pPr>
            <a:r>
              <a:rPr lang="en-US" sz="1400" dirty="0">
                <a:solidFill>
                  <a:srgbClr val="DCEBEF"/>
                </a:solidFill>
              </a:rPr>
              <a:t>Bajardi: ______________________</a:t>
            </a:r>
            <a:endParaRPr lang="en-US" sz="1400" dirty="0"/>
          </a:p>
          <a:p>
            <a:pPr indent="0" marL="0">
              <a:spcAft>
                <a:spcPts val="400"/>
              </a:spcAft>
              <a:buNone/>
            </a:pPr>
            <a:r>
              <a:rPr lang="en-US" sz="1400" dirty="0">
                <a:solidFill>
                  <a:srgbClr val="DCEBEF"/>
                </a:solidFill>
              </a:rPr>
              <a:t>Tekshirdi: ____________________</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Reja</a:t>
            </a:r>
            <a:endParaRPr lang="en-US" sz="3000" dirty="0"/>
          </a:p>
        </p:txBody>
      </p:sp>
      <p:sp>
        <p:nvSpPr>
          <p:cNvPr id="3" name="Shape 1"/>
          <p:cNvSpPr/>
          <p:nvPr/>
        </p:nvSpPr>
        <p:spPr>
          <a:xfrm>
            <a:off x="548640" y="14630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731520" y="14630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5" name="Shape 3"/>
          <p:cNvSpPr/>
          <p:nvPr/>
        </p:nvSpPr>
        <p:spPr>
          <a:xfrm>
            <a:off x="1371600" y="157276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504737" y="1705905"/>
            <a:ext cx="245791" cy="245791"/>
          </a:xfrm>
          <a:prstGeom prst="rect">
            <a:avLst/>
          </a:prstGeom>
        </p:spPr>
      </p:pic>
      <p:sp>
        <p:nvSpPr>
          <p:cNvPr id="7" name="Text 4"/>
          <p:cNvSpPr txBox="1"/>
          <p:nvPr/>
        </p:nvSpPr>
        <p:spPr>
          <a:xfrm>
            <a:off x="2057400" y="14630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Strategiyani amalga oshirishning mohiyati va elementlari</a:t>
            </a:r>
            <a:endParaRPr lang="en-US" sz="1600" dirty="0"/>
          </a:p>
        </p:txBody>
      </p:sp>
      <p:sp>
        <p:nvSpPr>
          <p:cNvPr id="8" name="Shape 5"/>
          <p:cNvSpPr/>
          <p:nvPr/>
        </p:nvSpPr>
        <p:spPr>
          <a:xfrm>
            <a:off x="548640" y="23774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731520" y="23774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0" name="Shape 7"/>
          <p:cNvSpPr/>
          <p:nvPr/>
        </p:nvSpPr>
        <p:spPr>
          <a:xfrm>
            <a:off x="1371600" y="2487168"/>
            <a:ext cx="512064" cy="512064"/>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1504737" y="2620305"/>
            <a:ext cx="245791" cy="245791"/>
          </a:xfrm>
          <a:prstGeom prst="rect">
            <a:avLst/>
          </a:prstGeom>
        </p:spPr>
      </p:pic>
      <p:sp>
        <p:nvSpPr>
          <p:cNvPr id="12" name="Text 8"/>
          <p:cNvSpPr txBox="1"/>
          <p:nvPr/>
        </p:nvSpPr>
        <p:spPr>
          <a:xfrm>
            <a:off x="2057400" y="23774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Tashkiliy tuzilma, korporativ madaniyat va rahbarlikning roli</a:t>
            </a:r>
            <a:endParaRPr lang="en-US" sz="1600" dirty="0"/>
          </a:p>
        </p:txBody>
      </p:sp>
      <p:sp>
        <p:nvSpPr>
          <p:cNvPr id="13" name="Shape 9"/>
          <p:cNvSpPr/>
          <p:nvPr/>
        </p:nvSpPr>
        <p:spPr>
          <a:xfrm>
            <a:off x="548640" y="32918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32918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Shape 11"/>
          <p:cNvSpPr/>
          <p:nvPr/>
        </p:nvSpPr>
        <p:spPr>
          <a:xfrm>
            <a:off x="1371600" y="3401568"/>
            <a:ext cx="512064" cy="512064"/>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1504737" y="3534705"/>
            <a:ext cx="245791" cy="245791"/>
          </a:xfrm>
          <a:prstGeom prst="rect">
            <a:avLst/>
          </a:prstGeom>
        </p:spPr>
      </p:pic>
      <p:sp>
        <p:nvSpPr>
          <p:cNvPr id="17" name="Text 12"/>
          <p:cNvSpPr txBox="1"/>
          <p:nvPr/>
        </p:nvSpPr>
        <p:spPr>
          <a:xfrm>
            <a:off x="2057400" y="32918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Strategik monitoring tizimi va vositalari</a:t>
            </a:r>
            <a:endParaRPr lang="en-US" sz="1600" dirty="0"/>
          </a:p>
        </p:txBody>
      </p:sp>
      <p:sp>
        <p:nvSpPr>
          <p:cNvPr id="18" name="Shape 13"/>
          <p:cNvSpPr/>
          <p:nvPr/>
        </p:nvSpPr>
        <p:spPr>
          <a:xfrm>
            <a:off x="548640" y="42062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4"/>
          <p:cNvSpPr txBox="1"/>
          <p:nvPr/>
        </p:nvSpPr>
        <p:spPr>
          <a:xfrm>
            <a:off x="731520" y="42062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20" name="Shape 15"/>
          <p:cNvSpPr/>
          <p:nvPr/>
        </p:nvSpPr>
        <p:spPr>
          <a:xfrm>
            <a:off x="1371600" y="4315968"/>
            <a:ext cx="512064" cy="51206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1504737" y="4449105"/>
            <a:ext cx="245791" cy="245791"/>
          </a:xfrm>
          <a:prstGeom prst="rect">
            <a:avLst/>
          </a:prstGeom>
        </p:spPr>
      </p:pic>
      <p:sp>
        <p:nvSpPr>
          <p:cNvPr id="22" name="Text 16"/>
          <p:cNvSpPr txBox="1"/>
          <p:nvPr/>
        </p:nvSpPr>
        <p:spPr>
          <a:xfrm>
            <a:off x="2057400" y="42062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Natijalarni baholash: BSC va KPI tizimi</a:t>
            </a:r>
            <a:endParaRPr lang="en-US" sz="1600" dirty="0"/>
          </a:p>
        </p:txBody>
      </p:sp>
      <p:sp>
        <p:nvSpPr>
          <p:cNvPr id="23" name="Shape 17"/>
          <p:cNvSpPr/>
          <p:nvPr/>
        </p:nvSpPr>
        <p:spPr>
          <a:xfrm>
            <a:off x="548640" y="51206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8"/>
          <p:cNvSpPr txBox="1"/>
          <p:nvPr/>
        </p:nvSpPr>
        <p:spPr>
          <a:xfrm>
            <a:off x="731520" y="51206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5" name="Shape 19"/>
          <p:cNvSpPr/>
          <p:nvPr/>
        </p:nvSpPr>
        <p:spPr>
          <a:xfrm>
            <a:off x="1371600" y="5230368"/>
            <a:ext cx="512064" cy="512064"/>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1504737" y="5363505"/>
            <a:ext cx="245791" cy="245791"/>
          </a:xfrm>
          <a:prstGeom prst="rect">
            <a:avLst/>
          </a:prstGeom>
        </p:spPr>
      </p:pic>
      <p:sp>
        <p:nvSpPr>
          <p:cNvPr id="27" name="Text 20"/>
          <p:cNvSpPr txBox="1"/>
          <p:nvPr/>
        </p:nvSpPr>
        <p:spPr>
          <a:xfrm>
            <a:off x="2057400" y="51206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Strategiyaga tuzatishlar kiritish va doimiy takomillashtirish</a:t>
            </a:r>
            <a:endParaRPr lang="en-US" sz="1600" dirty="0"/>
          </a:p>
        </p:txBody>
      </p:sp>
      <p:pic>
        <p:nvPicPr>
          <p:cNvPr id="28" name="Image 5" descr="img15/plan.png">    </p:cNvPr>
          <p:cNvPicPr>
            <a:picLocks noChangeAspect="1"/>
          </p:cNvPicPr>
          <p:nvPr/>
        </p:nvPicPr>
        <p:blipFill>
          <a:blip r:embed="rId6"/>
          <a:stretch>
            <a:fillRect/>
          </a:stretch>
        </p:blipFill>
        <p:spPr>
          <a:xfrm>
            <a:off x="7680960" y="1463040"/>
            <a:ext cx="3931920" cy="3054096"/>
          </a:xfrm>
          <a:prstGeom prst="rect">
            <a:avLst/>
          </a:prstGeom>
        </p:spPr>
      </p:pic>
      <p:sp>
        <p:nvSpPr>
          <p:cNvPr id="29" name="Text 21"/>
          <p:cNvSpPr txBox="1"/>
          <p:nvPr/>
        </p:nvSpPr>
        <p:spPr>
          <a:xfrm>
            <a:off x="7680960" y="4663440"/>
            <a:ext cx="3931920" cy="731520"/>
          </a:xfrm>
          <a:prstGeom prst="rect">
            <a:avLst/>
          </a:prstGeom>
          <a:noFill/>
          <a:ln/>
        </p:spPr>
        <p:txBody>
          <a:bodyPr wrap="square" lIns="0" tIns="0" rIns="0" bIns="0" rtlCol="0" anchor="ctr"/>
          <a:lstStyle/>
          <a:p>
            <a:pPr indent="0" marL="0">
              <a:buNone/>
            </a:pPr>
            <a:r>
              <a:rPr lang="en-US" sz="1400" i="1" dirty="0">
                <a:solidFill>
                  <a:srgbClr val="4A5B6C"/>
                </a:solidFill>
              </a:rPr>
              <a:t>Xulosa va asosiy xulosalar taqdimot so‘ngida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Strategiyani amalga oshirishning mohiyati</a:t>
            </a:r>
            <a:endParaRPr lang="en-US" sz="3000" dirty="0"/>
          </a:p>
        </p:txBody>
      </p:sp>
      <p:pic>
        <p:nvPicPr>
          <p:cNvPr id="3" name="Image 0" descr="img15/essence.png">    </p:cNvPr>
          <p:cNvPicPr>
            <a:picLocks noChangeAspect="1"/>
          </p:cNvPicPr>
          <p:nvPr/>
        </p:nvPicPr>
        <p:blipFill>
          <a:blip r:embed="rId1"/>
          <a:stretch>
            <a:fillRect/>
          </a:stretch>
        </p:blipFill>
        <p:spPr>
          <a:xfrm>
            <a:off x="548640" y="1371600"/>
            <a:ext cx="4206240" cy="3273552"/>
          </a:xfrm>
          <a:prstGeom prst="rect">
            <a:avLst/>
          </a:prstGeom>
        </p:spPr>
      </p:pic>
      <p:sp>
        <p:nvSpPr>
          <p:cNvPr id="4" name="Text 1"/>
          <p:cNvSpPr txBox="1"/>
          <p:nvPr/>
        </p:nvSpPr>
        <p:spPr>
          <a:xfrm>
            <a:off x="548640" y="4800600"/>
            <a:ext cx="4206240" cy="14630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Strategiyani amalga oshirish</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tanlangan strategiyani aniq dasturlar, byudjetlar, tashkiliy o‘zgarishlar va kundalik harakatlarga aylantirish jarayoni. Eng yaxshi strategiya ham sifatli ijro bo‘lmasa, qog‘ozda qolib ketadi.</a:t>
            </a:r>
            <a:endParaRPr lang="en-US" sz="1400" dirty="0"/>
          </a:p>
        </p:txBody>
      </p:sp>
      <p:sp>
        <p:nvSpPr>
          <p:cNvPr id="5" name="Text 2"/>
          <p:cNvSpPr txBox="1"/>
          <p:nvPr/>
        </p:nvSpPr>
        <p:spPr>
          <a:xfrm>
            <a:off x="5120640" y="1371600"/>
            <a:ext cx="6492240" cy="365760"/>
          </a:xfrm>
          <a:prstGeom prst="rect">
            <a:avLst/>
          </a:prstGeom>
          <a:noFill/>
          <a:ln/>
        </p:spPr>
        <p:txBody>
          <a:bodyPr wrap="square" lIns="0" tIns="0" rIns="0" bIns="0" rtlCol="0" anchor="ctr"/>
          <a:lstStyle/>
          <a:p>
            <a:pPr indent="0" marL="0">
              <a:buNone/>
            </a:pPr>
            <a:r>
              <a:rPr lang="en-US" sz="1600" b="1" dirty="0">
                <a:solidFill>
                  <a:srgbClr val="0D2F4F"/>
                </a:solidFill>
              </a:rPr>
              <a:t>Muvaffaqiyatli amalga oshirishning asosiy elementlari:</a:t>
            </a:r>
            <a:endParaRPr lang="en-US" sz="1600" dirty="0"/>
          </a:p>
        </p:txBody>
      </p:sp>
      <p:sp>
        <p:nvSpPr>
          <p:cNvPr id="6" name="Shape 3"/>
          <p:cNvSpPr/>
          <p:nvPr/>
        </p:nvSpPr>
        <p:spPr>
          <a:xfrm>
            <a:off x="5120640" y="1920240"/>
            <a:ext cx="566928" cy="566928"/>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5268041" y="2067641"/>
            <a:ext cx="272125" cy="272125"/>
          </a:xfrm>
          <a:prstGeom prst="rect">
            <a:avLst/>
          </a:prstGeom>
        </p:spPr>
      </p:pic>
      <p:sp>
        <p:nvSpPr>
          <p:cNvPr id="8" name="Text 4"/>
          <p:cNvSpPr txBox="1"/>
          <p:nvPr/>
        </p:nvSpPr>
        <p:spPr>
          <a:xfrm>
            <a:off x="5852160" y="187452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Maqsadlarni dekompozitsiya qilish</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strategik maqsadlarni bo‘limlar va xodimlar darajasigacha bo‘lib chiqish.</a:t>
            </a:r>
            <a:endParaRPr lang="en-US" sz="1400" dirty="0"/>
          </a:p>
        </p:txBody>
      </p:sp>
      <p:sp>
        <p:nvSpPr>
          <p:cNvPr id="9" name="Shape 5"/>
          <p:cNvSpPr/>
          <p:nvPr/>
        </p:nvSpPr>
        <p:spPr>
          <a:xfrm>
            <a:off x="5120640" y="2788920"/>
            <a:ext cx="566928" cy="566928"/>
          </a:xfrm>
          <a:prstGeom prst="ellipse">
            <a:avLst/>
          </a:prstGeom>
          <a:solidFill>
            <a:srgbClr val="0D2F4F"/>
          </a:solidFill>
          <a:ln w="12700">
            <a:solidFill>
              <a:srgbClr val="0D2F4F"/>
            </a:solidFill>
            <a:prstDash val="solid"/>
          </a:ln>
        </p:spPr>
      </p:sp>
      <p:pic>
        <p:nvPicPr>
          <p:cNvPr id="10" name="Image 2" descr="preencoded.png">    </p:cNvPr>
          <p:cNvPicPr>
            <a:picLocks noChangeAspect="1"/>
          </p:cNvPicPr>
          <p:nvPr/>
        </p:nvPicPr>
        <p:blipFill>
          <a:blip r:embed="rId3"/>
          <a:stretch>
            <a:fillRect/>
          </a:stretch>
        </p:blipFill>
        <p:spPr>
          <a:xfrm>
            <a:off x="5268041" y="2936321"/>
            <a:ext cx="272125" cy="272125"/>
          </a:xfrm>
          <a:prstGeom prst="rect">
            <a:avLst/>
          </a:prstGeom>
        </p:spPr>
      </p:pic>
      <p:sp>
        <p:nvSpPr>
          <p:cNvPr id="11" name="Text 6"/>
          <p:cNvSpPr txBox="1"/>
          <p:nvPr/>
        </p:nvSpPr>
        <p:spPr>
          <a:xfrm>
            <a:off x="5852160" y="274320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Resurslarni taqsimlash</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moliya, kadrlar va vaqtni ustuvor yo‘nalishlarga ajratish.</a:t>
            </a:r>
            <a:endParaRPr lang="en-US" sz="1400" dirty="0"/>
          </a:p>
        </p:txBody>
      </p:sp>
      <p:sp>
        <p:nvSpPr>
          <p:cNvPr id="12" name="Shape 7"/>
          <p:cNvSpPr/>
          <p:nvPr/>
        </p:nvSpPr>
        <p:spPr>
          <a:xfrm>
            <a:off x="5120640" y="3657600"/>
            <a:ext cx="566928" cy="566928"/>
          </a:xfrm>
          <a:prstGeom prst="ellipse">
            <a:avLst/>
          </a:prstGeom>
          <a:solidFill>
            <a:srgbClr val="0E9F9A"/>
          </a:solidFill>
          <a:ln w="12700">
            <a:solidFill>
              <a:srgbClr val="0E9F9A"/>
            </a:solidFill>
            <a:prstDash val="solid"/>
          </a:ln>
        </p:spPr>
      </p:sp>
      <p:pic>
        <p:nvPicPr>
          <p:cNvPr id="13" name="Image 3" descr="preencoded.png">    </p:cNvPr>
          <p:cNvPicPr>
            <a:picLocks noChangeAspect="1"/>
          </p:cNvPicPr>
          <p:nvPr/>
        </p:nvPicPr>
        <p:blipFill>
          <a:blip r:embed="rId4"/>
          <a:stretch>
            <a:fillRect/>
          </a:stretch>
        </p:blipFill>
        <p:spPr>
          <a:xfrm>
            <a:off x="5268041" y="3805001"/>
            <a:ext cx="272125" cy="272125"/>
          </a:xfrm>
          <a:prstGeom prst="rect">
            <a:avLst/>
          </a:prstGeom>
        </p:spPr>
      </p:pic>
      <p:sp>
        <p:nvSpPr>
          <p:cNvPr id="14" name="Text 8"/>
          <p:cNvSpPr txBox="1"/>
          <p:nvPr/>
        </p:nvSpPr>
        <p:spPr>
          <a:xfrm>
            <a:off x="5852160" y="361188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Mos tashkiliy tuzilma</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strategiyaga xizmat qiluvchi vakolat va mas’uliyat taqsimoti.</a:t>
            </a:r>
            <a:endParaRPr lang="en-US" sz="1400" dirty="0"/>
          </a:p>
        </p:txBody>
      </p:sp>
      <p:sp>
        <p:nvSpPr>
          <p:cNvPr id="15" name="Shape 9"/>
          <p:cNvSpPr/>
          <p:nvPr/>
        </p:nvSpPr>
        <p:spPr>
          <a:xfrm>
            <a:off x="5120640" y="4526280"/>
            <a:ext cx="566928" cy="566928"/>
          </a:xfrm>
          <a:prstGeom prst="ellipse">
            <a:avLst/>
          </a:prstGeom>
          <a:solidFill>
            <a:srgbClr val="0D2F4F"/>
          </a:solidFill>
          <a:ln w="12700">
            <a:solidFill>
              <a:srgbClr val="0D2F4F"/>
            </a:solidFill>
            <a:prstDash val="solid"/>
          </a:ln>
        </p:spPr>
      </p:sp>
      <p:pic>
        <p:nvPicPr>
          <p:cNvPr id="16" name="Image 4" descr="preencoded.png">    </p:cNvPr>
          <p:cNvPicPr>
            <a:picLocks noChangeAspect="1"/>
          </p:cNvPicPr>
          <p:nvPr/>
        </p:nvPicPr>
        <p:blipFill>
          <a:blip r:embed="rId5"/>
          <a:stretch>
            <a:fillRect/>
          </a:stretch>
        </p:blipFill>
        <p:spPr>
          <a:xfrm>
            <a:off x="5268041" y="4673681"/>
            <a:ext cx="272125" cy="272125"/>
          </a:xfrm>
          <a:prstGeom prst="rect">
            <a:avLst/>
          </a:prstGeom>
        </p:spPr>
      </p:pic>
      <p:sp>
        <p:nvSpPr>
          <p:cNvPr id="17" name="Text 10"/>
          <p:cNvSpPr txBox="1"/>
          <p:nvPr/>
        </p:nvSpPr>
        <p:spPr>
          <a:xfrm>
            <a:off x="5852160" y="448056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Odamlarni jalb qilish</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xodimlarga strategiyani tushuntirish va ularni motivatsiyalash.</a:t>
            </a:r>
            <a:endParaRPr lang="en-US" sz="1400" dirty="0"/>
          </a:p>
        </p:txBody>
      </p:sp>
      <p:sp>
        <p:nvSpPr>
          <p:cNvPr id="18" name="Shape 11"/>
          <p:cNvSpPr/>
          <p:nvPr/>
        </p:nvSpPr>
        <p:spPr>
          <a:xfrm>
            <a:off x="5120640" y="5394960"/>
            <a:ext cx="566928" cy="566928"/>
          </a:xfrm>
          <a:prstGeom prst="ellipse">
            <a:avLst/>
          </a:prstGeom>
          <a:solidFill>
            <a:srgbClr val="0E9F9A"/>
          </a:solidFill>
          <a:ln w="12700">
            <a:solidFill>
              <a:srgbClr val="0E9F9A"/>
            </a:solidFill>
            <a:prstDash val="solid"/>
          </a:ln>
        </p:spPr>
      </p:sp>
      <p:pic>
        <p:nvPicPr>
          <p:cNvPr id="19" name="Image 5" descr="preencoded.png">    </p:cNvPr>
          <p:cNvPicPr>
            <a:picLocks noChangeAspect="1"/>
          </p:cNvPicPr>
          <p:nvPr/>
        </p:nvPicPr>
        <p:blipFill>
          <a:blip r:embed="rId6"/>
          <a:stretch>
            <a:fillRect/>
          </a:stretch>
        </p:blipFill>
        <p:spPr>
          <a:xfrm>
            <a:off x="5268041" y="5542361"/>
            <a:ext cx="272125" cy="272125"/>
          </a:xfrm>
          <a:prstGeom prst="rect">
            <a:avLst/>
          </a:prstGeom>
        </p:spPr>
      </p:pic>
      <p:sp>
        <p:nvSpPr>
          <p:cNvPr id="20" name="Text 12"/>
          <p:cNvSpPr txBox="1"/>
          <p:nvPr/>
        </p:nvSpPr>
        <p:spPr>
          <a:xfrm>
            <a:off x="5852160" y="534924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Nazorat va qayta aloqa</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natijalarni muntazam o‘lchash va o‘z vaqtida tuzatish kiritish.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Strategiyadan kundalik harakatgacha: rejalar kaskadi</a:t>
            </a:r>
            <a:endParaRPr lang="en-US" sz="3000" dirty="0"/>
          </a:p>
        </p:txBody>
      </p:sp>
      <p:sp>
        <p:nvSpPr>
          <p:cNvPr id="3" name="Text 1"/>
          <p:cNvSpPr txBox="1"/>
          <p:nvPr/>
        </p:nvSpPr>
        <p:spPr>
          <a:xfrm>
            <a:off x="548640" y="1371600"/>
            <a:ext cx="6766560" cy="178308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Strategiya amalga oshishi uchun u </a:t>
            </a:r>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ierarxik rejalar tizimi</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ga aylantiriladi: har bir quyi darajadagi reja yuqori darajadagi maqsadga xizmat qiladi. Bu “strategiya – byudjet – ijro” zanjirini uzluksiz qiladi va har bir xodimga o‘z hissasini ko‘rish imkonini beradi.</a:t>
            </a:r>
            <a:endParaRPr lang="en-US" sz="1400" dirty="0"/>
          </a:p>
        </p:txBody>
      </p:sp>
      <p:sp>
        <p:nvSpPr>
          <p:cNvPr id="4" name="Text 2"/>
          <p:cNvSpPr txBox="1"/>
          <p:nvPr/>
        </p:nvSpPr>
        <p:spPr>
          <a:xfrm>
            <a:off x="548640" y="3063240"/>
            <a:ext cx="6766560" cy="365760"/>
          </a:xfrm>
          <a:prstGeom prst="rect">
            <a:avLst/>
          </a:prstGeom>
          <a:noFill/>
          <a:ln/>
        </p:spPr>
        <p:txBody>
          <a:bodyPr wrap="square" lIns="0" tIns="0" rIns="0" bIns="0" rtlCol="0" anchor="ctr"/>
          <a:lstStyle/>
          <a:p>
            <a:pPr indent="0" marL="0">
              <a:buNone/>
            </a:pPr>
            <a:r>
              <a:rPr lang="en-US" sz="1600" b="1" dirty="0">
                <a:solidFill>
                  <a:srgbClr val="0D2F4F"/>
                </a:solidFill>
              </a:rPr>
              <a:t>Rejalar kaskadi:</a:t>
            </a:r>
            <a:endParaRPr lang="en-US" sz="1600" dirty="0"/>
          </a:p>
        </p:txBody>
      </p:sp>
      <p:sp>
        <p:nvSpPr>
          <p:cNvPr id="5" name="Shape 3"/>
          <p:cNvSpPr/>
          <p:nvPr/>
        </p:nvSpPr>
        <p:spPr>
          <a:xfrm>
            <a:off x="548640" y="353872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681777" y="3671865"/>
            <a:ext cx="245791" cy="245791"/>
          </a:xfrm>
          <a:prstGeom prst="rect">
            <a:avLst/>
          </a:prstGeom>
        </p:spPr>
      </p:pic>
      <p:sp>
        <p:nvSpPr>
          <p:cNvPr id="7" name="Text 4"/>
          <p:cNvSpPr txBox="1"/>
          <p:nvPr/>
        </p:nvSpPr>
        <p:spPr>
          <a:xfrm>
            <a:off x="1234440" y="3483864"/>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Strategik reja (3–5 yil) – </a:t>
            </a:r>
            <a:pPr indent="0" marL="0">
              <a:buNone/>
            </a:pPr>
            <a:r>
              <a:rPr lang="en-US" sz="1400" dirty="0">
                <a:solidFill>
                  <a:srgbClr val="1B2A3A"/>
                </a:solidFill>
                <a:latin typeface="Calibri" pitchFamily="34" charset="0"/>
                <a:ea typeface="Calibri" pitchFamily="34" charset="-122"/>
                <a:cs typeface="Calibri" pitchFamily="34" charset="-120"/>
              </a:rPr>
              <a:t>missiya, vizyon va strategik maqsadlar</a:t>
            </a:r>
            <a:endParaRPr lang="en-US" sz="1400" dirty="0"/>
          </a:p>
        </p:txBody>
      </p:sp>
      <p:sp>
        <p:nvSpPr>
          <p:cNvPr id="8" name="Shape 5"/>
          <p:cNvSpPr/>
          <p:nvPr/>
        </p:nvSpPr>
        <p:spPr>
          <a:xfrm>
            <a:off x="548640" y="4206240"/>
            <a:ext cx="512064" cy="512064"/>
          </a:xfrm>
          <a:prstGeom prst="ellipse">
            <a:avLst/>
          </a:prstGeom>
          <a:solidFill>
            <a:srgbClr val="0D2F4F"/>
          </a:solidFill>
          <a:ln w="12700">
            <a:solidFill>
              <a:srgbClr val="0D2F4F"/>
            </a:solidFill>
            <a:prstDash val="solid"/>
          </a:ln>
        </p:spPr>
      </p:sp>
      <p:pic>
        <p:nvPicPr>
          <p:cNvPr id="9" name="Image 1" descr="preencoded.png">    </p:cNvPr>
          <p:cNvPicPr>
            <a:picLocks noChangeAspect="1"/>
          </p:cNvPicPr>
          <p:nvPr/>
        </p:nvPicPr>
        <p:blipFill>
          <a:blip r:embed="rId2"/>
          <a:stretch>
            <a:fillRect/>
          </a:stretch>
        </p:blipFill>
        <p:spPr>
          <a:xfrm>
            <a:off x="681777" y="4339377"/>
            <a:ext cx="245791" cy="245791"/>
          </a:xfrm>
          <a:prstGeom prst="rect">
            <a:avLst/>
          </a:prstGeom>
        </p:spPr>
      </p:pic>
      <p:sp>
        <p:nvSpPr>
          <p:cNvPr id="10" name="Text 6"/>
          <p:cNvSpPr txBox="1"/>
          <p:nvPr/>
        </p:nvSpPr>
        <p:spPr>
          <a:xfrm>
            <a:off x="1234440" y="4151376"/>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Taktik rejalar (1 yil) – </a:t>
            </a:r>
            <a:pPr indent="0" marL="0">
              <a:buNone/>
            </a:pPr>
            <a:r>
              <a:rPr lang="en-US" sz="1400" dirty="0">
                <a:solidFill>
                  <a:srgbClr val="1B2A3A"/>
                </a:solidFill>
                <a:latin typeface="Calibri" pitchFamily="34" charset="0"/>
                <a:ea typeface="Calibri" pitchFamily="34" charset="-122"/>
                <a:cs typeface="Calibri" pitchFamily="34" charset="-120"/>
              </a:rPr>
              <a:t>yillik dasturlar va loyihalar portfeli</a:t>
            </a:r>
            <a:endParaRPr lang="en-US" sz="1400" dirty="0"/>
          </a:p>
        </p:txBody>
      </p:sp>
      <p:sp>
        <p:nvSpPr>
          <p:cNvPr id="11" name="Shape 7"/>
          <p:cNvSpPr/>
          <p:nvPr/>
        </p:nvSpPr>
        <p:spPr>
          <a:xfrm>
            <a:off x="548640" y="4873752"/>
            <a:ext cx="512064" cy="512064"/>
          </a:xfrm>
          <a:prstGeom prst="ellipse">
            <a:avLst/>
          </a:prstGeom>
          <a:solidFill>
            <a:srgbClr val="0E9F9A"/>
          </a:solidFill>
          <a:ln w="12700">
            <a:solidFill>
              <a:srgbClr val="0E9F9A"/>
            </a:solidFill>
            <a:prstDash val="solid"/>
          </a:ln>
        </p:spPr>
      </p:sp>
      <p:pic>
        <p:nvPicPr>
          <p:cNvPr id="12" name="Image 2" descr="preencoded.png">    </p:cNvPr>
          <p:cNvPicPr>
            <a:picLocks noChangeAspect="1"/>
          </p:cNvPicPr>
          <p:nvPr/>
        </p:nvPicPr>
        <p:blipFill>
          <a:blip r:embed="rId3"/>
          <a:stretch>
            <a:fillRect/>
          </a:stretch>
        </p:blipFill>
        <p:spPr>
          <a:xfrm>
            <a:off x="681777" y="5006889"/>
            <a:ext cx="245791" cy="245791"/>
          </a:xfrm>
          <a:prstGeom prst="rect">
            <a:avLst/>
          </a:prstGeom>
        </p:spPr>
      </p:pic>
      <p:sp>
        <p:nvSpPr>
          <p:cNvPr id="13" name="Text 8"/>
          <p:cNvSpPr txBox="1"/>
          <p:nvPr/>
        </p:nvSpPr>
        <p:spPr>
          <a:xfrm>
            <a:off x="1234440" y="4818888"/>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Operativ rejalar (oy, chorak) – </a:t>
            </a:r>
            <a:pPr indent="0" marL="0">
              <a:buNone/>
            </a:pPr>
            <a:r>
              <a:rPr lang="en-US" sz="1400" dirty="0">
                <a:solidFill>
                  <a:srgbClr val="1B2A3A"/>
                </a:solidFill>
                <a:latin typeface="Calibri" pitchFamily="34" charset="0"/>
                <a:ea typeface="Calibri" pitchFamily="34" charset="-122"/>
                <a:cs typeface="Calibri" pitchFamily="34" charset="-120"/>
              </a:rPr>
              <a:t>bo‘limlar va xodimlar topshiriqlari</a:t>
            </a:r>
            <a:endParaRPr lang="en-US" sz="1400" dirty="0"/>
          </a:p>
        </p:txBody>
      </p:sp>
      <p:sp>
        <p:nvSpPr>
          <p:cNvPr id="14" name="Shape 9"/>
          <p:cNvSpPr/>
          <p:nvPr/>
        </p:nvSpPr>
        <p:spPr>
          <a:xfrm>
            <a:off x="548640" y="5541264"/>
            <a:ext cx="512064" cy="512064"/>
          </a:xfrm>
          <a:prstGeom prst="ellipse">
            <a:avLst/>
          </a:prstGeom>
          <a:solidFill>
            <a:srgbClr val="0D2F4F"/>
          </a:solidFill>
          <a:ln w="12700">
            <a:solidFill>
              <a:srgbClr val="0D2F4F"/>
            </a:solidFill>
            <a:prstDash val="solid"/>
          </a:ln>
        </p:spPr>
      </p:sp>
      <p:pic>
        <p:nvPicPr>
          <p:cNvPr id="15" name="Image 3" descr="preencoded.png">    </p:cNvPr>
          <p:cNvPicPr>
            <a:picLocks noChangeAspect="1"/>
          </p:cNvPicPr>
          <p:nvPr/>
        </p:nvPicPr>
        <p:blipFill>
          <a:blip r:embed="rId4"/>
          <a:stretch>
            <a:fillRect/>
          </a:stretch>
        </p:blipFill>
        <p:spPr>
          <a:xfrm>
            <a:off x="681777" y="5674401"/>
            <a:ext cx="245791" cy="245791"/>
          </a:xfrm>
          <a:prstGeom prst="rect">
            <a:avLst/>
          </a:prstGeom>
        </p:spPr>
      </p:pic>
      <p:sp>
        <p:nvSpPr>
          <p:cNvPr id="16" name="Text 10"/>
          <p:cNvSpPr txBox="1"/>
          <p:nvPr/>
        </p:nvSpPr>
        <p:spPr>
          <a:xfrm>
            <a:off x="1234440" y="5486400"/>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Byudjetlar – </a:t>
            </a:r>
            <a:pPr indent="0" marL="0">
              <a:buNone/>
            </a:pPr>
            <a:r>
              <a:rPr lang="en-US" sz="1400" dirty="0">
                <a:solidFill>
                  <a:srgbClr val="1B2A3A"/>
                </a:solidFill>
                <a:latin typeface="Calibri" pitchFamily="34" charset="0"/>
                <a:ea typeface="Calibri" pitchFamily="34" charset="-122"/>
                <a:cs typeface="Calibri" pitchFamily="34" charset="-120"/>
              </a:rPr>
              <a:t>har bir rejaning moliyaviy ta’minoti</a:t>
            </a:r>
            <a:endParaRPr lang="en-US" sz="1400" dirty="0"/>
          </a:p>
        </p:txBody>
      </p:sp>
      <p:pic>
        <p:nvPicPr>
          <p:cNvPr id="17" name="Image 4" descr="img15/cascade.png">    </p:cNvPr>
          <p:cNvPicPr>
            <a:picLocks noChangeAspect="1"/>
          </p:cNvPicPr>
          <p:nvPr/>
        </p:nvPicPr>
        <p:blipFill>
          <a:blip r:embed="rId5"/>
          <a:stretch>
            <a:fillRect/>
          </a:stretch>
        </p:blipFill>
        <p:spPr>
          <a:xfrm>
            <a:off x="7680960" y="1371600"/>
            <a:ext cx="3931920" cy="3054096"/>
          </a:xfrm>
          <a:prstGeom prst="rect">
            <a:avLst/>
          </a:prstGeom>
        </p:spPr>
      </p:pic>
      <p:sp>
        <p:nvSpPr>
          <p:cNvPr id="18" name="Shape 11"/>
          <p:cNvSpPr/>
          <p:nvPr/>
        </p:nvSpPr>
        <p:spPr>
          <a:xfrm>
            <a:off x="7680960" y="4617720"/>
            <a:ext cx="3931920" cy="1554480"/>
          </a:xfrm>
          <a:prstGeom prst="roundRect">
            <a:avLst>
              <a:gd name="adj" fmla="val 7059"/>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2"/>
          <p:cNvSpPr txBox="1"/>
          <p:nvPr/>
        </p:nvSpPr>
        <p:spPr>
          <a:xfrm>
            <a:off x="7863840" y="4663440"/>
            <a:ext cx="3566160" cy="14630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Asosiy qoida:</a:t>
            </a:r>
            <a:pPr indent="0" marL="0">
              <a:buNone/>
            </a:pPr>
            <a:r>
              <a:rPr lang="en-US" sz="1400" dirty="0">
                <a:solidFill>
                  <a:srgbClr val="1B2A3A"/>
                </a:solidFill>
                <a:latin typeface="Calibri" pitchFamily="34" charset="0"/>
                <a:ea typeface="Calibri" pitchFamily="34" charset="-122"/>
                <a:cs typeface="Calibri" pitchFamily="34" charset="-120"/>
              </a:rPr>
              <a:t> byudjeti va mas’ul shaxsi bo‘lmagan strategik tadbir amalda bajarilmaydi.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Tuzilma, madaniyat va rahbarlikning roli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A. Chandlerning mashhur qoidasi: </a:t>
            </a:r>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“tuzilma strategiyaga ergashadi”</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Strategiyani amalga oshirish uchun uchta tashkiliy omil unga moslashtirilishi kerak:</a:t>
            </a:r>
            <a:endParaRPr lang="en-US" sz="1400" dirty="0"/>
          </a:p>
        </p:txBody>
      </p:sp>
      <p:sp>
        <p:nvSpPr>
          <p:cNvPr id="4" name="Shape 2"/>
          <p:cNvSpPr/>
          <p:nvPr/>
        </p:nvSpPr>
        <p:spPr>
          <a:xfrm>
            <a:off x="548640" y="5532120"/>
            <a:ext cx="11064240" cy="685800"/>
          </a:xfrm>
          <a:prstGeom prst="roundRect">
            <a:avLst>
              <a:gd name="adj" fmla="val 16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5577840"/>
            <a:ext cx="10698480" cy="5943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J. Kotter (1996)</a:t>
            </a:r>
            <a:pPr indent="0" marL="0">
              <a:buNone/>
            </a:pPr>
            <a:r>
              <a:rPr lang="en-US" sz="1400" dirty="0">
                <a:solidFill>
                  <a:srgbClr val="1B2A3A"/>
                </a:solidFill>
                <a:latin typeface="Calibri" pitchFamily="34" charset="0"/>
                <a:ea typeface="Calibri" pitchFamily="34" charset="-122"/>
                <a:cs typeface="Calibri" pitchFamily="34" charset="-120"/>
              </a:rPr>
              <a:t> o‘zgarishlarni boshqarishning 8 qadami: shoshilinchlik hissini yaratish va ittifoq tuzishdan boshlab, yangilikni madaniyatga singdirishgacha.</a:t>
            </a:r>
            <a:endParaRPr lang="en-US" sz="1400" dirty="0"/>
          </a:p>
        </p:txBody>
      </p:sp>
      <p:sp>
        <p:nvSpPr>
          <p:cNvPr id="6" name="Shape 4"/>
          <p:cNvSpPr/>
          <p:nvPr/>
        </p:nvSpPr>
        <p:spPr>
          <a:xfrm>
            <a:off x="54864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Shape 5"/>
          <p:cNvSpPr/>
          <p:nvPr/>
        </p:nvSpPr>
        <p:spPr>
          <a:xfrm>
            <a:off x="822960" y="2468880"/>
            <a:ext cx="731520" cy="731520"/>
          </a:xfrm>
          <a:prstGeom prst="ellipse">
            <a:avLst/>
          </a:prstGeom>
          <a:solidFill>
            <a:srgbClr val="0D2F4F"/>
          </a:solidFill>
          <a:ln w="12700">
            <a:solidFill>
              <a:srgbClr val="0D2F4F"/>
            </a:solidFill>
            <a:prstDash val="solid"/>
          </a:ln>
        </p:spPr>
      </p:sp>
      <p:pic>
        <p:nvPicPr>
          <p:cNvPr id="8" name="Image 0" descr="preencoded.png">    </p:cNvPr>
          <p:cNvPicPr>
            <a:picLocks noChangeAspect="1"/>
          </p:cNvPicPr>
          <p:nvPr/>
        </p:nvPicPr>
        <p:blipFill>
          <a:blip r:embed="rId1"/>
          <a:stretch>
            <a:fillRect/>
          </a:stretch>
        </p:blipFill>
        <p:spPr>
          <a:xfrm>
            <a:off x="1013155" y="2659075"/>
            <a:ext cx="351130" cy="351130"/>
          </a:xfrm>
          <a:prstGeom prst="rect">
            <a:avLst/>
          </a:prstGeom>
        </p:spPr>
      </p:pic>
      <p:sp>
        <p:nvSpPr>
          <p:cNvPr id="9" name="Text 6"/>
          <p:cNvSpPr txBox="1"/>
          <p:nvPr/>
        </p:nvSpPr>
        <p:spPr>
          <a:xfrm>
            <a:off x="169164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Tashkiliy tuzilma</a:t>
            </a:r>
            <a:endParaRPr lang="en-US" sz="1700" dirty="0"/>
          </a:p>
        </p:txBody>
      </p:sp>
      <p:sp>
        <p:nvSpPr>
          <p:cNvPr id="10" name="Text 7"/>
          <p:cNvSpPr txBox="1"/>
          <p:nvPr/>
        </p:nvSpPr>
        <p:spPr>
          <a:xfrm>
            <a:off x="169164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kim nima uchun javobgar</a:t>
            </a:r>
            <a:endParaRPr lang="en-US" sz="1200" dirty="0"/>
          </a:p>
        </p:txBody>
      </p:sp>
      <p:sp>
        <p:nvSpPr>
          <p:cNvPr id="11" name="Text 8"/>
          <p:cNvSpPr txBox="1"/>
          <p:nvPr/>
        </p:nvSpPr>
        <p:spPr>
          <a:xfrm>
            <a:off x="82296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vakolat va mas’uliyatni aniq taqsimlash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loyiha guruhlari va ofislari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ortiqcha boshqaruv bo‘g‘inlarini qisqartirish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bo‘limlararo hamkorlik</a:t>
            </a:r>
            <a:endParaRPr lang="en-US" sz="1400" dirty="0"/>
          </a:p>
        </p:txBody>
      </p:sp>
      <p:sp>
        <p:nvSpPr>
          <p:cNvPr id="12" name="Shape 9"/>
          <p:cNvSpPr/>
          <p:nvPr/>
        </p:nvSpPr>
        <p:spPr>
          <a:xfrm>
            <a:off x="434340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4617720" y="2468880"/>
            <a:ext cx="731520" cy="731520"/>
          </a:xfrm>
          <a:prstGeom prst="ellipse">
            <a:avLst/>
          </a:prstGeom>
          <a:solidFill>
            <a:srgbClr val="0E9F9A"/>
          </a:solidFill>
          <a:ln w="12700">
            <a:solidFill>
              <a:srgbClr val="0E9F9A"/>
            </a:solidFill>
            <a:prstDash val="solid"/>
          </a:ln>
        </p:spPr>
      </p:sp>
      <p:pic>
        <p:nvPicPr>
          <p:cNvPr id="14" name="Image 1" descr="preencoded.png">    </p:cNvPr>
          <p:cNvPicPr>
            <a:picLocks noChangeAspect="1"/>
          </p:cNvPicPr>
          <p:nvPr/>
        </p:nvPicPr>
        <p:blipFill>
          <a:blip r:embed="rId2"/>
          <a:stretch>
            <a:fillRect/>
          </a:stretch>
        </p:blipFill>
        <p:spPr>
          <a:xfrm>
            <a:off x="4807915" y="2659075"/>
            <a:ext cx="351130" cy="351130"/>
          </a:xfrm>
          <a:prstGeom prst="rect">
            <a:avLst/>
          </a:prstGeom>
        </p:spPr>
      </p:pic>
      <p:sp>
        <p:nvSpPr>
          <p:cNvPr id="15" name="Text 11"/>
          <p:cNvSpPr txBox="1"/>
          <p:nvPr/>
        </p:nvSpPr>
        <p:spPr>
          <a:xfrm>
            <a:off x="548640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Korporativ madaniyat</a:t>
            </a:r>
            <a:endParaRPr lang="en-US" sz="1700" dirty="0"/>
          </a:p>
        </p:txBody>
      </p:sp>
      <p:sp>
        <p:nvSpPr>
          <p:cNvPr id="16" name="Text 12"/>
          <p:cNvSpPr txBox="1"/>
          <p:nvPr/>
        </p:nvSpPr>
        <p:spPr>
          <a:xfrm>
            <a:off x="548640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umumiy qadriyatlar va xulq</a:t>
            </a:r>
            <a:endParaRPr lang="en-US" sz="1200" dirty="0"/>
          </a:p>
        </p:txBody>
      </p:sp>
      <p:sp>
        <p:nvSpPr>
          <p:cNvPr id="17" name="Text 13"/>
          <p:cNvSpPr txBox="1"/>
          <p:nvPr/>
        </p:nvSpPr>
        <p:spPr>
          <a:xfrm>
            <a:off x="461772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strategiyani qo‘llab-quvvatlovchi qadriyatlar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o‘zgarishga ochiqlik</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natijaga yo‘naltirilganlik</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ichki kommunikatsiya</a:t>
            </a:r>
            <a:endParaRPr lang="en-US" sz="1400" dirty="0"/>
          </a:p>
        </p:txBody>
      </p:sp>
      <p:sp>
        <p:nvSpPr>
          <p:cNvPr id="18" name="Shape 14"/>
          <p:cNvSpPr/>
          <p:nvPr/>
        </p:nvSpPr>
        <p:spPr>
          <a:xfrm>
            <a:off x="813816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Shape 15"/>
          <p:cNvSpPr/>
          <p:nvPr/>
        </p:nvSpPr>
        <p:spPr>
          <a:xfrm>
            <a:off x="8412480" y="2468880"/>
            <a:ext cx="731520" cy="731520"/>
          </a:xfrm>
          <a:prstGeom prst="ellipse">
            <a:avLst/>
          </a:prstGeom>
          <a:solidFill>
            <a:srgbClr val="3B6EA5"/>
          </a:solidFill>
          <a:ln w="12700">
            <a:solidFill>
              <a:srgbClr val="3B6EA5"/>
            </a:solidFill>
            <a:prstDash val="solid"/>
          </a:ln>
        </p:spPr>
      </p:sp>
      <p:pic>
        <p:nvPicPr>
          <p:cNvPr id="20" name="Image 2" descr="preencoded.png">    </p:cNvPr>
          <p:cNvPicPr>
            <a:picLocks noChangeAspect="1"/>
          </p:cNvPicPr>
          <p:nvPr/>
        </p:nvPicPr>
        <p:blipFill>
          <a:blip r:embed="rId3"/>
          <a:stretch>
            <a:fillRect/>
          </a:stretch>
        </p:blipFill>
        <p:spPr>
          <a:xfrm>
            <a:off x="8602675" y="2659075"/>
            <a:ext cx="351130" cy="351130"/>
          </a:xfrm>
          <a:prstGeom prst="rect">
            <a:avLst/>
          </a:prstGeom>
        </p:spPr>
      </p:pic>
      <p:sp>
        <p:nvSpPr>
          <p:cNvPr id="21" name="Text 16"/>
          <p:cNvSpPr txBox="1"/>
          <p:nvPr/>
        </p:nvSpPr>
        <p:spPr>
          <a:xfrm>
            <a:off x="928116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Rahbarlik</a:t>
            </a:r>
            <a:endParaRPr lang="en-US" sz="1700" dirty="0"/>
          </a:p>
        </p:txBody>
      </p:sp>
      <p:sp>
        <p:nvSpPr>
          <p:cNvPr id="22" name="Text 17"/>
          <p:cNvSpPr txBox="1"/>
          <p:nvPr/>
        </p:nvSpPr>
        <p:spPr>
          <a:xfrm>
            <a:off x="928116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o‘zgarishlarni boshqarish</a:t>
            </a:r>
            <a:endParaRPr lang="en-US" sz="1200" dirty="0"/>
          </a:p>
        </p:txBody>
      </p:sp>
      <p:sp>
        <p:nvSpPr>
          <p:cNvPr id="23" name="Text 18"/>
          <p:cNvSpPr txBox="1"/>
          <p:nvPr/>
        </p:nvSpPr>
        <p:spPr>
          <a:xfrm>
            <a:off x="841248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shaxsiy ibrat va qat’iyat</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strategiyani xodimlarga tushuntirish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qarshilikni yengish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erishilgan natijalarni rag‘batlantirish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Strategik monitoring tizimi</a:t>
            </a:r>
            <a:endParaRPr lang="en-US" sz="3000" dirty="0"/>
          </a:p>
        </p:txBody>
      </p:sp>
      <p:sp>
        <p:nvSpPr>
          <p:cNvPr id="3" name="Shape 1"/>
          <p:cNvSpPr/>
          <p:nvPr/>
        </p:nvSpPr>
        <p:spPr>
          <a:xfrm>
            <a:off x="548640" y="1371600"/>
            <a:ext cx="2212848" cy="685800"/>
          </a:xfrm>
          <a:prstGeom prst="homePlate">
            <a:avLst/>
          </a:prstGeom>
          <a:solidFill>
            <a:srgbClr val="0E9F9A"/>
          </a:solidFill>
          <a:ln w="12700">
            <a:solidFill>
              <a:srgbClr val="FFFFFF"/>
            </a:solidFill>
            <a:prstDash val="solid"/>
          </a:ln>
        </p:spPr>
      </p:sp>
      <p:sp>
        <p:nvSpPr>
          <p:cNvPr id="4" name="Text 2"/>
          <p:cNvSpPr txBox="1"/>
          <p:nvPr/>
        </p:nvSpPr>
        <p:spPr>
          <a:xfrm>
            <a:off x="731520"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1-bosqich</a:t>
            </a:r>
            <a:endParaRPr lang="en-US" sz="1400" dirty="0"/>
          </a:p>
        </p:txBody>
      </p:sp>
      <p:sp>
        <p:nvSpPr>
          <p:cNvPr id="5" name="Shape 3"/>
          <p:cNvSpPr/>
          <p:nvPr/>
        </p:nvSpPr>
        <p:spPr>
          <a:xfrm>
            <a:off x="594360"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4"/>
          <p:cNvSpPr/>
          <p:nvPr/>
        </p:nvSpPr>
        <p:spPr>
          <a:xfrm>
            <a:off x="731520" y="2377440"/>
            <a:ext cx="457200" cy="45720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850392" y="2496312"/>
            <a:ext cx="219456" cy="219456"/>
          </a:xfrm>
          <a:prstGeom prst="rect">
            <a:avLst/>
          </a:prstGeom>
        </p:spPr>
      </p:pic>
      <p:sp>
        <p:nvSpPr>
          <p:cNvPr id="8" name="Text 5"/>
          <p:cNvSpPr txBox="1"/>
          <p:nvPr/>
        </p:nvSpPr>
        <p:spPr>
          <a:xfrm>
            <a:off x="1280160"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Ko‘rsatkichlarni belgilash</a:t>
            </a:r>
            <a:endParaRPr lang="en-US" sz="1350" dirty="0"/>
          </a:p>
        </p:txBody>
      </p:sp>
      <p:sp>
        <p:nvSpPr>
          <p:cNvPr id="9" name="Text 6"/>
          <p:cNvSpPr txBox="1"/>
          <p:nvPr/>
        </p:nvSpPr>
        <p:spPr>
          <a:xfrm>
            <a:off x="731520"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har bir maqsad uchun KPI, maqsadli qiymat va mas’ul</a:t>
            </a:r>
            <a:endParaRPr lang="en-US" sz="1300" dirty="0"/>
          </a:p>
        </p:txBody>
      </p:sp>
      <p:sp>
        <p:nvSpPr>
          <p:cNvPr id="10" name="Shape 7"/>
          <p:cNvSpPr/>
          <p:nvPr/>
        </p:nvSpPr>
        <p:spPr>
          <a:xfrm>
            <a:off x="2761488" y="1371600"/>
            <a:ext cx="2212848" cy="685800"/>
          </a:xfrm>
          <a:prstGeom prst="chevron">
            <a:avLst/>
          </a:prstGeom>
          <a:solidFill>
            <a:srgbClr val="0D2F4F"/>
          </a:solidFill>
          <a:ln w="12700">
            <a:solidFill>
              <a:srgbClr val="FFFFFF"/>
            </a:solidFill>
            <a:prstDash val="solid"/>
          </a:ln>
        </p:spPr>
      </p:sp>
      <p:sp>
        <p:nvSpPr>
          <p:cNvPr id="11" name="Text 8"/>
          <p:cNvSpPr txBox="1"/>
          <p:nvPr/>
        </p:nvSpPr>
        <p:spPr>
          <a:xfrm>
            <a:off x="3218688"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2-bosqich</a:t>
            </a:r>
            <a:endParaRPr lang="en-US" sz="1400" dirty="0"/>
          </a:p>
        </p:txBody>
      </p:sp>
      <p:sp>
        <p:nvSpPr>
          <p:cNvPr id="12" name="Shape 9"/>
          <p:cNvSpPr/>
          <p:nvPr/>
        </p:nvSpPr>
        <p:spPr>
          <a:xfrm>
            <a:off x="2807208"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2944368" y="2377440"/>
            <a:ext cx="457200" cy="457200"/>
          </a:xfrm>
          <a:prstGeom prst="ellipse">
            <a:avLst/>
          </a:prstGeom>
          <a:solidFill>
            <a:srgbClr val="F2A541"/>
          </a:solidFill>
          <a:ln w="12700">
            <a:solidFill>
              <a:srgbClr val="F2A541"/>
            </a:solidFill>
            <a:prstDash val="solid"/>
          </a:ln>
        </p:spPr>
      </p:sp>
      <p:pic>
        <p:nvPicPr>
          <p:cNvPr id="14" name="Image 1" descr="preencoded.png">    </p:cNvPr>
          <p:cNvPicPr>
            <a:picLocks noChangeAspect="1"/>
          </p:cNvPicPr>
          <p:nvPr/>
        </p:nvPicPr>
        <p:blipFill>
          <a:blip r:embed="rId2"/>
          <a:stretch>
            <a:fillRect/>
          </a:stretch>
        </p:blipFill>
        <p:spPr>
          <a:xfrm>
            <a:off x="3063240" y="2496312"/>
            <a:ext cx="219456" cy="219456"/>
          </a:xfrm>
          <a:prstGeom prst="rect">
            <a:avLst/>
          </a:prstGeom>
        </p:spPr>
      </p:pic>
      <p:sp>
        <p:nvSpPr>
          <p:cNvPr id="15" name="Text 11"/>
          <p:cNvSpPr txBox="1"/>
          <p:nvPr/>
        </p:nvSpPr>
        <p:spPr>
          <a:xfrm>
            <a:off x="3493008"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Ma’lumot yig‘ish</a:t>
            </a:r>
            <a:endParaRPr lang="en-US" sz="1350" dirty="0"/>
          </a:p>
        </p:txBody>
      </p:sp>
      <p:sp>
        <p:nvSpPr>
          <p:cNvPr id="16" name="Text 12"/>
          <p:cNvSpPr txBox="1"/>
          <p:nvPr/>
        </p:nvSpPr>
        <p:spPr>
          <a:xfrm>
            <a:off x="2944368"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buxgalteriya, ERP, CRM, so‘rovlar va hisobotlardan</a:t>
            </a:r>
            <a:endParaRPr lang="en-US" sz="1300" dirty="0"/>
          </a:p>
        </p:txBody>
      </p:sp>
      <p:sp>
        <p:nvSpPr>
          <p:cNvPr id="17" name="Shape 13"/>
          <p:cNvSpPr/>
          <p:nvPr/>
        </p:nvSpPr>
        <p:spPr>
          <a:xfrm>
            <a:off x="4974336" y="1371600"/>
            <a:ext cx="2212848" cy="685800"/>
          </a:xfrm>
          <a:prstGeom prst="chevron">
            <a:avLst/>
          </a:prstGeom>
          <a:solidFill>
            <a:srgbClr val="0E9F9A"/>
          </a:solidFill>
          <a:ln w="12700">
            <a:solidFill>
              <a:srgbClr val="FFFFFF"/>
            </a:solidFill>
            <a:prstDash val="solid"/>
          </a:ln>
        </p:spPr>
      </p:sp>
      <p:sp>
        <p:nvSpPr>
          <p:cNvPr id="18" name="Text 14"/>
          <p:cNvSpPr txBox="1"/>
          <p:nvPr/>
        </p:nvSpPr>
        <p:spPr>
          <a:xfrm>
            <a:off x="5431536"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3-bosqich</a:t>
            </a:r>
            <a:endParaRPr lang="en-US" sz="1400" dirty="0"/>
          </a:p>
        </p:txBody>
      </p:sp>
      <p:sp>
        <p:nvSpPr>
          <p:cNvPr id="19" name="Shape 15"/>
          <p:cNvSpPr/>
          <p:nvPr/>
        </p:nvSpPr>
        <p:spPr>
          <a:xfrm>
            <a:off x="5020056"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0" name="Shape 16"/>
          <p:cNvSpPr/>
          <p:nvPr/>
        </p:nvSpPr>
        <p:spPr>
          <a:xfrm>
            <a:off x="5157216" y="2377440"/>
            <a:ext cx="457200" cy="457200"/>
          </a:xfrm>
          <a:prstGeom prst="ellipse">
            <a:avLst/>
          </a:prstGeom>
          <a:solidFill>
            <a:srgbClr val="F2A541"/>
          </a:solidFill>
          <a:ln w="12700">
            <a:solidFill>
              <a:srgbClr val="F2A541"/>
            </a:solidFill>
            <a:prstDash val="solid"/>
          </a:ln>
        </p:spPr>
      </p:sp>
      <p:pic>
        <p:nvPicPr>
          <p:cNvPr id="21" name="Image 2" descr="preencoded.png">    </p:cNvPr>
          <p:cNvPicPr>
            <a:picLocks noChangeAspect="1"/>
          </p:cNvPicPr>
          <p:nvPr/>
        </p:nvPicPr>
        <p:blipFill>
          <a:blip r:embed="rId3"/>
          <a:stretch>
            <a:fillRect/>
          </a:stretch>
        </p:blipFill>
        <p:spPr>
          <a:xfrm>
            <a:off x="5276088" y="2496312"/>
            <a:ext cx="219456" cy="219456"/>
          </a:xfrm>
          <a:prstGeom prst="rect">
            <a:avLst/>
          </a:prstGeom>
        </p:spPr>
      </p:pic>
      <p:sp>
        <p:nvSpPr>
          <p:cNvPr id="22" name="Text 17"/>
          <p:cNvSpPr txBox="1"/>
          <p:nvPr/>
        </p:nvSpPr>
        <p:spPr>
          <a:xfrm>
            <a:off x="5705856"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Reja-fakt tahlili</a:t>
            </a:r>
            <a:endParaRPr lang="en-US" sz="1350" dirty="0"/>
          </a:p>
        </p:txBody>
      </p:sp>
      <p:sp>
        <p:nvSpPr>
          <p:cNvPr id="23" name="Text 18"/>
          <p:cNvSpPr txBox="1"/>
          <p:nvPr/>
        </p:nvSpPr>
        <p:spPr>
          <a:xfrm>
            <a:off x="5157216"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og‘ishlarni aniqlash va ularning sabablarini o‘rganish</a:t>
            </a:r>
            <a:endParaRPr lang="en-US" sz="1300" dirty="0"/>
          </a:p>
        </p:txBody>
      </p:sp>
      <p:sp>
        <p:nvSpPr>
          <p:cNvPr id="24" name="Shape 19"/>
          <p:cNvSpPr/>
          <p:nvPr/>
        </p:nvSpPr>
        <p:spPr>
          <a:xfrm>
            <a:off x="7187184" y="1371600"/>
            <a:ext cx="2212848" cy="685800"/>
          </a:xfrm>
          <a:prstGeom prst="chevron">
            <a:avLst/>
          </a:prstGeom>
          <a:solidFill>
            <a:srgbClr val="0D2F4F"/>
          </a:solidFill>
          <a:ln w="12700">
            <a:solidFill>
              <a:srgbClr val="FFFFFF"/>
            </a:solidFill>
            <a:prstDash val="solid"/>
          </a:ln>
        </p:spPr>
      </p:sp>
      <p:sp>
        <p:nvSpPr>
          <p:cNvPr id="25" name="Text 20"/>
          <p:cNvSpPr txBox="1"/>
          <p:nvPr/>
        </p:nvSpPr>
        <p:spPr>
          <a:xfrm>
            <a:off x="7644384"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4-bosqich</a:t>
            </a:r>
            <a:endParaRPr lang="en-US" sz="1400" dirty="0"/>
          </a:p>
        </p:txBody>
      </p:sp>
      <p:sp>
        <p:nvSpPr>
          <p:cNvPr id="26" name="Shape 21"/>
          <p:cNvSpPr/>
          <p:nvPr/>
        </p:nvSpPr>
        <p:spPr>
          <a:xfrm>
            <a:off x="7232904"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7" name="Shape 22"/>
          <p:cNvSpPr/>
          <p:nvPr/>
        </p:nvSpPr>
        <p:spPr>
          <a:xfrm>
            <a:off x="7370064" y="2377440"/>
            <a:ext cx="457200" cy="457200"/>
          </a:xfrm>
          <a:prstGeom prst="ellipse">
            <a:avLst/>
          </a:prstGeom>
          <a:solidFill>
            <a:srgbClr val="F2A541"/>
          </a:solidFill>
          <a:ln w="12700">
            <a:solidFill>
              <a:srgbClr val="F2A541"/>
            </a:solidFill>
            <a:prstDash val="solid"/>
          </a:ln>
        </p:spPr>
      </p:sp>
      <p:pic>
        <p:nvPicPr>
          <p:cNvPr id="28" name="Image 3" descr="preencoded.png">    </p:cNvPr>
          <p:cNvPicPr>
            <a:picLocks noChangeAspect="1"/>
          </p:cNvPicPr>
          <p:nvPr/>
        </p:nvPicPr>
        <p:blipFill>
          <a:blip r:embed="rId4"/>
          <a:stretch>
            <a:fillRect/>
          </a:stretch>
        </p:blipFill>
        <p:spPr>
          <a:xfrm>
            <a:off x="7488936" y="2496312"/>
            <a:ext cx="219456" cy="219456"/>
          </a:xfrm>
          <a:prstGeom prst="rect">
            <a:avLst/>
          </a:prstGeom>
        </p:spPr>
      </p:pic>
      <p:sp>
        <p:nvSpPr>
          <p:cNvPr id="29" name="Text 23"/>
          <p:cNvSpPr txBox="1"/>
          <p:nvPr/>
        </p:nvSpPr>
        <p:spPr>
          <a:xfrm>
            <a:off x="7918704"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Hisobot</a:t>
            </a:r>
            <a:endParaRPr lang="en-US" sz="1350" dirty="0"/>
          </a:p>
        </p:txBody>
      </p:sp>
      <p:sp>
        <p:nvSpPr>
          <p:cNvPr id="30" name="Text 24"/>
          <p:cNvSpPr txBox="1"/>
          <p:nvPr/>
        </p:nvSpPr>
        <p:spPr>
          <a:xfrm>
            <a:off x="7370064"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dashbordlar orqali rahbariyatga tezkor axborot berish</a:t>
            </a:r>
            <a:endParaRPr lang="en-US" sz="1300" dirty="0"/>
          </a:p>
        </p:txBody>
      </p:sp>
      <p:sp>
        <p:nvSpPr>
          <p:cNvPr id="31" name="Shape 25"/>
          <p:cNvSpPr/>
          <p:nvPr/>
        </p:nvSpPr>
        <p:spPr>
          <a:xfrm>
            <a:off x="9400032" y="1371600"/>
            <a:ext cx="2212848" cy="685800"/>
          </a:xfrm>
          <a:prstGeom prst="chevron">
            <a:avLst/>
          </a:prstGeom>
          <a:solidFill>
            <a:srgbClr val="0E9F9A"/>
          </a:solidFill>
          <a:ln w="12700">
            <a:solidFill>
              <a:srgbClr val="FFFFFF"/>
            </a:solidFill>
            <a:prstDash val="solid"/>
          </a:ln>
        </p:spPr>
      </p:sp>
      <p:sp>
        <p:nvSpPr>
          <p:cNvPr id="32" name="Text 26"/>
          <p:cNvSpPr txBox="1"/>
          <p:nvPr/>
        </p:nvSpPr>
        <p:spPr>
          <a:xfrm>
            <a:off x="9857232"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5-bosqich</a:t>
            </a:r>
            <a:endParaRPr lang="en-US" sz="1400" dirty="0"/>
          </a:p>
        </p:txBody>
      </p:sp>
      <p:sp>
        <p:nvSpPr>
          <p:cNvPr id="33" name="Shape 27"/>
          <p:cNvSpPr/>
          <p:nvPr/>
        </p:nvSpPr>
        <p:spPr>
          <a:xfrm>
            <a:off x="9445752"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8"/>
          <p:cNvSpPr/>
          <p:nvPr/>
        </p:nvSpPr>
        <p:spPr>
          <a:xfrm>
            <a:off x="9582912" y="2377440"/>
            <a:ext cx="457200" cy="457200"/>
          </a:xfrm>
          <a:prstGeom prst="ellipse">
            <a:avLst/>
          </a:prstGeom>
          <a:solidFill>
            <a:srgbClr val="F2A541"/>
          </a:solidFill>
          <a:ln w="12700">
            <a:solidFill>
              <a:srgbClr val="F2A541"/>
            </a:solidFill>
            <a:prstDash val="solid"/>
          </a:ln>
        </p:spPr>
      </p:sp>
      <p:pic>
        <p:nvPicPr>
          <p:cNvPr id="35" name="Image 4" descr="preencoded.png">    </p:cNvPr>
          <p:cNvPicPr>
            <a:picLocks noChangeAspect="1"/>
          </p:cNvPicPr>
          <p:nvPr/>
        </p:nvPicPr>
        <p:blipFill>
          <a:blip r:embed="rId5"/>
          <a:stretch>
            <a:fillRect/>
          </a:stretch>
        </p:blipFill>
        <p:spPr>
          <a:xfrm>
            <a:off x="9701784" y="2496312"/>
            <a:ext cx="219456" cy="219456"/>
          </a:xfrm>
          <a:prstGeom prst="rect">
            <a:avLst/>
          </a:prstGeom>
        </p:spPr>
      </p:pic>
      <p:sp>
        <p:nvSpPr>
          <p:cNvPr id="36" name="Text 29"/>
          <p:cNvSpPr txBox="1"/>
          <p:nvPr/>
        </p:nvSpPr>
        <p:spPr>
          <a:xfrm>
            <a:off x="10131552"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Qaror qabul qilish</a:t>
            </a:r>
            <a:endParaRPr lang="en-US" sz="1350" dirty="0"/>
          </a:p>
        </p:txBody>
      </p:sp>
      <p:sp>
        <p:nvSpPr>
          <p:cNvPr id="37" name="Text 30"/>
          <p:cNvSpPr txBox="1"/>
          <p:nvPr/>
        </p:nvSpPr>
        <p:spPr>
          <a:xfrm>
            <a:off x="9582912"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tuzatuvchi choralar yoki strategiyani yangilash</a:t>
            </a:r>
            <a:endParaRPr lang="en-US" sz="1300" dirty="0"/>
          </a:p>
        </p:txBody>
      </p:sp>
      <p:pic>
        <p:nvPicPr>
          <p:cNvPr id="38" name="Image 5" descr="img15/steps.png">    </p:cNvPr>
          <p:cNvPicPr>
            <a:picLocks noChangeAspect="1"/>
          </p:cNvPicPr>
          <p:nvPr/>
        </p:nvPicPr>
        <p:blipFill>
          <a:blip r:embed="rId6"/>
          <a:stretch>
            <a:fillRect/>
          </a:stretch>
        </p:blipFill>
        <p:spPr>
          <a:xfrm>
            <a:off x="548640" y="4526280"/>
            <a:ext cx="2194560" cy="1709928"/>
          </a:xfrm>
          <a:prstGeom prst="rect">
            <a:avLst/>
          </a:prstGeom>
        </p:spPr>
      </p:pic>
      <p:sp>
        <p:nvSpPr>
          <p:cNvPr id="39" name="Text 31"/>
          <p:cNvSpPr txBox="1"/>
          <p:nvPr/>
        </p:nvSpPr>
        <p:spPr>
          <a:xfrm>
            <a:off x="3017520" y="4526280"/>
            <a:ext cx="8595360" cy="1737360"/>
          </a:xfrm>
          <a:prstGeom prst="rect">
            <a:avLst/>
          </a:prstGeom>
          <a:noFill/>
          <a:ln/>
        </p:spPr>
        <p:txBody>
          <a:bodyPr wrap="square" lIns="0" tIns="0" rIns="0" bIns="0" rtlCol="0" anchor="t"/>
          <a:lstStyle/>
          <a:p>
            <a:pPr indent="0" marL="0">
              <a:buNone/>
            </a:pPr>
            <a:r>
              <a:rPr lang="en-US" sz="1400" b="1" dirty="0">
                <a:solidFill>
                  <a:srgbClr val="0E9F9A"/>
                </a:solidFill>
                <a:latin typeface="Calibri" pitchFamily="34" charset="0"/>
                <a:ea typeface="Calibri" pitchFamily="34" charset="-122"/>
                <a:cs typeface="Calibri" pitchFamily="34" charset="-120"/>
              </a:rPr>
              <a:t>Monitoring</a:t>
            </a:r>
            <a:pPr indent="0" marL="0">
              <a:buNone/>
            </a:pPr>
            <a:r>
              <a:rPr lang="en-US" sz="1400" dirty="0">
                <a:solidFill>
                  <a:srgbClr val="1B2A3A"/>
                </a:solidFill>
                <a:latin typeface="Calibri" pitchFamily="34" charset="0"/>
                <a:ea typeface="Calibri" pitchFamily="34" charset="-122"/>
                <a:cs typeface="Calibri" pitchFamily="34" charset="-120"/>
              </a:rPr>
              <a:t> – strategiya ijrosini muntazam kuzatish va baholash jarayoni. U uch darajada olib boriladi: </a:t>
            </a:r>
            <a:pPr indent="0" marL="0">
              <a:buNone/>
            </a:pPr>
            <a:r>
              <a:rPr lang="en-US" sz="1400" b="1" dirty="0">
                <a:solidFill>
                  <a:srgbClr val="0E9F9A"/>
                </a:solidFill>
                <a:latin typeface="Calibri" pitchFamily="34" charset="0"/>
                <a:ea typeface="Calibri" pitchFamily="34" charset="-122"/>
                <a:cs typeface="Calibri" pitchFamily="34" charset="-120"/>
              </a:rPr>
              <a:t>operativ</a:t>
            </a:r>
            <a:pPr indent="0" marL="0">
              <a:buNone/>
            </a:pPr>
            <a:r>
              <a:rPr lang="en-US" sz="1400" dirty="0">
                <a:solidFill>
                  <a:srgbClr val="1B2A3A"/>
                </a:solidFill>
                <a:latin typeface="Calibri" pitchFamily="34" charset="0"/>
                <a:ea typeface="Calibri" pitchFamily="34" charset="-122"/>
                <a:cs typeface="Calibri" pitchFamily="34" charset="-120"/>
              </a:rPr>
              <a:t> (haftalik/oylik – topshiriqlar ijrosi), </a:t>
            </a:r>
            <a:pPr indent="0" marL="0">
              <a:buNone/>
            </a:pPr>
            <a:r>
              <a:rPr lang="en-US" sz="1400" b="1" dirty="0">
                <a:solidFill>
                  <a:srgbClr val="0E9F9A"/>
                </a:solidFill>
                <a:latin typeface="Calibri" pitchFamily="34" charset="0"/>
                <a:ea typeface="Calibri" pitchFamily="34" charset="-122"/>
                <a:cs typeface="Calibri" pitchFamily="34" charset="-120"/>
              </a:rPr>
              <a:t>taktik</a:t>
            </a:r>
            <a:pPr indent="0" marL="0">
              <a:buNone/>
            </a:pPr>
            <a:r>
              <a:rPr lang="en-US" sz="1400" dirty="0">
                <a:solidFill>
                  <a:srgbClr val="1B2A3A"/>
                </a:solidFill>
                <a:latin typeface="Calibri" pitchFamily="34" charset="0"/>
                <a:ea typeface="Calibri" pitchFamily="34" charset="-122"/>
                <a:cs typeface="Calibri" pitchFamily="34" charset="-120"/>
              </a:rPr>
              <a:t> (choraklik – yillik reja va byudjet bajarilishi) va </a:t>
            </a:r>
            <a:pPr indent="0" marL="0">
              <a:buNone/>
            </a:pPr>
            <a:r>
              <a:rPr lang="en-US" sz="1400" b="1" dirty="0">
                <a:solidFill>
                  <a:srgbClr val="0E9F9A"/>
                </a:solidFill>
                <a:latin typeface="Calibri" pitchFamily="34" charset="0"/>
                <a:ea typeface="Calibri" pitchFamily="34" charset="-122"/>
                <a:cs typeface="Calibri" pitchFamily="34" charset="-120"/>
              </a:rPr>
              <a:t>strategik</a:t>
            </a:r>
            <a:pPr indent="0" marL="0">
              <a:buNone/>
            </a:pPr>
            <a:r>
              <a:rPr lang="en-US" sz="1400" dirty="0">
                <a:solidFill>
                  <a:srgbClr val="1B2A3A"/>
                </a:solidFill>
                <a:latin typeface="Calibri" pitchFamily="34" charset="0"/>
                <a:ea typeface="Calibri" pitchFamily="34" charset="-122"/>
                <a:cs typeface="Calibri" pitchFamily="34" charset="-120"/>
              </a:rPr>
              <a:t> (yillik – maqsadlarga erishish va strategiyaning dolzarbligi). Monitoring natijalari rahbariyatga muammolarni erta aniqlash va o‘z vaqtida chora ko‘rish imkonini beradi.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Strategik monitoring vositalari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Zamonaviy korxonalar strategiya ijrosini kuzatish uchun quyidagi vositalardan foydalanadi:</a:t>
            </a:r>
            <a:endParaRPr lang="en-US" sz="1400" dirty="0"/>
          </a:p>
        </p:txBody>
      </p:sp>
      <p:sp>
        <p:nvSpPr>
          <p:cNvPr id="4" name="Shape 2"/>
          <p:cNvSpPr/>
          <p:nvPr/>
        </p:nvSpPr>
        <p:spPr>
          <a:xfrm>
            <a:off x="54864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731520" y="2286000"/>
            <a:ext cx="594360" cy="594360"/>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886054" y="2440534"/>
            <a:ext cx="285293" cy="285293"/>
          </a:xfrm>
          <a:prstGeom prst="rect">
            <a:avLst/>
          </a:prstGeom>
        </p:spPr>
      </p:pic>
      <p:sp>
        <p:nvSpPr>
          <p:cNvPr id="7" name="Text 4"/>
          <p:cNvSpPr txBox="1"/>
          <p:nvPr/>
        </p:nvSpPr>
        <p:spPr>
          <a:xfrm>
            <a:off x="333756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01</a:t>
            </a:r>
            <a:endParaRPr lang="en-US" sz="2000" dirty="0"/>
          </a:p>
        </p:txBody>
      </p:sp>
      <p:sp>
        <p:nvSpPr>
          <p:cNvPr id="8" name="Text 5"/>
          <p:cNvSpPr txBox="1"/>
          <p:nvPr/>
        </p:nvSpPr>
        <p:spPr>
          <a:xfrm>
            <a:off x="146304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Dashbordlar</a:t>
            </a:r>
            <a:endParaRPr lang="en-US" sz="1550" dirty="0"/>
          </a:p>
        </p:txBody>
      </p:sp>
      <p:sp>
        <p:nvSpPr>
          <p:cNvPr id="9" name="Text 6"/>
          <p:cNvSpPr txBox="1"/>
          <p:nvPr/>
        </p:nvSpPr>
        <p:spPr>
          <a:xfrm>
            <a:off x="73152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asosiy ko‘rsatkichlarni bir ekranda real vaqtda ko‘rsatuvchi boshqaruv panellari.</a:t>
            </a:r>
            <a:endParaRPr lang="en-US" sz="1350" dirty="0"/>
          </a:p>
        </p:txBody>
      </p:sp>
      <p:sp>
        <p:nvSpPr>
          <p:cNvPr id="10" name="Shape 7"/>
          <p:cNvSpPr/>
          <p:nvPr/>
        </p:nvSpPr>
        <p:spPr>
          <a:xfrm>
            <a:off x="434340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1" name="Shape 8"/>
          <p:cNvSpPr/>
          <p:nvPr/>
        </p:nvSpPr>
        <p:spPr>
          <a:xfrm>
            <a:off x="4526280" y="2286000"/>
            <a:ext cx="594360" cy="594360"/>
          </a:xfrm>
          <a:prstGeom prst="ellipse">
            <a:avLst/>
          </a:prstGeom>
          <a:solidFill>
            <a:srgbClr val="0D2F4F"/>
          </a:solidFill>
          <a:ln w="12700">
            <a:solidFill>
              <a:srgbClr val="0D2F4F"/>
            </a:solidFill>
            <a:prstDash val="solid"/>
          </a:ln>
        </p:spPr>
      </p:sp>
      <p:pic>
        <p:nvPicPr>
          <p:cNvPr id="12" name="Image 1" descr="preencoded.png">    </p:cNvPr>
          <p:cNvPicPr>
            <a:picLocks noChangeAspect="1"/>
          </p:cNvPicPr>
          <p:nvPr/>
        </p:nvPicPr>
        <p:blipFill>
          <a:blip r:embed="rId2"/>
          <a:stretch>
            <a:fillRect/>
          </a:stretch>
        </p:blipFill>
        <p:spPr>
          <a:xfrm>
            <a:off x="4680814" y="2440534"/>
            <a:ext cx="285293" cy="285293"/>
          </a:xfrm>
          <a:prstGeom prst="rect">
            <a:avLst/>
          </a:prstGeom>
        </p:spPr>
      </p:pic>
      <p:sp>
        <p:nvSpPr>
          <p:cNvPr id="13" name="Text 9"/>
          <p:cNvSpPr txBox="1"/>
          <p:nvPr/>
        </p:nvSpPr>
        <p:spPr>
          <a:xfrm>
            <a:off x="713232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02</a:t>
            </a:r>
            <a:endParaRPr lang="en-US" sz="2000" dirty="0"/>
          </a:p>
        </p:txBody>
      </p:sp>
      <p:sp>
        <p:nvSpPr>
          <p:cNvPr id="14" name="Text 10"/>
          <p:cNvSpPr txBox="1"/>
          <p:nvPr/>
        </p:nvSpPr>
        <p:spPr>
          <a:xfrm>
            <a:off x="525780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Reja-fakt tahlili</a:t>
            </a:r>
            <a:endParaRPr lang="en-US" sz="1550" dirty="0"/>
          </a:p>
        </p:txBody>
      </p:sp>
      <p:sp>
        <p:nvSpPr>
          <p:cNvPr id="15" name="Text 11"/>
          <p:cNvSpPr txBox="1"/>
          <p:nvPr/>
        </p:nvSpPr>
        <p:spPr>
          <a:xfrm>
            <a:off x="452628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rejalashtirilgan va haqiqiy natijalarni taqqoslab, og‘ishlarni hisoblash.</a:t>
            </a:r>
            <a:endParaRPr lang="en-US" sz="1350" dirty="0"/>
          </a:p>
        </p:txBody>
      </p:sp>
      <p:sp>
        <p:nvSpPr>
          <p:cNvPr id="16" name="Shape 12"/>
          <p:cNvSpPr/>
          <p:nvPr/>
        </p:nvSpPr>
        <p:spPr>
          <a:xfrm>
            <a:off x="813816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Shape 13"/>
          <p:cNvSpPr/>
          <p:nvPr/>
        </p:nvSpPr>
        <p:spPr>
          <a:xfrm>
            <a:off x="8321040" y="2286000"/>
            <a:ext cx="594360" cy="594360"/>
          </a:xfrm>
          <a:prstGeom prst="ellipse">
            <a:avLst/>
          </a:prstGeom>
          <a:solidFill>
            <a:srgbClr val="0E9F9A"/>
          </a:solidFill>
          <a:ln w="12700">
            <a:solidFill>
              <a:srgbClr val="0E9F9A"/>
            </a:solidFill>
            <a:prstDash val="solid"/>
          </a:ln>
        </p:spPr>
      </p:sp>
      <p:pic>
        <p:nvPicPr>
          <p:cNvPr id="18" name="Image 2" descr="preencoded.png">    </p:cNvPr>
          <p:cNvPicPr>
            <a:picLocks noChangeAspect="1"/>
          </p:cNvPicPr>
          <p:nvPr/>
        </p:nvPicPr>
        <p:blipFill>
          <a:blip r:embed="rId3"/>
          <a:stretch>
            <a:fillRect/>
          </a:stretch>
        </p:blipFill>
        <p:spPr>
          <a:xfrm>
            <a:off x="8475574" y="2440534"/>
            <a:ext cx="285293" cy="285293"/>
          </a:xfrm>
          <a:prstGeom prst="rect">
            <a:avLst/>
          </a:prstGeom>
        </p:spPr>
      </p:pic>
      <p:sp>
        <p:nvSpPr>
          <p:cNvPr id="19" name="Text 14"/>
          <p:cNvSpPr txBox="1"/>
          <p:nvPr/>
        </p:nvSpPr>
        <p:spPr>
          <a:xfrm>
            <a:off x="1092708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03</a:t>
            </a:r>
            <a:endParaRPr lang="en-US" sz="2000" dirty="0"/>
          </a:p>
        </p:txBody>
      </p:sp>
      <p:sp>
        <p:nvSpPr>
          <p:cNvPr id="20" name="Text 15"/>
          <p:cNvSpPr txBox="1"/>
          <p:nvPr/>
        </p:nvSpPr>
        <p:spPr>
          <a:xfrm>
            <a:off x="905256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“Svetofor” tizimi</a:t>
            </a:r>
            <a:endParaRPr lang="en-US" sz="1550" dirty="0"/>
          </a:p>
        </p:txBody>
      </p:sp>
      <p:sp>
        <p:nvSpPr>
          <p:cNvPr id="21" name="Text 16"/>
          <p:cNvSpPr txBox="1"/>
          <p:nvPr/>
        </p:nvSpPr>
        <p:spPr>
          <a:xfrm>
            <a:off x="832104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ko‘rsatkichlarni yashil, sariq va qizil holat bo‘yicha belgilash.</a:t>
            </a:r>
            <a:endParaRPr lang="en-US" sz="1350" dirty="0"/>
          </a:p>
        </p:txBody>
      </p:sp>
      <p:sp>
        <p:nvSpPr>
          <p:cNvPr id="22" name="Shape 17"/>
          <p:cNvSpPr/>
          <p:nvPr/>
        </p:nvSpPr>
        <p:spPr>
          <a:xfrm>
            <a:off x="54864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3" name="Shape 18"/>
          <p:cNvSpPr/>
          <p:nvPr/>
        </p:nvSpPr>
        <p:spPr>
          <a:xfrm>
            <a:off x="731520" y="4023360"/>
            <a:ext cx="594360" cy="594360"/>
          </a:xfrm>
          <a:prstGeom prst="ellipse">
            <a:avLst/>
          </a:prstGeom>
          <a:solidFill>
            <a:srgbClr val="0D2F4F"/>
          </a:solidFill>
          <a:ln w="12700">
            <a:solidFill>
              <a:srgbClr val="0D2F4F"/>
            </a:solidFill>
            <a:prstDash val="solid"/>
          </a:ln>
        </p:spPr>
      </p:sp>
      <p:pic>
        <p:nvPicPr>
          <p:cNvPr id="24" name="Image 3" descr="preencoded.png">    </p:cNvPr>
          <p:cNvPicPr>
            <a:picLocks noChangeAspect="1"/>
          </p:cNvPicPr>
          <p:nvPr/>
        </p:nvPicPr>
        <p:blipFill>
          <a:blip r:embed="rId4"/>
          <a:stretch>
            <a:fillRect/>
          </a:stretch>
        </p:blipFill>
        <p:spPr>
          <a:xfrm>
            <a:off x="886054" y="4177894"/>
            <a:ext cx="285293" cy="285293"/>
          </a:xfrm>
          <a:prstGeom prst="rect">
            <a:avLst/>
          </a:prstGeom>
        </p:spPr>
      </p:pic>
      <p:sp>
        <p:nvSpPr>
          <p:cNvPr id="25" name="Text 19"/>
          <p:cNvSpPr txBox="1"/>
          <p:nvPr/>
        </p:nvSpPr>
        <p:spPr>
          <a:xfrm>
            <a:off x="333756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04</a:t>
            </a:r>
            <a:endParaRPr lang="en-US" sz="2000" dirty="0"/>
          </a:p>
        </p:txBody>
      </p:sp>
      <p:sp>
        <p:nvSpPr>
          <p:cNvPr id="26" name="Text 20"/>
          <p:cNvSpPr txBox="1"/>
          <p:nvPr/>
        </p:nvSpPr>
        <p:spPr>
          <a:xfrm>
            <a:off x="146304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Benchmarking</a:t>
            </a:r>
            <a:endParaRPr lang="en-US" sz="1550" dirty="0"/>
          </a:p>
        </p:txBody>
      </p:sp>
      <p:sp>
        <p:nvSpPr>
          <p:cNvPr id="27" name="Text 21"/>
          <p:cNvSpPr txBox="1"/>
          <p:nvPr/>
        </p:nvSpPr>
        <p:spPr>
          <a:xfrm>
            <a:off x="73152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natijalarni raqobatchilar va soha yetakchilari bilan taqqoslash.</a:t>
            </a:r>
            <a:endParaRPr lang="en-US" sz="1350" dirty="0"/>
          </a:p>
        </p:txBody>
      </p:sp>
      <p:sp>
        <p:nvSpPr>
          <p:cNvPr id="28" name="Shape 22"/>
          <p:cNvSpPr/>
          <p:nvPr/>
        </p:nvSpPr>
        <p:spPr>
          <a:xfrm>
            <a:off x="434340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9" name="Shape 23"/>
          <p:cNvSpPr/>
          <p:nvPr/>
        </p:nvSpPr>
        <p:spPr>
          <a:xfrm>
            <a:off x="4526280" y="4023360"/>
            <a:ext cx="594360" cy="594360"/>
          </a:xfrm>
          <a:prstGeom prst="ellipse">
            <a:avLst/>
          </a:prstGeom>
          <a:solidFill>
            <a:srgbClr val="0E9F9A"/>
          </a:solidFill>
          <a:ln w="12700">
            <a:solidFill>
              <a:srgbClr val="0E9F9A"/>
            </a:solidFill>
            <a:prstDash val="solid"/>
          </a:ln>
        </p:spPr>
      </p:sp>
      <p:pic>
        <p:nvPicPr>
          <p:cNvPr id="30" name="Image 4" descr="preencoded.png">    </p:cNvPr>
          <p:cNvPicPr>
            <a:picLocks noChangeAspect="1"/>
          </p:cNvPicPr>
          <p:nvPr/>
        </p:nvPicPr>
        <p:blipFill>
          <a:blip r:embed="rId5"/>
          <a:stretch>
            <a:fillRect/>
          </a:stretch>
        </p:blipFill>
        <p:spPr>
          <a:xfrm>
            <a:off x="4680814" y="4177894"/>
            <a:ext cx="285293" cy="285293"/>
          </a:xfrm>
          <a:prstGeom prst="rect">
            <a:avLst/>
          </a:prstGeom>
        </p:spPr>
      </p:pic>
      <p:sp>
        <p:nvSpPr>
          <p:cNvPr id="31" name="Text 24"/>
          <p:cNvSpPr txBox="1"/>
          <p:nvPr/>
        </p:nvSpPr>
        <p:spPr>
          <a:xfrm>
            <a:off x="713232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05</a:t>
            </a:r>
            <a:endParaRPr lang="en-US" sz="2000" dirty="0"/>
          </a:p>
        </p:txBody>
      </p:sp>
      <p:sp>
        <p:nvSpPr>
          <p:cNvPr id="32" name="Text 25"/>
          <p:cNvSpPr txBox="1"/>
          <p:nvPr/>
        </p:nvSpPr>
        <p:spPr>
          <a:xfrm>
            <a:off x="525780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So‘rovlar va qayta aloqa</a:t>
            </a:r>
            <a:endParaRPr lang="en-US" sz="1550" dirty="0"/>
          </a:p>
        </p:txBody>
      </p:sp>
      <p:sp>
        <p:nvSpPr>
          <p:cNvPr id="33" name="Text 26"/>
          <p:cNvSpPr txBox="1"/>
          <p:nvPr/>
        </p:nvSpPr>
        <p:spPr>
          <a:xfrm>
            <a:off x="452628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mijozlar va xodimlarning fikrini muntazam o‘rganish.</a:t>
            </a:r>
            <a:endParaRPr lang="en-US" sz="1350" dirty="0"/>
          </a:p>
        </p:txBody>
      </p:sp>
      <p:sp>
        <p:nvSpPr>
          <p:cNvPr id="34" name="Shape 27"/>
          <p:cNvSpPr/>
          <p:nvPr/>
        </p:nvSpPr>
        <p:spPr>
          <a:xfrm>
            <a:off x="813816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5" name="Shape 28"/>
          <p:cNvSpPr/>
          <p:nvPr/>
        </p:nvSpPr>
        <p:spPr>
          <a:xfrm>
            <a:off x="8321040" y="4023360"/>
            <a:ext cx="594360" cy="594360"/>
          </a:xfrm>
          <a:prstGeom prst="ellipse">
            <a:avLst/>
          </a:prstGeom>
          <a:solidFill>
            <a:srgbClr val="0D2F4F"/>
          </a:solidFill>
          <a:ln w="12700">
            <a:solidFill>
              <a:srgbClr val="0D2F4F"/>
            </a:solidFill>
            <a:prstDash val="solid"/>
          </a:ln>
        </p:spPr>
      </p:sp>
      <p:pic>
        <p:nvPicPr>
          <p:cNvPr id="36" name="Image 5" descr="preencoded.png">    </p:cNvPr>
          <p:cNvPicPr>
            <a:picLocks noChangeAspect="1"/>
          </p:cNvPicPr>
          <p:nvPr/>
        </p:nvPicPr>
        <p:blipFill>
          <a:blip r:embed="rId6"/>
          <a:stretch>
            <a:fillRect/>
          </a:stretch>
        </p:blipFill>
        <p:spPr>
          <a:xfrm>
            <a:off x="8475574" y="4177894"/>
            <a:ext cx="285293" cy="285293"/>
          </a:xfrm>
          <a:prstGeom prst="rect">
            <a:avLst/>
          </a:prstGeom>
        </p:spPr>
      </p:pic>
      <p:sp>
        <p:nvSpPr>
          <p:cNvPr id="37" name="Text 29"/>
          <p:cNvSpPr txBox="1"/>
          <p:nvPr/>
        </p:nvSpPr>
        <p:spPr>
          <a:xfrm>
            <a:off x="1092708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06</a:t>
            </a:r>
            <a:endParaRPr lang="en-US" sz="2000" dirty="0"/>
          </a:p>
        </p:txBody>
      </p:sp>
      <p:sp>
        <p:nvSpPr>
          <p:cNvPr id="38" name="Text 30"/>
          <p:cNvSpPr txBox="1"/>
          <p:nvPr/>
        </p:nvSpPr>
        <p:spPr>
          <a:xfrm>
            <a:off x="905256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ERP va BI tizimlari</a:t>
            </a:r>
            <a:endParaRPr lang="en-US" sz="1550" dirty="0"/>
          </a:p>
        </p:txBody>
      </p:sp>
      <p:sp>
        <p:nvSpPr>
          <p:cNvPr id="39" name="Text 31"/>
          <p:cNvSpPr txBox="1"/>
          <p:nvPr/>
        </p:nvSpPr>
        <p:spPr>
          <a:xfrm>
            <a:off x="832104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ma’lumotlarni avtomatik yig‘ish, tahlil qilish va vizuallashtirish.</a:t>
            </a:r>
            <a:endParaRPr lang="en-US" sz="1350" dirty="0"/>
          </a:p>
        </p:txBody>
      </p:sp>
      <p:sp>
        <p:nvSpPr>
          <p:cNvPr id="40" name="Shape 32"/>
          <p:cNvSpPr/>
          <p:nvPr/>
        </p:nvSpPr>
        <p:spPr>
          <a:xfrm>
            <a:off x="548640" y="5623560"/>
            <a:ext cx="11064240" cy="594360"/>
          </a:xfrm>
          <a:prstGeom prst="roundRect">
            <a:avLst>
              <a:gd name="adj" fmla="val 18462"/>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1" name="Text 33"/>
          <p:cNvSpPr txBox="1"/>
          <p:nvPr/>
        </p:nvSpPr>
        <p:spPr>
          <a:xfrm>
            <a:off x="731520" y="5669280"/>
            <a:ext cx="10698480" cy="502920"/>
          </a:xfrm>
          <a:prstGeom prst="rect">
            <a:avLst/>
          </a:prstGeom>
          <a:noFill/>
          <a:ln/>
        </p:spPr>
        <p:txBody>
          <a:bodyPr wrap="square" lIns="0" tIns="0" rIns="0" bIns="0" rtlCol="0" anchor="ctr"/>
          <a:lstStyle/>
          <a:p>
            <a:pPr indent="0" marL="0">
              <a:buNone/>
            </a:pPr>
            <a:r>
              <a:rPr lang="en-US" sz="1350" b="1" dirty="0">
                <a:solidFill>
                  <a:srgbClr val="0D2F4F"/>
                </a:solidFill>
                <a:latin typeface="Calibri" pitchFamily="34" charset="0"/>
                <a:ea typeface="Calibri" pitchFamily="34" charset="-122"/>
                <a:cs typeface="Calibri" pitchFamily="34" charset="-120"/>
              </a:rPr>
              <a:t>Qoida:</a:t>
            </a:r>
            <a:pPr indent="0" marL="0">
              <a:buNone/>
            </a:pPr>
            <a:r>
              <a:rPr lang="en-US" sz="1350" dirty="0">
                <a:solidFill>
                  <a:srgbClr val="1B2A3A"/>
                </a:solidFill>
                <a:latin typeface="Calibri" pitchFamily="34" charset="0"/>
                <a:ea typeface="Calibri" pitchFamily="34" charset="-122"/>
                <a:cs typeface="Calibri" pitchFamily="34" charset="-120"/>
              </a:rPr>
              <a:t> monitoring ko‘rsatkichlari soni cheklangan (har bir maqsadga 1–3 ta) va hamma uchun tushunarli bo‘lishi kerak.</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Natijalarni baholash: BSC va KPI tizimi</a:t>
            </a:r>
            <a:endParaRPr lang="en-US" sz="3000" dirty="0"/>
          </a:p>
        </p:txBody>
      </p:sp>
      <p:pic>
        <p:nvPicPr>
          <p:cNvPr id="3" name="Image 0" descr="img15/kpi.png">    </p:cNvPr>
          <p:cNvPicPr>
            <a:picLocks noChangeAspect="1"/>
          </p:cNvPicPr>
          <p:nvPr/>
        </p:nvPicPr>
        <p:blipFill>
          <a:blip r:embed="rId1"/>
          <a:stretch>
            <a:fillRect/>
          </a:stretch>
        </p:blipFill>
        <p:spPr>
          <a:xfrm>
            <a:off x="548640" y="1371600"/>
            <a:ext cx="3200400" cy="4114800"/>
          </a:xfrm>
          <a:prstGeom prst="rect">
            <a:avLst/>
          </a:prstGeom>
        </p:spPr>
      </p:pic>
      <p:sp>
        <p:nvSpPr>
          <p:cNvPr id="4" name="Text 1"/>
          <p:cNvSpPr txBox="1"/>
          <p:nvPr/>
        </p:nvSpPr>
        <p:spPr>
          <a:xfrm>
            <a:off x="548640" y="5577840"/>
            <a:ext cx="3200400" cy="594360"/>
          </a:xfrm>
          <a:prstGeom prst="rect">
            <a:avLst/>
          </a:prstGeom>
          <a:noFill/>
          <a:ln/>
        </p:spPr>
        <p:txBody>
          <a:bodyPr wrap="square" lIns="0" tIns="0" rIns="0" bIns="0" rtlCol="0" anchor="ctr"/>
          <a:lstStyle/>
          <a:p>
            <a:pPr indent="0" marL="0">
              <a:buNone/>
            </a:pPr>
            <a:r>
              <a:rPr lang="en-US" sz="1200" i="1" dirty="0">
                <a:solidFill>
                  <a:srgbClr val="4A5B6C"/>
                </a:solidFill>
              </a:rPr>
              <a:t>Balanslashtirilgan ko‘rsatkichlar tizimi (R. Kaplan va D. Norton, 1992)</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0" y="1371600"/>
          <a:ext cx="7498080" cy="914400"/>
        </p:xfrm>
        <a:graphic>
          <a:graphicData uri="http://schemas.openxmlformats.org/drawingml/2006/table">
            <a:tbl>
              <a:tblPr/>
              <a:tblGrid>
                <a:gridCol w="1920240"/>
                <a:gridCol w="3383280"/>
                <a:gridCol w="2194560"/>
              </a:tblGrid>
              <a:tr h="475488">
                <a:tc>
                  <a:txBody>
                    <a:bodyPr/>
                    <a:lstStyle/>
                    <a:p>
                      <a:pPr algn="l" indent="0" marL="0">
                        <a:buNone/>
                      </a:pPr>
                      <a:r>
                        <a:rPr lang="en-US" sz="1300" b="1" dirty="0">
                          <a:solidFill>
                            <a:srgbClr val="FFFFFF"/>
                          </a:solidFill>
                        </a:rPr>
                        <a:t>BSC perspektivasi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KPI namunasi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Maqsadli qiymat (shartli)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r>
              <a:tr h="475488">
                <a:tc>
                  <a:txBody>
                    <a:bodyPr/>
                    <a:lstStyle/>
                    <a:p>
                      <a:pPr algn="l" indent="0" marL="0">
                        <a:buNone/>
                      </a:pPr>
                      <a:r>
                        <a:rPr lang="en-US" sz="1250" b="1" dirty="0">
                          <a:solidFill>
                            <a:srgbClr val="0D2F4F"/>
                          </a:solidFill>
                        </a:rPr>
                        <a:t>Moliyaviy</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sotuvdan tushum o‘sishi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+15% yiliga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475488">
                <a:tc>
                  <a:txBody>
                    <a:bodyPr/>
                    <a:lstStyle/>
                    <a:p>
                      <a:pPr algn="l" indent="0" marL="0">
                        <a:buNone/>
                      </a:pPr>
                      <a:r>
                        <a:rPr lang="en-US" sz="1250" b="1" dirty="0">
                          <a:solidFill>
                            <a:srgbClr val="0D2F4F"/>
                          </a:solidFill>
                        </a:rPr>
                        <a:t>Moliyaviy</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sotuv rentabelligi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 12%</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0D2F4F"/>
                          </a:solidFill>
                        </a:rPr>
                        <a:t>Mijozlar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bozor ulushi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20%</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475488">
                <a:tc>
                  <a:txBody>
                    <a:bodyPr/>
                    <a:lstStyle/>
                    <a:p>
                      <a:pPr algn="l" indent="0" marL="0">
                        <a:buNone/>
                      </a:pPr>
                      <a:r>
                        <a:rPr lang="en-US" sz="1250" b="1" dirty="0">
                          <a:solidFill>
                            <a:srgbClr val="0D2F4F"/>
                          </a:solidFill>
                        </a:rPr>
                        <a:t>Mijozlar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mijozlar qoniqish indeksi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 80 ball</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0D2F4F"/>
                          </a:solidFill>
                        </a:rPr>
                        <a:t>Ichki jarayonlar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buyurtmani bajarish muddati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 7 kun</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475488">
                <a:tc>
                  <a:txBody>
                    <a:bodyPr/>
                    <a:lstStyle/>
                    <a:p>
                      <a:pPr algn="l" indent="0" marL="0">
                        <a:buNone/>
                      </a:pPr>
                      <a:r>
                        <a:rPr lang="en-US" sz="1250" b="1" dirty="0">
                          <a:solidFill>
                            <a:srgbClr val="0D2F4F"/>
                          </a:solidFill>
                        </a:rPr>
                        <a:t>Ichki jarayonlar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nuqsonli mahsulot ulushi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 2%</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0D2F4F"/>
                          </a:solidFill>
                        </a:rPr>
                        <a:t>O‘qish va rivojlanish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o‘qitilgan xodimlar ulushi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 70%</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bl>
          </a:graphicData>
        </a:graphic>
      </p:graphicFrame>
      <p:sp>
        <p:nvSpPr>
          <p:cNvPr id="6" name="Shape 2"/>
          <p:cNvSpPr/>
          <p:nvPr/>
        </p:nvSpPr>
        <p:spPr>
          <a:xfrm>
            <a:off x="4114800" y="5486400"/>
            <a:ext cx="7498080" cy="731520"/>
          </a:xfrm>
          <a:prstGeom prst="roundRect">
            <a:avLst>
              <a:gd name="adj" fmla="val 15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Text 3"/>
          <p:cNvSpPr txBox="1"/>
          <p:nvPr/>
        </p:nvSpPr>
        <p:spPr>
          <a:xfrm>
            <a:off x="4297680" y="5532120"/>
            <a:ext cx="7132320" cy="640080"/>
          </a:xfrm>
          <a:prstGeom prst="rect">
            <a:avLst/>
          </a:prstGeom>
          <a:noFill/>
          <a:ln/>
        </p:spPr>
        <p:txBody>
          <a:bodyPr wrap="square" lIns="0" tIns="0" rIns="0" bIns="0" rtlCol="0" anchor="ctr"/>
          <a:lstStyle/>
          <a:p>
            <a:pPr indent="0" marL="0">
              <a:buNone/>
            </a:pPr>
            <a:r>
              <a:rPr lang="en-US" sz="1400" dirty="0">
                <a:solidFill>
                  <a:srgbClr val="1B2A3A"/>
                </a:solidFill>
                <a:latin typeface="Calibri" pitchFamily="34" charset="0"/>
                <a:ea typeface="Calibri" pitchFamily="34" charset="-122"/>
                <a:cs typeface="Calibri" pitchFamily="34" charset="-120"/>
              </a:rPr>
              <a:t>BSC moliyaviy natijalarni ularni yaratuvchi </a:t>
            </a:r>
            <a:pPr indent="0" marL="0">
              <a:buNone/>
            </a:pPr>
            <a:r>
              <a:rPr lang="en-US" sz="1400" b="1" dirty="0">
                <a:solidFill>
                  <a:srgbClr val="0D2F4F"/>
                </a:solidFill>
                <a:latin typeface="Calibri" pitchFamily="34" charset="0"/>
                <a:ea typeface="Calibri" pitchFamily="34" charset="-122"/>
                <a:cs typeface="Calibri" pitchFamily="34" charset="-120"/>
              </a:rPr>
              <a:t>nomoliyaviy omillar</a:t>
            </a:r>
            <a:pPr indent="0" marL="0">
              <a:buNone/>
            </a:pPr>
            <a:r>
              <a:rPr lang="en-US" sz="1400" dirty="0">
                <a:solidFill>
                  <a:srgbClr val="1B2A3A"/>
                </a:solidFill>
                <a:latin typeface="Calibri" pitchFamily="34" charset="0"/>
                <a:ea typeface="Calibri" pitchFamily="34" charset="-122"/>
                <a:cs typeface="Calibri" pitchFamily="34" charset="-120"/>
              </a:rPr>
              <a:t> bilan bog‘lab, strategiyani muvozanatli baholaydi.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Amaliy misol: strategik ko‘rsatkichlar ijrosi</a:t>
            </a:r>
            <a:endParaRPr lang="en-US" sz="3000" dirty="0"/>
          </a:p>
        </p:txBody>
      </p:sp>
      <p:sp>
        <p:nvSpPr>
          <p:cNvPr id="3" name="Text 1"/>
          <p:cNvSpPr txBox="1"/>
          <p:nvPr/>
        </p:nvSpPr>
        <p:spPr>
          <a:xfrm>
            <a:off x="548640" y="1371600"/>
            <a:ext cx="5120640" cy="320040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Natijalilik</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belgilangan maqsadlarga erishilganlik darajasi (fakt / reja × 100%).</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Samaradorlik</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natijaga sarflangan resurslar nisbati.</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Muddatlilik</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tadbirlarning belgilangan muddatda bajarilishi.</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Dolzarblik</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strategiyaning o‘zgargan sharoitlarga hamon mosligi.</a:t>
            </a:r>
            <a:endParaRPr lang="en-US" sz="1400" dirty="0"/>
          </a:p>
        </p:txBody>
      </p:sp>
      <p:sp>
        <p:nvSpPr>
          <p:cNvPr id="4" name="Shape 2"/>
          <p:cNvSpPr/>
          <p:nvPr/>
        </p:nvSpPr>
        <p:spPr>
          <a:xfrm>
            <a:off x="548640" y="4297680"/>
            <a:ext cx="5120640" cy="1371600"/>
          </a:xfrm>
          <a:prstGeom prst="roundRect">
            <a:avLst>
              <a:gd name="adj" fmla="val 8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4343400"/>
            <a:ext cx="4754880" cy="12801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Shartli misol:</a:t>
            </a:r>
            <a:pPr indent="0" marL="0">
              <a:buNone/>
            </a:pPr>
            <a:r>
              <a:rPr lang="en-US" sz="1400" dirty="0">
                <a:solidFill>
                  <a:srgbClr val="1B2A3A"/>
                </a:solidFill>
                <a:latin typeface="Calibri" pitchFamily="34" charset="0"/>
                <a:ea typeface="Calibri" pitchFamily="34" charset="-122"/>
                <a:cs typeface="Calibri" pitchFamily="34" charset="-120"/>
              </a:rPr>
              <a:t> bozor ulushi va o‘qitish rejadan oshgan, tushum o‘sishi va mijoz qoniqishi esa ortda qolgan – tuzatuvchi choralar talab etiladi.</a:t>
            </a:r>
            <a:endParaRPr lang="en-US" sz="1400" dirty="0"/>
          </a:p>
        </p:txBody>
      </p:sp>
      <p:sp>
        <p:nvSpPr>
          <p:cNvPr id="6" name="Text 4"/>
          <p:cNvSpPr txBox="1"/>
          <p:nvPr/>
        </p:nvSpPr>
        <p:spPr>
          <a:xfrm>
            <a:off x="6035040" y="1325880"/>
            <a:ext cx="5577840" cy="365760"/>
          </a:xfrm>
          <a:prstGeom prst="rect">
            <a:avLst/>
          </a:prstGeom>
          <a:noFill/>
          <a:ln/>
        </p:spPr>
        <p:txBody>
          <a:bodyPr wrap="square" lIns="0" tIns="0" rIns="0" bIns="0" rtlCol="0" anchor="ctr"/>
          <a:lstStyle/>
          <a:p>
            <a:pPr indent="0" marL="0">
              <a:buNone/>
            </a:pPr>
            <a:r>
              <a:rPr lang="en-US" sz="1500" b="1" dirty="0">
                <a:solidFill>
                  <a:srgbClr val="0D2F4F"/>
                </a:solidFill>
              </a:rPr>
              <a:t>Reja va fakt (shartli misol)</a:t>
            </a:r>
            <a:endParaRPr lang="en-US" sz="1500" dirty="0"/>
          </a:p>
        </p:txBody>
      </p:sp>
      <p:graphicFrame>
        <p:nvGraphicFramePr>
          <p:cNvPr id="7" name="Chart 0" descr=""/>
          <p:cNvGraphicFramePr/>
          <p:nvPr/>
        </p:nvGraphicFramePr>
        <p:xfrm>
          <a:off x="6035040" y="1737360"/>
          <a:ext cx="5577840"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Strategiyaga tuzatishlar kiritish</a:t>
            </a:r>
            <a:endParaRPr lang="en-US" sz="3000" dirty="0"/>
          </a:p>
        </p:txBody>
      </p:sp>
      <p:pic>
        <p:nvPicPr>
          <p:cNvPr id="3" name="Image 0" descr="img15/lights.png">    </p:cNvPr>
          <p:cNvPicPr>
            <a:picLocks noChangeAspect="1"/>
          </p:cNvPicPr>
          <p:nvPr/>
        </p:nvPicPr>
        <p:blipFill>
          <a:blip r:embed="rId1"/>
          <a:stretch>
            <a:fillRect/>
          </a:stretch>
        </p:blipFill>
        <p:spPr>
          <a:xfrm>
            <a:off x="548640" y="1371600"/>
            <a:ext cx="3200400" cy="4114800"/>
          </a:xfrm>
          <a:prstGeom prst="rect">
            <a:avLst/>
          </a:prstGeom>
        </p:spPr>
      </p:pic>
      <p:sp>
        <p:nvSpPr>
          <p:cNvPr id="4" name="Text 1"/>
          <p:cNvSpPr txBox="1"/>
          <p:nvPr/>
        </p:nvSpPr>
        <p:spPr>
          <a:xfrm>
            <a:off x="548640" y="5577840"/>
            <a:ext cx="3200400" cy="594360"/>
          </a:xfrm>
          <a:prstGeom prst="rect">
            <a:avLst/>
          </a:prstGeom>
          <a:noFill/>
          <a:ln/>
        </p:spPr>
        <p:txBody>
          <a:bodyPr wrap="square" lIns="0" tIns="0" rIns="0" bIns="0" rtlCol="0" anchor="ctr"/>
          <a:lstStyle/>
          <a:p>
            <a:pPr indent="0" marL="0">
              <a:buNone/>
            </a:pPr>
            <a:r>
              <a:rPr lang="en-US" sz="1200" i="1" dirty="0">
                <a:solidFill>
                  <a:srgbClr val="4A5B6C"/>
                </a:solidFill>
              </a:rPr>
              <a:t>Monitoring natijasiga qarab qaror qabul qilish: “svetofor” tamoyili va PDCA sikli</a:t>
            </a:r>
            <a:endParaRPr lang="en-US" sz="1200" dirty="0"/>
          </a:p>
        </p:txBody>
      </p:sp>
      <p:sp>
        <p:nvSpPr>
          <p:cNvPr id="5" name="Shape 2"/>
          <p:cNvSpPr/>
          <p:nvPr/>
        </p:nvSpPr>
        <p:spPr>
          <a:xfrm>
            <a:off x="4114800" y="137160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3"/>
          <p:cNvSpPr/>
          <p:nvPr/>
        </p:nvSpPr>
        <p:spPr>
          <a:xfrm>
            <a:off x="4297680" y="1572768"/>
            <a:ext cx="640080" cy="640080"/>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4464101" y="1739189"/>
            <a:ext cx="307238" cy="307238"/>
          </a:xfrm>
          <a:prstGeom prst="rect">
            <a:avLst/>
          </a:prstGeom>
        </p:spPr>
      </p:pic>
      <p:sp>
        <p:nvSpPr>
          <p:cNvPr id="8" name="Text 4"/>
          <p:cNvSpPr txBox="1"/>
          <p:nvPr/>
        </p:nvSpPr>
        <p:spPr>
          <a:xfrm>
            <a:off x="5120640" y="146304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Yashil holat</a:t>
            </a:r>
            <a:endParaRPr lang="en-US" sz="1500" dirty="0"/>
          </a:p>
        </p:txBody>
      </p:sp>
      <p:sp>
        <p:nvSpPr>
          <p:cNvPr id="9" name="Text 5"/>
          <p:cNvSpPr txBox="1"/>
          <p:nvPr/>
        </p:nvSpPr>
        <p:spPr>
          <a:xfrm>
            <a:off x="7269480" y="1444752"/>
            <a:ext cx="324612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ko‘rsatkich rejaga mos yoki undan yuqori – strategiya ijrosini davom ettirish, tajribani tarqatish</a:t>
            </a:r>
            <a:endParaRPr lang="en-US" sz="1350" dirty="0"/>
          </a:p>
        </p:txBody>
      </p:sp>
      <p:sp>
        <p:nvSpPr>
          <p:cNvPr id="10" name="Text 6"/>
          <p:cNvSpPr txBox="1"/>
          <p:nvPr/>
        </p:nvSpPr>
        <p:spPr>
          <a:xfrm>
            <a:off x="10561320" y="1463040"/>
            <a:ext cx="960120" cy="868680"/>
          </a:xfrm>
          <a:prstGeom prst="rect">
            <a:avLst/>
          </a:prstGeom>
          <a:noFill/>
          <a:ln/>
        </p:spPr>
        <p:txBody>
          <a:bodyPr wrap="square" lIns="0" tIns="0" rIns="0" bIns="0" rtlCol="0" anchor="ctr"/>
          <a:lstStyle/>
          <a:p>
            <a:pPr algn="ctr" indent="0" marL="0">
              <a:buNone/>
            </a:pPr>
            <a:r>
              <a:rPr lang="en-US" sz="1500" b="1" dirty="0">
                <a:solidFill>
                  <a:srgbClr val="0E9F9A"/>
                </a:solidFill>
                <a:latin typeface="Cambria" pitchFamily="34" charset="0"/>
                <a:ea typeface="Cambria" pitchFamily="34" charset="-122"/>
                <a:cs typeface="Cambria" pitchFamily="34" charset="-120"/>
              </a:rPr>
              <a:t>≥ 95%</a:t>
            </a:r>
            <a:endParaRPr lang="en-US" sz="1500" dirty="0"/>
          </a:p>
        </p:txBody>
      </p:sp>
      <p:sp>
        <p:nvSpPr>
          <p:cNvPr id="11" name="Shape 7"/>
          <p:cNvSpPr/>
          <p:nvPr/>
        </p:nvSpPr>
        <p:spPr>
          <a:xfrm>
            <a:off x="4114800" y="256032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2" name="Shape 8"/>
          <p:cNvSpPr/>
          <p:nvPr/>
        </p:nvSpPr>
        <p:spPr>
          <a:xfrm>
            <a:off x="4297680" y="2761488"/>
            <a:ext cx="640080" cy="640080"/>
          </a:xfrm>
          <a:prstGeom prst="ellipse">
            <a:avLst/>
          </a:prstGeom>
          <a:solidFill>
            <a:srgbClr val="F2A541"/>
          </a:solidFill>
          <a:ln w="12700">
            <a:solidFill>
              <a:srgbClr val="F2A541"/>
            </a:solidFill>
            <a:prstDash val="solid"/>
          </a:ln>
        </p:spPr>
      </p:sp>
      <p:pic>
        <p:nvPicPr>
          <p:cNvPr id="13" name="Image 2" descr="preencoded.png">    </p:cNvPr>
          <p:cNvPicPr>
            <a:picLocks noChangeAspect="1"/>
          </p:cNvPicPr>
          <p:nvPr/>
        </p:nvPicPr>
        <p:blipFill>
          <a:blip r:embed="rId3"/>
          <a:stretch>
            <a:fillRect/>
          </a:stretch>
        </p:blipFill>
        <p:spPr>
          <a:xfrm>
            <a:off x="4464101" y="2927909"/>
            <a:ext cx="307238" cy="307238"/>
          </a:xfrm>
          <a:prstGeom prst="rect">
            <a:avLst/>
          </a:prstGeom>
        </p:spPr>
      </p:pic>
      <p:sp>
        <p:nvSpPr>
          <p:cNvPr id="14" name="Text 9"/>
          <p:cNvSpPr txBox="1"/>
          <p:nvPr/>
        </p:nvSpPr>
        <p:spPr>
          <a:xfrm>
            <a:off x="5120640" y="265176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Sariq holat</a:t>
            </a:r>
            <a:endParaRPr lang="en-US" sz="1500" dirty="0"/>
          </a:p>
        </p:txBody>
      </p:sp>
      <p:sp>
        <p:nvSpPr>
          <p:cNvPr id="15" name="Text 10"/>
          <p:cNvSpPr txBox="1"/>
          <p:nvPr/>
        </p:nvSpPr>
        <p:spPr>
          <a:xfrm>
            <a:off x="7269480" y="2633472"/>
            <a:ext cx="324612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kichik og‘ish – sabablarni tahlil qilib, tuzatuvchi choralar ko‘rish, resurslarni qayta taqsimlash</a:t>
            </a:r>
            <a:endParaRPr lang="en-US" sz="1350" dirty="0"/>
          </a:p>
        </p:txBody>
      </p:sp>
      <p:sp>
        <p:nvSpPr>
          <p:cNvPr id="16" name="Text 11"/>
          <p:cNvSpPr txBox="1"/>
          <p:nvPr/>
        </p:nvSpPr>
        <p:spPr>
          <a:xfrm>
            <a:off x="10561320" y="2651760"/>
            <a:ext cx="960120" cy="868680"/>
          </a:xfrm>
          <a:prstGeom prst="rect">
            <a:avLst/>
          </a:prstGeom>
          <a:noFill/>
          <a:ln/>
        </p:spPr>
        <p:txBody>
          <a:bodyPr wrap="square" lIns="0" tIns="0" rIns="0" bIns="0" rtlCol="0" anchor="ctr"/>
          <a:lstStyle/>
          <a:p>
            <a:pPr algn="ctr" indent="0" marL="0">
              <a:buNone/>
            </a:pPr>
            <a:r>
              <a:rPr lang="en-US" sz="1500" b="1" dirty="0">
                <a:solidFill>
                  <a:srgbClr val="F2A541"/>
                </a:solidFill>
                <a:latin typeface="Cambria" pitchFamily="34" charset="0"/>
                <a:ea typeface="Cambria" pitchFamily="34" charset="-122"/>
                <a:cs typeface="Cambria" pitchFamily="34" charset="-120"/>
              </a:rPr>
              <a:t>80–95%</a:t>
            </a:r>
            <a:endParaRPr lang="en-US" sz="1500" dirty="0"/>
          </a:p>
        </p:txBody>
      </p:sp>
      <p:sp>
        <p:nvSpPr>
          <p:cNvPr id="17" name="Shape 12"/>
          <p:cNvSpPr/>
          <p:nvPr/>
        </p:nvSpPr>
        <p:spPr>
          <a:xfrm>
            <a:off x="4114800" y="374904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8" name="Shape 13"/>
          <p:cNvSpPr/>
          <p:nvPr/>
        </p:nvSpPr>
        <p:spPr>
          <a:xfrm>
            <a:off x="4297680" y="3950208"/>
            <a:ext cx="640080" cy="640080"/>
          </a:xfrm>
          <a:prstGeom prst="ellipse">
            <a:avLst/>
          </a:prstGeom>
          <a:solidFill>
            <a:srgbClr val="C0392B"/>
          </a:solidFill>
          <a:ln w="12700">
            <a:solidFill>
              <a:srgbClr val="C0392B"/>
            </a:solidFill>
            <a:prstDash val="solid"/>
          </a:ln>
        </p:spPr>
      </p:sp>
      <p:pic>
        <p:nvPicPr>
          <p:cNvPr id="19" name="Image 3" descr="preencoded.png">    </p:cNvPr>
          <p:cNvPicPr>
            <a:picLocks noChangeAspect="1"/>
          </p:cNvPicPr>
          <p:nvPr/>
        </p:nvPicPr>
        <p:blipFill>
          <a:blip r:embed="rId4"/>
          <a:stretch>
            <a:fillRect/>
          </a:stretch>
        </p:blipFill>
        <p:spPr>
          <a:xfrm>
            <a:off x="4464101" y="4116629"/>
            <a:ext cx="307238" cy="307238"/>
          </a:xfrm>
          <a:prstGeom prst="rect">
            <a:avLst/>
          </a:prstGeom>
        </p:spPr>
      </p:pic>
      <p:sp>
        <p:nvSpPr>
          <p:cNvPr id="20" name="Text 14"/>
          <p:cNvSpPr txBox="1"/>
          <p:nvPr/>
        </p:nvSpPr>
        <p:spPr>
          <a:xfrm>
            <a:off x="5120640" y="384048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Qizil holat</a:t>
            </a:r>
            <a:endParaRPr lang="en-US" sz="1500" dirty="0"/>
          </a:p>
        </p:txBody>
      </p:sp>
      <p:sp>
        <p:nvSpPr>
          <p:cNvPr id="21" name="Text 15"/>
          <p:cNvSpPr txBox="1"/>
          <p:nvPr/>
        </p:nvSpPr>
        <p:spPr>
          <a:xfrm>
            <a:off x="7269480" y="3822192"/>
            <a:ext cx="324612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jiddiy og‘ish – tadbirlarni qayta ko‘rib chiqish, zarur bo‘lsa strategik maqsadlarni yangilash</a:t>
            </a:r>
            <a:endParaRPr lang="en-US" sz="1350" dirty="0"/>
          </a:p>
        </p:txBody>
      </p:sp>
      <p:sp>
        <p:nvSpPr>
          <p:cNvPr id="22" name="Text 16"/>
          <p:cNvSpPr txBox="1"/>
          <p:nvPr/>
        </p:nvSpPr>
        <p:spPr>
          <a:xfrm>
            <a:off x="10561320" y="3840480"/>
            <a:ext cx="960120" cy="868680"/>
          </a:xfrm>
          <a:prstGeom prst="rect">
            <a:avLst/>
          </a:prstGeom>
          <a:noFill/>
          <a:ln/>
        </p:spPr>
        <p:txBody>
          <a:bodyPr wrap="square" lIns="0" tIns="0" rIns="0" bIns="0" rtlCol="0" anchor="ctr"/>
          <a:lstStyle/>
          <a:p>
            <a:pPr algn="ctr" indent="0" marL="0">
              <a:buNone/>
            </a:pPr>
            <a:r>
              <a:rPr lang="en-US" sz="1500" b="1" dirty="0">
                <a:solidFill>
                  <a:srgbClr val="C0392B"/>
                </a:solidFill>
                <a:latin typeface="Cambria" pitchFamily="34" charset="0"/>
                <a:ea typeface="Cambria" pitchFamily="34" charset="-122"/>
                <a:cs typeface="Cambria" pitchFamily="34" charset="-120"/>
              </a:rPr>
              <a:t>&lt; 80%</a:t>
            </a:r>
            <a:endParaRPr lang="en-US" sz="1500" dirty="0"/>
          </a:p>
        </p:txBody>
      </p:sp>
      <p:sp>
        <p:nvSpPr>
          <p:cNvPr id="23" name="Shape 17"/>
          <p:cNvSpPr/>
          <p:nvPr/>
        </p:nvSpPr>
        <p:spPr>
          <a:xfrm>
            <a:off x="4114800" y="493776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Shape 18"/>
          <p:cNvSpPr/>
          <p:nvPr/>
        </p:nvSpPr>
        <p:spPr>
          <a:xfrm>
            <a:off x="4297680" y="5138928"/>
            <a:ext cx="640080" cy="640080"/>
          </a:xfrm>
          <a:prstGeom prst="ellipse">
            <a:avLst/>
          </a:prstGeom>
          <a:solidFill>
            <a:srgbClr val="0D2F4F"/>
          </a:solidFill>
          <a:ln w="12700">
            <a:solidFill>
              <a:srgbClr val="0D2F4F"/>
            </a:solidFill>
            <a:prstDash val="solid"/>
          </a:ln>
        </p:spPr>
      </p:sp>
      <p:pic>
        <p:nvPicPr>
          <p:cNvPr id="25" name="Image 4" descr="preencoded.png">    </p:cNvPr>
          <p:cNvPicPr>
            <a:picLocks noChangeAspect="1"/>
          </p:cNvPicPr>
          <p:nvPr/>
        </p:nvPicPr>
        <p:blipFill>
          <a:blip r:embed="rId5"/>
          <a:stretch>
            <a:fillRect/>
          </a:stretch>
        </p:blipFill>
        <p:spPr>
          <a:xfrm>
            <a:off x="4464101" y="5305349"/>
            <a:ext cx="307238" cy="307238"/>
          </a:xfrm>
          <a:prstGeom prst="rect">
            <a:avLst/>
          </a:prstGeom>
        </p:spPr>
      </p:pic>
      <p:sp>
        <p:nvSpPr>
          <p:cNvPr id="26" name="Text 19"/>
          <p:cNvSpPr txBox="1"/>
          <p:nvPr/>
        </p:nvSpPr>
        <p:spPr>
          <a:xfrm>
            <a:off x="5120640" y="502920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Doimiy takomillashtirish</a:t>
            </a:r>
            <a:endParaRPr lang="en-US" sz="1500" dirty="0"/>
          </a:p>
        </p:txBody>
      </p:sp>
      <p:sp>
        <p:nvSpPr>
          <p:cNvPr id="27" name="Text 20"/>
          <p:cNvSpPr txBox="1"/>
          <p:nvPr/>
        </p:nvSpPr>
        <p:spPr>
          <a:xfrm>
            <a:off x="7269480" y="5010912"/>
            <a:ext cx="324612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PDCA sikli: rejalashtir → bajar → tekshir → harakat qil; strategiyani har yili qayta ko‘rib chiqish</a:t>
            </a:r>
            <a:endParaRPr lang="en-US" sz="1350" dirty="0"/>
          </a:p>
        </p:txBody>
      </p:sp>
      <p:sp>
        <p:nvSpPr>
          <p:cNvPr id="28" name="Text 21"/>
          <p:cNvSpPr txBox="1"/>
          <p:nvPr/>
        </p:nvSpPr>
        <p:spPr>
          <a:xfrm>
            <a:off x="10561320" y="5029200"/>
            <a:ext cx="960120" cy="868680"/>
          </a:xfrm>
          <a:prstGeom prst="rect">
            <a:avLst/>
          </a:prstGeom>
          <a:noFill/>
          <a:ln/>
        </p:spPr>
        <p:txBody>
          <a:bodyPr wrap="square" lIns="0" tIns="0" rIns="0" bIns="0" rtlCol="0" anchor="ctr"/>
          <a:lstStyle/>
          <a:p>
            <a:pPr algn="ctr" indent="0" marL="0">
              <a:buNone/>
            </a:pPr>
            <a:r>
              <a:rPr lang="en-US" sz="1500" b="1" dirty="0">
                <a:solidFill>
                  <a:srgbClr val="0D2F4F"/>
                </a:solidFill>
                <a:latin typeface="Cambria" pitchFamily="34" charset="0"/>
                <a:ea typeface="Cambria" pitchFamily="34" charset="-122"/>
                <a:cs typeface="Cambria" pitchFamily="34" charset="-120"/>
              </a:rPr>
              <a:t>PDCA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Xulosa</a:t>
            </a:r>
            <a:endParaRPr lang="en-US" sz="3400" dirty="0"/>
          </a:p>
        </p:txBody>
      </p:sp>
      <p:sp>
        <p:nvSpPr>
          <p:cNvPr id="3" name="Text 1"/>
          <p:cNvSpPr txBox="1"/>
          <p:nvPr/>
        </p:nvSpPr>
        <p:spPr>
          <a:xfrm>
            <a:off x="548640" y="1280160"/>
            <a:ext cx="6858000" cy="1965960"/>
          </a:xfrm>
          <a:prstGeom prst="rect">
            <a:avLst/>
          </a:prstGeom>
          <a:noFill/>
          <a:ln/>
        </p:spPr>
        <p:txBody>
          <a:bodyPr wrap="square" lIns="0" tIns="0" rIns="0" bIns="0" rtlCol="0" anchor="t"/>
          <a:lstStyle/>
          <a:p>
            <a:pPr indent="0" marL="0">
              <a:spcAft>
                <a:spcPts val="600"/>
              </a:spcAft>
              <a:buNone/>
            </a:pPr>
            <a:r>
              <a:rPr lang="en-US" sz="1400" dirty="0">
                <a:solidFill>
                  <a:srgbClr val="E6F2F4"/>
                </a:solidFill>
                <a:latin typeface="Calibri" pitchFamily="34" charset="0"/>
                <a:ea typeface="Calibri" pitchFamily="34" charset="-122"/>
                <a:cs typeface="Calibri" pitchFamily="34" charset="-120"/>
              </a:rPr>
              <a:t>Strategiyani amalga oshirish – strategik boshqaruvning eng murakkab va hal qiluvchi bosqichi. Uning muvaffaqiyati maqsadlarni rejalar kaskadi orqali har bir xodimgacha yetkazish, resurslarni to‘g‘ri taqsimlash, tuzilma, madaniyat va rahbarlikni strategiyaga moslashtirishga bog‘liq. BSC va KPI asosidagi muntazam monitoring, reja-fakt tahlili va “svetofor” tamoyili bo‘yicha o‘z vaqtida tuzatishlar kiritish strategiyani hayotiy va samarali qiladi.</a:t>
            </a:r>
            <a:endParaRPr lang="en-US" sz="1400" dirty="0"/>
          </a:p>
        </p:txBody>
      </p:sp>
      <p:sp>
        <p:nvSpPr>
          <p:cNvPr id="4" name="Shape 2"/>
          <p:cNvSpPr/>
          <p:nvPr/>
        </p:nvSpPr>
        <p:spPr>
          <a:xfrm>
            <a:off x="54864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5" name="Image 0" descr="preencoded.png">    </p:cNvPr>
          <p:cNvPicPr>
            <a:picLocks noChangeAspect="1"/>
          </p:cNvPicPr>
          <p:nvPr/>
        </p:nvPicPr>
        <p:blipFill>
          <a:blip r:embed="rId1"/>
          <a:stretch>
            <a:fillRect/>
          </a:stretch>
        </p:blipFill>
        <p:spPr>
          <a:xfrm>
            <a:off x="713232" y="3566160"/>
            <a:ext cx="365760" cy="365760"/>
          </a:xfrm>
          <a:prstGeom prst="rect">
            <a:avLst/>
          </a:prstGeom>
        </p:spPr>
      </p:pic>
      <p:sp>
        <p:nvSpPr>
          <p:cNvPr id="6" name="Text 3"/>
          <p:cNvSpPr txBox="1"/>
          <p:nvPr/>
        </p:nvSpPr>
        <p:spPr>
          <a:xfrm>
            <a:off x="118872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Ijro</a:t>
            </a:r>
            <a:endParaRPr lang="en-US" sz="1500" dirty="0"/>
          </a:p>
          <a:p>
            <a:pPr indent="0" marL="0">
              <a:spcAft>
                <a:spcPts val="200"/>
              </a:spcAft>
              <a:buNone/>
            </a:pPr>
            <a:r>
              <a:rPr lang="en-US" sz="1300" dirty="0">
                <a:solidFill>
                  <a:srgbClr val="FFFFFF"/>
                </a:solidFill>
              </a:rPr>
              <a:t>strategik → taktik → operativ rejalar va byudjetlar</a:t>
            </a:r>
            <a:endParaRPr lang="en-US" sz="1500" dirty="0"/>
          </a:p>
        </p:txBody>
      </p:sp>
      <p:sp>
        <p:nvSpPr>
          <p:cNvPr id="7" name="Shape 4"/>
          <p:cNvSpPr/>
          <p:nvPr/>
        </p:nvSpPr>
        <p:spPr>
          <a:xfrm>
            <a:off x="402336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8" name="Image 1" descr="preencoded.png">    </p:cNvPr>
          <p:cNvPicPr>
            <a:picLocks noChangeAspect="1"/>
          </p:cNvPicPr>
          <p:nvPr/>
        </p:nvPicPr>
        <p:blipFill>
          <a:blip r:embed="rId2"/>
          <a:stretch>
            <a:fillRect/>
          </a:stretch>
        </p:blipFill>
        <p:spPr>
          <a:xfrm>
            <a:off x="4187952" y="3566160"/>
            <a:ext cx="365760" cy="365760"/>
          </a:xfrm>
          <a:prstGeom prst="rect">
            <a:avLst/>
          </a:prstGeom>
        </p:spPr>
      </p:pic>
      <p:sp>
        <p:nvSpPr>
          <p:cNvPr id="9" name="Text 5"/>
          <p:cNvSpPr txBox="1"/>
          <p:nvPr/>
        </p:nvSpPr>
        <p:spPr>
          <a:xfrm>
            <a:off x="466344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Tashkiliy omillar</a:t>
            </a:r>
            <a:endParaRPr lang="en-US" sz="1500" dirty="0"/>
          </a:p>
          <a:p>
            <a:pPr indent="0" marL="0">
              <a:spcAft>
                <a:spcPts val="200"/>
              </a:spcAft>
              <a:buNone/>
            </a:pPr>
            <a:r>
              <a:rPr lang="en-US" sz="1300" dirty="0">
                <a:solidFill>
                  <a:srgbClr val="FFFFFF"/>
                </a:solidFill>
              </a:rPr>
              <a:t>tuzilma, madaniyat va rahbarlik strategiyaga mos bo‘lishi</a:t>
            </a:r>
            <a:endParaRPr lang="en-US" sz="1500" dirty="0"/>
          </a:p>
        </p:txBody>
      </p:sp>
      <p:sp>
        <p:nvSpPr>
          <p:cNvPr id="10" name="Shape 6"/>
          <p:cNvSpPr/>
          <p:nvPr/>
        </p:nvSpPr>
        <p:spPr>
          <a:xfrm>
            <a:off x="54864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1" name="Image 2" descr="preencoded.png">    </p:cNvPr>
          <p:cNvPicPr>
            <a:picLocks noChangeAspect="1"/>
          </p:cNvPicPr>
          <p:nvPr/>
        </p:nvPicPr>
        <p:blipFill>
          <a:blip r:embed="rId3"/>
          <a:stretch>
            <a:fillRect/>
          </a:stretch>
        </p:blipFill>
        <p:spPr>
          <a:xfrm>
            <a:off x="713232" y="5029200"/>
            <a:ext cx="365760" cy="365760"/>
          </a:xfrm>
          <a:prstGeom prst="rect">
            <a:avLst/>
          </a:prstGeom>
        </p:spPr>
      </p:pic>
      <p:sp>
        <p:nvSpPr>
          <p:cNvPr id="12" name="Text 7"/>
          <p:cNvSpPr txBox="1"/>
          <p:nvPr/>
        </p:nvSpPr>
        <p:spPr>
          <a:xfrm>
            <a:off x="118872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Monitoring</a:t>
            </a:r>
            <a:endParaRPr lang="en-US" sz="1500" dirty="0"/>
          </a:p>
          <a:p>
            <a:pPr indent="0" marL="0">
              <a:spcAft>
                <a:spcPts val="200"/>
              </a:spcAft>
              <a:buNone/>
            </a:pPr>
            <a:r>
              <a:rPr lang="en-US" sz="1300" dirty="0">
                <a:solidFill>
                  <a:srgbClr val="FFFFFF"/>
                </a:solidFill>
              </a:rPr>
              <a:t>KPI → ma’lumot → reja-fakt → hisobot → qaror</a:t>
            </a:r>
            <a:endParaRPr lang="en-US" sz="1500" dirty="0"/>
          </a:p>
        </p:txBody>
      </p:sp>
      <p:sp>
        <p:nvSpPr>
          <p:cNvPr id="13" name="Shape 8"/>
          <p:cNvSpPr/>
          <p:nvPr/>
        </p:nvSpPr>
        <p:spPr>
          <a:xfrm>
            <a:off x="402336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4" name="Image 3" descr="preencoded.png">    </p:cNvPr>
          <p:cNvPicPr>
            <a:picLocks noChangeAspect="1"/>
          </p:cNvPicPr>
          <p:nvPr/>
        </p:nvPicPr>
        <p:blipFill>
          <a:blip r:embed="rId4"/>
          <a:stretch>
            <a:fillRect/>
          </a:stretch>
        </p:blipFill>
        <p:spPr>
          <a:xfrm>
            <a:off x="4187952" y="5029200"/>
            <a:ext cx="365760" cy="365760"/>
          </a:xfrm>
          <a:prstGeom prst="rect">
            <a:avLst/>
          </a:prstGeom>
        </p:spPr>
      </p:pic>
      <p:sp>
        <p:nvSpPr>
          <p:cNvPr id="15" name="Text 9"/>
          <p:cNvSpPr txBox="1"/>
          <p:nvPr/>
        </p:nvSpPr>
        <p:spPr>
          <a:xfrm>
            <a:off x="466344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Baholash</a:t>
            </a:r>
            <a:endParaRPr lang="en-US" sz="1500" dirty="0"/>
          </a:p>
          <a:p>
            <a:pPr indent="0" marL="0">
              <a:spcAft>
                <a:spcPts val="200"/>
              </a:spcAft>
              <a:buNone/>
            </a:pPr>
            <a:r>
              <a:rPr lang="en-US" sz="1300" dirty="0">
                <a:solidFill>
                  <a:srgbClr val="FFFFFF"/>
                </a:solidFill>
              </a:rPr>
              <a:t>BSC to‘rt perspektivasi, svetofor tamoyili, PDCA</a:t>
            </a:r>
            <a:endParaRPr lang="en-US" sz="1500" dirty="0"/>
          </a:p>
        </p:txBody>
      </p:sp>
      <p:pic>
        <p:nvPicPr>
          <p:cNvPr id="16" name="Image 4" descr="img15/conclusion.png">    </p:cNvPr>
          <p:cNvPicPr>
            <a:picLocks noChangeAspect="1"/>
          </p:cNvPicPr>
          <p:nvPr/>
        </p:nvPicPr>
        <p:blipFill>
          <a:blip r:embed="rId5"/>
          <a:stretch>
            <a:fillRect/>
          </a:stretch>
        </p:blipFill>
        <p:spPr>
          <a:xfrm>
            <a:off x="7772400" y="1325880"/>
            <a:ext cx="3840480" cy="2990088"/>
          </a:xfrm>
          <a:prstGeom prst="rect">
            <a:avLst/>
          </a:prstGeom>
        </p:spPr>
      </p:pic>
      <p:sp>
        <p:nvSpPr>
          <p:cNvPr id="17" name="Text 10"/>
          <p:cNvSpPr txBox="1"/>
          <p:nvPr/>
        </p:nvSpPr>
        <p:spPr>
          <a:xfrm>
            <a:off x="7772400" y="4526280"/>
            <a:ext cx="3840480" cy="1463040"/>
          </a:xfrm>
          <a:prstGeom prst="rect">
            <a:avLst/>
          </a:prstGeom>
          <a:noFill/>
          <a:ln/>
        </p:spPr>
        <p:txBody>
          <a:bodyPr wrap="square" lIns="0" tIns="0" rIns="0" bIns="0" rtlCol="0" anchor="t"/>
          <a:lstStyle/>
          <a:p>
            <a:pPr indent="0" marL="0">
              <a:buNone/>
            </a:pPr>
            <a:r>
              <a:rPr lang="en-US" sz="1700" i="1" dirty="0">
                <a:solidFill>
                  <a:srgbClr val="F2A541"/>
                </a:solidFill>
                <a:latin typeface="Cambria" pitchFamily="34" charset="0"/>
                <a:ea typeface="Cambria" pitchFamily="34" charset="-122"/>
                <a:cs typeface="Cambria" pitchFamily="34" charset="-120"/>
              </a:rPr>
              <a:t>Strategiyasiz ijro – maqsadsiz harakat, ijrosiz strategiya – amalga oshmagan orzu.</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15/thanks.png">    </p:cNvPr>
          <p:cNvPicPr>
            <a:picLocks noChangeAspect="1"/>
          </p:cNvPicPr>
          <p:nvPr/>
        </p:nvPicPr>
        <p:blipFill>
          <a:blip r:embed="rId1"/>
          <a:stretch>
            <a:fillRect/>
          </a:stretch>
        </p:blipFill>
        <p:spPr>
          <a:xfrm>
            <a:off x="6766560" y="1280160"/>
            <a:ext cx="4846320" cy="3767328"/>
          </a:xfrm>
          <a:prstGeom prst="rect">
            <a:avLst/>
          </a:prstGeom>
        </p:spPr>
      </p:pic>
      <p:sp>
        <p:nvSpPr>
          <p:cNvPr id="3" name="Text 0"/>
          <p:cNvSpPr txBox="1"/>
          <p:nvPr/>
        </p:nvSpPr>
        <p:spPr>
          <a:xfrm>
            <a:off x="548640" y="2011680"/>
            <a:ext cx="59436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E’TIBORINGIZ UCHUN RAHMAT!</a:t>
            </a:r>
            <a:endParaRPr lang="en-US" sz="4000" dirty="0"/>
          </a:p>
        </p:txBody>
      </p:sp>
      <p:sp>
        <p:nvSpPr>
          <p:cNvPr id="4" name="Text 1"/>
          <p:cNvSpPr txBox="1"/>
          <p:nvPr/>
        </p:nvSpPr>
        <p:spPr>
          <a:xfrm>
            <a:off x="548640" y="3931920"/>
            <a:ext cx="5943600" cy="457200"/>
          </a:xfrm>
          <a:prstGeom prst="rect">
            <a:avLst/>
          </a:prstGeom>
          <a:noFill/>
          <a:ln/>
        </p:spPr>
        <p:txBody>
          <a:bodyPr wrap="square" lIns="0" tIns="0" rIns="0" bIns="0" rtlCol="0" anchor="ctr"/>
          <a:lstStyle/>
          <a:p>
            <a:pPr indent="0" marL="0">
              <a:buNone/>
            </a:pPr>
            <a:r>
              <a:rPr lang="en-US" sz="1800" i="1" dirty="0">
                <a:solidFill>
                  <a:srgbClr val="F2A541"/>
                </a:solidFill>
              </a:rPr>
              <a:t>Savollaringiz bo‘lsa, marhamat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rategiya">
  <a:themeElements>
    <a:clrScheme name="Strategiya">
      <a:dk1>
        <a:srgbClr val="1B2A3A"/>
      </a:dk1>
      <a:lt1>
        <a:srgbClr val="FFFFFF"/>
      </a:lt1>
      <a:dk2>
        <a:srgbClr val="0D2F4F"/>
      </a:dk2>
      <a:lt2>
        <a:srgbClr val="E8F3F6"/>
      </a:lt2>
      <a:accent1>
        <a:srgbClr val="0E9F9A"/>
      </a:accent1>
      <a:accent2>
        <a:srgbClr val="F2A541"/>
      </a:accent2>
      <a:accent3>
        <a:srgbClr val="0D2F4F"/>
      </a:accent3>
      <a:accent4>
        <a:srgbClr val="3B6EA5"/>
      </a:accent4>
      <a:accent5>
        <a:srgbClr val="5FD3C9"/>
      </a:accent5>
      <a:accent6>
        <a:srgbClr val="B5651D"/>
      </a:accent6>
      <a:hlink>
        <a:srgbClr val="0E9F9A"/>
      </a:hlink>
      <a:folHlink>
        <a:srgbClr val="3B6EA5"/>
      </a:folHlink>
    </a:clrScheme>
    <a:fontScheme name="Strate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Strategiyani amalga oshirish, monitoring va baholash</dc:title>
  <dc:subject>PptxGenJS Presentation</dc:subject>
  <dc:creator>PptxGenJS</dc:creator>
  <cp:lastModifiedBy>PptxGenJS</cp:lastModifiedBy>
  <cp:revision>1</cp:revision>
  <dcterms:created xsi:type="dcterms:W3CDTF">2026-10-12T12:38:03Z</dcterms:created>
  <dcterms:modified xsi:type="dcterms:W3CDTF">2026-10-12T12:38:03Z</dcterms:modified>
</cp:coreProperties>
</file>