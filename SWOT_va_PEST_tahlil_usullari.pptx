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DARK-image-1.png"/><Relationship Id="rId2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image" Target="../media/LIGHT-image-1.png"/><Relationship Id="rId2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008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FD9E0"/>
                </a:solidFill>
              </a:rPr>
              <a:t>12.10.2026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FD9E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008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B6C"/>
                </a:solidFill>
              </a:rPr>
              <a:t>12.10.2026</a:t>
            </a:r>
            <a:endParaRPr lang="en-US" sz="10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B6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FD9E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img4/tit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6236208" cy="68580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6675120" y="91440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600" kern="0" dirty="0">
                <a:solidFill>
                  <a:srgbClr val="F2A541"/>
                </a:solidFill>
              </a:rPr>
              <a:t>MAVZU</a:t>
            </a:r>
            <a:endParaRPr lang="en-US" sz="1400" dirty="0"/>
          </a:p>
        </p:txBody>
      </p:sp>
      <p:sp>
        <p:nvSpPr>
          <p:cNvPr id="4" name="Text 1"/>
          <p:cNvSpPr txBox="1"/>
          <p:nvPr/>
        </p:nvSpPr>
        <p:spPr>
          <a:xfrm>
            <a:off x="6675120" y="1371600"/>
            <a:ext cx="50292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KORXONANI RIVOJLANTIRISH STRATEGIYASINI SHAKLLANTIRISHDA SWOT VA PEST TAHLIL USULLARIDAN FOYDALANISH</a:t>
            </a:r>
            <a:endParaRPr lang="en-US" sz="2700" dirty="0"/>
          </a:p>
        </p:txBody>
      </p:sp>
      <p:sp>
        <p:nvSpPr>
          <p:cNvPr id="5" name="Text 2"/>
          <p:cNvSpPr txBox="1"/>
          <p:nvPr/>
        </p:nvSpPr>
        <p:spPr>
          <a:xfrm>
            <a:off x="6675120" y="466344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BFE9E4"/>
                </a:solidFill>
              </a:rPr>
              <a:t>Strategik menejment fanidan taqdimot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6675120" y="5212080"/>
            <a:ext cx="4937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DCEBEF"/>
                </a:solidFill>
              </a:rPr>
              <a:t>Bajardi: ______________________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DCEBEF"/>
                </a:solidFill>
              </a:rPr>
              <a:t>Tekshirdi: ____________________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FD9E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Reja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6675120" cy="73152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9525">
            <a:solidFill>
              <a:srgbClr val="D5E6EB"/>
            </a:solidFill>
            <a:prstDash val="solid"/>
          </a:ln>
          <a:effectLst>
            <a:outerShdw sx="100000" sy="100000" kx="0" ky="0" algn="bl" rotWithShape="0" blurRad="101600" dist="38100" dir="5400000">
              <a:srgbClr val="0D2F4F">
                <a:alpha val="18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731520" y="1463040"/>
            <a:ext cx="640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2A5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1371600" y="1572768"/>
            <a:ext cx="512064" cy="512064"/>
          </a:xfrm>
          <a:prstGeom prst="ellipse">
            <a:avLst/>
          </a:prstGeom>
          <a:solidFill>
            <a:srgbClr val="0E9F9A"/>
          </a:solidFill>
          <a:ln w="12700">
            <a:solidFill>
              <a:srgbClr val="0E9F9A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04737" y="1705905"/>
            <a:ext cx="245791" cy="245791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2057400" y="1463040"/>
            <a:ext cx="5029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2F4F"/>
                </a:solidFill>
              </a:rPr>
              <a:t>Strategik tahlil usullarining strategiya shakllantirishdagi o‘rni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548640" y="2377440"/>
            <a:ext cx="6675120" cy="73152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9525">
            <a:solidFill>
              <a:srgbClr val="D5E6EB"/>
            </a:solidFill>
            <a:prstDash val="solid"/>
          </a:ln>
          <a:effectLst>
            <a:outerShdw sx="100000" sy="100000" kx="0" ky="0" algn="bl" rotWithShape="0" blurRad="101600" dist="38100" dir="5400000">
              <a:srgbClr val="0D2F4F">
                <a:alpha val="18000"/>
              </a:srgbClr>
            </a:outerShdw>
          </a:effectLst>
        </p:spPr>
      </p:sp>
      <p:sp>
        <p:nvSpPr>
          <p:cNvPr id="9" name="Text 6"/>
          <p:cNvSpPr txBox="1"/>
          <p:nvPr/>
        </p:nvSpPr>
        <p:spPr>
          <a:xfrm>
            <a:off x="731520" y="2377440"/>
            <a:ext cx="640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2A5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400" dirty="0"/>
          </a:p>
        </p:txBody>
      </p:sp>
      <p:sp>
        <p:nvSpPr>
          <p:cNvPr id="10" name="Shape 7"/>
          <p:cNvSpPr/>
          <p:nvPr/>
        </p:nvSpPr>
        <p:spPr>
          <a:xfrm>
            <a:off x="1371600" y="2487168"/>
            <a:ext cx="512064" cy="512064"/>
          </a:xfrm>
          <a:prstGeom prst="ellipse">
            <a:avLst/>
          </a:prstGeom>
          <a:solidFill>
            <a:srgbClr val="0D2F4F"/>
          </a:solidFill>
          <a:ln w="12700">
            <a:solidFill>
              <a:srgbClr val="0D2F4F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04737" y="2620305"/>
            <a:ext cx="245791" cy="245791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2057400" y="2377440"/>
            <a:ext cx="5029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2F4F"/>
                </a:solidFill>
              </a:rPr>
              <a:t>PEST tahlili: mohiyati, omillari va o‘tkazish tartibi</a:t>
            </a:r>
            <a:endParaRPr lang="en-US" sz="1600" dirty="0"/>
          </a:p>
        </p:txBody>
      </p:sp>
      <p:sp>
        <p:nvSpPr>
          <p:cNvPr id="13" name="Shape 9"/>
          <p:cNvSpPr/>
          <p:nvPr/>
        </p:nvSpPr>
        <p:spPr>
          <a:xfrm>
            <a:off x="548640" y="3291840"/>
            <a:ext cx="6675120" cy="73152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9525">
            <a:solidFill>
              <a:srgbClr val="D5E6EB"/>
            </a:solidFill>
            <a:prstDash val="solid"/>
          </a:ln>
          <a:effectLst>
            <a:outerShdw sx="100000" sy="100000" kx="0" ky="0" algn="bl" rotWithShape="0" blurRad="101600" dist="38100" dir="5400000">
              <a:srgbClr val="0D2F4F">
                <a:alpha val="18000"/>
              </a:srgbClr>
            </a:outerShdw>
          </a:effectLst>
        </p:spPr>
      </p:sp>
      <p:sp>
        <p:nvSpPr>
          <p:cNvPr id="14" name="Text 10"/>
          <p:cNvSpPr txBox="1"/>
          <p:nvPr/>
        </p:nvSpPr>
        <p:spPr>
          <a:xfrm>
            <a:off x="731520" y="3291840"/>
            <a:ext cx="640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2A5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400" dirty="0"/>
          </a:p>
        </p:txBody>
      </p:sp>
      <p:sp>
        <p:nvSpPr>
          <p:cNvPr id="15" name="Shape 11"/>
          <p:cNvSpPr/>
          <p:nvPr/>
        </p:nvSpPr>
        <p:spPr>
          <a:xfrm>
            <a:off x="1371600" y="3401568"/>
            <a:ext cx="512064" cy="512064"/>
          </a:xfrm>
          <a:prstGeom prst="ellipse">
            <a:avLst/>
          </a:prstGeom>
          <a:solidFill>
            <a:srgbClr val="0E9F9A"/>
          </a:solidFill>
          <a:ln w="12700">
            <a:solidFill>
              <a:srgbClr val="0E9F9A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04737" y="3534705"/>
            <a:ext cx="245791" cy="245791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2057400" y="3291840"/>
            <a:ext cx="5029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2F4F"/>
                </a:solidFill>
              </a:rPr>
              <a:t>SWOT tahlili: mohiyati, bosqichlari va amaliy misol</a:t>
            </a:r>
            <a:endParaRPr lang="en-US" sz="1600" dirty="0"/>
          </a:p>
        </p:txBody>
      </p:sp>
      <p:sp>
        <p:nvSpPr>
          <p:cNvPr id="18" name="Shape 13"/>
          <p:cNvSpPr/>
          <p:nvPr/>
        </p:nvSpPr>
        <p:spPr>
          <a:xfrm>
            <a:off x="548640" y="4206240"/>
            <a:ext cx="6675120" cy="73152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9525">
            <a:solidFill>
              <a:srgbClr val="D5E6EB"/>
            </a:solidFill>
            <a:prstDash val="solid"/>
          </a:ln>
          <a:effectLst>
            <a:outerShdw sx="100000" sy="100000" kx="0" ky="0" algn="bl" rotWithShape="0" blurRad="101600" dist="38100" dir="5400000">
              <a:srgbClr val="0D2F4F">
                <a:alpha val="18000"/>
              </a:srgbClr>
            </a:outerShdw>
          </a:effectLst>
        </p:spPr>
      </p:sp>
      <p:sp>
        <p:nvSpPr>
          <p:cNvPr id="19" name="Text 14"/>
          <p:cNvSpPr txBox="1"/>
          <p:nvPr/>
        </p:nvSpPr>
        <p:spPr>
          <a:xfrm>
            <a:off x="731520" y="4206240"/>
            <a:ext cx="640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2A5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400" dirty="0"/>
          </a:p>
        </p:txBody>
      </p:sp>
      <p:sp>
        <p:nvSpPr>
          <p:cNvPr id="20" name="Shape 15"/>
          <p:cNvSpPr/>
          <p:nvPr/>
        </p:nvSpPr>
        <p:spPr>
          <a:xfrm>
            <a:off x="1371600" y="4315968"/>
            <a:ext cx="512064" cy="512064"/>
          </a:xfrm>
          <a:prstGeom prst="ellipse">
            <a:avLst/>
          </a:prstGeom>
          <a:solidFill>
            <a:srgbClr val="0D2F4F"/>
          </a:solidFill>
          <a:ln w="12700">
            <a:solidFill>
              <a:srgbClr val="0D2F4F"/>
            </a:solidFill>
            <a:prstDash val="solid"/>
          </a:ln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04737" y="4449105"/>
            <a:ext cx="245791" cy="245791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2057400" y="4206240"/>
            <a:ext cx="5029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2F4F"/>
                </a:solidFill>
              </a:rPr>
              <a:t>SWOT va PEST natijalari asosida strategiya shakllantirish</a:t>
            </a:r>
            <a:endParaRPr lang="en-US" sz="1600" dirty="0"/>
          </a:p>
        </p:txBody>
      </p:sp>
      <p:sp>
        <p:nvSpPr>
          <p:cNvPr id="23" name="Shape 17"/>
          <p:cNvSpPr/>
          <p:nvPr/>
        </p:nvSpPr>
        <p:spPr>
          <a:xfrm>
            <a:off x="548640" y="5120640"/>
            <a:ext cx="6675120" cy="73152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9525">
            <a:solidFill>
              <a:srgbClr val="D5E6EB"/>
            </a:solidFill>
            <a:prstDash val="solid"/>
          </a:ln>
          <a:effectLst>
            <a:outerShdw sx="100000" sy="100000" kx="0" ky="0" algn="bl" rotWithShape="0" blurRad="101600" dist="38100" dir="5400000">
              <a:srgbClr val="0D2F4F">
                <a:alpha val="18000"/>
              </a:srgbClr>
            </a:outerShdw>
          </a:effectLst>
        </p:spPr>
      </p:sp>
      <p:sp>
        <p:nvSpPr>
          <p:cNvPr id="24" name="Text 18"/>
          <p:cNvSpPr txBox="1"/>
          <p:nvPr/>
        </p:nvSpPr>
        <p:spPr>
          <a:xfrm>
            <a:off x="731520" y="5120640"/>
            <a:ext cx="640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2A5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2400" dirty="0"/>
          </a:p>
        </p:txBody>
      </p:sp>
      <p:sp>
        <p:nvSpPr>
          <p:cNvPr id="25" name="Shape 19"/>
          <p:cNvSpPr/>
          <p:nvPr/>
        </p:nvSpPr>
        <p:spPr>
          <a:xfrm>
            <a:off x="1371600" y="5230368"/>
            <a:ext cx="512064" cy="512064"/>
          </a:xfrm>
          <a:prstGeom prst="ellipse">
            <a:avLst/>
          </a:prstGeom>
          <a:solidFill>
            <a:srgbClr val="0E9F9A"/>
          </a:solidFill>
          <a:ln w="12700">
            <a:solidFill>
              <a:srgbClr val="0E9F9A"/>
            </a:solidFill>
            <a:prstDash val="solid"/>
          </a:ln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04737" y="5363505"/>
            <a:ext cx="245791" cy="245791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2057400" y="5120640"/>
            <a:ext cx="5029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2F4F"/>
                </a:solidFill>
              </a:rPr>
              <a:t>Usullarning afzalliklari, cheklovlari va samarali qo‘llash shartlari</a:t>
            </a:r>
            <a:endParaRPr lang="en-US" sz="1600" dirty="0"/>
          </a:p>
        </p:txBody>
      </p:sp>
      <p:pic>
        <p:nvPicPr>
          <p:cNvPr id="28" name="Image 5" descr="img4/plan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80960" y="1463040"/>
            <a:ext cx="3931920" cy="3054096"/>
          </a:xfrm>
          <a:prstGeom prst="rect">
            <a:avLst/>
          </a:prstGeom>
        </p:spPr>
      </p:pic>
      <p:sp>
        <p:nvSpPr>
          <p:cNvPr id="29" name="Text 21"/>
          <p:cNvSpPr txBox="1"/>
          <p:nvPr/>
        </p:nvSpPr>
        <p:spPr>
          <a:xfrm>
            <a:off x="7680960" y="4663440"/>
            <a:ext cx="3931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A5B6C"/>
                </a:solidFill>
              </a:rPr>
              <a:t>Xulosa va asosiy xulosalar taqdimot so‘ngida beriladi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B6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 Strategik tahlilning strategiya shakllantirishdagi o‘rni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71600"/>
            <a:ext cx="67665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 qanday rivojlantirish strategiyasi “korxona qanday sharoitda faoliyat yuritmoqda va qanday imkoniyatlarga ega?” degan savolga javobdan boshlanadi. Bu javobni strategik tahlil beradi. PEST va SWOT usullari bir-birini to‘ldiradi: PEST tashqi makromuhitni o‘rganadi, SWOT esa uning natijalarini korxonaning ichki salohiyati bilan birlashtirib, strategik qaror uchun asos yaratadi.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3383280"/>
            <a:ext cx="2011680" cy="269748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9525">
            <a:solidFill>
              <a:srgbClr val="D5E6EB"/>
            </a:solidFill>
            <a:prstDash val="solid"/>
          </a:ln>
          <a:effectLst>
            <a:outerShdw sx="100000" sy="100000" kx="0" ky="0" algn="bl" rotWithShape="0" blurRad="101600" dist="38100" dir="5400000">
              <a:srgbClr val="0D2F4F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143000" y="3611880"/>
            <a:ext cx="822960" cy="822960"/>
          </a:xfrm>
          <a:prstGeom prst="ellipse">
            <a:avLst/>
          </a:prstGeom>
          <a:solidFill>
            <a:srgbClr val="0E9F9A"/>
          </a:solidFill>
          <a:ln w="12700">
            <a:solidFill>
              <a:srgbClr val="0E9F9A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56970" y="3825850"/>
            <a:ext cx="395021" cy="395021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640080" y="452628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2F4F"/>
                </a:solidFill>
              </a:rPr>
              <a:t>PEST tahlili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685800" y="4983480"/>
            <a:ext cx="1737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B2A3A"/>
                </a:solidFill>
              </a:rPr>
              <a:t>tashqi omillar: imkoniyat va tahdidlar ro‘yxati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2560320" y="4544568"/>
            <a:ext cx="320040" cy="320040"/>
          </a:xfrm>
          <a:prstGeom prst="ellipse">
            <a:avLst/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33472" y="4617720"/>
            <a:ext cx="173736" cy="173736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2880360" y="3383280"/>
            <a:ext cx="2011680" cy="269748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9525">
            <a:solidFill>
              <a:srgbClr val="D5E6EB"/>
            </a:solidFill>
            <a:prstDash val="solid"/>
          </a:ln>
          <a:effectLst>
            <a:outerShdw sx="100000" sy="100000" kx="0" ky="0" algn="bl" rotWithShape="0" blurRad="101600" dist="38100" dir="5400000">
              <a:srgbClr val="0D2F4F">
                <a:alpha val="18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3474720" y="3611880"/>
            <a:ext cx="822960" cy="822960"/>
          </a:xfrm>
          <a:prstGeom prst="ellipse">
            <a:avLst/>
          </a:prstGeom>
          <a:solidFill>
            <a:srgbClr val="3B6EA5"/>
          </a:solidFill>
          <a:ln w="12700">
            <a:solidFill>
              <a:srgbClr val="3B6EA5"/>
            </a:solidFill>
            <a:prstDash val="solid"/>
          </a:ln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88690" y="3825850"/>
            <a:ext cx="395021" cy="395021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2971800" y="452628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2F4F"/>
                </a:solidFill>
              </a:rPr>
              <a:t>SWOT tahlili</a:t>
            </a:r>
            <a:endParaRPr lang="en-US" sz="1600" dirty="0"/>
          </a:p>
        </p:txBody>
      </p:sp>
      <p:sp>
        <p:nvSpPr>
          <p:cNvPr id="15" name="Text 10"/>
          <p:cNvSpPr txBox="1"/>
          <p:nvPr/>
        </p:nvSpPr>
        <p:spPr>
          <a:xfrm>
            <a:off x="3017520" y="4983480"/>
            <a:ext cx="1737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B2A3A"/>
                </a:solidFill>
              </a:rPr>
              <a:t>ichki va tashqi omillarni taqqoslash</a:t>
            </a:r>
            <a:endParaRPr lang="en-US" sz="1300" dirty="0"/>
          </a:p>
        </p:txBody>
      </p:sp>
      <p:sp>
        <p:nvSpPr>
          <p:cNvPr id="16" name="Shape 11"/>
          <p:cNvSpPr/>
          <p:nvPr/>
        </p:nvSpPr>
        <p:spPr>
          <a:xfrm>
            <a:off x="4892040" y="4544568"/>
            <a:ext cx="320040" cy="320040"/>
          </a:xfrm>
          <a:prstGeom prst="ellipse">
            <a:avLst/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65192" y="4617720"/>
            <a:ext cx="173736" cy="173736"/>
          </a:xfrm>
          <a:prstGeom prst="rect">
            <a:avLst/>
          </a:prstGeom>
        </p:spPr>
      </p:pic>
      <p:sp>
        <p:nvSpPr>
          <p:cNvPr id="18" name="Shape 12"/>
          <p:cNvSpPr/>
          <p:nvPr/>
        </p:nvSpPr>
        <p:spPr>
          <a:xfrm>
            <a:off x="5212080" y="3383280"/>
            <a:ext cx="2011680" cy="269748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9525">
            <a:solidFill>
              <a:srgbClr val="D5E6EB"/>
            </a:solidFill>
            <a:prstDash val="solid"/>
          </a:ln>
          <a:effectLst>
            <a:outerShdw sx="100000" sy="100000" kx="0" ky="0" algn="bl" rotWithShape="0" blurRad="101600" dist="38100" dir="5400000">
              <a:srgbClr val="0D2F4F">
                <a:alpha val="18000"/>
              </a:srgbClr>
            </a:outerShdw>
          </a:effectLst>
        </p:spPr>
      </p:sp>
      <p:sp>
        <p:nvSpPr>
          <p:cNvPr id="19" name="Shape 13"/>
          <p:cNvSpPr/>
          <p:nvPr/>
        </p:nvSpPr>
        <p:spPr>
          <a:xfrm>
            <a:off x="5806440" y="3611880"/>
            <a:ext cx="822960" cy="822960"/>
          </a:xfrm>
          <a:prstGeom prst="ellipse">
            <a:avLst/>
          </a:prstGeom>
          <a:solidFill>
            <a:srgbClr val="0D2F4F"/>
          </a:solidFill>
          <a:ln w="12700">
            <a:solidFill>
              <a:srgbClr val="0D2F4F"/>
            </a:solidFill>
            <a:prstDash val="solid"/>
          </a:ln>
        </p:spPr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20410" y="3825850"/>
            <a:ext cx="395021" cy="395021"/>
          </a:xfrm>
          <a:prstGeom prst="rect">
            <a:avLst/>
          </a:prstGeom>
        </p:spPr>
      </p:pic>
      <p:sp>
        <p:nvSpPr>
          <p:cNvPr id="21" name="Text 14"/>
          <p:cNvSpPr txBox="1"/>
          <p:nvPr/>
        </p:nvSpPr>
        <p:spPr>
          <a:xfrm>
            <a:off x="5303520" y="452628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2F4F"/>
                </a:solidFill>
              </a:rPr>
              <a:t>Strategiya</a:t>
            </a:r>
            <a:endParaRPr lang="en-US" sz="1600" dirty="0"/>
          </a:p>
        </p:txBody>
      </p:sp>
      <p:sp>
        <p:nvSpPr>
          <p:cNvPr id="22" name="Text 15"/>
          <p:cNvSpPr txBox="1"/>
          <p:nvPr/>
        </p:nvSpPr>
        <p:spPr>
          <a:xfrm>
            <a:off x="5349240" y="4983480"/>
            <a:ext cx="1737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B2A3A"/>
                </a:solidFill>
              </a:rPr>
              <a:t>SO, WO, ST, WT yo‘nalishlari va reja</a:t>
            </a:r>
            <a:endParaRPr lang="en-US" sz="1300" dirty="0"/>
          </a:p>
        </p:txBody>
      </p:sp>
      <p:pic>
        <p:nvPicPr>
          <p:cNvPr id="23" name="Image 5" descr="img4/rol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80960" y="1371600"/>
            <a:ext cx="3931920" cy="3054096"/>
          </a:xfrm>
          <a:prstGeom prst="rect">
            <a:avLst/>
          </a:prstGeom>
        </p:spPr>
      </p:pic>
      <p:sp>
        <p:nvSpPr>
          <p:cNvPr id="24" name="Shape 16"/>
          <p:cNvSpPr/>
          <p:nvPr/>
        </p:nvSpPr>
        <p:spPr>
          <a:xfrm>
            <a:off x="7680960" y="4617720"/>
            <a:ext cx="3931920" cy="1463040"/>
          </a:xfrm>
          <a:prstGeom prst="roundRect">
            <a:avLst>
              <a:gd name="adj" fmla="val 7500"/>
            </a:avLst>
          </a:prstGeom>
          <a:solidFill>
            <a:srgbClr val="E8F3F6"/>
          </a:solidFill>
          <a:ln w="9525">
            <a:solidFill>
              <a:srgbClr val="D5E6EB"/>
            </a:solidFill>
            <a:prstDash val="solid"/>
          </a:ln>
          <a:effectLst>
            <a:outerShdw sx="100000" sy="100000" kx="0" ky="0" algn="bl" rotWithShape="0" blurRad="101600" dist="38100" dir="5400000">
              <a:srgbClr val="0D2F4F">
                <a:alpha val="18000"/>
              </a:srgbClr>
            </a:outerShdw>
          </a:effectLst>
        </p:spPr>
      </p:sp>
      <p:sp>
        <p:nvSpPr>
          <p:cNvPr id="25" name="Text 17"/>
          <p:cNvSpPr txBox="1"/>
          <p:nvPr/>
        </p:nvSpPr>
        <p:spPr>
          <a:xfrm>
            <a:off x="7863840" y="4663440"/>
            <a:ext cx="35661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2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Asosiy qoida: </a:t>
            </a:r>
            <a:pPr indent="0" marL="0">
              <a:buNone/>
            </a:pPr>
            <a:r>
              <a:rPr lang="en-US" sz="14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tahlilsiz tuzilgan strategiya – taxmin, tahlilga asoslangan strategiya esa – boshqariladigan rivojlanish rejasi.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B6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 Strategik tahlil usullari tizimida SWOT va PEST</a:t>
            </a:r>
            <a:endParaRPr lang="en-US" sz="3000" dirty="0"/>
          </a:p>
        </p:txBody>
      </p:sp>
      <p:pic>
        <p:nvPicPr>
          <p:cNvPr id="3" name="Image 0" descr="img4/method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71600"/>
            <a:ext cx="3200400" cy="411480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48640" y="5577840"/>
            <a:ext cx="3200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4A5B6C"/>
                </a:solidFill>
              </a:rPr>
              <a:t>PEST va SWOT – eng ko‘p qo‘llaniladigan, sodda va universal usullar</a:t>
            </a:r>
            <a:endParaRPr lang="en-US" sz="12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0" y="1371600"/>
          <a:ext cx="7498080" cy="914400"/>
        </p:xfrm>
        <a:graphic>
          <a:graphicData uri="http://schemas.openxmlformats.org/drawingml/2006/table">
            <a:tbl>
              <a:tblPr/>
              <a:tblGrid>
                <a:gridCol w="1691640"/>
                <a:gridCol w="2057400"/>
                <a:gridCol w="1920240"/>
                <a:gridCol w="1828800"/>
              </a:tblGrid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Usul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F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Muallif / davr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F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Tahlil ob’ekti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F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Natija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F4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0E9F9A"/>
                          </a:solidFill>
                        </a:rPr>
                        <a:t>PEST (PESTEL)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F2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B2A3A"/>
                          </a:solidFill>
                        </a:rPr>
                        <a:t>F. Agilar, 1967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F2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B2A3A"/>
                          </a:solidFill>
                        </a:rPr>
                        <a:t>Makromuhit omillari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F2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B2A3A"/>
                          </a:solidFill>
                        </a:rPr>
                        <a:t>Imkoniyat va tahdidlar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F2E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0E9F9A"/>
                          </a:solidFill>
                        </a:rPr>
                        <a:t>SWOT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F2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B2A3A"/>
                          </a:solidFill>
                        </a:rPr>
                        <a:t>Garvard biznes maktabi, 1960-y.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F2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B2A3A"/>
                          </a:solidFill>
                        </a:rPr>
                        <a:t>Ichki va tashqi muhit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F2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B2A3A"/>
                          </a:solidFill>
                        </a:rPr>
                        <a:t>Strategik pozitsiya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F2E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0D2F4F"/>
                          </a:solidFill>
                        </a:rPr>
                        <a:t>TOWS matritsasi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3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B2A3A"/>
                          </a:solidFill>
                        </a:rPr>
                        <a:t>H. Vayrix, 1982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3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B2A3A"/>
                          </a:solidFill>
                        </a:rPr>
                        <a:t>SWOT omillari kesishmasi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3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B2A3A"/>
                          </a:solidFill>
                        </a:rPr>
                        <a:t>Aniq strategiyalar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3F6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0D2F4F"/>
                          </a:solidFill>
                        </a:rPr>
                        <a:t>“Besh kuch”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B2A3A"/>
                          </a:solidFill>
                        </a:rPr>
                        <a:t>M. Porter, 1979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B2A3A"/>
                          </a:solidFill>
                        </a:rPr>
                        <a:t>Soha raqobati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B2A3A"/>
                          </a:solidFill>
                        </a:rPr>
                        <a:t>Soha jozibadorligi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0D2F4F"/>
                          </a:solidFill>
                        </a:rPr>
                        <a:t>BCG matritsasi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3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B2A3A"/>
                          </a:solidFill>
                        </a:rPr>
                        <a:t>B. Xenderson, 1970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3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B2A3A"/>
                          </a:solidFill>
                        </a:rPr>
                        <a:t>Mahsulotlar portfeli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3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B2A3A"/>
                          </a:solidFill>
                        </a:rPr>
                        <a:t>Investitsiya ustuvorligi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3F6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0D2F4F"/>
                          </a:solidFill>
                        </a:rPr>
                        <a:t>McKinsey 7S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B2A3A"/>
                          </a:solidFill>
                        </a:rPr>
                        <a:t>T. Piters, R. Uoterman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B2A3A"/>
                          </a:solidFill>
                        </a:rPr>
                        <a:t>Tashkiliy elementlar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B2A3A"/>
                          </a:solidFill>
                        </a:rPr>
                        <a:t>Ichki muvofiqlik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2"/>
          <p:cNvSpPr/>
          <p:nvPr/>
        </p:nvSpPr>
        <p:spPr>
          <a:xfrm>
            <a:off x="4114800" y="5166360"/>
            <a:ext cx="7498080" cy="1005840"/>
          </a:xfrm>
          <a:prstGeom prst="roundRect">
            <a:avLst>
              <a:gd name="adj" fmla="val 10909"/>
            </a:avLst>
          </a:prstGeom>
          <a:solidFill>
            <a:srgbClr val="E8F3F6"/>
          </a:solidFill>
          <a:ln w="9525">
            <a:solidFill>
              <a:srgbClr val="D5E6EB"/>
            </a:solidFill>
            <a:prstDash val="solid"/>
          </a:ln>
          <a:effectLst>
            <a:outerShdw sx="100000" sy="100000" kx="0" ky="0" algn="bl" rotWithShape="0" blurRad="101600" dist="38100" dir="5400000">
              <a:srgbClr val="0D2F4F">
                <a:alpha val="18000"/>
              </a:srgbClr>
            </a:outerShdw>
          </a:effectLst>
        </p:spPr>
      </p:sp>
      <p:sp>
        <p:nvSpPr>
          <p:cNvPr id="7" name="Text 3"/>
          <p:cNvSpPr txBox="1"/>
          <p:nvPr/>
        </p:nvSpPr>
        <p:spPr>
          <a:xfrm>
            <a:off x="4297680" y="5212080"/>
            <a:ext cx="7132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2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Nima uchun aynan SWOT va PEST? </a:t>
            </a:r>
            <a:pPr indent="0" marL="0">
              <a:buNone/>
            </a:pPr>
            <a:r>
              <a:rPr lang="en-US" sz="14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Ular katta xarajat va murakkab dasturlarni talab qilmaydi, har qanday hajmdagi korxonada qo‘llaniladi va boshqa usullar uchun boshlang‘ich ma’lumot beradi.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B6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 PEST tahlili: mohiyati va omillari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258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0E9F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PEST tahlili</a:t>
            </a:r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– korxona nazorat qila olmaydigan, ammo uning rivojlanishiga kuchli ta’sir ko‘rsatadigan makromuhit omillarini to‘rt guruhda o‘rganish usuli. Kengaytirilgan shakllari: PESTEL (+ ekologik, huquqiy), STEEPLE (+ axloqiy).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2194560"/>
            <a:ext cx="2651760" cy="320040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9525">
            <a:solidFill>
              <a:srgbClr val="D5E6EB"/>
            </a:solidFill>
            <a:prstDash val="solid"/>
          </a:ln>
          <a:effectLst>
            <a:outerShdw sx="100000" sy="100000" kx="0" ky="0" algn="bl" rotWithShape="0" blurRad="101600" dist="38100" dir="5400000">
              <a:srgbClr val="0D2F4F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2194560"/>
            <a:ext cx="2651760" cy="960120"/>
          </a:xfrm>
          <a:prstGeom prst="roundRect">
            <a:avLst>
              <a:gd name="adj" fmla="val 11429"/>
            </a:avLst>
          </a:prstGeom>
          <a:solidFill>
            <a:srgbClr val="0E9F9A"/>
          </a:solidFill>
          <a:ln w="12700">
            <a:solidFill>
              <a:srgbClr val="0E9F9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2194560"/>
            <a:ext cx="6400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</a:t>
            </a:r>
            <a:endParaRPr lang="en-US" sz="4000" dirty="0"/>
          </a:p>
        </p:txBody>
      </p:sp>
      <p:sp>
        <p:nvSpPr>
          <p:cNvPr id="7" name="Text 5"/>
          <p:cNvSpPr txBox="1"/>
          <p:nvPr/>
        </p:nvSpPr>
        <p:spPr>
          <a:xfrm>
            <a:off x="1417320" y="2194560"/>
            <a:ext cx="11887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Siyosiy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omillar</a:t>
            </a:r>
            <a:endParaRPr lang="en-US" sz="15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633472" y="2468880"/>
            <a:ext cx="384048" cy="384048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731520" y="3337560"/>
            <a:ext cx="233172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davlat dasturlari va islohotlar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soliq va bojxona siyosati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tadbirkorlikka imtiyozlar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xalqaro savdo shartnomalari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siyosiy barqarorlik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3383280" y="2194560"/>
            <a:ext cx="2651760" cy="320040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9525">
            <a:solidFill>
              <a:srgbClr val="D5E6EB"/>
            </a:solidFill>
            <a:prstDash val="solid"/>
          </a:ln>
          <a:effectLst>
            <a:outerShdw sx="100000" sy="100000" kx="0" ky="0" algn="bl" rotWithShape="0" blurRad="101600" dist="38100" dir="5400000">
              <a:srgbClr val="0D2F4F">
                <a:alpha val="1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383280" y="2194560"/>
            <a:ext cx="2651760" cy="960120"/>
          </a:xfrm>
          <a:prstGeom prst="roundRect">
            <a:avLst>
              <a:gd name="adj" fmla="val 11429"/>
            </a:avLst>
          </a:prstGeom>
          <a:solidFill>
            <a:srgbClr val="0D2F4F"/>
          </a:solidFill>
          <a:ln w="12700">
            <a:solidFill>
              <a:srgbClr val="0D2F4F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3566160" y="2194560"/>
            <a:ext cx="6400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</a:t>
            </a:r>
            <a:endParaRPr lang="en-US" sz="4000" dirty="0"/>
          </a:p>
        </p:txBody>
      </p:sp>
      <p:sp>
        <p:nvSpPr>
          <p:cNvPr id="13" name="Text 10"/>
          <p:cNvSpPr txBox="1"/>
          <p:nvPr/>
        </p:nvSpPr>
        <p:spPr>
          <a:xfrm>
            <a:off x="4251960" y="2194560"/>
            <a:ext cx="11887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Iqtisodiy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omillar</a:t>
            </a:r>
            <a:endParaRPr lang="en-US" sz="1500" dirty="0"/>
          </a:p>
        </p:txBody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68112" y="2468880"/>
            <a:ext cx="384048" cy="384048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3566160" y="3337560"/>
            <a:ext cx="233172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YaIM o‘sish sur’ati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inflyatsiya va foiz stavkalari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valyuta kursi o‘zgarishi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aholi daromadlari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kredit resurslari mavjudligi</a:t>
            </a:r>
            <a:endParaRPr lang="en-US" sz="1400" dirty="0"/>
          </a:p>
        </p:txBody>
      </p:sp>
      <p:sp>
        <p:nvSpPr>
          <p:cNvPr id="16" name="Shape 12"/>
          <p:cNvSpPr/>
          <p:nvPr/>
        </p:nvSpPr>
        <p:spPr>
          <a:xfrm>
            <a:off x="6217920" y="2194560"/>
            <a:ext cx="2651760" cy="320040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9525">
            <a:solidFill>
              <a:srgbClr val="D5E6EB"/>
            </a:solidFill>
            <a:prstDash val="solid"/>
          </a:ln>
          <a:effectLst>
            <a:outerShdw sx="100000" sy="100000" kx="0" ky="0" algn="bl" rotWithShape="0" blurRad="101600" dist="38100" dir="5400000">
              <a:srgbClr val="0D2F4F">
                <a:alpha val="18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217920" y="2194560"/>
            <a:ext cx="2651760" cy="960120"/>
          </a:xfrm>
          <a:prstGeom prst="roundRect">
            <a:avLst>
              <a:gd name="adj" fmla="val 11429"/>
            </a:avLst>
          </a:prstGeom>
          <a:solidFill>
            <a:srgbClr val="3B6EA5"/>
          </a:solidFill>
          <a:ln w="12700">
            <a:solidFill>
              <a:srgbClr val="3B6EA5"/>
            </a:solidFill>
            <a:prstDash val="solid"/>
          </a:ln>
        </p:spPr>
      </p:sp>
      <p:sp>
        <p:nvSpPr>
          <p:cNvPr id="18" name="Text 14"/>
          <p:cNvSpPr txBox="1"/>
          <p:nvPr/>
        </p:nvSpPr>
        <p:spPr>
          <a:xfrm>
            <a:off x="6400800" y="2194560"/>
            <a:ext cx="6400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</a:t>
            </a:r>
            <a:endParaRPr lang="en-US" sz="4000" dirty="0"/>
          </a:p>
        </p:txBody>
      </p:sp>
      <p:sp>
        <p:nvSpPr>
          <p:cNvPr id="19" name="Text 15"/>
          <p:cNvSpPr txBox="1"/>
          <p:nvPr/>
        </p:nvSpPr>
        <p:spPr>
          <a:xfrm>
            <a:off x="7086600" y="2194560"/>
            <a:ext cx="11887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Ijtimoiy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omillar</a:t>
            </a:r>
            <a:endParaRPr lang="en-US" sz="1500" dirty="0"/>
          </a:p>
        </p:txBody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02752" y="2468880"/>
            <a:ext cx="384048" cy="384048"/>
          </a:xfrm>
          <a:prstGeom prst="rect">
            <a:avLst/>
          </a:prstGeom>
        </p:spPr>
      </p:pic>
      <p:sp>
        <p:nvSpPr>
          <p:cNvPr id="21" name="Text 16"/>
          <p:cNvSpPr txBox="1"/>
          <p:nvPr/>
        </p:nvSpPr>
        <p:spPr>
          <a:xfrm>
            <a:off x="6400800" y="3337560"/>
            <a:ext cx="233172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aholi soni va yosh tarkibi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ta’lim va malaka darajasi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turmush tarzi, qadriyatlar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iste’mol odatlari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mehnat migratsiyasi</a:t>
            </a:r>
            <a:endParaRPr lang="en-US" sz="1400" dirty="0"/>
          </a:p>
        </p:txBody>
      </p:sp>
      <p:sp>
        <p:nvSpPr>
          <p:cNvPr id="22" name="Shape 17"/>
          <p:cNvSpPr/>
          <p:nvPr/>
        </p:nvSpPr>
        <p:spPr>
          <a:xfrm>
            <a:off x="9052560" y="2194560"/>
            <a:ext cx="2651760" cy="320040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9525">
            <a:solidFill>
              <a:srgbClr val="D5E6EB"/>
            </a:solidFill>
            <a:prstDash val="solid"/>
          </a:ln>
          <a:effectLst>
            <a:outerShdw sx="100000" sy="100000" kx="0" ky="0" algn="bl" rotWithShape="0" blurRad="101600" dist="38100" dir="5400000">
              <a:srgbClr val="0D2F4F">
                <a:alpha val="18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9052560" y="2194560"/>
            <a:ext cx="2651760" cy="960120"/>
          </a:xfrm>
          <a:prstGeom prst="roundRect">
            <a:avLst>
              <a:gd name="adj" fmla="val 11429"/>
            </a:avLst>
          </a:prstGeom>
          <a:solidFill>
            <a:srgbClr val="B5651D"/>
          </a:solidFill>
          <a:ln w="12700">
            <a:solidFill>
              <a:srgbClr val="B5651D"/>
            </a:solidFill>
            <a:prstDash val="solid"/>
          </a:ln>
        </p:spPr>
      </p:sp>
      <p:sp>
        <p:nvSpPr>
          <p:cNvPr id="24" name="Text 19"/>
          <p:cNvSpPr txBox="1"/>
          <p:nvPr/>
        </p:nvSpPr>
        <p:spPr>
          <a:xfrm>
            <a:off x="9235440" y="2194560"/>
            <a:ext cx="6400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</a:t>
            </a:r>
            <a:endParaRPr lang="en-US" sz="4000" dirty="0"/>
          </a:p>
        </p:txBody>
      </p:sp>
      <p:sp>
        <p:nvSpPr>
          <p:cNvPr id="25" name="Text 20"/>
          <p:cNvSpPr txBox="1"/>
          <p:nvPr/>
        </p:nvSpPr>
        <p:spPr>
          <a:xfrm>
            <a:off x="9921240" y="2194560"/>
            <a:ext cx="11887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Texnologik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omillar</a:t>
            </a:r>
            <a:endParaRPr lang="en-US" sz="1500" dirty="0"/>
          </a:p>
        </p:txBody>
      </p:sp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37392" y="2468880"/>
            <a:ext cx="384048" cy="384048"/>
          </a:xfrm>
          <a:prstGeom prst="rect">
            <a:avLst/>
          </a:prstGeom>
        </p:spPr>
      </p:pic>
      <p:sp>
        <p:nvSpPr>
          <p:cNvPr id="27" name="Text 21"/>
          <p:cNvSpPr txBox="1"/>
          <p:nvPr/>
        </p:nvSpPr>
        <p:spPr>
          <a:xfrm>
            <a:off x="9235440" y="3337560"/>
            <a:ext cx="233172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yangi texnologiyalar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raqamlashtirish va e-tijorat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avtomatlashtirish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texnologiyalarning eskirish tezligi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ITRga davlat ko‘magi</a:t>
            </a:r>
            <a:endParaRPr lang="en-US" sz="1400" dirty="0"/>
          </a:p>
        </p:txBody>
      </p:sp>
      <p:sp>
        <p:nvSpPr>
          <p:cNvPr id="28" name="Shape 22"/>
          <p:cNvSpPr/>
          <p:nvPr/>
        </p:nvSpPr>
        <p:spPr>
          <a:xfrm>
            <a:off x="548640" y="5577840"/>
            <a:ext cx="11064240" cy="640080"/>
          </a:xfrm>
          <a:prstGeom prst="roundRect">
            <a:avLst>
              <a:gd name="adj" fmla="val 17143"/>
            </a:avLst>
          </a:prstGeom>
          <a:solidFill>
            <a:srgbClr val="E8F3F6"/>
          </a:solidFill>
          <a:ln w="9525">
            <a:solidFill>
              <a:srgbClr val="D5E6EB"/>
            </a:solidFill>
            <a:prstDash val="solid"/>
          </a:ln>
          <a:effectLst>
            <a:outerShdw sx="100000" sy="100000" kx="0" ky="0" algn="bl" rotWithShape="0" blurRad="101600" dist="38100" dir="5400000">
              <a:srgbClr val="0D2F4F">
                <a:alpha val="18000"/>
              </a:srgbClr>
            </a:outerShdw>
          </a:effectLst>
        </p:spPr>
      </p:sp>
      <p:sp>
        <p:nvSpPr>
          <p:cNvPr id="29" name="Shape 23"/>
          <p:cNvSpPr/>
          <p:nvPr/>
        </p:nvSpPr>
        <p:spPr>
          <a:xfrm>
            <a:off x="685800" y="5669280"/>
            <a:ext cx="457200" cy="457200"/>
          </a:xfrm>
          <a:prstGeom prst="ellipse">
            <a:avLst/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</p:sp>
      <p:pic>
        <p:nvPicPr>
          <p:cNvPr id="3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4672" y="5788152"/>
            <a:ext cx="219456" cy="219456"/>
          </a:xfrm>
          <a:prstGeom prst="rect">
            <a:avLst/>
          </a:prstGeom>
        </p:spPr>
      </p:pic>
      <p:sp>
        <p:nvSpPr>
          <p:cNvPr id="31" name="Text 24"/>
          <p:cNvSpPr txBox="1"/>
          <p:nvPr/>
        </p:nvSpPr>
        <p:spPr>
          <a:xfrm>
            <a:off x="1280160" y="5577840"/>
            <a:ext cx="10241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2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Asosiy savol: </a:t>
            </a:r>
            <a:pPr indent="0" marL="0">
              <a:buNone/>
            </a:pPr>
            <a:r>
              <a:rPr lang="en-US" sz="14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 o‘zgarish korxonamiz uchun imkoniyatmi yoki tahdidmi va u qanchalik kuchli ta’sir qiladi?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B6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 PEST tahlilini o‘tkazish tartibi va omillarni baholash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258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2F4F"/>
                </a:solidFill>
              </a:rPr>
              <a:t>O‘tkazish bosqichlari: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502920" cy="502920"/>
          </a:xfrm>
          <a:prstGeom prst="ellipse">
            <a:avLst/>
          </a:prstGeom>
          <a:solidFill>
            <a:srgbClr val="0E9F9A"/>
          </a:solidFill>
          <a:ln w="12700">
            <a:solidFill>
              <a:srgbClr val="0E9F9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8745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1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800100" y="2377440"/>
            <a:ext cx="0" cy="365760"/>
          </a:xfrm>
          <a:prstGeom prst="line">
            <a:avLst/>
          </a:prstGeom>
          <a:noFill/>
          <a:ln w="25400">
            <a:solidFill>
              <a:srgbClr val="9FC9D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234440" y="1783080"/>
            <a:ext cx="4023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2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Omillarni aniqlash</a:t>
            </a:r>
            <a:endParaRPr lang="en-US" sz="1400" dirty="0"/>
          </a:p>
          <a:p>
            <a:pPr indent="0" marL="0">
              <a:buNone/>
            </a:pPr>
            <a:r>
              <a:rPr lang="en-US" sz="13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 guruh bo‘yicha korxonaga daxldor omillar ro‘yxati tuziladi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2743200"/>
            <a:ext cx="502920" cy="502920"/>
          </a:xfrm>
          <a:prstGeom prst="ellipse">
            <a:avLst/>
          </a:prstGeom>
          <a:solidFill>
            <a:srgbClr val="0D2F4F"/>
          </a:solidFill>
          <a:ln w="12700">
            <a:solidFill>
              <a:srgbClr val="0D2F4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48640" y="2743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2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800100" y="3246120"/>
            <a:ext cx="0" cy="365760"/>
          </a:xfrm>
          <a:prstGeom prst="line">
            <a:avLst/>
          </a:prstGeom>
          <a:noFill/>
          <a:ln w="25400">
            <a:solidFill>
              <a:srgbClr val="9FC9D2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234440" y="2651760"/>
            <a:ext cx="4023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2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Ma’lumot yig‘ish</a:t>
            </a:r>
            <a:endParaRPr lang="en-US" sz="1400" dirty="0"/>
          </a:p>
          <a:p>
            <a:pPr indent="0" marL="0">
              <a:buNone/>
            </a:pPr>
            <a:r>
              <a:rPr lang="en-US" sz="13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statistika, qonunlar, sohaviy hisobotlar, ekspert fikrlari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48640" y="3611880"/>
            <a:ext cx="502920" cy="502920"/>
          </a:xfrm>
          <a:prstGeom prst="ellipse">
            <a:avLst/>
          </a:prstGeom>
          <a:solidFill>
            <a:srgbClr val="0E9F9A"/>
          </a:solidFill>
          <a:ln w="12700">
            <a:solidFill>
              <a:srgbClr val="0E9F9A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48640" y="36118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3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800100" y="4114800"/>
            <a:ext cx="0" cy="365760"/>
          </a:xfrm>
          <a:prstGeom prst="line">
            <a:avLst/>
          </a:prstGeom>
          <a:noFill/>
          <a:ln w="25400">
            <a:solidFill>
              <a:srgbClr val="9FC9D2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1234440" y="3520440"/>
            <a:ext cx="4023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2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Ta’sir kuchini baholash</a:t>
            </a:r>
            <a:endParaRPr lang="en-US" sz="1400" dirty="0"/>
          </a:p>
          <a:p>
            <a:pPr indent="0" marL="0">
              <a:buNone/>
            </a:pPr>
            <a:r>
              <a:rPr lang="en-US" sz="13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 omil 1–5 ball shkalasida baholanadi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48640" y="4480560"/>
            <a:ext cx="502920" cy="502920"/>
          </a:xfrm>
          <a:prstGeom prst="ellipse">
            <a:avLst/>
          </a:prstGeom>
          <a:solidFill>
            <a:srgbClr val="0D2F4F"/>
          </a:solidFill>
          <a:ln w="12700">
            <a:solidFill>
              <a:srgbClr val="0D2F4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48640" y="44805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4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800100" y="4983480"/>
            <a:ext cx="0" cy="365760"/>
          </a:xfrm>
          <a:prstGeom prst="line">
            <a:avLst/>
          </a:prstGeom>
          <a:noFill/>
          <a:ln w="25400">
            <a:solidFill>
              <a:srgbClr val="9FC9D2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1234440" y="4389120"/>
            <a:ext cx="4023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2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Ehtimollikni aniqlash</a:t>
            </a:r>
            <a:endParaRPr lang="en-US" sz="1400" dirty="0"/>
          </a:p>
          <a:p>
            <a:pPr indent="0" marL="0">
              <a:buNone/>
            </a:pPr>
            <a:r>
              <a:rPr lang="en-US" sz="13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omil yuz berish ehtimoli 0–1 oralig‘ida belgilanadi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548640" y="5349240"/>
            <a:ext cx="502920" cy="502920"/>
          </a:xfrm>
          <a:prstGeom prst="ellipse">
            <a:avLst/>
          </a:prstGeom>
          <a:solidFill>
            <a:srgbClr val="0E9F9A"/>
          </a:solidFill>
          <a:ln w="12700">
            <a:solidFill>
              <a:srgbClr val="0E9F9A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548640" y="53492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5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1234440" y="5257800"/>
            <a:ext cx="4023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2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Natijani talqin qilish</a:t>
            </a:r>
            <a:endParaRPr lang="en-US" sz="1400" dirty="0"/>
          </a:p>
          <a:p>
            <a:pPr indent="0" marL="0">
              <a:buNone/>
            </a:pPr>
            <a:r>
              <a:rPr lang="en-US" sz="13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 yuqori ballilar SWOTning O va T qismiga o‘tkaziladi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5577840" y="1325880"/>
            <a:ext cx="603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2F4F"/>
                </a:solidFill>
              </a:rPr>
              <a:t>Baholash matritsasi (shartli misol: to‘qimachilik korxonasi)</a:t>
            </a:r>
            <a:endParaRPr lang="en-US" sz="16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577840" y="1783080"/>
          <a:ext cx="6035040" cy="914400"/>
        </p:xfrm>
        <a:graphic>
          <a:graphicData uri="http://schemas.openxmlformats.org/drawingml/2006/table">
            <a:tbl>
              <a:tblPr/>
              <a:tblGrid>
                <a:gridCol w="548640"/>
                <a:gridCol w="2834640"/>
                <a:gridCol w="960120"/>
                <a:gridCol w="960120"/>
                <a:gridCol w="731520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Gr.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F4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Omil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F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Ta’sir (1–5)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F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Ehtimollik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F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Ball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F4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0E9F9A"/>
                          </a:solidFill>
                        </a:rPr>
                        <a:t>P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3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2A3A"/>
                          </a:solidFill>
                        </a:rPr>
                        <a:t>Eksportni rag‘batlantirish imtiyozlari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3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B2A3A"/>
                          </a:solidFill>
                        </a:rPr>
                        <a:t>5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3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B2A3A"/>
                          </a:solidFill>
                        </a:rPr>
                        <a:t>0.8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3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4.0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9F9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0E9F9A"/>
                          </a:solidFill>
                        </a:rPr>
                        <a:t>E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2A3A"/>
                          </a:solidFill>
                        </a:rPr>
                        <a:t>Valyuta kursining o‘zgaruvchanligi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B2A3A"/>
                          </a:solidFill>
                        </a:rPr>
                        <a:t>4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B2A3A"/>
                          </a:solidFill>
                        </a:rPr>
                        <a:t>0.7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B2A3A"/>
                          </a:solidFill>
                        </a:rPr>
                        <a:t>2.8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0E9F9A"/>
                          </a:solidFill>
                        </a:rPr>
                        <a:t>E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3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2A3A"/>
                          </a:solidFill>
                        </a:rPr>
                        <a:t>Aholi daromadlarining o‘sishi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3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B2A3A"/>
                          </a:solidFill>
                        </a:rPr>
                        <a:t>3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3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B2A3A"/>
                          </a:solidFill>
                        </a:rPr>
                        <a:t>0.6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3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B2A3A"/>
                          </a:solidFill>
                        </a:rPr>
                        <a:t>1.8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3F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0E9F9A"/>
                          </a:solidFill>
                        </a:rPr>
                        <a:t>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2A3A"/>
                          </a:solidFill>
                        </a:rPr>
                        <a:t>Ekologik toza kiyimga talab ortishi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B2A3A"/>
                          </a:solidFill>
                        </a:rPr>
                        <a:t>3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B2A3A"/>
                          </a:solidFill>
                        </a:rPr>
                        <a:t>0.7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B2A3A"/>
                          </a:solidFill>
                        </a:rPr>
                        <a:t>2.1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0E9F9A"/>
                          </a:solidFill>
                        </a:rPr>
                        <a:t>T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3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2A3A"/>
                          </a:solidFill>
                        </a:rPr>
                        <a:t>Onlayn savdo platformalarining rivoji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3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B2A3A"/>
                          </a:solidFill>
                        </a:rPr>
                        <a:t>4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3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B2A3A"/>
                          </a:solidFill>
                        </a:rPr>
                        <a:t>0.9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3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3.6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9F9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0E9F9A"/>
                          </a:solidFill>
                        </a:rPr>
                        <a:t>T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2A3A"/>
                          </a:solidFill>
                        </a:rPr>
                        <a:t>Raqobatchilarda avtomatlashtirish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B2A3A"/>
                          </a:solidFill>
                        </a:rPr>
                        <a:t>4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B2A3A"/>
                          </a:solidFill>
                        </a:rPr>
                        <a:t>0.6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B2A3A"/>
                          </a:solidFill>
                        </a:rPr>
                        <a:t>2.4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hape 22"/>
          <p:cNvSpPr/>
          <p:nvPr/>
        </p:nvSpPr>
        <p:spPr>
          <a:xfrm>
            <a:off x="5577840" y="5257800"/>
            <a:ext cx="6035040" cy="914400"/>
          </a:xfrm>
          <a:prstGeom prst="roundRect">
            <a:avLst>
              <a:gd name="adj" fmla="val 12000"/>
            </a:avLst>
          </a:prstGeom>
          <a:solidFill>
            <a:srgbClr val="E8F3F6"/>
          </a:solidFill>
          <a:ln w="9525">
            <a:solidFill>
              <a:srgbClr val="D5E6EB"/>
            </a:solidFill>
            <a:prstDash val="solid"/>
          </a:ln>
          <a:effectLst>
            <a:outerShdw sx="100000" sy="100000" kx="0" ky="0" algn="bl" rotWithShape="0" blurRad="101600" dist="38100" dir="5400000">
              <a:srgbClr val="0D2F4F">
                <a:alpha val="18000"/>
              </a:srgbClr>
            </a:outerShdw>
          </a:effectLst>
        </p:spPr>
      </p:sp>
      <p:sp>
        <p:nvSpPr>
          <p:cNvPr id="26" name="Text 23"/>
          <p:cNvSpPr txBox="1"/>
          <p:nvPr/>
        </p:nvSpPr>
        <p:spPr>
          <a:xfrm>
            <a:off x="5760720" y="5303520"/>
            <a:ext cx="5669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2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Ball = ta’sir kuchi × ehtimollik. </a:t>
            </a:r>
            <a:pPr indent="0" marL="0">
              <a:buNone/>
            </a:pPr>
            <a:r>
              <a:rPr lang="en-US" sz="14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Firuza rangdagi (3,5 va undan yuqori) omillar strategiyada birinchi navbatda hisobga olinadi.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B6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 SWOT tahlili: mohiyati va o‘tkazish bosqichlari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2588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0E9F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SWOT tahlili</a:t>
            </a:r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– korxonaning kuchli (Strengths) va zaif (Weaknesses) tomonlarini tashqi muhit imkoniyatlari (Opportunities) va tahdidlari (Threats) bilan taqqoslash usuli. S va W – ichki, korxona boshqaradigan omillar; O va T – tashqi, korxona ta’sir qila olmaydigan omillar.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1097280" y="2194560"/>
            <a:ext cx="685800" cy="685800"/>
          </a:xfrm>
          <a:prstGeom prst="ellipse">
            <a:avLst/>
          </a:prstGeom>
          <a:solidFill>
            <a:srgbClr val="0E9F9A"/>
          </a:solidFill>
          <a:ln w="12700">
            <a:solidFill>
              <a:srgbClr val="0E9F9A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75588" y="2372868"/>
            <a:ext cx="329184" cy="329184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1645920" y="2103120"/>
            <a:ext cx="292608" cy="292608"/>
          </a:xfrm>
          <a:prstGeom prst="ellipse">
            <a:avLst/>
          </a:prstGeom>
          <a:solidFill>
            <a:srgbClr val="F2A541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1645920" y="210312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2F4F"/>
                </a:solidFill>
              </a:rPr>
              <a:t>1</a:t>
            </a:r>
            <a:endParaRPr lang="en-US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2926080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2F4F"/>
                </a:solidFill>
              </a:rPr>
              <a:t>Ishchi guruh tuzish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1874520" y="2537460"/>
            <a:ext cx="548640" cy="0"/>
          </a:xfrm>
          <a:prstGeom prst="line">
            <a:avLst/>
          </a:prstGeom>
          <a:noFill/>
          <a:ln w="25400">
            <a:solidFill>
              <a:srgbClr val="0E9F9A"/>
            </a:solidFill>
            <a:prstDash val="dash"/>
            <a:tailEnd type="triangle"/>
          </a:ln>
        </p:spPr>
      </p:sp>
      <p:sp>
        <p:nvSpPr>
          <p:cNvPr id="10" name="Shape 7"/>
          <p:cNvSpPr/>
          <p:nvPr/>
        </p:nvSpPr>
        <p:spPr>
          <a:xfrm>
            <a:off x="2971800" y="2194560"/>
            <a:ext cx="685800" cy="685800"/>
          </a:xfrm>
          <a:prstGeom prst="ellipse">
            <a:avLst/>
          </a:prstGeom>
          <a:solidFill>
            <a:srgbClr val="0D2F4F"/>
          </a:solidFill>
          <a:ln w="12700">
            <a:solidFill>
              <a:srgbClr val="0D2F4F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50108" y="2372868"/>
            <a:ext cx="329184" cy="329184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3520440" y="2103120"/>
            <a:ext cx="292608" cy="292608"/>
          </a:xfrm>
          <a:prstGeom prst="ellipse">
            <a:avLst/>
          </a:prstGeom>
          <a:solidFill>
            <a:srgbClr val="F2A541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3" name="Text 9"/>
          <p:cNvSpPr txBox="1"/>
          <p:nvPr/>
        </p:nvSpPr>
        <p:spPr>
          <a:xfrm>
            <a:off x="3520440" y="210312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2F4F"/>
                </a:solidFill>
              </a:rPr>
              <a:t>2</a:t>
            </a:r>
            <a:endParaRPr lang="en-US" sz="1100" dirty="0"/>
          </a:p>
        </p:txBody>
      </p:sp>
      <p:sp>
        <p:nvSpPr>
          <p:cNvPr id="14" name="Text 10"/>
          <p:cNvSpPr txBox="1"/>
          <p:nvPr/>
        </p:nvSpPr>
        <p:spPr>
          <a:xfrm>
            <a:off x="2423160" y="2926080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2F4F"/>
                </a:solidFill>
              </a:rPr>
              <a:t>Ma’lumot to‘plash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3749040" y="2537460"/>
            <a:ext cx="548640" cy="0"/>
          </a:xfrm>
          <a:prstGeom prst="line">
            <a:avLst/>
          </a:prstGeom>
          <a:noFill/>
          <a:ln w="25400">
            <a:solidFill>
              <a:srgbClr val="0E9F9A"/>
            </a:solidFill>
            <a:prstDash val="dash"/>
            <a:tailEnd type="triangle"/>
          </a:ln>
        </p:spPr>
      </p:sp>
      <p:sp>
        <p:nvSpPr>
          <p:cNvPr id="16" name="Shape 12"/>
          <p:cNvSpPr/>
          <p:nvPr/>
        </p:nvSpPr>
        <p:spPr>
          <a:xfrm>
            <a:off x="4846320" y="2194560"/>
            <a:ext cx="685800" cy="685800"/>
          </a:xfrm>
          <a:prstGeom prst="ellipse">
            <a:avLst/>
          </a:prstGeom>
          <a:solidFill>
            <a:srgbClr val="0E9F9A"/>
          </a:solidFill>
          <a:ln w="12700">
            <a:solidFill>
              <a:srgbClr val="0E9F9A"/>
            </a:solidFill>
            <a:prstDash val="solid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4628" y="2372868"/>
            <a:ext cx="329184" cy="329184"/>
          </a:xfrm>
          <a:prstGeom prst="rect">
            <a:avLst/>
          </a:prstGeom>
        </p:spPr>
      </p:pic>
      <p:sp>
        <p:nvSpPr>
          <p:cNvPr id="18" name="Shape 13"/>
          <p:cNvSpPr/>
          <p:nvPr/>
        </p:nvSpPr>
        <p:spPr>
          <a:xfrm>
            <a:off x="5394960" y="2103120"/>
            <a:ext cx="292608" cy="292608"/>
          </a:xfrm>
          <a:prstGeom prst="ellipse">
            <a:avLst/>
          </a:prstGeom>
          <a:solidFill>
            <a:srgbClr val="F2A541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9" name="Text 14"/>
          <p:cNvSpPr txBox="1"/>
          <p:nvPr/>
        </p:nvSpPr>
        <p:spPr>
          <a:xfrm>
            <a:off x="5394960" y="210312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2F4F"/>
                </a:solidFill>
              </a:rPr>
              <a:t>3</a:t>
            </a:r>
            <a:endParaRPr lang="en-US" sz="1100" dirty="0"/>
          </a:p>
        </p:txBody>
      </p:sp>
      <p:sp>
        <p:nvSpPr>
          <p:cNvPr id="20" name="Text 15"/>
          <p:cNvSpPr txBox="1"/>
          <p:nvPr/>
        </p:nvSpPr>
        <p:spPr>
          <a:xfrm>
            <a:off x="4297680" y="2926080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2F4F"/>
                </a:solidFill>
              </a:rPr>
              <a:t>S va W ni aniqlash</a:t>
            </a:r>
            <a:endParaRPr lang="en-US" sz="1300" dirty="0"/>
          </a:p>
        </p:txBody>
      </p:sp>
      <p:sp>
        <p:nvSpPr>
          <p:cNvPr id="21" name="Shape 16"/>
          <p:cNvSpPr/>
          <p:nvPr/>
        </p:nvSpPr>
        <p:spPr>
          <a:xfrm>
            <a:off x="5623560" y="2537460"/>
            <a:ext cx="548640" cy="0"/>
          </a:xfrm>
          <a:prstGeom prst="line">
            <a:avLst/>
          </a:prstGeom>
          <a:noFill/>
          <a:ln w="25400">
            <a:solidFill>
              <a:srgbClr val="0E9F9A"/>
            </a:solidFill>
            <a:prstDash val="dash"/>
            <a:tailEnd type="triangle"/>
          </a:ln>
        </p:spPr>
      </p:sp>
      <p:sp>
        <p:nvSpPr>
          <p:cNvPr id="22" name="Shape 17"/>
          <p:cNvSpPr/>
          <p:nvPr/>
        </p:nvSpPr>
        <p:spPr>
          <a:xfrm>
            <a:off x="6720840" y="2194560"/>
            <a:ext cx="685800" cy="685800"/>
          </a:xfrm>
          <a:prstGeom prst="ellipse">
            <a:avLst/>
          </a:prstGeom>
          <a:solidFill>
            <a:srgbClr val="0D2F4F"/>
          </a:solidFill>
          <a:ln w="12700">
            <a:solidFill>
              <a:srgbClr val="0D2F4F"/>
            </a:solidFill>
            <a:prstDash val="solid"/>
          </a:ln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99148" y="2372868"/>
            <a:ext cx="329184" cy="329184"/>
          </a:xfrm>
          <a:prstGeom prst="rect">
            <a:avLst/>
          </a:prstGeom>
        </p:spPr>
      </p:pic>
      <p:sp>
        <p:nvSpPr>
          <p:cNvPr id="24" name="Shape 18"/>
          <p:cNvSpPr/>
          <p:nvPr/>
        </p:nvSpPr>
        <p:spPr>
          <a:xfrm>
            <a:off x="7269480" y="2103120"/>
            <a:ext cx="292608" cy="292608"/>
          </a:xfrm>
          <a:prstGeom prst="ellipse">
            <a:avLst/>
          </a:prstGeom>
          <a:solidFill>
            <a:srgbClr val="F2A541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5" name="Text 19"/>
          <p:cNvSpPr txBox="1"/>
          <p:nvPr/>
        </p:nvSpPr>
        <p:spPr>
          <a:xfrm>
            <a:off x="7269480" y="210312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2F4F"/>
                </a:solidFill>
              </a:rPr>
              <a:t>4</a:t>
            </a:r>
            <a:endParaRPr lang="en-US" sz="1100" dirty="0"/>
          </a:p>
        </p:txBody>
      </p:sp>
      <p:sp>
        <p:nvSpPr>
          <p:cNvPr id="26" name="Text 20"/>
          <p:cNvSpPr txBox="1"/>
          <p:nvPr/>
        </p:nvSpPr>
        <p:spPr>
          <a:xfrm>
            <a:off x="6172200" y="2926080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2F4F"/>
                </a:solidFill>
              </a:rPr>
              <a:t>O va T ni aniqlash (PEST)</a:t>
            </a:r>
            <a:endParaRPr lang="en-US" sz="1300" dirty="0"/>
          </a:p>
        </p:txBody>
      </p:sp>
      <p:sp>
        <p:nvSpPr>
          <p:cNvPr id="27" name="Shape 21"/>
          <p:cNvSpPr/>
          <p:nvPr/>
        </p:nvSpPr>
        <p:spPr>
          <a:xfrm>
            <a:off x="7498080" y="2537460"/>
            <a:ext cx="548640" cy="0"/>
          </a:xfrm>
          <a:prstGeom prst="line">
            <a:avLst/>
          </a:prstGeom>
          <a:noFill/>
          <a:ln w="25400">
            <a:solidFill>
              <a:srgbClr val="0E9F9A"/>
            </a:solidFill>
            <a:prstDash val="dash"/>
            <a:tailEnd type="triangle"/>
          </a:ln>
        </p:spPr>
      </p:sp>
      <p:sp>
        <p:nvSpPr>
          <p:cNvPr id="28" name="Shape 22"/>
          <p:cNvSpPr/>
          <p:nvPr/>
        </p:nvSpPr>
        <p:spPr>
          <a:xfrm>
            <a:off x="8595360" y="2194560"/>
            <a:ext cx="685800" cy="685800"/>
          </a:xfrm>
          <a:prstGeom prst="ellipse">
            <a:avLst/>
          </a:prstGeom>
          <a:solidFill>
            <a:srgbClr val="0E9F9A"/>
          </a:solidFill>
          <a:ln w="12700">
            <a:solidFill>
              <a:srgbClr val="0E9F9A"/>
            </a:solidFill>
            <a:prstDash val="solid"/>
          </a:ln>
        </p:spPr>
      </p:sp>
      <p:pic>
        <p:nvPicPr>
          <p:cNvPr id="2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73668" y="2372868"/>
            <a:ext cx="329184" cy="329184"/>
          </a:xfrm>
          <a:prstGeom prst="rect">
            <a:avLst/>
          </a:prstGeom>
        </p:spPr>
      </p:pic>
      <p:sp>
        <p:nvSpPr>
          <p:cNvPr id="30" name="Shape 23"/>
          <p:cNvSpPr/>
          <p:nvPr/>
        </p:nvSpPr>
        <p:spPr>
          <a:xfrm>
            <a:off x="9144000" y="2103120"/>
            <a:ext cx="292608" cy="292608"/>
          </a:xfrm>
          <a:prstGeom prst="ellipse">
            <a:avLst/>
          </a:prstGeom>
          <a:solidFill>
            <a:srgbClr val="F2A541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1" name="Text 24"/>
          <p:cNvSpPr txBox="1"/>
          <p:nvPr/>
        </p:nvSpPr>
        <p:spPr>
          <a:xfrm>
            <a:off x="9144000" y="210312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2F4F"/>
                </a:solidFill>
              </a:rPr>
              <a:t>5</a:t>
            </a:r>
            <a:endParaRPr lang="en-US" sz="1100" dirty="0"/>
          </a:p>
        </p:txBody>
      </p:sp>
      <p:sp>
        <p:nvSpPr>
          <p:cNvPr id="32" name="Text 25"/>
          <p:cNvSpPr txBox="1"/>
          <p:nvPr/>
        </p:nvSpPr>
        <p:spPr>
          <a:xfrm>
            <a:off x="8046720" y="2926080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2F4F"/>
                </a:solidFill>
              </a:rPr>
              <a:t>Omillarni saralash</a:t>
            </a:r>
            <a:endParaRPr lang="en-US" sz="1300" dirty="0"/>
          </a:p>
        </p:txBody>
      </p:sp>
      <p:sp>
        <p:nvSpPr>
          <p:cNvPr id="33" name="Shape 26"/>
          <p:cNvSpPr/>
          <p:nvPr/>
        </p:nvSpPr>
        <p:spPr>
          <a:xfrm>
            <a:off x="9372600" y="2537460"/>
            <a:ext cx="548640" cy="0"/>
          </a:xfrm>
          <a:prstGeom prst="line">
            <a:avLst/>
          </a:prstGeom>
          <a:noFill/>
          <a:ln w="25400">
            <a:solidFill>
              <a:srgbClr val="0E9F9A"/>
            </a:solidFill>
            <a:prstDash val="dash"/>
            <a:tailEnd type="triangle"/>
          </a:ln>
        </p:spPr>
      </p:sp>
      <p:sp>
        <p:nvSpPr>
          <p:cNvPr id="34" name="Shape 27"/>
          <p:cNvSpPr/>
          <p:nvPr/>
        </p:nvSpPr>
        <p:spPr>
          <a:xfrm>
            <a:off x="10469880" y="2194560"/>
            <a:ext cx="685800" cy="685800"/>
          </a:xfrm>
          <a:prstGeom prst="ellipse">
            <a:avLst/>
          </a:prstGeom>
          <a:solidFill>
            <a:srgbClr val="0D2F4F"/>
          </a:solidFill>
          <a:ln w="12700">
            <a:solidFill>
              <a:srgbClr val="0D2F4F"/>
            </a:solidFill>
            <a:prstDash val="solid"/>
          </a:ln>
        </p:spPr>
      </p:sp>
      <p:pic>
        <p:nvPicPr>
          <p:cNvPr id="3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648188" y="2372868"/>
            <a:ext cx="329184" cy="329184"/>
          </a:xfrm>
          <a:prstGeom prst="rect">
            <a:avLst/>
          </a:prstGeom>
        </p:spPr>
      </p:pic>
      <p:sp>
        <p:nvSpPr>
          <p:cNvPr id="36" name="Shape 28"/>
          <p:cNvSpPr/>
          <p:nvPr/>
        </p:nvSpPr>
        <p:spPr>
          <a:xfrm>
            <a:off x="11018520" y="2103120"/>
            <a:ext cx="292608" cy="292608"/>
          </a:xfrm>
          <a:prstGeom prst="ellipse">
            <a:avLst/>
          </a:prstGeom>
          <a:solidFill>
            <a:srgbClr val="F2A541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7" name="Text 29"/>
          <p:cNvSpPr txBox="1"/>
          <p:nvPr/>
        </p:nvSpPr>
        <p:spPr>
          <a:xfrm>
            <a:off x="11018520" y="210312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2F4F"/>
                </a:solidFill>
              </a:rPr>
              <a:t>6</a:t>
            </a:r>
            <a:endParaRPr lang="en-US" sz="1100" dirty="0"/>
          </a:p>
        </p:txBody>
      </p:sp>
      <p:sp>
        <p:nvSpPr>
          <p:cNvPr id="38" name="Text 30"/>
          <p:cNvSpPr txBox="1"/>
          <p:nvPr/>
        </p:nvSpPr>
        <p:spPr>
          <a:xfrm>
            <a:off x="9921240" y="2926080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2F4F"/>
                </a:solidFill>
              </a:rPr>
              <a:t>Strategik xulosalar</a:t>
            </a:r>
            <a:endParaRPr lang="en-US" sz="1300" dirty="0"/>
          </a:p>
        </p:txBody>
      </p:sp>
      <p:sp>
        <p:nvSpPr>
          <p:cNvPr id="39" name="Text 31"/>
          <p:cNvSpPr txBox="1"/>
          <p:nvPr/>
        </p:nvSpPr>
        <p:spPr>
          <a:xfrm>
            <a:off x="548640" y="356616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2F4F"/>
                </a:solidFill>
              </a:rPr>
              <a:t>Har bir kvadrant uchun yo‘naltiruvchi savollar:</a:t>
            </a:r>
            <a:endParaRPr lang="en-US" sz="1600" dirty="0"/>
          </a:p>
        </p:txBody>
      </p:sp>
      <p:sp>
        <p:nvSpPr>
          <p:cNvPr id="40" name="Shape 32"/>
          <p:cNvSpPr/>
          <p:nvPr/>
        </p:nvSpPr>
        <p:spPr>
          <a:xfrm>
            <a:off x="548640" y="4023360"/>
            <a:ext cx="2651760" cy="2148840"/>
          </a:xfrm>
          <a:prstGeom prst="roundRect">
            <a:avLst>
              <a:gd name="adj" fmla="val 5106"/>
            </a:avLst>
          </a:prstGeom>
          <a:solidFill>
            <a:srgbClr val="FFFFFF"/>
          </a:solidFill>
          <a:ln w="9525">
            <a:solidFill>
              <a:srgbClr val="D5E6EB"/>
            </a:solidFill>
            <a:prstDash val="solid"/>
          </a:ln>
          <a:effectLst>
            <a:outerShdw sx="100000" sy="100000" kx="0" ky="0" algn="bl" rotWithShape="0" blurRad="101600" dist="38100" dir="5400000">
              <a:srgbClr val="0D2F4F">
                <a:alpha val="18000"/>
              </a:srgbClr>
            </a:outerShdw>
          </a:effectLst>
        </p:spPr>
      </p:sp>
      <p:sp>
        <p:nvSpPr>
          <p:cNvPr id="41" name="Shape 33"/>
          <p:cNvSpPr/>
          <p:nvPr/>
        </p:nvSpPr>
        <p:spPr>
          <a:xfrm>
            <a:off x="713232" y="4187952"/>
            <a:ext cx="566928" cy="566928"/>
          </a:xfrm>
          <a:prstGeom prst="ellipse">
            <a:avLst/>
          </a:prstGeom>
          <a:solidFill>
            <a:srgbClr val="0E9F9A"/>
          </a:solidFill>
          <a:ln w="12700">
            <a:solidFill>
              <a:srgbClr val="0E9F9A"/>
            </a:solidFill>
            <a:prstDash val="solid"/>
          </a:ln>
        </p:spPr>
      </p:sp>
      <p:sp>
        <p:nvSpPr>
          <p:cNvPr id="42" name="Text 34"/>
          <p:cNvSpPr txBox="1"/>
          <p:nvPr/>
        </p:nvSpPr>
        <p:spPr>
          <a:xfrm>
            <a:off x="713232" y="418795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</a:t>
            </a:r>
            <a:endParaRPr lang="en-US" sz="2200" dirty="0"/>
          </a:p>
        </p:txBody>
      </p:sp>
      <p:sp>
        <p:nvSpPr>
          <p:cNvPr id="43" name="Text 35"/>
          <p:cNvSpPr txBox="1"/>
          <p:nvPr/>
        </p:nvSpPr>
        <p:spPr>
          <a:xfrm>
            <a:off x="1417320" y="4187952"/>
            <a:ext cx="1691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2F4F"/>
                </a:solidFill>
              </a:rPr>
              <a:t>Kuchli tomonlar</a:t>
            </a:r>
            <a:endParaRPr lang="en-US" sz="1500" dirty="0"/>
          </a:p>
        </p:txBody>
      </p:sp>
      <p:sp>
        <p:nvSpPr>
          <p:cNvPr id="44" name="Text 36"/>
          <p:cNvSpPr txBox="1"/>
          <p:nvPr/>
        </p:nvSpPr>
        <p:spPr>
          <a:xfrm>
            <a:off x="713232" y="4892040"/>
            <a:ext cx="232257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Biz nimani raqobatchilardan yaxshiroq qilamiz? Qanday noyob resurslarimiz bor?</a:t>
            </a:r>
            <a:endParaRPr lang="en-US" sz="1350" dirty="0"/>
          </a:p>
        </p:txBody>
      </p:sp>
      <p:sp>
        <p:nvSpPr>
          <p:cNvPr id="45" name="Shape 37"/>
          <p:cNvSpPr/>
          <p:nvPr/>
        </p:nvSpPr>
        <p:spPr>
          <a:xfrm>
            <a:off x="3383280" y="4023360"/>
            <a:ext cx="2651760" cy="2148840"/>
          </a:xfrm>
          <a:prstGeom prst="roundRect">
            <a:avLst>
              <a:gd name="adj" fmla="val 5106"/>
            </a:avLst>
          </a:prstGeom>
          <a:solidFill>
            <a:srgbClr val="FFFFFF"/>
          </a:solidFill>
          <a:ln w="9525">
            <a:solidFill>
              <a:srgbClr val="D5E6EB"/>
            </a:solidFill>
            <a:prstDash val="solid"/>
          </a:ln>
          <a:effectLst>
            <a:outerShdw sx="100000" sy="100000" kx="0" ky="0" algn="bl" rotWithShape="0" blurRad="101600" dist="38100" dir="5400000">
              <a:srgbClr val="0D2F4F">
                <a:alpha val="18000"/>
              </a:srgbClr>
            </a:outerShdw>
          </a:effectLst>
        </p:spPr>
      </p:sp>
      <p:sp>
        <p:nvSpPr>
          <p:cNvPr id="46" name="Shape 38"/>
          <p:cNvSpPr/>
          <p:nvPr/>
        </p:nvSpPr>
        <p:spPr>
          <a:xfrm>
            <a:off x="3547872" y="4187952"/>
            <a:ext cx="566928" cy="566928"/>
          </a:xfrm>
          <a:prstGeom prst="ellipse">
            <a:avLst/>
          </a:prstGeom>
          <a:solidFill>
            <a:srgbClr val="B5651D"/>
          </a:solidFill>
          <a:ln w="12700">
            <a:solidFill>
              <a:srgbClr val="B5651D"/>
            </a:solidFill>
            <a:prstDash val="solid"/>
          </a:ln>
        </p:spPr>
      </p:sp>
      <p:sp>
        <p:nvSpPr>
          <p:cNvPr id="47" name="Text 39"/>
          <p:cNvSpPr txBox="1"/>
          <p:nvPr/>
        </p:nvSpPr>
        <p:spPr>
          <a:xfrm>
            <a:off x="3547872" y="418795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</a:t>
            </a:r>
            <a:endParaRPr lang="en-US" sz="2200" dirty="0"/>
          </a:p>
        </p:txBody>
      </p:sp>
      <p:sp>
        <p:nvSpPr>
          <p:cNvPr id="48" name="Text 40"/>
          <p:cNvSpPr txBox="1"/>
          <p:nvPr/>
        </p:nvSpPr>
        <p:spPr>
          <a:xfrm>
            <a:off x="4251960" y="4187952"/>
            <a:ext cx="1691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2F4F"/>
                </a:solidFill>
              </a:rPr>
              <a:t>Zaif tomonlar</a:t>
            </a:r>
            <a:endParaRPr lang="en-US" sz="1500" dirty="0"/>
          </a:p>
        </p:txBody>
      </p:sp>
      <p:sp>
        <p:nvSpPr>
          <p:cNvPr id="49" name="Text 41"/>
          <p:cNvSpPr txBox="1"/>
          <p:nvPr/>
        </p:nvSpPr>
        <p:spPr>
          <a:xfrm>
            <a:off x="3547872" y="4892040"/>
            <a:ext cx="232257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Qayerda orqada qolyapmiz? Mijozlar nimadan norozi? Qaysi resurs yetishmaydi?</a:t>
            </a:r>
            <a:endParaRPr lang="en-US" sz="1350" dirty="0"/>
          </a:p>
        </p:txBody>
      </p:sp>
      <p:sp>
        <p:nvSpPr>
          <p:cNvPr id="50" name="Shape 42"/>
          <p:cNvSpPr/>
          <p:nvPr/>
        </p:nvSpPr>
        <p:spPr>
          <a:xfrm>
            <a:off x="6217920" y="4023360"/>
            <a:ext cx="2651760" cy="2148840"/>
          </a:xfrm>
          <a:prstGeom prst="roundRect">
            <a:avLst>
              <a:gd name="adj" fmla="val 5106"/>
            </a:avLst>
          </a:prstGeom>
          <a:solidFill>
            <a:srgbClr val="FFFFFF"/>
          </a:solidFill>
          <a:ln w="9525">
            <a:solidFill>
              <a:srgbClr val="D5E6EB"/>
            </a:solidFill>
            <a:prstDash val="solid"/>
          </a:ln>
          <a:effectLst>
            <a:outerShdw sx="100000" sy="100000" kx="0" ky="0" algn="bl" rotWithShape="0" blurRad="101600" dist="38100" dir="5400000">
              <a:srgbClr val="0D2F4F">
                <a:alpha val="18000"/>
              </a:srgbClr>
            </a:outerShdw>
          </a:effectLst>
        </p:spPr>
      </p:sp>
      <p:sp>
        <p:nvSpPr>
          <p:cNvPr id="51" name="Shape 43"/>
          <p:cNvSpPr/>
          <p:nvPr/>
        </p:nvSpPr>
        <p:spPr>
          <a:xfrm>
            <a:off x="6382512" y="4187952"/>
            <a:ext cx="566928" cy="566928"/>
          </a:xfrm>
          <a:prstGeom prst="ellipse">
            <a:avLst/>
          </a:prstGeom>
          <a:solidFill>
            <a:srgbClr val="3B6EA5"/>
          </a:solidFill>
          <a:ln w="12700">
            <a:solidFill>
              <a:srgbClr val="3B6EA5"/>
            </a:solidFill>
            <a:prstDash val="solid"/>
          </a:ln>
        </p:spPr>
      </p:sp>
      <p:sp>
        <p:nvSpPr>
          <p:cNvPr id="52" name="Text 44"/>
          <p:cNvSpPr txBox="1"/>
          <p:nvPr/>
        </p:nvSpPr>
        <p:spPr>
          <a:xfrm>
            <a:off x="6382512" y="418795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</a:t>
            </a:r>
            <a:endParaRPr lang="en-US" sz="2200" dirty="0"/>
          </a:p>
        </p:txBody>
      </p:sp>
      <p:sp>
        <p:nvSpPr>
          <p:cNvPr id="53" name="Text 45"/>
          <p:cNvSpPr txBox="1"/>
          <p:nvPr/>
        </p:nvSpPr>
        <p:spPr>
          <a:xfrm>
            <a:off x="7086600" y="4187952"/>
            <a:ext cx="1691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2F4F"/>
                </a:solidFill>
              </a:rPr>
              <a:t>Imkoniyatlar</a:t>
            </a:r>
            <a:endParaRPr lang="en-US" sz="1500" dirty="0"/>
          </a:p>
        </p:txBody>
      </p:sp>
      <p:sp>
        <p:nvSpPr>
          <p:cNvPr id="54" name="Text 46"/>
          <p:cNvSpPr txBox="1"/>
          <p:nvPr/>
        </p:nvSpPr>
        <p:spPr>
          <a:xfrm>
            <a:off x="6382512" y="4892040"/>
            <a:ext cx="232257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Qanday yangi bozorlar, texnologiyalar, davlat dasturlari paydo bo‘lmoqda?</a:t>
            </a:r>
            <a:endParaRPr lang="en-US" sz="1350" dirty="0"/>
          </a:p>
        </p:txBody>
      </p:sp>
      <p:sp>
        <p:nvSpPr>
          <p:cNvPr id="55" name="Shape 47"/>
          <p:cNvSpPr/>
          <p:nvPr/>
        </p:nvSpPr>
        <p:spPr>
          <a:xfrm>
            <a:off x="9052560" y="4023360"/>
            <a:ext cx="2651760" cy="2148840"/>
          </a:xfrm>
          <a:prstGeom prst="roundRect">
            <a:avLst>
              <a:gd name="adj" fmla="val 5106"/>
            </a:avLst>
          </a:prstGeom>
          <a:solidFill>
            <a:srgbClr val="FFFFFF"/>
          </a:solidFill>
          <a:ln w="9525">
            <a:solidFill>
              <a:srgbClr val="D5E6EB"/>
            </a:solidFill>
            <a:prstDash val="solid"/>
          </a:ln>
          <a:effectLst>
            <a:outerShdw sx="100000" sy="100000" kx="0" ky="0" algn="bl" rotWithShape="0" blurRad="101600" dist="38100" dir="5400000">
              <a:srgbClr val="0D2F4F">
                <a:alpha val="18000"/>
              </a:srgbClr>
            </a:outerShdw>
          </a:effectLst>
        </p:spPr>
      </p:sp>
      <p:sp>
        <p:nvSpPr>
          <p:cNvPr id="56" name="Shape 48"/>
          <p:cNvSpPr/>
          <p:nvPr/>
        </p:nvSpPr>
        <p:spPr>
          <a:xfrm>
            <a:off x="9217152" y="4187952"/>
            <a:ext cx="566928" cy="566928"/>
          </a:xfrm>
          <a:prstGeom prst="ellipse">
            <a:avLst/>
          </a:prstGeom>
          <a:solidFill>
            <a:srgbClr val="0D2F4F"/>
          </a:solidFill>
          <a:ln w="12700">
            <a:solidFill>
              <a:srgbClr val="0D2F4F"/>
            </a:solidFill>
            <a:prstDash val="solid"/>
          </a:ln>
        </p:spPr>
      </p:sp>
      <p:sp>
        <p:nvSpPr>
          <p:cNvPr id="57" name="Text 49"/>
          <p:cNvSpPr txBox="1"/>
          <p:nvPr/>
        </p:nvSpPr>
        <p:spPr>
          <a:xfrm>
            <a:off x="9217152" y="418795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</a:t>
            </a:r>
            <a:endParaRPr lang="en-US" sz="2200" dirty="0"/>
          </a:p>
        </p:txBody>
      </p:sp>
      <p:sp>
        <p:nvSpPr>
          <p:cNvPr id="58" name="Text 50"/>
          <p:cNvSpPr txBox="1"/>
          <p:nvPr/>
        </p:nvSpPr>
        <p:spPr>
          <a:xfrm>
            <a:off x="9921240" y="4187952"/>
            <a:ext cx="1691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2F4F"/>
                </a:solidFill>
              </a:rPr>
              <a:t>Tahdidlar</a:t>
            </a:r>
            <a:endParaRPr lang="en-US" sz="1500" dirty="0"/>
          </a:p>
        </p:txBody>
      </p:sp>
      <p:sp>
        <p:nvSpPr>
          <p:cNvPr id="59" name="Text 51"/>
          <p:cNvSpPr txBox="1"/>
          <p:nvPr/>
        </p:nvSpPr>
        <p:spPr>
          <a:xfrm>
            <a:off x="9217152" y="4892040"/>
            <a:ext cx="232257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Raqobatchilar nima qilyapti? Qaysi qonun yoki iqtisodiy o‘zgarishlar xavfli?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B6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 SWOT matritsasi: amaliy misol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25880"/>
            <a:ext cx="6949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4A5B6C"/>
                </a:solidFill>
              </a:rPr>
              <a:t>Shartli misol: to‘qimachilik mahsulotlari ishlab chiqaruvchi o‘rta korxona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3429000" cy="2148840"/>
          </a:xfrm>
          <a:prstGeom prst="roundRect">
            <a:avLst>
              <a:gd name="adj" fmla="val 4255"/>
            </a:avLst>
          </a:prstGeom>
          <a:solidFill>
            <a:srgbClr val="0E9F9A"/>
          </a:solidFill>
          <a:ln w="12700">
            <a:solidFill>
              <a:srgbClr val="0E9F9A"/>
            </a:solidFill>
            <a:prstDash val="solid"/>
          </a:ln>
          <a:effectLst>
            <a:outerShdw sx="100000" sy="100000" kx="0" ky="0" algn="bl" rotWithShape="0" blurRad="101600" dist="38100" dir="5400000">
              <a:srgbClr val="0D2F4F">
                <a:alpha val="18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965960"/>
            <a:ext cx="347472" cy="347472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188720" y="1892808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S – Kuchli tomonlar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731520" y="2468880"/>
            <a:ext cx="3108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</a:rPr>
              <a:t>mahalliy paxta xomashyosiga yaqinlik</a:t>
            </a:r>
            <a:endParaRPr lang="en-US" sz="135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</a:rPr>
              <a:t>past ishlab chiqarish tannarxi</a:t>
            </a:r>
            <a:endParaRPr lang="en-US" sz="135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</a:rPr>
              <a:t>tajribali tikuvchilar jamoasi</a:t>
            </a:r>
            <a:endParaRPr lang="en-US" sz="135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</a:rPr>
              <a:t>ichki bozorda taniqli brend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4069080" y="1783080"/>
            <a:ext cx="3429000" cy="2148840"/>
          </a:xfrm>
          <a:prstGeom prst="roundRect">
            <a:avLst>
              <a:gd name="adj" fmla="val 4255"/>
            </a:avLst>
          </a:prstGeom>
          <a:solidFill>
            <a:srgbClr val="B5651D"/>
          </a:solidFill>
          <a:ln w="12700">
            <a:solidFill>
              <a:srgbClr val="B5651D"/>
            </a:solidFill>
            <a:prstDash val="solid"/>
          </a:ln>
          <a:effectLst>
            <a:outerShdw sx="100000" sy="100000" kx="0" ky="0" algn="bl" rotWithShape="0" blurRad="101600" dist="38100" dir="5400000">
              <a:srgbClr val="0D2F4F">
                <a:alpha val="18000"/>
              </a:srgbClr>
            </a:outerShdw>
          </a:effectLst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51960" y="1965960"/>
            <a:ext cx="347472" cy="347472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4709160" y="1892808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W – Zaif tomonlar</a:t>
            </a:r>
            <a:endParaRPr lang="en-US" sz="1500" dirty="0"/>
          </a:p>
        </p:txBody>
      </p:sp>
      <p:sp>
        <p:nvSpPr>
          <p:cNvPr id="11" name="Text 7"/>
          <p:cNvSpPr txBox="1"/>
          <p:nvPr/>
        </p:nvSpPr>
        <p:spPr>
          <a:xfrm>
            <a:off x="4251960" y="2468880"/>
            <a:ext cx="3108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</a:rPr>
              <a:t>dizayn bo‘limining kuchsizligi</a:t>
            </a:r>
            <a:endParaRPr lang="en-US" sz="135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</a:rPr>
              <a:t>eskirgan bo‘yash uskunalari</a:t>
            </a:r>
            <a:endParaRPr lang="en-US" sz="135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</a:rPr>
              <a:t>onlayn savdo yo‘lga qo‘yilmagan</a:t>
            </a:r>
            <a:endParaRPr lang="en-US" sz="135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</a:rPr>
              <a:t>xalqaro sertifikatlar yo‘q</a:t>
            </a:r>
            <a:endParaRPr lang="en-US" sz="1350" dirty="0"/>
          </a:p>
        </p:txBody>
      </p:sp>
      <p:sp>
        <p:nvSpPr>
          <p:cNvPr id="12" name="Shape 8"/>
          <p:cNvSpPr/>
          <p:nvPr/>
        </p:nvSpPr>
        <p:spPr>
          <a:xfrm>
            <a:off x="548640" y="4023360"/>
            <a:ext cx="3429000" cy="2148840"/>
          </a:xfrm>
          <a:prstGeom prst="roundRect">
            <a:avLst>
              <a:gd name="adj" fmla="val 4255"/>
            </a:avLst>
          </a:prstGeom>
          <a:solidFill>
            <a:srgbClr val="3B6EA5"/>
          </a:solidFill>
          <a:ln w="12700">
            <a:solidFill>
              <a:srgbClr val="3B6EA5"/>
            </a:solidFill>
            <a:prstDash val="solid"/>
          </a:ln>
          <a:effectLst>
            <a:outerShdw sx="100000" sy="100000" kx="0" ky="0" algn="bl" rotWithShape="0" blurRad="101600" dist="38100" dir="5400000">
              <a:srgbClr val="0D2F4F">
                <a:alpha val="18000"/>
              </a:srgbClr>
            </a:outerShdw>
          </a:effectLst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4206240"/>
            <a:ext cx="347472" cy="347472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1188720" y="4133088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O – Imkoniyatlar</a:t>
            </a:r>
            <a:endParaRPr lang="en-US" sz="1500" dirty="0"/>
          </a:p>
        </p:txBody>
      </p:sp>
      <p:sp>
        <p:nvSpPr>
          <p:cNvPr id="15" name="Text 10"/>
          <p:cNvSpPr txBox="1"/>
          <p:nvPr/>
        </p:nvSpPr>
        <p:spPr>
          <a:xfrm>
            <a:off x="731520" y="4709160"/>
            <a:ext cx="3108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</a:rPr>
              <a:t>eksportga davlat imtiyozlari</a:t>
            </a:r>
            <a:endParaRPr lang="en-US" sz="135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</a:rPr>
              <a:t>MDH va Yevropa bozorlariga chiqish</a:t>
            </a:r>
            <a:endParaRPr lang="en-US" sz="135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</a:rPr>
              <a:t>marketpleyslarning rivoji</a:t>
            </a:r>
            <a:endParaRPr lang="en-US" sz="135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</a:rPr>
              <a:t>ekologik kiyimga talab o‘sishi</a:t>
            </a:r>
            <a:endParaRPr lang="en-US" sz="1350" dirty="0"/>
          </a:p>
        </p:txBody>
      </p:sp>
      <p:sp>
        <p:nvSpPr>
          <p:cNvPr id="16" name="Shape 11"/>
          <p:cNvSpPr/>
          <p:nvPr/>
        </p:nvSpPr>
        <p:spPr>
          <a:xfrm>
            <a:off x="4069080" y="4023360"/>
            <a:ext cx="3429000" cy="2148840"/>
          </a:xfrm>
          <a:prstGeom prst="roundRect">
            <a:avLst>
              <a:gd name="adj" fmla="val 4255"/>
            </a:avLst>
          </a:prstGeom>
          <a:solidFill>
            <a:srgbClr val="0D2F4F"/>
          </a:solidFill>
          <a:ln w="12700">
            <a:solidFill>
              <a:srgbClr val="0D2F4F"/>
            </a:solidFill>
            <a:prstDash val="solid"/>
          </a:ln>
          <a:effectLst>
            <a:outerShdw sx="100000" sy="100000" kx="0" ky="0" algn="bl" rotWithShape="0" blurRad="101600" dist="38100" dir="5400000">
              <a:srgbClr val="0D2F4F">
                <a:alpha val="18000"/>
              </a:srgbClr>
            </a:outerShdw>
          </a:effectLst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51960" y="4206240"/>
            <a:ext cx="347472" cy="347472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4709160" y="4133088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T – Tahdidlar</a:t>
            </a:r>
            <a:endParaRPr lang="en-US" sz="1500" dirty="0"/>
          </a:p>
        </p:txBody>
      </p:sp>
      <p:sp>
        <p:nvSpPr>
          <p:cNvPr id="19" name="Text 13"/>
          <p:cNvSpPr txBox="1"/>
          <p:nvPr/>
        </p:nvSpPr>
        <p:spPr>
          <a:xfrm>
            <a:off x="4251960" y="4709160"/>
            <a:ext cx="3108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</a:rPr>
              <a:t>arzon import mahsulotlari</a:t>
            </a:r>
            <a:endParaRPr lang="en-US" sz="135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</a:rPr>
              <a:t>valyuta kursi tebranishi</a:t>
            </a:r>
            <a:endParaRPr lang="en-US" sz="135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</a:rPr>
              <a:t>energiya narxining oshishi</a:t>
            </a:r>
            <a:endParaRPr lang="en-US" sz="135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</a:rPr>
              <a:t>malakali kadrlar migratsiyasi</a:t>
            </a:r>
            <a:endParaRPr lang="en-US" sz="1350" dirty="0"/>
          </a:p>
        </p:txBody>
      </p:sp>
      <p:pic>
        <p:nvPicPr>
          <p:cNvPr id="20" name="Image 4" descr="img4/swot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0" y="1371600"/>
            <a:ext cx="3840480" cy="2990088"/>
          </a:xfrm>
          <a:prstGeom prst="rect">
            <a:avLst/>
          </a:prstGeom>
        </p:spPr>
      </p:pic>
      <p:sp>
        <p:nvSpPr>
          <p:cNvPr id="21" name="Text 14"/>
          <p:cNvSpPr txBox="1"/>
          <p:nvPr/>
        </p:nvSpPr>
        <p:spPr>
          <a:xfrm>
            <a:off x="7772400" y="452628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2F4F"/>
                </a:solidFill>
              </a:rPr>
              <a:t>SWOT tuzish qoidalari:</a:t>
            </a:r>
            <a:endParaRPr lang="en-US" sz="1600" dirty="0"/>
          </a:p>
        </p:txBody>
      </p:sp>
      <p:sp>
        <p:nvSpPr>
          <p:cNvPr id="22" name="Text 15"/>
          <p:cNvSpPr txBox="1"/>
          <p:nvPr/>
        </p:nvSpPr>
        <p:spPr>
          <a:xfrm>
            <a:off x="7772400" y="4937760"/>
            <a:ext cx="3840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 kvadrantda 4–7 ta eng muhim omil</a:t>
            </a:r>
            <a:endParaRPr lang="en-US" sz="140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faqat faktlar, umumiy iboralarsiz</a:t>
            </a:r>
            <a:endParaRPr lang="en-US" sz="140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raqobatchilarga nisbatan baholash</a:t>
            </a:r>
            <a:endParaRPr lang="en-US" sz="140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va T – PEST natijalaridan olinadi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B6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 SWOT va PEST natijalari asosida strategiya tuzish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2588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0E9F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TOWS matritsasi</a:t>
            </a:r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(H. Vayrix, 1982) SWOT omillarini juftlab, aniq rivojlantirish strategiyalarini shakllantiradi. Misol korxona uchun: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1371600" cy="502920"/>
          </a:xfrm>
          <a:prstGeom prst="roundRect">
            <a:avLst>
              <a:gd name="adj" fmla="val 14545"/>
            </a:avLst>
          </a:prstGeom>
          <a:solidFill>
            <a:srgbClr val="E8F3F6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21792" y="1965960"/>
            <a:ext cx="12252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2F4F"/>
                </a:solidFill>
              </a:rPr>
              <a:t>SWOT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1920240" y="1965960"/>
            <a:ext cx="3017520" cy="502920"/>
          </a:xfrm>
          <a:prstGeom prst="roundRect">
            <a:avLst>
              <a:gd name="adj" fmla="val 14545"/>
            </a:avLst>
          </a:prstGeom>
          <a:solidFill>
            <a:srgbClr val="3B6EA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993392" y="1965960"/>
            <a:ext cx="28712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O – Imkoniyatlar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937760" y="1965960"/>
            <a:ext cx="3017520" cy="502920"/>
          </a:xfrm>
          <a:prstGeom prst="roundRect">
            <a:avLst>
              <a:gd name="adj" fmla="val 14545"/>
            </a:avLst>
          </a:prstGeom>
          <a:solidFill>
            <a:srgbClr val="B5651D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010912" y="1965960"/>
            <a:ext cx="28712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T – Tahdidlar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48640" y="2468880"/>
            <a:ext cx="1371600" cy="1828800"/>
          </a:xfrm>
          <a:prstGeom prst="roundRect">
            <a:avLst>
              <a:gd name="adj" fmla="val 5333"/>
            </a:avLst>
          </a:prstGeom>
          <a:solidFill>
            <a:srgbClr val="0E9F9A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21792" y="2468880"/>
            <a:ext cx="1225296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S – Kuchli tomonlar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48640" y="4297680"/>
            <a:ext cx="1371600" cy="1828800"/>
          </a:xfrm>
          <a:prstGeom prst="roundRect">
            <a:avLst>
              <a:gd name="adj" fmla="val 5333"/>
            </a:avLst>
          </a:prstGeom>
          <a:solidFill>
            <a:srgbClr val="0D2F4F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21792" y="4297680"/>
            <a:ext cx="1225296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W – Zaif tomonlar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1956816" y="2505456"/>
            <a:ext cx="2944368" cy="1755648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9525">
            <a:solidFill>
              <a:srgbClr val="C9DDE3"/>
            </a:solidFill>
            <a:prstDash val="solid"/>
          </a:ln>
          <a:effectLst>
            <a:outerShdw sx="100000" sy="100000" kx="0" ky="0" algn="bl" rotWithShape="0" blurRad="101600" dist="38100" dir="5400000">
              <a:srgbClr val="0D2F4F">
                <a:alpha val="18000"/>
              </a:srgbClr>
            </a:outerShdw>
          </a:effectLst>
        </p:spPr>
      </p:sp>
      <p:sp>
        <p:nvSpPr>
          <p:cNvPr id="15" name="Text 13"/>
          <p:cNvSpPr txBox="1"/>
          <p:nvPr/>
        </p:nvSpPr>
        <p:spPr>
          <a:xfrm>
            <a:off x="2103120" y="2578608"/>
            <a:ext cx="2651760" cy="1609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0E9F9A"/>
                </a:solidFill>
              </a:rPr>
              <a:t>SO – o‘sish strategiyasi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50" dirty="0">
                <a:solidFill>
                  <a:srgbClr val="1B2A3A"/>
                </a:solidFill>
              </a:rPr>
              <a:t>past tannarx va brend hisobiga imtiyozlardan foydalanib, MDH bozoriga eksportni 2 baravar oshirish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974336" y="2505456"/>
            <a:ext cx="2944368" cy="1755648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9525">
            <a:solidFill>
              <a:srgbClr val="C9DDE3"/>
            </a:solidFill>
            <a:prstDash val="solid"/>
          </a:ln>
          <a:effectLst>
            <a:outerShdw sx="100000" sy="100000" kx="0" ky="0" algn="bl" rotWithShape="0" blurRad="101600" dist="38100" dir="5400000">
              <a:srgbClr val="0D2F4F">
                <a:alpha val="18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5120640" y="2578608"/>
            <a:ext cx="2651760" cy="1609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0E9F9A"/>
                </a:solidFill>
              </a:rPr>
              <a:t>ST – himoya strategiyasi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50" dirty="0">
                <a:solidFill>
                  <a:srgbClr val="1B2A3A"/>
                </a:solidFill>
              </a:rPr>
              <a:t>mahalliy xomashyo afzalligidan foydalanib, importga nisbatan narx va sifat ustunligini saqlash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1956816" y="4334256"/>
            <a:ext cx="2944368" cy="1755648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9525">
            <a:solidFill>
              <a:srgbClr val="C9DDE3"/>
            </a:solidFill>
            <a:prstDash val="solid"/>
          </a:ln>
          <a:effectLst>
            <a:outerShdw sx="100000" sy="100000" kx="0" ky="0" algn="bl" rotWithShape="0" blurRad="101600" dist="38100" dir="5400000">
              <a:srgbClr val="0D2F4F">
                <a:alpha val="18000"/>
              </a:srgbClr>
            </a:outerShdw>
          </a:effectLst>
        </p:spPr>
      </p:sp>
      <p:sp>
        <p:nvSpPr>
          <p:cNvPr id="19" name="Text 17"/>
          <p:cNvSpPr txBox="1"/>
          <p:nvPr/>
        </p:nvSpPr>
        <p:spPr>
          <a:xfrm>
            <a:off x="2103120" y="4407408"/>
            <a:ext cx="2651760" cy="1609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0E9F9A"/>
                </a:solidFill>
              </a:rPr>
              <a:t>WO – o‘zgarish strategiyasi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50" dirty="0">
                <a:solidFill>
                  <a:srgbClr val="1B2A3A"/>
                </a:solidFill>
              </a:rPr>
              <a:t>marketpleyslarda onlayn do‘kon ochish, dizayn bo‘limini kuchaytirish, sertifikat olish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4974336" y="4334256"/>
            <a:ext cx="2944368" cy="1755648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9525">
            <a:solidFill>
              <a:srgbClr val="C9DDE3"/>
            </a:solidFill>
            <a:prstDash val="solid"/>
          </a:ln>
          <a:effectLst>
            <a:outerShdw sx="100000" sy="100000" kx="0" ky="0" algn="bl" rotWithShape="0" blurRad="101600" dist="38100" dir="5400000">
              <a:srgbClr val="0D2F4F">
                <a:alpha val="18000"/>
              </a:srgbClr>
            </a:outerShdw>
          </a:effectLst>
        </p:spPr>
      </p:sp>
      <p:sp>
        <p:nvSpPr>
          <p:cNvPr id="21" name="Text 19"/>
          <p:cNvSpPr txBox="1"/>
          <p:nvPr/>
        </p:nvSpPr>
        <p:spPr>
          <a:xfrm>
            <a:off x="5120640" y="4407408"/>
            <a:ext cx="2651760" cy="1609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0E9F9A"/>
                </a:solidFill>
              </a:rPr>
              <a:t>WT – xavfni kamaytirish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50" dirty="0">
                <a:solidFill>
                  <a:srgbClr val="1B2A3A"/>
                </a:solidFill>
              </a:rPr>
              <a:t>energiya tejovchi uskunalarga o‘tish, kadrlarni ushlab qolish uchun motivatsiya tizimi</a:t>
            </a:r>
            <a:endParaRPr lang="en-US" sz="1400" dirty="0"/>
          </a:p>
        </p:txBody>
      </p:sp>
      <p:pic>
        <p:nvPicPr>
          <p:cNvPr id="22" name="Image 0" descr="img4/tow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1371600"/>
            <a:ext cx="3383280" cy="2633472"/>
          </a:xfrm>
          <a:prstGeom prst="rect">
            <a:avLst/>
          </a:prstGeom>
        </p:spPr>
      </p:pic>
      <p:sp>
        <p:nvSpPr>
          <p:cNvPr id="23" name="Text 20"/>
          <p:cNvSpPr txBox="1"/>
          <p:nvPr/>
        </p:nvSpPr>
        <p:spPr>
          <a:xfrm>
            <a:off x="8229600" y="416052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2F4F"/>
                </a:solidFill>
              </a:rPr>
              <a:t>Keyingi qadamlar:</a:t>
            </a:r>
            <a:endParaRPr lang="en-US" sz="1600" dirty="0"/>
          </a:p>
        </p:txBody>
      </p:sp>
      <p:sp>
        <p:nvSpPr>
          <p:cNvPr id="24" name="Text 21"/>
          <p:cNvSpPr txBox="1"/>
          <p:nvPr/>
        </p:nvSpPr>
        <p:spPr>
          <a:xfrm>
            <a:off x="8229600" y="4572000"/>
            <a:ext cx="33832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strategiyalarni ustuvorligi bo‘yicha saralash</a:t>
            </a:r>
            <a:endParaRPr lang="en-US" sz="140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 biriga mas’ul, muddat va byudjet belgilash</a:t>
            </a:r>
            <a:endParaRPr lang="en-US" sz="140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orqali natijani kuzatish</a:t>
            </a:r>
            <a:endParaRPr lang="en-US" sz="140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tahlilni yiliga kamida bir marta yangilash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B6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5. Usullarning afzalliklari va cheklovlari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5440680" cy="192024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9525">
            <a:solidFill>
              <a:srgbClr val="D5E6EB"/>
            </a:solidFill>
            <a:prstDash val="solid"/>
          </a:ln>
          <a:effectLst>
            <a:outerShdw sx="100000" sy="100000" kx="0" ky="0" algn="bl" rotWithShape="0" blurRad="101600" dist="38100" dir="5400000">
              <a:srgbClr val="0D2F4F">
                <a:alpha val="18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731520" y="1554480"/>
            <a:ext cx="548640" cy="548640"/>
          </a:xfrm>
          <a:prstGeom prst="ellipse">
            <a:avLst/>
          </a:prstGeom>
          <a:solidFill>
            <a:srgbClr val="0E9F9A"/>
          </a:solidFill>
          <a:ln w="12700">
            <a:solidFill>
              <a:srgbClr val="0E9F9A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4166" y="1697126"/>
            <a:ext cx="263347" cy="263347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417320" y="1554480"/>
            <a:ext cx="4389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2F4F"/>
                </a:solidFill>
              </a:rPr>
              <a:t>PEST: afzalliklari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777240" y="2194560"/>
            <a:ext cx="50292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tashqi muhitni tizimli ko‘rishga o‘rgatadi</a:t>
            </a:r>
            <a:endParaRPr lang="en-US" sz="140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uzoq muddatli tendensiyalarni oldindan sezish</a:t>
            </a:r>
            <a:endParaRPr lang="en-US" sz="140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sodda, kam xarajatli va tez o‘tkaziladi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6172200" y="1371600"/>
            <a:ext cx="5440680" cy="192024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9525">
            <a:solidFill>
              <a:srgbClr val="D5E6EB"/>
            </a:solidFill>
            <a:prstDash val="solid"/>
          </a:ln>
          <a:effectLst>
            <a:outerShdw sx="100000" sy="100000" kx="0" ky="0" algn="bl" rotWithShape="0" blurRad="101600" dist="38100" dir="5400000">
              <a:srgbClr val="0D2F4F">
                <a:alpha val="18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6355080" y="1554480"/>
            <a:ext cx="548640" cy="548640"/>
          </a:xfrm>
          <a:prstGeom prst="ellipse">
            <a:avLst/>
          </a:prstGeom>
          <a:solidFill>
            <a:srgbClr val="B5651D"/>
          </a:solidFill>
          <a:ln w="12700">
            <a:solidFill>
              <a:srgbClr val="B5651D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7726" y="1697126"/>
            <a:ext cx="263347" cy="263347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7040880" y="1554480"/>
            <a:ext cx="4389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2F4F"/>
                </a:solidFill>
              </a:rPr>
              <a:t>PEST: cheklovlari</a:t>
            </a:r>
            <a:endParaRPr lang="en-US" sz="1600" dirty="0"/>
          </a:p>
        </p:txBody>
      </p:sp>
      <p:sp>
        <p:nvSpPr>
          <p:cNvPr id="12" name="Text 8"/>
          <p:cNvSpPr txBox="1"/>
          <p:nvPr/>
        </p:nvSpPr>
        <p:spPr>
          <a:xfrm>
            <a:off x="6400800" y="2194560"/>
            <a:ext cx="50292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omillar tez eskiradi, doimiy yangilash kerak</a:t>
            </a:r>
            <a:endParaRPr lang="en-US" sz="140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ichki muhit va raqobatchilar hisobga olinmaydi</a:t>
            </a:r>
            <a:endParaRPr lang="en-US" sz="140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baholashda sub’ektivlik ehtimoli</a:t>
            </a:r>
            <a:endParaRPr lang="en-US" sz="1400" dirty="0"/>
          </a:p>
        </p:txBody>
      </p:sp>
      <p:sp>
        <p:nvSpPr>
          <p:cNvPr id="13" name="Shape 9"/>
          <p:cNvSpPr/>
          <p:nvPr/>
        </p:nvSpPr>
        <p:spPr>
          <a:xfrm>
            <a:off x="548640" y="3474720"/>
            <a:ext cx="5440680" cy="192024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9525">
            <a:solidFill>
              <a:srgbClr val="D5E6EB"/>
            </a:solidFill>
            <a:prstDash val="solid"/>
          </a:ln>
          <a:effectLst>
            <a:outerShdw sx="100000" sy="100000" kx="0" ky="0" algn="bl" rotWithShape="0" blurRad="101600" dist="38100" dir="5400000">
              <a:srgbClr val="0D2F4F">
                <a:alpha val="18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731520" y="3657600"/>
            <a:ext cx="548640" cy="548640"/>
          </a:xfrm>
          <a:prstGeom prst="ellipse">
            <a:avLst/>
          </a:prstGeom>
          <a:solidFill>
            <a:srgbClr val="0E9F9A"/>
          </a:solidFill>
          <a:ln w="12700">
            <a:solidFill>
              <a:srgbClr val="0E9F9A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4166" y="3800246"/>
            <a:ext cx="263347" cy="263347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1417320" y="3657600"/>
            <a:ext cx="4389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2F4F"/>
                </a:solidFill>
              </a:rPr>
              <a:t>SWOT: afzalliklari</a:t>
            </a:r>
            <a:endParaRPr lang="en-US" sz="1600" dirty="0"/>
          </a:p>
        </p:txBody>
      </p:sp>
      <p:sp>
        <p:nvSpPr>
          <p:cNvPr id="17" name="Text 12"/>
          <p:cNvSpPr txBox="1"/>
          <p:nvPr/>
        </p:nvSpPr>
        <p:spPr>
          <a:xfrm>
            <a:off x="777240" y="4297680"/>
            <a:ext cx="50292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ichki va tashqi omillarni bitta jadvalda birlashtiradi</a:t>
            </a:r>
            <a:endParaRPr lang="en-US" sz="140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aniq strategik yo‘nalishlarga olib keladi</a:t>
            </a:r>
            <a:endParaRPr lang="en-US" sz="140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 qanday soha va hajmdagi korxonada qo‘llaniladi</a:t>
            </a:r>
            <a:endParaRPr lang="en-US" sz="1400" dirty="0"/>
          </a:p>
        </p:txBody>
      </p:sp>
      <p:sp>
        <p:nvSpPr>
          <p:cNvPr id="18" name="Shape 13"/>
          <p:cNvSpPr/>
          <p:nvPr/>
        </p:nvSpPr>
        <p:spPr>
          <a:xfrm>
            <a:off x="6172200" y="3474720"/>
            <a:ext cx="5440680" cy="192024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9525">
            <a:solidFill>
              <a:srgbClr val="D5E6EB"/>
            </a:solidFill>
            <a:prstDash val="solid"/>
          </a:ln>
          <a:effectLst>
            <a:outerShdw sx="100000" sy="100000" kx="0" ky="0" algn="bl" rotWithShape="0" blurRad="101600" dist="38100" dir="5400000">
              <a:srgbClr val="0D2F4F">
                <a:alpha val="18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6355080" y="3657600"/>
            <a:ext cx="548640" cy="548640"/>
          </a:xfrm>
          <a:prstGeom prst="ellipse">
            <a:avLst/>
          </a:prstGeom>
          <a:solidFill>
            <a:srgbClr val="B5651D"/>
          </a:solidFill>
          <a:ln w="12700">
            <a:solidFill>
              <a:srgbClr val="B5651D"/>
            </a:solidFill>
            <a:prstDash val="solid"/>
          </a:ln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97726" y="3800246"/>
            <a:ext cx="263347" cy="263347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7040880" y="3657600"/>
            <a:ext cx="4389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2F4F"/>
                </a:solidFill>
              </a:rPr>
              <a:t>SWOT: cheklovlari</a:t>
            </a:r>
            <a:endParaRPr lang="en-US" sz="1600" dirty="0"/>
          </a:p>
        </p:txBody>
      </p:sp>
      <p:sp>
        <p:nvSpPr>
          <p:cNvPr id="22" name="Text 16"/>
          <p:cNvSpPr txBox="1"/>
          <p:nvPr/>
        </p:nvSpPr>
        <p:spPr>
          <a:xfrm>
            <a:off x="6400800" y="4297680"/>
            <a:ext cx="50292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omillarning og‘irligi (muhimligi) ko‘rsatilmaydi</a:t>
            </a:r>
            <a:endParaRPr lang="en-US" sz="140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statik – faqat ma’lum vaqtdagi holatni aks ettiradi</a:t>
            </a:r>
            <a:endParaRPr lang="en-US" sz="140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yuzaki tuzilsa, foydasiz ro‘yxatga aylanadi</a:t>
            </a:r>
            <a:endParaRPr lang="en-US" sz="1400" dirty="0"/>
          </a:p>
        </p:txBody>
      </p:sp>
      <p:sp>
        <p:nvSpPr>
          <p:cNvPr id="23" name="Shape 17"/>
          <p:cNvSpPr/>
          <p:nvPr/>
        </p:nvSpPr>
        <p:spPr>
          <a:xfrm>
            <a:off x="548640" y="5577840"/>
            <a:ext cx="11064240" cy="640080"/>
          </a:xfrm>
          <a:prstGeom prst="roundRect">
            <a:avLst>
              <a:gd name="adj" fmla="val 17143"/>
            </a:avLst>
          </a:prstGeom>
          <a:solidFill>
            <a:srgbClr val="E8F3F6"/>
          </a:solidFill>
          <a:ln w="9525">
            <a:solidFill>
              <a:srgbClr val="D5E6EB"/>
            </a:solidFill>
            <a:prstDash val="solid"/>
          </a:ln>
          <a:effectLst>
            <a:outerShdw sx="100000" sy="100000" kx="0" ky="0" algn="bl" rotWithShape="0" blurRad="101600" dist="38100" dir="5400000">
              <a:srgbClr val="0D2F4F">
                <a:alpha val="18000"/>
              </a:srgbClr>
            </a:outerShdw>
          </a:effectLst>
        </p:spPr>
      </p:sp>
      <p:sp>
        <p:nvSpPr>
          <p:cNvPr id="24" name="Text 18"/>
          <p:cNvSpPr txBox="1"/>
          <p:nvPr/>
        </p:nvSpPr>
        <p:spPr>
          <a:xfrm>
            <a:off x="731520" y="5577840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2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Samarali qo‘llash shartlari: </a:t>
            </a:r>
            <a:pPr indent="0" marL="0">
              <a:buNone/>
            </a:pPr>
            <a:r>
              <a:rPr lang="en-US" sz="14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ishonchli ma’lumot · turli bo‘lim mutaxassislarini jalb qilish · omillarni ballar bilan baholash · muntazam yangilash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B6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Xulosa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280160"/>
            <a:ext cx="685800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E6F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SWOT va PEST tahlil usullari korxonani rivojlantirish strategiyasini shakllantirishning ilmiy-amaliy asosidir. PEST makromuhitdagi o‘zgarishlarni aniqlab, imkoniyat va tahdidlar ro‘yxatini beradi; SWOT ularni korxonaning kuchli va zaif tomonlari bilan taqqoslaydi; TOWS matritsasi esa natijalarni aniq strategik harakatlarga aylantiradi. Usullarni birgalikda va muntazam qo‘llash korxonaga o‘zgaruvchan sharoitda to‘g‘ri yo‘l tanlash imkonini beradi.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3383280"/>
            <a:ext cx="3291840" cy="1298448"/>
          </a:xfrm>
          <a:prstGeom prst="roundRect">
            <a:avLst>
              <a:gd name="adj" fmla="val 8451"/>
            </a:avLst>
          </a:prstGeom>
          <a:solidFill>
            <a:srgbClr val="FFFFFF">
              <a:alpha val="12000"/>
            </a:srgbClr>
          </a:solidFill>
          <a:ln w="9525">
            <a:solidFill>
              <a:srgbClr val="5FD3C9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232" y="3566160"/>
            <a:ext cx="365760" cy="36576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188720" y="3493008"/>
            <a:ext cx="2514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500" b="1" dirty="0">
                <a:solidFill>
                  <a:srgbClr val="F2A541"/>
                </a:solidFill>
              </a:rPr>
              <a:t>PEST</a:t>
            </a:r>
            <a:endParaRPr lang="en-US" sz="15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FFFFFF"/>
                </a:solidFill>
              </a:rPr>
              <a:t>siyosiy, iqtisodiy, ijtimoiy va texnologik omillarni ballar bilan baholash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4023360" y="3383280"/>
            <a:ext cx="3291840" cy="1298448"/>
          </a:xfrm>
          <a:prstGeom prst="roundRect">
            <a:avLst>
              <a:gd name="adj" fmla="val 8451"/>
            </a:avLst>
          </a:prstGeom>
          <a:solidFill>
            <a:srgbClr val="FFFFFF">
              <a:alpha val="12000"/>
            </a:srgbClr>
          </a:solidFill>
          <a:ln w="9525">
            <a:solidFill>
              <a:srgbClr val="5FD3C9"/>
            </a:solidFill>
            <a:prstDash val="solid"/>
          </a:ln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87952" y="3566160"/>
            <a:ext cx="365760" cy="36576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4663440" y="3493008"/>
            <a:ext cx="2514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500" b="1" dirty="0">
                <a:solidFill>
                  <a:srgbClr val="F2A541"/>
                </a:solidFill>
              </a:rPr>
              <a:t>SWOT</a:t>
            </a:r>
            <a:endParaRPr lang="en-US" sz="15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FFFFFF"/>
                </a:solidFill>
              </a:rPr>
              <a:t>ichki salohiyat va tashqi sharoitni bitta matritsada taqqoslash</a:t>
            </a:r>
            <a:endParaRPr lang="en-US" sz="1500" dirty="0"/>
          </a:p>
        </p:txBody>
      </p:sp>
      <p:sp>
        <p:nvSpPr>
          <p:cNvPr id="10" name="Shape 6"/>
          <p:cNvSpPr/>
          <p:nvPr/>
        </p:nvSpPr>
        <p:spPr>
          <a:xfrm>
            <a:off x="548640" y="4846320"/>
            <a:ext cx="3291840" cy="1298448"/>
          </a:xfrm>
          <a:prstGeom prst="roundRect">
            <a:avLst>
              <a:gd name="adj" fmla="val 8451"/>
            </a:avLst>
          </a:prstGeom>
          <a:solidFill>
            <a:srgbClr val="FFFFFF">
              <a:alpha val="12000"/>
            </a:srgbClr>
          </a:solidFill>
          <a:ln w="9525">
            <a:solidFill>
              <a:srgbClr val="5FD3C9"/>
            </a:solidFill>
            <a:prstDash val="solid"/>
          </a:ln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" y="5029200"/>
            <a:ext cx="365760" cy="365760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1188720" y="4956048"/>
            <a:ext cx="2514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500" b="1" dirty="0">
                <a:solidFill>
                  <a:srgbClr val="F2A541"/>
                </a:solidFill>
              </a:rPr>
              <a:t>TOWS</a:t>
            </a:r>
            <a:endParaRPr lang="en-US" sz="15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FFFFFF"/>
                </a:solidFill>
              </a:rPr>
              <a:t>SO, WO, ST, WT – tahlildan aniq strategiyaga o‘tish</a:t>
            </a:r>
            <a:endParaRPr lang="en-US" sz="1500" dirty="0"/>
          </a:p>
        </p:txBody>
      </p:sp>
      <p:sp>
        <p:nvSpPr>
          <p:cNvPr id="13" name="Shape 8"/>
          <p:cNvSpPr/>
          <p:nvPr/>
        </p:nvSpPr>
        <p:spPr>
          <a:xfrm>
            <a:off x="4023360" y="4846320"/>
            <a:ext cx="3291840" cy="1298448"/>
          </a:xfrm>
          <a:prstGeom prst="roundRect">
            <a:avLst>
              <a:gd name="adj" fmla="val 8451"/>
            </a:avLst>
          </a:prstGeom>
          <a:solidFill>
            <a:srgbClr val="FFFFFF">
              <a:alpha val="12000"/>
            </a:srgbClr>
          </a:solidFill>
          <a:ln w="9525">
            <a:solidFill>
              <a:srgbClr val="5FD3C9"/>
            </a:solidFill>
            <a:prstDash val="solid"/>
          </a:ln>
        </p:spPr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87952" y="5029200"/>
            <a:ext cx="365760" cy="365760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4663440" y="4956048"/>
            <a:ext cx="2514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500" b="1" dirty="0">
                <a:solidFill>
                  <a:srgbClr val="F2A541"/>
                </a:solidFill>
              </a:rPr>
              <a:t>Shart</a:t>
            </a:r>
            <a:endParaRPr lang="en-US" sz="15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FFFFFF"/>
                </a:solidFill>
              </a:rPr>
              <a:t>ishonchli ma’lumot, jamoaviy ish va muntazam yangilash</a:t>
            </a:r>
            <a:endParaRPr lang="en-US" sz="1500" dirty="0"/>
          </a:p>
        </p:txBody>
      </p:sp>
      <p:pic>
        <p:nvPicPr>
          <p:cNvPr id="16" name="Image 4" descr="img4/conclusion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0" y="1325880"/>
            <a:ext cx="3840480" cy="2990088"/>
          </a:xfrm>
          <a:prstGeom prst="rect">
            <a:avLst/>
          </a:prstGeom>
        </p:spPr>
      </p:pic>
      <p:sp>
        <p:nvSpPr>
          <p:cNvPr id="17" name="Text 10"/>
          <p:cNvSpPr txBox="1"/>
          <p:nvPr/>
        </p:nvSpPr>
        <p:spPr>
          <a:xfrm>
            <a:off x="7772400" y="4526280"/>
            <a:ext cx="38404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i="1" dirty="0">
                <a:solidFill>
                  <a:srgbClr val="F2A5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To‘g‘ri tahlil – to‘g‘ri strategiyaning yarmi: avval muhitni bil, keyin yo‘lni tanla.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FD9E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img4/thank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66560" y="1280160"/>
            <a:ext cx="4846320" cy="3767328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2011680"/>
            <a:ext cx="5943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E’TIBORINGIZ UCHUN RAHMAT!</a:t>
            </a:r>
            <a:endParaRPr lang="en-US" sz="40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3931920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F2A541"/>
                </a:solidFill>
              </a:rPr>
              <a:t>Savollaringiz bo‘lsa, marhamat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FD9E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trategiya">
  <a:themeElements>
    <a:clrScheme name="Strategiya">
      <a:dk1>
        <a:srgbClr val="1B2A3A"/>
      </a:dk1>
      <a:lt1>
        <a:srgbClr val="FFFFFF"/>
      </a:lt1>
      <a:dk2>
        <a:srgbClr val="0D2F4F"/>
      </a:dk2>
      <a:lt2>
        <a:srgbClr val="E8F3F6"/>
      </a:lt2>
      <a:accent1>
        <a:srgbClr val="0E9F9A"/>
      </a:accent1>
      <a:accent2>
        <a:srgbClr val="F2A541"/>
      </a:accent2>
      <a:accent3>
        <a:srgbClr val="0D2F4F"/>
      </a:accent3>
      <a:accent4>
        <a:srgbClr val="3B6EA5"/>
      </a:accent4>
      <a:accent5>
        <a:srgbClr val="5FD3C9"/>
      </a:accent5>
      <a:accent6>
        <a:srgbClr val="B5651D"/>
      </a:accent6>
      <a:hlink>
        <a:srgbClr val="0E9F9A"/>
      </a:hlink>
      <a:folHlink>
        <a:srgbClr val="3B6EA5"/>
      </a:folHlink>
    </a:clrScheme>
    <a:fontScheme name="Strategiya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SWOT va PEST tahlil usullari</dc:title>
  <dc:subject>PptxGenJS Presentation</dc:subject>
  <dc:creator>PptxGenJS</dc:creator>
  <cp:lastModifiedBy>PptxGenJS</cp:lastModifiedBy>
  <cp:revision>1</cp:revision>
  <dcterms:created xsi:type="dcterms:W3CDTF">2026-10-12T11:57:31Z</dcterms:created>
  <dcterms:modified xsi:type="dcterms:W3CDTF">2026-10-12T11:57:31Z</dcterms:modified>
</cp:coreProperties>
</file>