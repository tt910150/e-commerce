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Avtonomiya</c:v>
                </c:pt>
              </c:strCache>
            </c:strRef>
          </c:tx>
          <c:spPr>
            <a:solidFill>
              <a:srgbClr val="0E9F9A"/>
            </a:solidFill>
            <a:effectLst/>
          </c:spPr>
          <c:invertIfNegative val="0"/>
          <c:dLbls>
            <c:numFmt formatCode="0.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Sheet1!$A$2:$A$4</c:f>
              <c:multiLvlStrCache>
                <c:ptCount val="3"/>
                <c:lvl>
                  <c:pt idx="0">
                    <c:v>1-yil</c:v>
                  </c:pt>
                  <c:pt idx="1">
                    <c:v>2-yil</c:v>
                  </c:pt>
                  <c:pt idx="2">
                    <c:v>3-yil</c:v>
                  </c:pt>
                </c:lvl>
              </c:multiLvlStrCache>
            </c:multiLvlStrRef>
          </c:cat>
          <c:val>
            <c:numRef>
              <c:f>Sheet1!$B$2:$B$4</c:f>
              <c:numCache>
                <c:formatCode>General</c:formatCode>
                <c:ptCount val="3"/>
                <c:pt idx="0">
                  <c:v>0.42</c:v>
                </c:pt>
                <c:pt idx="1">
                  <c:v>0.48</c:v>
                </c:pt>
                <c:pt idx="2">
                  <c:v>0.55</c:v>
                </c:pt>
              </c:numCache>
            </c:numRef>
          </c:val>
        </c:ser>
        <c:ser>
          <c:idx val="1"/>
          <c:order val="1"/>
          <c:tx>
            <c:strRef>
              <c:f>Sheet1!$C$1</c:f>
              <c:strCache>
                <c:ptCount val="1"/>
                <c:pt idx="0">
                  <c:v>Joriy likvidlik</c:v>
                </c:pt>
              </c:strCache>
            </c:strRef>
          </c:tx>
          <c:spPr>
            <a:solidFill>
              <a:srgbClr val="0D2F4F"/>
            </a:solidFill>
            <a:effectLst/>
          </c:spPr>
          <c:invertIfNegative val="0"/>
          <c:dLbls>
            <c:numFmt formatCode="0.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Sheet1!$A$2:$A$4</c:f>
              <c:multiLvlStrCache>
                <c:ptCount val="3"/>
                <c:lvl>
                  <c:pt idx="0">
                    <c:v>1-yil</c:v>
                  </c:pt>
                  <c:pt idx="1">
                    <c:v>2-yil</c:v>
                  </c:pt>
                  <c:pt idx="2">
                    <c:v>3-yil</c:v>
                  </c:pt>
                </c:lvl>
              </c:multiLvlStrCache>
            </c:multiLvlStrRef>
          </c:cat>
          <c:val>
            <c:numRef>
              <c:f>Sheet1!$C$2:$C$4</c:f>
              <c:numCache>
                <c:formatCode>General</c:formatCode>
                <c:ptCount val="3"/>
                <c:pt idx="0">
                  <c:v>1.3</c:v>
                </c:pt>
                <c:pt idx="1">
                  <c:v>1.6</c:v>
                </c:pt>
                <c:pt idx="2">
                  <c:v>1.9</c:v>
                </c:pt>
              </c:numCache>
            </c:numRef>
          </c:val>
        </c:ser>
        <c:ser>
          <c:idx val="2"/>
          <c:order val="2"/>
          <c:tx>
            <c:strRef>
              <c:f>Sheet1!$D$1</c:f>
              <c:strCache>
                <c:ptCount val="1"/>
                <c:pt idx="0">
                  <c:v>Tezkor likvidlik</c:v>
                </c:pt>
              </c:strCache>
            </c:strRef>
          </c:tx>
          <c:spPr>
            <a:solidFill>
              <a:srgbClr val="F2A541"/>
            </a:solidFill>
            <a:effectLst/>
          </c:spPr>
          <c:invertIfNegative val="0"/>
          <c:dLbls>
            <c:numFmt formatCode="0.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Sheet1!$A$2:$A$4</c:f>
              <c:multiLvlStrCache>
                <c:ptCount val="3"/>
                <c:lvl>
                  <c:pt idx="0">
                    <c:v>1-yil</c:v>
                  </c:pt>
                  <c:pt idx="1">
                    <c:v>2-yil</c:v>
                  </c:pt>
                  <c:pt idx="2">
                    <c:v>3-yil</c:v>
                  </c:pt>
                </c:lvl>
              </c:multiLvlStrCache>
            </c:multiLvlStrRef>
          </c:cat>
          <c:val>
            <c:numRef>
              <c:f>Sheet1!$D$2:$D$4</c:f>
              <c:numCache>
                <c:formatCode>General</c:formatCode>
                <c:ptCount val="3"/>
                <c:pt idx="0">
                  <c:v>0.6</c:v>
                </c:pt>
                <c:pt idx="1">
                  <c:v>0.75</c:v>
                </c:pt>
                <c:pt idx="2">
                  <c:v>0.9</c:v>
                </c:pt>
              </c:numCache>
            </c:numRef>
          </c:val>
        </c:ser>
        <c:dLbls>
          <c:numFmt formatCode="0.0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C9DDE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1B2A3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9/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2700" b="1" dirty="0">
                <a:solidFill>
                  <a:srgbClr val="FFFFFF"/>
                </a:solidFill>
                <a:latin typeface="Cambria" pitchFamily="34" charset="0"/>
                <a:ea typeface="Cambria" pitchFamily="34" charset="-122"/>
                <a:cs typeface="Cambria" pitchFamily="34" charset="-120"/>
              </a:rPr>
              <a:t>KORXONANING MOLIYAVIY BARQARORLIGINI TA’MINLASH VA MOLIYAVIY RIVOJLANISH STRATEGIYASI</a:t>
            </a:r>
            <a:endParaRPr lang="en-US" sz="27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Moliyaviy barqarorlik tushunchasi va ahamiyati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Moliyaviy barqarorlikni tahlil qilish ko‘rsatkichlari</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Moliyaviy barqarorlik turlari va unga ta’sir etuvchi omillar</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Moliyaviy rivojlanish strategiyasini ishlab chiqish</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Moliyaviy barqarorlikni ta’minlash yo‘llari</a:t>
            </a:r>
            <a:endParaRPr lang="en-US" sz="1600" dirty="0"/>
          </a:p>
        </p:txBody>
      </p:sp>
      <p:pic>
        <p:nvPicPr>
          <p:cNvPr id="28" name="Image 5" descr="img9/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Moliyaviy barqarorlik tushunchasi</a:t>
            </a:r>
            <a:endParaRPr lang="en-US" sz="3000" dirty="0"/>
          </a:p>
        </p:txBody>
      </p:sp>
      <p:pic>
        <p:nvPicPr>
          <p:cNvPr id="3" name="Image 0" descr="img9/essence.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Moliyaviy barqarorlik</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korxonaning o‘z faoliyatini asosan o‘z mablag‘lari hisobidan moliyalashtira olishi, majburiyatlarini o‘z vaqtida to‘lashi va tashqi o‘zgarishlarga qaramay rivojlanishni davom ettira olish qobiliyati.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Moliyaviy barqarorlik bilan bog‘liq asosiy tushunchalar:</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Moliyaviy mustaqillik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korxona kapitalida o‘z mablag‘lari ulushining yetarli darajada bo‘lishi.</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Likvidlik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aktivlarning tez va yo‘qotishsiz pulga aylanish qobiliyati.</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To‘lov qobiliyati</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qisqa muddatli majburiyatlarni o‘z vaqtida to‘lay olish.</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Kredit layoqati</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qarz mablag‘larini olish va ularni muddatida qaytarish imkoniyati.</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Rentabellik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faoliyat foydaliligi – barqarorlikning ichki manbai.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Moliyaviy barqarorlikning ahamiyati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Moliyaviy barqarorlik korxonaning “moliyaviy salomatligi” ko‘rsatkichidir. Barqaror korxona inqirozlarga chidamli bo‘ladi, arzon resurslarni jalb qiladi va investitsiya imkoniyatlarini kengaytiradi. Beqaror korxona esa to‘lovga qobiliyatsizlik va bankrotlik xavfi ostida qoladi. Barqarorlikdan turli manfaatdor tomonlar manfaatdor:</a:t>
            </a:r>
            <a:endParaRPr lang="en-US" sz="1400" dirty="0"/>
          </a:p>
        </p:txBody>
      </p:sp>
      <p:sp>
        <p:nvSpPr>
          <p:cNvPr id="4" name="Text 2"/>
          <p:cNvSpPr txBox="1"/>
          <p:nvPr/>
        </p:nvSpPr>
        <p:spPr>
          <a:xfrm>
            <a:off x="548640" y="3063240"/>
            <a:ext cx="6766560" cy="365760"/>
          </a:xfrm>
          <a:prstGeom prst="rect">
            <a:avLst/>
          </a:prstGeom>
          <a:noFill/>
          <a:ln/>
        </p:spPr>
        <p:txBody>
          <a:bodyPr wrap="square" lIns="0" tIns="0" rIns="0" bIns="0" rtlCol="0" anchor="ctr"/>
          <a:lstStyle/>
          <a:p>
            <a:pPr indent="0" marL="0">
              <a:buNone/>
            </a:pPr>
            <a:r>
              <a:rPr lang="en-US" sz="1600" b="1" dirty="0">
                <a:solidFill>
                  <a:srgbClr val="0D2F4F"/>
                </a:solidFill>
              </a:rPr>
              <a:t>Moliyaviy barqarorlik kim uchun muhim?</a:t>
            </a:r>
            <a:endParaRPr lang="en-US" sz="1600" dirty="0"/>
          </a:p>
        </p:txBody>
      </p:sp>
      <p:sp>
        <p:nvSpPr>
          <p:cNvPr id="5" name="Shape 3"/>
          <p:cNvSpPr/>
          <p:nvPr/>
        </p:nvSpPr>
        <p:spPr>
          <a:xfrm>
            <a:off x="548640" y="353872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681777" y="3671865"/>
            <a:ext cx="245791" cy="245791"/>
          </a:xfrm>
          <a:prstGeom prst="rect">
            <a:avLst/>
          </a:prstGeom>
        </p:spPr>
      </p:pic>
      <p:sp>
        <p:nvSpPr>
          <p:cNvPr id="7" name="Text 4"/>
          <p:cNvSpPr txBox="1"/>
          <p:nvPr/>
        </p:nvSpPr>
        <p:spPr>
          <a:xfrm>
            <a:off x="1234440" y="3483864"/>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Mulkdorlar – </a:t>
            </a:r>
            <a:pPr indent="0" marL="0">
              <a:buNone/>
            </a:pPr>
            <a:r>
              <a:rPr lang="en-US" sz="1400" dirty="0">
                <a:solidFill>
                  <a:srgbClr val="1B2A3A"/>
                </a:solidFill>
                <a:latin typeface="Calibri" pitchFamily="34" charset="0"/>
                <a:ea typeface="Calibri" pitchFamily="34" charset="-122"/>
                <a:cs typeface="Calibri" pitchFamily="34" charset="-120"/>
              </a:rPr>
              <a:t>kapitalning saqlanishi va dividendlar barqarorligi</a:t>
            </a:r>
            <a:endParaRPr lang="en-US" sz="1400" dirty="0"/>
          </a:p>
        </p:txBody>
      </p:sp>
      <p:sp>
        <p:nvSpPr>
          <p:cNvPr id="8" name="Shape 5"/>
          <p:cNvSpPr/>
          <p:nvPr/>
        </p:nvSpPr>
        <p:spPr>
          <a:xfrm>
            <a:off x="548640" y="4206240"/>
            <a:ext cx="512064" cy="512064"/>
          </a:xfrm>
          <a:prstGeom prst="ellipse">
            <a:avLst/>
          </a:prstGeom>
          <a:solidFill>
            <a:srgbClr val="0D2F4F"/>
          </a:solidFill>
          <a:ln w="12700">
            <a:solidFill>
              <a:srgbClr val="0D2F4F"/>
            </a:solidFill>
            <a:prstDash val="solid"/>
          </a:ln>
        </p:spPr>
      </p:sp>
      <p:pic>
        <p:nvPicPr>
          <p:cNvPr id="9" name="Image 1" descr="preencoded.png">    </p:cNvPr>
          <p:cNvPicPr>
            <a:picLocks noChangeAspect="1"/>
          </p:cNvPicPr>
          <p:nvPr/>
        </p:nvPicPr>
        <p:blipFill>
          <a:blip r:embed="rId2"/>
          <a:stretch>
            <a:fillRect/>
          </a:stretch>
        </p:blipFill>
        <p:spPr>
          <a:xfrm>
            <a:off x="681777" y="4339377"/>
            <a:ext cx="245791" cy="245791"/>
          </a:xfrm>
          <a:prstGeom prst="rect">
            <a:avLst/>
          </a:prstGeom>
        </p:spPr>
      </p:pic>
      <p:sp>
        <p:nvSpPr>
          <p:cNvPr id="10" name="Text 6"/>
          <p:cNvSpPr txBox="1"/>
          <p:nvPr/>
        </p:nvSpPr>
        <p:spPr>
          <a:xfrm>
            <a:off x="1234440" y="4151376"/>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Banklar va investorlar – </a:t>
            </a:r>
            <a:pPr indent="0" marL="0">
              <a:buNone/>
            </a:pPr>
            <a:r>
              <a:rPr lang="en-US" sz="1400" dirty="0">
                <a:solidFill>
                  <a:srgbClr val="1B2A3A"/>
                </a:solidFill>
                <a:latin typeface="Calibri" pitchFamily="34" charset="0"/>
                <a:ea typeface="Calibri" pitchFamily="34" charset="-122"/>
                <a:cs typeface="Calibri" pitchFamily="34" charset="-120"/>
              </a:rPr>
              <a:t>kredit va investitsiyani qaytarish kafolati</a:t>
            </a:r>
            <a:endParaRPr lang="en-US" sz="1400" dirty="0"/>
          </a:p>
        </p:txBody>
      </p:sp>
      <p:sp>
        <p:nvSpPr>
          <p:cNvPr id="11" name="Shape 7"/>
          <p:cNvSpPr/>
          <p:nvPr/>
        </p:nvSpPr>
        <p:spPr>
          <a:xfrm>
            <a:off x="548640" y="4873752"/>
            <a:ext cx="512064" cy="512064"/>
          </a:xfrm>
          <a:prstGeom prst="ellipse">
            <a:avLst/>
          </a:prstGeom>
          <a:solidFill>
            <a:srgbClr val="0E9F9A"/>
          </a:solidFill>
          <a:ln w="12700">
            <a:solidFill>
              <a:srgbClr val="0E9F9A"/>
            </a:solidFill>
            <a:prstDash val="solid"/>
          </a:ln>
        </p:spPr>
      </p:sp>
      <p:pic>
        <p:nvPicPr>
          <p:cNvPr id="12" name="Image 2" descr="preencoded.png">    </p:cNvPr>
          <p:cNvPicPr>
            <a:picLocks noChangeAspect="1"/>
          </p:cNvPicPr>
          <p:nvPr/>
        </p:nvPicPr>
        <p:blipFill>
          <a:blip r:embed="rId3"/>
          <a:stretch>
            <a:fillRect/>
          </a:stretch>
        </p:blipFill>
        <p:spPr>
          <a:xfrm>
            <a:off x="681777" y="5006889"/>
            <a:ext cx="245791" cy="245791"/>
          </a:xfrm>
          <a:prstGeom prst="rect">
            <a:avLst/>
          </a:prstGeom>
        </p:spPr>
      </p:pic>
      <p:sp>
        <p:nvSpPr>
          <p:cNvPr id="13" name="Text 8"/>
          <p:cNvSpPr txBox="1"/>
          <p:nvPr/>
        </p:nvSpPr>
        <p:spPr>
          <a:xfrm>
            <a:off x="1234440" y="4818888"/>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Ta’minotchi va xaridorlar – </a:t>
            </a:r>
            <a:pPr indent="0" marL="0">
              <a:buNone/>
            </a:pPr>
            <a:r>
              <a:rPr lang="en-US" sz="1400" dirty="0">
                <a:solidFill>
                  <a:srgbClr val="1B2A3A"/>
                </a:solidFill>
                <a:latin typeface="Calibri" pitchFamily="34" charset="0"/>
                <a:ea typeface="Calibri" pitchFamily="34" charset="-122"/>
                <a:cs typeface="Calibri" pitchFamily="34" charset="-120"/>
              </a:rPr>
              <a:t>uzoq muddatli ishonchli hamkorlik</a:t>
            </a:r>
            <a:endParaRPr lang="en-US" sz="1400" dirty="0"/>
          </a:p>
        </p:txBody>
      </p:sp>
      <p:sp>
        <p:nvSpPr>
          <p:cNvPr id="14" name="Shape 9"/>
          <p:cNvSpPr/>
          <p:nvPr/>
        </p:nvSpPr>
        <p:spPr>
          <a:xfrm>
            <a:off x="548640" y="5541264"/>
            <a:ext cx="512064" cy="512064"/>
          </a:xfrm>
          <a:prstGeom prst="ellipse">
            <a:avLst/>
          </a:prstGeom>
          <a:solidFill>
            <a:srgbClr val="0D2F4F"/>
          </a:solidFill>
          <a:ln w="12700">
            <a:solidFill>
              <a:srgbClr val="0D2F4F"/>
            </a:solidFill>
            <a:prstDash val="solid"/>
          </a:ln>
        </p:spPr>
      </p:sp>
      <p:pic>
        <p:nvPicPr>
          <p:cNvPr id="15" name="Image 3" descr="preencoded.png">    </p:cNvPr>
          <p:cNvPicPr>
            <a:picLocks noChangeAspect="1"/>
          </p:cNvPicPr>
          <p:nvPr/>
        </p:nvPicPr>
        <p:blipFill>
          <a:blip r:embed="rId4"/>
          <a:stretch>
            <a:fillRect/>
          </a:stretch>
        </p:blipFill>
        <p:spPr>
          <a:xfrm>
            <a:off x="681777" y="5674401"/>
            <a:ext cx="245791" cy="245791"/>
          </a:xfrm>
          <a:prstGeom prst="rect">
            <a:avLst/>
          </a:prstGeom>
        </p:spPr>
      </p:pic>
      <p:sp>
        <p:nvSpPr>
          <p:cNvPr id="16" name="Text 10"/>
          <p:cNvSpPr txBox="1"/>
          <p:nvPr/>
        </p:nvSpPr>
        <p:spPr>
          <a:xfrm>
            <a:off x="1234440" y="5486400"/>
            <a:ext cx="608076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Xodimlar va davlat – </a:t>
            </a:r>
            <a:pPr indent="0" marL="0">
              <a:buNone/>
            </a:pPr>
            <a:r>
              <a:rPr lang="en-US" sz="1400" dirty="0">
                <a:solidFill>
                  <a:srgbClr val="1B2A3A"/>
                </a:solidFill>
                <a:latin typeface="Calibri" pitchFamily="34" charset="0"/>
                <a:ea typeface="Calibri" pitchFamily="34" charset="-122"/>
                <a:cs typeface="Calibri" pitchFamily="34" charset="-120"/>
              </a:rPr>
              <a:t>barqaror ish haqi, ish o‘rinlari va soliq tushumlari</a:t>
            </a:r>
            <a:endParaRPr lang="en-US" sz="1400" dirty="0"/>
          </a:p>
        </p:txBody>
      </p:sp>
      <p:pic>
        <p:nvPicPr>
          <p:cNvPr id="17" name="Image 4" descr="img9/stake.png">    </p:cNvPr>
          <p:cNvPicPr>
            <a:picLocks noChangeAspect="1"/>
          </p:cNvPicPr>
          <p:nvPr/>
        </p:nvPicPr>
        <p:blipFill>
          <a:blip r:embed="rId5"/>
          <a:stretch>
            <a:fillRect/>
          </a:stretch>
        </p:blipFill>
        <p:spPr>
          <a:xfrm>
            <a:off x="7680960" y="1371600"/>
            <a:ext cx="3931920" cy="3054096"/>
          </a:xfrm>
          <a:prstGeom prst="rect">
            <a:avLst/>
          </a:prstGeom>
        </p:spPr>
      </p:pic>
      <p:sp>
        <p:nvSpPr>
          <p:cNvPr id="18" name="Shape 11"/>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2"/>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Muhim:</a:t>
            </a:r>
            <a:pPr indent="0" marL="0">
              <a:buNone/>
            </a:pPr>
            <a:r>
              <a:rPr lang="en-US" sz="1400" dirty="0">
                <a:solidFill>
                  <a:srgbClr val="1B2A3A"/>
                </a:solidFill>
                <a:latin typeface="Calibri" pitchFamily="34" charset="0"/>
                <a:ea typeface="Calibri" pitchFamily="34" charset="-122"/>
                <a:cs typeface="Calibri" pitchFamily="34" charset="-120"/>
              </a:rPr>
              <a:t> foydali korxona ham noto‘g‘ri moliya boshqaruvi tufayli to‘lovga qobiliyatsiz bo‘lib qolishi mumkin.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Moliyaviy barqarorlikni tahlil qilish ko‘rsatkichlari</a:t>
            </a:r>
            <a:endParaRPr lang="en-US" sz="3000" dirty="0"/>
          </a:p>
        </p:txBody>
      </p:sp>
      <p:pic>
        <p:nvPicPr>
          <p:cNvPr id="3" name="Image 0" descr="img9/ratio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Ko‘rsatkichlar buxgalteriya balansi ma’lumotlari asosida hisoblanadi</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2148840"/>
                <a:gridCol w="3520440"/>
                <a:gridCol w="1828800"/>
              </a:tblGrid>
              <a:tr h="548640">
                <a:tc>
                  <a:txBody>
                    <a:bodyPr/>
                    <a:lstStyle/>
                    <a:p>
                      <a:pPr algn="l" indent="0" marL="0">
                        <a:buNone/>
                      </a:pPr>
                      <a:r>
                        <a:rPr lang="en-US" sz="1300" b="1" dirty="0">
                          <a:solidFill>
                            <a:srgbClr val="FFFFFF"/>
                          </a:solidFill>
                        </a:rPr>
                        <a:t>Ko‘rsatkich</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Hisoblash formulasi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Tavsiya etilgan me’yor</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Avtonomiya (mustaqillik) koeffitsienti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O‘z kapitali / Jami aktivlar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 0,5</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Moliyaviy leveraj</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Qarz kapitali / O‘z kapitali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1,0</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Joriy likvidlik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Aylanma aktivlar / Qisqa muddatli majburiyatlar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1,5 – 2,5</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Tezkor likvidlik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(Aylanma aktivlar − Zaxiralar) / Qisqa muddatli majburiyatlar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0,7 – 1,0</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Mutlaq likvidlik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Pul mablag‘lari / Qisqa muddatli majburiyatlar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ctr" indent="0" marL="0">
                        <a:buNone/>
                      </a:pPr>
                      <a:r>
                        <a:rPr lang="en-US" sz="1250" dirty="0">
                          <a:solidFill>
                            <a:srgbClr val="1B2A3A"/>
                          </a:solidFill>
                        </a:rPr>
                        <a:t>≥ 0,2</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O‘z aylanma mablag‘lari bilan ta’minlanganlik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(O‘z kapitali − Uzoq muddatli aktivlar) / Aylanma aktivlar</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B2A3A"/>
                          </a:solidFill>
                        </a:rPr>
                        <a:t>≥ 0,1</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Ko‘rsatkichlar </a:t>
            </a:r>
            <a:pPr indent="0" marL="0">
              <a:buNone/>
            </a:pPr>
            <a:r>
              <a:rPr lang="en-US" sz="1400" b="1" dirty="0">
                <a:solidFill>
                  <a:srgbClr val="0D2F4F"/>
                </a:solidFill>
                <a:latin typeface="Calibri" pitchFamily="34" charset="0"/>
                <a:ea typeface="Calibri" pitchFamily="34" charset="-122"/>
                <a:cs typeface="Calibri" pitchFamily="34" charset="-120"/>
              </a:rPr>
              <a:t>dinamikada</a:t>
            </a:r>
            <a:pPr indent="0" marL="0">
              <a:buNone/>
            </a:pPr>
            <a:r>
              <a:rPr lang="en-US" sz="1400" dirty="0">
                <a:solidFill>
                  <a:srgbClr val="1B2A3A"/>
                </a:solidFill>
                <a:latin typeface="Calibri" pitchFamily="34" charset="0"/>
                <a:ea typeface="Calibri" pitchFamily="34" charset="-122"/>
                <a:cs typeface="Calibri" pitchFamily="34" charset="-120"/>
              </a:rPr>
              <a:t> (bir necha yil) va </a:t>
            </a:r>
            <a:pPr indent="0" marL="0">
              <a:buNone/>
            </a:pPr>
            <a:r>
              <a:rPr lang="en-US" sz="1400" b="1" dirty="0">
                <a:solidFill>
                  <a:srgbClr val="0D2F4F"/>
                </a:solidFill>
                <a:latin typeface="Calibri" pitchFamily="34" charset="0"/>
                <a:ea typeface="Calibri" pitchFamily="34" charset="-122"/>
                <a:cs typeface="Calibri" pitchFamily="34" charset="-120"/>
              </a:rPr>
              <a:t>soha o‘rtacha qiymatlari</a:t>
            </a:r>
            <a:pPr indent="0" marL="0">
              <a:buNone/>
            </a:pPr>
            <a:r>
              <a:rPr lang="en-US" sz="1400" dirty="0">
                <a:solidFill>
                  <a:srgbClr val="1B2A3A"/>
                </a:solidFill>
                <a:latin typeface="Calibri" pitchFamily="34" charset="0"/>
                <a:ea typeface="Calibri" pitchFamily="34" charset="-122"/>
                <a:cs typeface="Calibri" pitchFamily="34" charset="-120"/>
              </a:rPr>
              <a:t> bilan taqqoslab baholanadi.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Amaliy misol: ko‘rsatkichlar dinamikasi</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Avtonomiya koeffitsienti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0,42 dan 0,55 ga oshgan – korxona me’yorga (≥ 0,5) yetib, qarzga qaramligini kamaytirgan.</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Joriy likvidlik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1,3 dan 1,9 ga ko‘tarilgan – qisqa muddatli majburiyatlarni qoplash imkoniyati yaxshilangan.</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Tezkor likvidlik</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0,6 dan 0,9 ga oshgan – zaxiralarsiz ham to‘lov qobiliyati yetarli.</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Xulosa:</a:t>
            </a:r>
            <a:pPr indent="0" marL="0">
              <a:buNone/>
            </a:pPr>
            <a:r>
              <a:rPr lang="en-US" sz="1400" dirty="0">
                <a:solidFill>
                  <a:srgbClr val="1B2A3A"/>
                </a:solidFill>
                <a:latin typeface="Calibri" pitchFamily="34" charset="0"/>
                <a:ea typeface="Calibri" pitchFamily="34" charset="-122"/>
                <a:cs typeface="Calibri" pitchFamily="34" charset="-120"/>
              </a:rPr>
              <a:t> uch yil davomida korxonaning moliyaviy barqarorligi beqaror holatdan normal holatga o‘tgan (shartli misol).</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Moliyaviy koeffitsientlar (shartli misol)</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Moliyaviy barqarorlik turlari</a:t>
            </a:r>
            <a:endParaRPr lang="en-US" sz="3000" dirty="0"/>
          </a:p>
        </p:txBody>
      </p:sp>
      <p:pic>
        <p:nvPicPr>
          <p:cNvPr id="3" name="Image 0" descr="img9/type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Tasnif zaxira va xarajatlarning qanday manbalar bilan qoplanishiga asoslanadi</a:t>
            </a:r>
            <a:endParaRPr lang="en-US" sz="1200" dirty="0"/>
          </a:p>
        </p:txBody>
      </p:sp>
      <p:sp>
        <p:nvSpPr>
          <p:cNvPr id="5" name="Shape 2"/>
          <p:cNvSpPr/>
          <p:nvPr/>
        </p:nvSpPr>
        <p:spPr>
          <a:xfrm>
            <a:off x="4114800" y="137160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3"/>
          <p:cNvSpPr/>
          <p:nvPr/>
        </p:nvSpPr>
        <p:spPr>
          <a:xfrm>
            <a:off x="4297680" y="1572768"/>
            <a:ext cx="640080" cy="640080"/>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4464101" y="1739189"/>
            <a:ext cx="307238" cy="307238"/>
          </a:xfrm>
          <a:prstGeom prst="rect">
            <a:avLst/>
          </a:prstGeom>
        </p:spPr>
      </p:pic>
      <p:sp>
        <p:nvSpPr>
          <p:cNvPr id="8" name="Text 4"/>
          <p:cNvSpPr txBox="1"/>
          <p:nvPr/>
        </p:nvSpPr>
        <p:spPr>
          <a:xfrm>
            <a:off x="5120640" y="146304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Mutlaq barqarorlik</a:t>
            </a:r>
            <a:endParaRPr lang="en-US" sz="1500" dirty="0"/>
          </a:p>
        </p:txBody>
      </p:sp>
      <p:sp>
        <p:nvSpPr>
          <p:cNvPr id="9" name="Text 5"/>
          <p:cNvSpPr txBox="1"/>
          <p:nvPr/>
        </p:nvSpPr>
        <p:spPr>
          <a:xfrm>
            <a:off x="7269480" y="144475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zaxiralar to‘liq o‘z aylanma mablag‘lari hisobidan qoplanadi; qarzga ehtiyoj yo‘q</a:t>
            </a:r>
            <a:endParaRPr lang="en-US" sz="1350" dirty="0"/>
          </a:p>
        </p:txBody>
      </p:sp>
      <p:sp>
        <p:nvSpPr>
          <p:cNvPr id="10" name="Text 6"/>
          <p:cNvSpPr txBox="1"/>
          <p:nvPr/>
        </p:nvSpPr>
        <p:spPr>
          <a:xfrm>
            <a:off x="10561320" y="1463040"/>
            <a:ext cx="960120" cy="868680"/>
          </a:xfrm>
          <a:prstGeom prst="rect">
            <a:avLst/>
          </a:prstGeom>
          <a:noFill/>
          <a:ln/>
        </p:spPr>
        <p:txBody>
          <a:bodyPr wrap="square" lIns="0" tIns="0" rIns="0" bIns="0" rtlCol="0" anchor="ctr"/>
          <a:lstStyle/>
          <a:p>
            <a:pPr algn="ctr" indent="0" marL="0">
              <a:buNone/>
            </a:pPr>
            <a:r>
              <a:rPr lang="en-US" sz="1500" b="1" dirty="0">
                <a:solidFill>
                  <a:srgbClr val="0E9F9A"/>
                </a:solidFill>
                <a:latin typeface="Cambria" pitchFamily="34" charset="0"/>
                <a:ea typeface="Cambria" pitchFamily="34" charset="-122"/>
                <a:cs typeface="Cambria" pitchFamily="34" charset="-120"/>
              </a:rPr>
              <a:t>A</a:t>
            </a:r>
            <a:endParaRPr lang="en-US" sz="1500" dirty="0"/>
          </a:p>
        </p:txBody>
      </p:sp>
      <p:sp>
        <p:nvSpPr>
          <p:cNvPr id="11" name="Shape 7"/>
          <p:cNvSpPr/>
          <p:nvPr/>
        </p:nvSpPr>
        <p:spPr>
          <a:xfrm>
            <a:off x="4114800" y="256032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2" name="Shape 8"/>
          <p:cNvSpPr/>
          <p:nvPr/>
        </p:nvSpPr>
        <p:spPr>
          <a:xfrm>
            <a:off x="4297680" y="2761488"/>
            <a:ext cx="640080" cy="640080"/>
          </a:xfrm>
          <a:prstGeom prst="ellipse">
            <a:avLst/>
          </a:prstGeom>
          <a:solidFill>
            <a:srgbClr val="3B6EA5"/>
          </a:solidFill>
          <a:ln w="12700">
            <a:solidFill>
              <a:srgbClr val="3B6EA5"/>
            </a:solidFill>
            <a:prstDash val="solid"/>
          </a:ln>
        </p:spPr>
      </p:sp>
      <p:pic>
        <p:nvPicPr>
          <p:cNvPr id="13" name="Image 2" descr="preencoded.png">    </p:cNvPr>
          <p:cNvPicPr>
            <a:picLocks noChangeAspect="1"/>
          </p:cNvPicPr>
          <p:nvPr/>
        </p:nvPicPr>
        <p:blipFill>
          <a:blip r:embed="rId3"/>
          <a:stretch>
            <a:fillRect/>
          </a:stretch>
        </p:blipFill>
        <p:spPr>
          <a:xfrm>
            <a:off x="4464101" y="2927909"/>
            <a:ext cx="307238" cy="307238"/>
          </a:xfrm>
          <a:prstGeom prst="rect">
            <a:avLst/>
          </a:prstGeom>
        </p:spPr>
      </p:pic>
      <p:sp>
        <p:nvSpPr>
          <p:cNvPr id="14" name="Text 9"/>
          <p:cNvSpPr txBox="1"/>
          <p:nvPr/>
        </p:nvSpPr>
        <p:spPr>
          <a:xfrm>
            <a:off x="5120640" y="265176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Normal barqarorlik</a:t>
            </a:r>
            <a:endParaRPr lang="en-US" sz="1500" dirty="0"/>
          </a:p>
        </p:txBody>
      </p:sp>
      <p:sp>
        <p:nvSpPr>
          <p:cNvPr id="15" name="Text 10"/>
          <p:cNvSpPr txBox="1"/>
          <p:nvPr/>
        </p:nvSpPr>
        <p:spPr>
          <a:xfrm>
            <a:off x="7269480" y="263347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o‘z mablag‘lari va uzoq muddatli kreditlar yetarli; to‘lov qobiliyati kafolatlangan</a:t>
            </a:r>
            <a:endParaRPr lang="en-US" sz="1350" dirty="0"/>
          </a:p>
        </p:txBody>
      </p:sp>
      <p:sp>
        <p:nvSpPr>
          <p:cNvPr id="16" name="Text 11"/>
          <p:cNvSpPr txBox="1"/>
          <p:nvPr/>
        </p:nvSpPr>
        <p:spPr>
          <a:xfrm>
            <a:off x="10561320" y="2651760"/>
            <a:ext cx="960120" cy="868680"/>
          </a:xfrm>
          <a:prstGeom prst="rect">
            <a:avLst/>
          </a:prstGeom>
          <a:noFill/>
          <a:ln/>
        </p:spPr>
        <p:txBody>
          <a:bodyPr wrap="square" lIns="0" tIns="0" rIns="0" bIns="0" rtlCol="0" anchor="ctr"/>
          <a:lstStyle/>
          <a:p>
            <a:pPr algn="ctr" indent="0" marL="0">
              <a:buNone/>
            </a:pPr>
            <a:r>
              <a:rPr lang="en-US" sz="1500" b="1" dirty="0">
                <a:solidFill>
                  <a:srgbClr val="3B6EA5"/>
                </a:solidFill>
                <a:latin typeface="Cambria" pitchFamily="34" charset="0"/>
                <a:ea typeface="Cambria" pitchFamily="34" charset="-122"/>
                <a:cs typeface="Cambria" pitchFamily="34" charset="-120"/>
              </a:rPr>
              <a:t>B</a:t>
            </a:r>
            <a:endParaRPr lang="en-US" sz="1500" dirty="0"/>
          </a:p>
        </p:txBody>
      </p:sp>
      <p:sp>
        <p:nvSpPr>
          <p:cNvPr id="17" name="Shape 12"/>
          <p:cNvSpPr/>
          <p:nvPr/>
        </p:nvSpPr>
        <p:spPr>
          <a:xfrm>
            <a:off x="4114800" y="374904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Shape 13"/>
          <p:cNvSpPr/>
          <p:nvPr/>
        </p:nvSpPr>
        <p:spPr>
          <a:xfrm>
            <a:off x="4297680" y="3950208"/>
            <a:ext cx="640080" cy="640080"/>
          </a:xfrm>
          <a:prstGeom prst="ellipse">
            <a:avLst/>
          </a:prstGeom>
          <a:solidFill>
            <a:srgbClr val="F2A541"/>
          </a:solidFill>
          <a:ln w="12700">
            <a:solidFill>
              <a:srgbClr val="F2A541"/>
            </a:solidFill>
            <a:prstDash val="solid"/>
          </a:ln>
        </p:spPr>
      </p:sp>
      <p:pic>
        <p:nvPicPr>
          <p:cNvPr id="19" name="Image 3" descr="preencoded.png">    </p:cNvPr>
          <p:cNvPicPr>
            <a:picLocks noChangeAspect="1"/>
          </p:cNvPicPr>
          <p:nvPr/>
        </p:nvPicPr>
        <p:blipFill>
          <a:blip r:embed="rId4"/>
          <a:stretch>
            <a:fillRect/>
          </a:stretch>
        </p:blipFill>
        <p:spPr>
          <a:xfrm>
            <a:off x="4464101" y="4116629"/>
            <a:ext cx="307238" cy="307238"/>
          </a:xfrm>
          <a:prstGeom prst="rect">
            <a:avLst/>
          </a:prstGeom>
        </p:spPr>
      </p:pic>
      <p:sp>
        <p:nvSpPr>
          <p:cNvPr id="20" name="Text 14"/>
          <p:cNvSpPr txBox="1"/>
          <p:nvPr/>
        </p:nvSpPr>
        <p:spPr>
          <a:xfrm>
            <a:off x="5120640" y="384048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Beqaror holat</a:t>
            </a:r>
            <a:endParaRPr lang="en-US" sz="1500" dirty="0"/>
          </a:p>
        </p:txBody>
      </p:sp>
      <p:sp>
        <p:nvSpPr>
          <p:cNvPr id="21" name="Text 15"/>
          <p:cNvSpPr txBox="1"/>
          <p:nvPr/>
        </p:nvSpPr>
        <p:spPr>
          <a:xfrm>
            <a:off x="7269480" y="382219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qisqa muddatli kreditlar jalb qilinadi; to‘lov qobiliyati buzilishi mumkin</a:t>
            </a:r>
            <a:endParaRPr lang="en-US" sz="1350" dirty="0"/>
          </a:p>
        </p:txBody>
      </p:sp>
      <p:sp>
        <p:nvSpPr>
          <p:cNvPr id="22" name="Text 16"/>
          <p:cNvSpPr txBox="1"/>
          <p:nvPr/>
        </p:nvSpPr>
        <p:spPr>
          <a:xfrm>
            <a:off x="10561320" y="3840480"/>
            <a:ext cx="960120" cy="868680"/>
          </a:xfrm>
          <a:prstGeom prst="rect">
            <a:avLst/>
          </a:prstGeom>
          <a:noFill/>
          <a:ln/>
        </p:spPr>
        <p:txBody>
          <a:bodyPr wrap="square" lIns="0" tIns="0" rIns="0" bIns="0" rtlCol="0" anchor="ctr"/>
          <a:lstStyle/>
          <a:p>
            <a:pPr algn="ctr" indent="0" marL="0">
              <a:buNone/>
            </a:pPr>
            <a:r>
              <a:rPr lang="en-US" sz="1500" b="1" dirty="0">
                <a:solidFill>
                  <a:srgbClr val="F2A541"/>
                </a:solidFill>
                <a:latin typeface="Cambria" pitchFamily="34" charset="0"/>
                <a:ea typeface="Cambria" pitchFamily="34" charset="-122"/>
                <a:cs typeface="Cambria" pitchFamily="34" charset="-120"/>
              </a:rPr>
              <a:t>C</a:t>
            </a:r>
            <a:endParaRPr lang="en-US" sz="1500" dirty="0"/>
          </a:p>
        </p:txBody>
      </p:sp>
      <p:sp>
        <p:nvSpPr>
          <p:cNvPr id="23" name="Shape 17"/>
          <p:cNvSpPr/>
          <p:nvPr/>
        </p:nvSpPr>
        <p:spPr>
          <a:xfrm>
            <a:off x="4114800" y="4937760"/>
            <a:ext cx="7498080" cy="1051560"/>
          </a:xfrm>
          <a:prstGeom prst="roundRect">
            <a:avLst>
              <a:gd name="adj" fmla="val 10435"/>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Shape 18"/>
          <p:cNvSpPr/>
          <p:nvPr/>
        </p:nvSpPr>
        <p:spPr>
          <a:xfrm>
            <a:off x="4297680" y="5138928"/>
            <a:ext cx="640080" cy="640080"/>
          </a:xfrm>
          <a:prstGeom prst="ellipse">
            <a:avLst/>
          </a:prstGeom>
          <a:solidFill>
            <a:srgbClr val="C0392B"/>
          </a:solidFill>
          <a:ln w="12700">
            <a:solidFill>
              <a:srgbClr val="C0392B"/>
            </a:solidFill>
            <a:prstDash val="solid"/>
          </a:ln>
        </p:spPr>
      </p:sp>
      <p:pic>
        <p:nvPicPr>
          <p:cNvPr id="25" name="Image 4" descr="preencoded.png">    </p:cNvPr>
          <p:cNvPicPr>
            <a:picLocks noChangeAspect="1"/>
          </p:cNvPicPr>
          <p:nvPr/>
        </p:nvPicPr>
        <p:blipFill>
          <a:blip r:embed="rId5"/>
          <a:stretch>
            <a:fillRect/>
          </a:stretch>
        </p:blipFill>
        <p:spPr>
          <a:xfrm>
            <a:off x="4464101" y="5305349"/>
            <a:ext cx="307238" cy="307238"/>
          </a:xfrm>
          <a:prstGeom prst="rect">
            <a:avLst/>
          </a:prstGeom>
        </p:spPr>
      </p:pic>
      <p:sp>
        <p:nvSpPr>
          <p:cNvPr id="26" name="Text 19"/>
          <p:cNvSpPr txBox="1"/>
          <p:nvPr/>
        </p:nvSpPr>
        <p:spPr>
          <a:xfrm>
            <a:off x="5120640" y="5029200"/>
            <a:ext cx="2103120" cy="868680"/>
          </a:xfrm>
          <a:prstGeom prst="rect">
            <a:avLst/>
          </a:prstGeom>
          <a:noFill/>
          <a:ln/>
        </p:spPr>
        <p:txBody>
          <a:bodyPr wrap="square" lIns="0" tIns="0" rIns="0" bIns="0" rtlCol="0" anchor="ctr"/>
          <a:lstStyle/>
          <a:p>
            <a:pPr indent="0" marL="0">
              <a:buNone/>
            </a:pPr>
            <a:r>
              <a:rPr lang="en-US" sz="1500" b="1" dirty="0">
                <a:solidFill>
                  <a:srgbClr val="0D2F4F"/>
                </a:solidFill>
              </a:rPr>
              <a:t>Inqirozli holat</a:t>
            </a:r>
            <a:endParaRPr lang="en-US" sz="1500" dirty="0"/>
          </a:p>
        </p:txBody>
      </p:sp>
      <p:sp>
        <p:nvSpPr>
          <p:cNvPr id="27" name="Text 20"/>
          <p:cNvSpPr txBox="1"/>
          <p:nvPr/>
        </p:nvSpPr>
        <p:spPr>
          <a:xfrm>
            <a:off x="7269480" y="5010912"/>
            <a:ext cx="3246120" cy="914400"/>
          </a:xfrm>
          <a:prstGeom prst="rect">
            <a:avLst/>
          </a:prstGeom>
          <a:noFill/>
          <a:ln/>
        </p:spPr>
        <p:txBody>
          <a:bodyPr wrap="square" lIns="0" tIns="0" rIns="0" bIns="0" rtlCol="0" anchor="ctr"/>
          <a:lstStyle/>
          <a:p>
            <a:pPr indent="0" marL="0">
              <a:buNone/>
            </a:pPr>
            <a:r>
              <a:rPr lang="en-US" sz="1350" dirty="0">
                <a:solidFill>
                  <a:srgbClr val="1B2A3A"/>
                </a:solidFill>
                <a:latin typeface="Calibri" pitchFamily="34" charset="0"/>
                <a:ea typeface="Calibri" pitchFamily="34" charset="-122"/>
                <a:cs typeface="Calibri" pitchFamily="34" charset="-120"/>
              </a:rPr>
              <a:t>zaxiralar manbalar bilan qoplanmaydi; muddati o‘tgan qarzlar, bankrotlik xavfi</a:t>
            </a:r>
            <a:endParaRPr lang="en-US" sz="1350" dirty="0"/>
          </a:p>
        </p:txBody>
      </p:sp>
      <p:sp>
        <p:nvSpPr>
          <p:cNvPr id="28" name="Text 21"/>
          <p:cNvSpPr txBox="1"/>
          <p:nvPr/>
        </p:nvSpPr>
        <p:spPr>
          <a:xfrm>
            <a:off x="10561320" y="5029200"/>
            <a:ext cx="960120" cy="868680"/>
          </a:xfrm>
          <a:prstGeom prst="rect">
            <a:avLst/>
          </a:prstGeom>
          <a:noFill/>
          <a:ln/>
        </p:spPr>
        <p:txBody>
          <a:bodyPr wrap="square" lIns="0" tIns="0" rIns="0" bIns="0" rtlCol="0" anchor="ctr"/>
          <a:lstStyle/>
          <a:p>
            <a:pPr algn="ctr" indent="0" marL="0">
              <a:buNone/>
            </a:pPr>
            <a:r>
              <a:rPr lang="en-US" sz="1500" b="1" dirty="0">
                <a:solidFill>
                  <a:srgbClr val="C0392B"/>
                </a:solidFill>
                <a:latin typeface="Cambria" pitchFamily="34" charset="0"/>
                <a:ea typeface="Cambria" pitchFamily="34" charset="-122"/>
                <a:cs typeface="Cambria" pitchFamily="34" charset="-120"/>
              </a:rPr>
              <a:t>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Moliyaviy barqarorlikka ta’sir etuvchi omillar</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Moliyaviy barqarorlik korxona boshqara oladigan ichki va unga bog‘liq bo‘lmagan tashqi omillar ta’sirida shakllanadi:</a:t>
            </a:r>
            <a:endParaRPr lang="en-US" sz="1400" dirty="0"/>
          </a:p>
        </p:txBody>
      </p:sp>
      <p:sp>
        <p:nvSpPr>
          <p:cNvPr id="4" name="Shape 2"/>
          <p:cNvSpPr/>
          <p:nvPr/>
        </p:nvSpPr>
        <p:spPr>
          <a:xfrm>
            <a:off x="54864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Shape 3"/>
          <p:cNvSpPr/>
          <p:nvPr/>
        </p:nvSpPr>
        <p:spPr>
          <a:xfrm>
            <a:off x="548640" y="2148840"/>
            <a:ext cx="3611880" cy="731520"/>
          </a:xfrm>
          <a:prstGeom prst="roundRect">
            <a:avLst>
              <a:gd name="adj" fmla="val 15000"/>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731520" y="2304288"/>
            <a:ext cx="411480" cy="411480"/>
          </a:xfrm>
          <a:prstGeom prst="rect">
            <a:avLst/>
          </a:prstGeom>
        </p:spPr>
      </p:pic>
      <p:sp>
        <p:nvSpPr>
          <p:cNvPr id="7" name="Text 4"/>
          <p:cNvSpPr txBox="1"/>
          <p:nvPr/>
        </p:nvSpPr>
        <p:spPr>
          <a:xfrm>
            <a:off x="128016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Ichki omillar</a:t>
            </a:r>
            <a:endParaRPr lang="en-US" sz="1600" dirty="0"/>
          </a:p>
        </p:txBody>
      </p:sp>
      <p:sp>
        <p:nvSpPr>
          <p:cNvPr id="8" name="Text 5"/>
          <p:cNvSpPr txBox="1"/>
          <p:nvPr/>
        </p:nvSpPr>
        <p:spPr>
          <a:xfrm>
            <a:off x="77724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kapital tuzilmasi (o‘z va qarz mablag‘lari nisbati)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aktivlar tarkibi va aylanuvchanligi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mahsulot tannarxi va rentabellik</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debitorlik qarzlarini boshqarish</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zaxiralar hajmi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moliyaviy rejalashtirish sifati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dividend siyosati</a:t>
            </a:r>
            <a:endParaRPr lang="en-US" sz="1400" dirty="0"/>
          </a:p>
        </p:txBody>
      </p:sp>
      <p:sp>
        <p:nvSpPr>
          <p:cNvPr id="9" name="Shape 6"/>
          <p:cNvSpPr/>
          <p:nvPr/>
        </p:nvSpPr>
        <p:spPr>
          <a:xfrm>
            <a:off x="4297680" y="2148840"/>
            <a:ext cx="3611880" cy="4023360"/>
          </a:xfrm>
          <a:prstGeom prst="roundRect">
            <a:avLst>
              <a:gd name="adj" fmla="val 303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0" name="Shape 7"/>
          <p:cNvSpPr/>
          <p:nvPr/>
        </p:nvSpPr>
        <p:spPr>
          <a:xfrm>
            <a:off x="4297680" y="2148840"/>
            <a:ext cx="3611880" cy="731520"/>
          </a:xfrm>
          <a:prstGeom prst="roundRect">
            <a:avLst>
              <a:gd name="adj" fmla="val 15000"/>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4480560" y="2304288"/>
            <a:ext cx="411480" cy="411480"/>
          </a:xfrm>
          <a:prstGeom prst="rect">
            <a:avLst/>
          </a:prstGeom>
        </p:spPr>
      </p:pic>
      <p:sp>
        <p:nvSpPr>
          <p:cNvPr id="12" name="Text 8"/>
          <p:cNvSpPr txBox="1"/>
          <p:nvPr/>
        </p:nvSpPr>
        <p:spPr>
          <a:xfrm>
            <a:off x="5029200" y="2148840"/>
            <a:ext cx="2743200" cy="731520"/>
          </a:xfrm>
          <a:prstGeom prst="rect">
            <a:avLst/>
          </a:prstGeom>
          <a:noFill/>
          <a:ln/>
        </p:spPr>
        <p:txBody>
          <a:bodyPr wrap="square" lIns="0" tIns="0" rIns="0" bIns="0" rtlCol="0" anchor="ctr"/>
          <a:lstStyle/>
          <a:p>
            <a:pPr indent="0" marL="0">
              <a:buNone/>
            </a:pPr>
            <a:r>
              <a:rPr lang="en-US" sz="1600" b="1" dirty="0">
                <a:solidFill>
                  <a:srgbClr val="FFFFFF"/>
                </a:solidFill>
              </a:rPr>
              <a:t>Tashqi omillar</a:t>
            </a:r>
            <a:endParaRPr lang="en-US" sz="1600" dirty="0"/>
          </a:p>
        </p:txBody>
      </p:sp>
      <p:sp>
        <p:nvSpPr>
          <p:cNvPr id="13" name="Text 9"/>
          <p:cNvSpPr txBox="1"/>
          <p:nvPr/>
        </p:nvSpPr>
        <p:spPr>
          <a:xfrm>
            <a:off x="4526280" y="3017520"/>
            <a:ext cx="3200400" cy="30632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iqtisodiy vaziyat va inflyatsiya</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markaziy bank foiz stavkasi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soliq siyosati va qonunchilik</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valyuta kursi o‘zgarishi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bozor talabi va raqobat</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xomashyo narxlari</a:t>
            </a:r>
            <a:endParaRPr lang="en-US" sz="1400" dirty="0"/>
          </a:p>
          <a:p>
            <a:pPr marL="177800" indent="-177800">
              <a:spcAft>
                <a:spcPts val="600"/>
              </a:spcAft>
              <a:buSzPct val="100000"/>
              <a:buChar char="•"/>
            </a:pPr>
            <a:r>
              <a:rPr lang="en-US" sz="1400" dirty="0">
                <a:solidFill>
                  <a:srgbClr val="1B2A3A"/>
                </a:solidFill>
                <a:latin typeface="Calibri" pitchFamily="34" charset="0"/>
                <a:ea typeface="Calibri" pitchFamily="34" charset="-122"/>
                <a:cs typeface="Calibri" pitchFamily="34" charset="-120"/>
              </a:rPr>
              <a:t>moliya bozorining rivojlanganligi</a:t>
            </a:r>
            <a:endParaRPr lang="en-US" sz="1400" dirty="0"/>
          </a:p>
        </p:txBody>
      </p:sp>
      <p:sp>
        <p:nvSpPr>
          <p:cNvPr id="14" name="Shape 10"/>
          <p:cNvSpPr/>
          <p:nvPr/>
        </p:nvSpPr>
        <p:spPr>
          <a:xfrm>
            <a:off x="8046720" y="2148840"/>
            <a:ext cx="3566160" cy="4023360"/>
          </a:xfrm>
          <a:prstGeom prst="roundRect">
            <a:avLst>
              <a:gd name="adj" fmla="val 3077"/>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5" name="Text 11"/>
          <p:cNvSpPr txBox="1"/>
          <p:nvPr/>
        </p:nvSpPr>
        <p:spPr>
          <a:xfrm>
            <a:off x="8229600" y="2286000"/>
            <a:ext cx="3200400" cy="411480"/>
          </a:xfrm>
          <a:prstGeom prst="rect">
            <a:avLst/>
          </a:prstGeom>
          <a:noFill/>
          <a:ln/>
        </p:spPr>
        <p:txBody>
          <a:bodyPr wrap="square" lIns="0" tIns="0" rIns="0" bIns="0" rtlCol="0" anchor="ctr"/>
          <a:lstStyle/>
          <a:p>
            <a:pPr indent="0" marL="0">
              <a:buNone/>
            </a:pPr>
            <a:r>
              <a:rPr lang="en-US" sz="1600" b="1" dirty="0">
                <a:solidFill>
                  <a:srgbClr val="0D2F4F"/>
                </a:solidFill>
              </a:rPr>
              <a:t>Asosiy xatarlar</a:t>
            </a:r>
            <a:endParaRPr lang="en-US" sz="1600" dirty="0"/>
          </a:p>
        </p:txBody>
      </p:sp>
      <p:sp>
        <p:nvSpPr>
          <p:cNvPr id="16" name="Shape 12"/>
          <p:cNvSpPr/>
          <p:nvPr/>
        </p:nvSpPr>
        <p:spPr>
          <a:xfrm>
            <a:off x="8229600" y="2880360"/>
            <a:ext cx="548640" cy="548640"/>
          </a:xfrm>
          <a:prstGeom prst="ellipse">
            <a:avLst/>
          </a:prstGeom>
          <a:solidFill>
            <a:srgbClr val="0E9F9A"/>
          </a:solidFill>
          <a:ln w="12700">
            <a:solidFill>
              <a:srgbClr val="0E9F9A"/>
            </a:solidFill>
            <a:prstDash val="solid"/>
          </a:ln>
        </p:spPr>
      </p:sp>
      <p:pic>
        <p:nvPicPr>
          <p:cNvPr id="17" name="Image 2" descr="preencoded.png">    </p:cNvPr>
          <p:cNvPicPr>
            <a:picLocks noChangeAspect="1"/>
          </p:cNvPicPr>
          <p:nvPr/>
        </p:nvPicPr>
        <p:blipFill>
          <a:blip r:embed="rId3"/>
          <a:stretch>
            <a:fillRect/>
          </a:stretch>
        </p:blipFill>
        <p:spPr>
          <a:xfrm>
            <a:off x="8372246" y="3023006"/>
            <a:ext cx="263347" cy="263347"/>
          </a:xfrm>
          <a:prstGeom prst="rect">
            <a:avLst/>
          </a:prstGeom>
        </p:spPr>
      </p:pic>
      <p:sp>
        <p:nvSpPr>
          <p:cNvPr id="18" name="Text 13"/>
          <p:cNvSpPr txBox="1"/>
          <p:nvPr/>
        </p:nvSpPr>
        <p:spPr>
          <a:xfrm>
            <a:off x="8915400" y="2834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Foiz xatari</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kredit stavkasining oshishi qarz xarajatini ko‘paytiradi</a:t>
            </a:r>
            <a:endParaRPr lang="en-US" sz="1400" dirty="0"/>
          </a:p>
        </p:txBody>
      </p:sp>
      <p:sp>
        <p:nvSpPr>
          <p:cNvPr id="19" name="Shape 14"/>
          <p:cNvSpPr/>
          <p:nvPr/>
        </p:nvSpPr>
        <p:spPr>
          <a:xfrm>
            <a:off x="8229600" y="4023360"/>
            <a:ext cx="548640" cy="548640"/>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8372246" y="4166006"/>
            <a:ext cx="263347" cy="263347"/>
          </a:xfrm>
          <a:prstGeom prst="rect">
            <a:avLst/>
          </a:prstGeom>
        </p:spPr>
      </p:pic>
      <p:sp>
        <p:nvSpPr>
          <p:cNvPr id="21" name="Text 15"/>
          <p:cNvSpPr txBox="1"/>
          <p:nvPr/>
        </p:nvSpPr>
        <p:spPr>
          <a:xfrm>
            <a:off x="8915400" y="3977640"/>
            <a:ext cx="2606040" cy="10515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Likvidlik xatari</a:t>
            </a:r>
            <a:endParaRPr lang="en-US" sz="1400" dirty="0"/>
          </a:p>
          <a:p>
            <a:pPr indent="0" marL="0">
              <a:buNone/>
            </a:pPr>
            <a:r>
              <a:rPr lang="en-US" sz="1300" dirty="0">
                <a:solidFill>
                  <a:srgbClr val="1B2A3A"/>
                </a:solidFill>
                <a:latin typeface="Calibri" pitchFamily="34" charset="0"/>
                <a:ea typeface="Calibri" pitchFamily="34" charset="-122"/>
                <a:cs typeface="Calibri" pitchFamily="34" charset="-120"/>
              </a:rPr>
              <a:t>pul mablag‘lari yetishmasligi to‘lovlarni kechiktiradi</a:t>
            </a:r>
            <a:endParaRPr lang="en-US" sz="1400" dirty="0"/>
          </a:p>
        </p:txBody>
      </p:sp>
      <p:sp>
        <p:nvSpPr>
          <p:cNvPr id="22" name="Text 16"/>
          <p:cNvSpPr txBox="1"/>
          <p:nvPr/>
        </p:nvSpPr>
        <p:spPr>
          <a:xfrm>
            <a:off x="8229600" y="5349240"/>
            <a:ext cx="3246120" cy="731520"/>
          </a:xfrm>
          <a:prstGeom prst="rect">
            <a:avLst/>
          </a:prstGeom>
          <a:noFill/>
          <a:ln/>
        </p:spPr>
        <p:txBody>
          <a:bodyPr wrap="square" lIns="0" tIns="0" rIns="0" bIns="0" rtlCol="0" anchor="ctr"/>
          <a:lstStyle/>
          <a:p>
            <a:pPr indent="0" marL="0">
              <a:buNone/>
            </a:pPr>
            <a:r>
              <a:rPr lang="en-US" sz="1300" i="1" dirty="0">
                <a:solidFill>
                  <a:srgbClr val="4A5B6C"/>
                </a:solidFill>
              </a:rPr>
              <a:t>Xatarlarni oldindan aniqlash – barqarorlikni saqlashning birinchi sharti.</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Moliyaviy rivojlanish strategiyasini ishlab chiqish</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Moliyaviy tahlil</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joriy moliyaviy holat, ko‘rsatkichlar va xatarlarni baholash</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Moliyaviy maqsadlar</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rentabellik, likvidlik, kapital tuzilmasi bo‘yicha maqsadli ko‘rsatkichlar</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Moliyaviy siyosat</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kapital, investitsiya, dividend va aylanma mablag‘lar siyosati</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Byudjetlashtirish</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daromad-xarajat, pul oqimlari va balans byudjetlari</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Nazorat</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byudjet ijrosi, og‘ishlar tahlili, strategiyaga tuzatishlar</a:t>
            </a:r>
            <a:endParaRPr lang="en-US" sz="1300" dirty="0"/>
          </a:p>
        </p:txBody>
      </p:sp>
      <p:pic>
        <p:nvPicPr>
          <p:cNvPr id="38" name="Image 5" descr="img9/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Moliyaviy strategiya</a:t>
            </a:r>
            <a:pPr indent="0" marL="0">
              <a:buNone/>
            </a:pPr>
            <a:r>
              <a:rPr lang="en-US" sz="1400" dirty="0">
                <a:solidFill>
                  <a:srgbClr val="1B2A3A"/>
                </a:solidFill>
                <a:latin typeface="Calibri" pitchFamily="34" charset="0"/>
                <a:ea typeface="Calibri" pitchFamily="34" charset="-122"/>
                <a:cs typeface="Calibri" pitchFamily="34" charset="-120"/>
              </a:rPr>
              <a:t> – korxonaning moliyaviy resurslarini shakllantirish, taqsimlash va ulardan foydalanish bo‘yicha uzoq muddatli maqsadlar va ularga erishish yo‘llari tizimi. U umumiy rivojlanish strategiyasiga bo‘ysunadi va uni zarur moliyaviy resurslar bilan ta’minlaydi. Asosiy vazifa – </a:t>
            </a:r>
            <a:pPr indent="0" marL="0">
              <a:buNone/>
            </a:pPr>
            <a:r>
              <a:rPr lang="en-US" sz="1400" b="1" dirty="0">
                <a:solidFill>
                  <a:srgbClr val="0E9F9A"/>
                </a:solidFill>
                <a:latin typeface="Calibri" pitchFamily="34" charset="0"/>
                <a:ea typeface="Calibri" pitchFamily="34" charset="-122"/>
                <a:cs typeface="Calibri" pitchFamily="34" charset="-120"/>
              </a:rPr>
              <a:t>o‘sish sur’ati va moliyaviy barqarorlik o‘rtasidagi muvozanatni</a:t>
            </a:r>
            <a:pPr indent="0" marL="0">
              <a:buNone/>
            </a:pPr>
            <a:r>
              <a:rPr lang="en-US" sz="1400" dirty="0">
                <a:solidFill>
                  <a:srgbClr val="1B2A3A"/>
                </a:solidFill>
                <a:latin typeface="Calibri" pitchFamily="34" charset="0"/>
                <a:ea typeface="Calibri" pitchFamily="34" charset="-122"/>
                <a:cs typeface="Calibri" pitchFamily="34" charset="-120"/>
              </a:rPr>
              <a:t> saqlash: haddan tashqari tez o‘sish qarz yukini oshirib, barqarorlikni buzishi mumkin.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Moliyaviy barqarorlikni ta’minlash yo‘llari</a:t>
            </a:r>
            <a:endParaRPr lang="en-US" sz="3000" dirty="0"/>
          </a:p>
        </p:txBody>
      </p:sp>
      <p:sp>
        <p:nvSpPr>
          <p:cNvPr id="3" name="Shape 1"/>
          <p:cNvSpPr/>
          <p:nvPr/>
        </p:nvSpPr>
        <p:spPr>
          <a:xfrm>
            <a:off x="54864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Shape 2"/>
          <p:cNvSpPr/>
          <p:nvPr/>
        </p:nvSpPr>
        <p:spPr>
          <a:xfrm>
            <a:off x="713232" y="1536192"/>
            <a:ext cx="566928" cy="566928"/>
          </a:xfrm>
          <a:prstGeom prst="ellipse">
            <a:avLst/>
          </a:prstGeom>
          <a:solidFill>
            <a:srgbClr val="0E9F9A"/>
          </a:solidFill>
          <a:ln w="12700">
            <a:solidFill>
              <a:srgbClr val="0E9F9A"/>
            </a:solidFill>
            <a:prstDash val="solid"/>
          </a:ln>
        </p:spPr>
      </p:sp>
      <p:pic>
        <p:nvPicPr>
          <p:cNvPr id="5" name="Image 0" descr="preencoded.png">    </p:cNvPr>
          <p:cNvPicPr>
            <a:picLocks noChangeAspect="1"/>
          </p:cNvPicPr>
          <p:nvPr/>
        </p:nvPicPr>
        <p:blipFill>
          <a:blip r:embed="rId1"/>
          <a:stretch>
            <a:fillRect/>
          </a:stretch>
        </p:blipFill>
        <p:spPr>
          <a:xfrm>
            <a:off x="860633" y="1683593"/>
            <a:ext cx="272125" cy="272125"/>
          </a:xfrm>
          <a:prstGeom prst="rect">
            <a:avLst/>
          </a:prstGeom>
        </p:spPr>
      </p:pic>
      <p:sp>
        <p:nvSpPr>
          <p:cNvPr id="6" name="Text 3"/>
          <p:cNvSpPr txBox="1"/>
          <p:nvPr/>
        </p:nvSpPr>
        <p:spPr>
          <a:xfrm>
            <a:off x="137160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Kapital tuzilmasini optimallash</a:t>
            </a:r>
            <a:endParaRPr lang="en-US" sz="1450" dirty="0"/>
          </a:p>
        </p:txBody>
      </p:sp>
      <p:sp>
        <p:nvSpPr>
          <p:cNvPr id="7" name="Text 4"/>
          <p:cNvSpPr txBox="1"/>
          <p:nvPr/>
        </p:nvSpPr>
        <p:spPr>
          <a:xfrm>
            <a:off x="71323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o‘z va qarz mablag‘larining maqbul nisbatini saqlash</a:t>
            </a:r>
            <a:endParaRPr lang="en-US" sz="1350" dirty="0"/>
          </a:p>
        </p:txBody>
      </p:sp>
      <p:sp>
        <p:nvSpPr>
          <p:cNvPr id="8" name="Shape 5"/>
          <p:cNvSpPr/>
          <p:nvPr/>
        </p:nvSpPr>
        <p:spPr>
          <a:xfrm>
            <a:off x="333756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3502152" y="1536192"/>
            <a:ext cx="566928" cy="566928"/>
          </a:xfrm>
          <a:prstGeom prst="ellipse">
            <a:avLst/>
          </a:prstGeom>
          <a:solidFill>
            <a:srgbClr val="0D2F4F"/>
          </a:solidFill>
          <a:ln w="12700">
            <a:solidFill>
              <a:srgbClr val="0D2F4F"/>
            </a:solidFill>
            <a:prstDash val="solid"/>
          </a:ln>
        </p:spPr>
      </p:sp>
      <p:pic>
        <p:nvPicPr>
          <p:cNvPr id="10" name="Image 1" descr="preencoded.png">    </p:cNvPr>
          <p:cNvPicPr>
            <a:picLocks noChangeAspect="1"/>
          </p:cNvPicPr>
          <p:nvPr/>
        </p:nvPicPr>
        <p:blipFill>
          <a:blip r:embed="rId2"/>
          <a:stretch>
            <a:fillRect/>
          </a:stretch>
        </p:blipFill>
        <p:spPr>
          <a:xfrm>
            <a:off x="3649553" y="1683593"/>
            <a:ext cx="272125" cy="272125"/>
          </a:xfrm>
          <a:prstGeom prst="rect">
            <a:avLst/>
          </a:prstGeom>
        </p:spPr>
      </p:pic>
      <p:sp>
        <p:nvSpPr>
          <p:cNvPr id="11" name="Text 7"/>
          <p:cNvSpPr txBox="1"/>
          <p:nvPr/>
        </p:nvSpPr>
        <p:spPr>
          <a:xfrm>
            <a:off x="416052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Debitorlik qarzlarini boshqarish</a:t>
            </a:r>
            <a:endParaRPr lang="en-US" sz="1450" dirty="0"/>
          </a:p>
        </p:txBody>
      </p:sp>
      <p:sp>
        <p:nvSpPr>
          <p:cNvPr id="12" name="Text 8"/>
          <p:cNvSpPr txBox="1"/>
          <p:nvPr/>
        </p:nvSpPr>
        <p:spPr>
          <a:xfrm>
            <a:off x="350215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mijozlar to‘lov intizomini nazorat qilish, faktoring</a:t>
            </a:r>
            <a:endParaRPr lang="en-US" sz="1350" dirty="0"/>
          </a:p>
        </p:txBody>
      </p:sp>
      <p:sp>
        <p:nvSpPr>
          <p:cNvPr id="13" name="Shape 9"/>
          <p:cNvSpPr/>
          <p:nvPr/>
        </p:nvSpPr>
        <p:spPr>
          <a:xfrm>
            <a:off x="612648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Shape 10"/>
          <p:cNvSpPr/>
          <p:nvPr/>
        </p:nvSpPr>
        <p:spPr>
          <a:xfrm>
            <a:off x="6291072" y="1536192"/>
            <a:ext cx="566928" cy="566928"/>
          </a:xfrm>
          <a:prstGeom prst="ellipse">
            <a:avLst/>
          </a:prstGeom>
          <a:solidFill>
            <a:srgbClr val="0E9F9A"/>
          </a:solidFill>
          <a:ln w="12700">
            <a:solidFill>
              <a:srgbClr val="0E9F9A"/>
            </a:solidFill>
            <a:prstDash val="solid"/>
          </a:ln>
        </p:spPr>
      </p:sp>
      <p:pic>
        <p:nvPicPr>
          <p:cNvPr id="15" name="Image 2" descr="preencoded.png">    </p:cNvPr>
          <p:cNvPicPr>
            <a:picLocks noChangeAspect="1"/>
          </p:cNvPicPr>
          <p:nvPr/>
        </p:nvPicPr>
        <p:blipFill>
          <a:blip r:embed="rId3"/>
          <a:stretch>
            <a:fillRect/>
          </a:stretch>
        </p:blipFill>
        <p:spPr>
          <a:xfrm>
            <a:off x="6438473" y="1683593"/>
            <a:ext cx="272125" cy="272125"/>
          </a:xfrm>
          <a:prstGeom prst="rect">
            <a:avLst/>
          </a:prstGeom>
        </p:spPr>
      </p:pic>
      <p:sp>
        <p:nvSpPr>
          <p:cNvPr id="16" name="Text 11"/>
          <p:cNvSpPr txBox="1"/>
          <p:nvPr/>
        </p:nvSpPr>
        <p:spPr>
          <a:xfrm>
            <a:off x="694944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Zaxiralarni optimallash</a:t>
            </a:r>
            <a:endParaRPr lang="en-US" sz="1450" dirty="0"/>
          </a:p>
        </p:txBody>
      </p:sp>
      <p:sp>
        <p:nvSpPr>
          <p:cNvPr id="17" name="Text 12"/>
          <p:cNvSpPr txBox="1"/>
          <p:nvPr/>
        </p:nvSpPr>
        <p:spPr>
          <a:xfrm>
            <a:off x="629107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ortiqcha zaxiralarni kamaytirib, aylanma mablag‘larni bo‘shatish</a:t>
            </a:r>
            <a:endParaRPr lang="en-US" sz="1350" dirty="0"/>
          </a:p>
        </p:txBody>
      </p:sp>
      <p:sp>
        <p:nvSpPr>
          <p:cNvPr id="18" name="Shape 13"/>
          <p:cNvSpPr/>
          <p:nvPr/>
        </p:nvSpPr>
        <p:spPr>
          <a:xfrm>
            <a:off x="891540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4"/>
          <p:cNvSpPr/>
          <p:nvPr/>
        </p:nvSpPr>
        <p:spPr>
          <a:xfrm>
            <a:off x="9079992" y="1536192"/>
            <a:ext cx="566928" cy="566928"/>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9227393" y="1683593"/>
            <a:ext cx="272125" cy="272125"/>
          </a:xfrm>
          <a:prstGeom prst="rect">
            <a:avLst/>
          </a:prstGeom>
        </p:spPr>
      </p:pic>
      <p:sp>
        <p:nvSpPr>
          <p:cNvPr id="21" name="Text 15"/>
          <p:cNvSpPr txBox="1"/>
          <p:nvPr/>
        </p:nvSpPr>
        <p:spPr>
          <a:xfrm>
            <a:off x="973836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Xarajatlarni kamaytirish</a:t>
            </a:r>
            <a:endParaRPr lang="en-US" sz="1450" dirty="0"/>
          </a:p>
        </p:txBody>
      </p:sp>
      <p:sp>
        <p:nvSpPr>
          <p:cNvPr id="22" name="Text 16"/>
          <p:cNvSpPr txBox="1"/>
          <p:nvPr/>
        </p:nvSpPr>
        <p:spPr>
          <a:xfrm>
            <a:off x="907999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tannarxni pasaytirish va rentabellikni oshirish</a:t>
            </a:r>
            <a:endParaRPr lang="en-US" sz="1350" dirty="0"/>
          </a:p>
        </p:txBody>
      </p:sp>
      <p:sp>
        <p:nvSpPr>
          <p:cNvPr id="23" name="Shape 17"/>
          <p:cNvSpPr/>
          <p:nvPr/>
        </p:nvSpPr>
        <p:spPr>
          <a:xfrm>
            <a:off x="54864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Shape 18"/>
          <p:cNvSpPr/>
          <p:nvPr/>
        </p:nvSpPr>
        <p:spPr>
          <a:xfrm>
            <a:off x="713232" y="3639312"/>
            <a:ext cx="566928" cy="566928"/>
          </a:xfrm>
          <a:prstGeom prst="ellipse">
            <a:avLst/>
          </a:prstGeom>
          <a:solidFill>
            <a:srgbClr val="0E9F9A"/>
          </a:solidFill>
          <a:ln w="12700">
            <a:solidFill>
              <a:srgbClr val="0E9F9A"/>
            </a:solidFill>
            <a:prstDash val="solid"/>
          </a:ln>
        </p:spPr>
      </p:sp>
      <p:pic>
        <p:nvPicPr>
          <p:cNvPr id="25" name="Image 4" descr="preencoded.png">    </p:cNvPr>
          <p:cNvPicPr>
            <a:picLocks noChangeAspect="1"/>
          </p:cNvPicPr>
          <p:nvPr/>
        </p:nvPicPr>
        <p:blipFill>
          <a:blip r:embed="rId5"/>
          <a:stretch>
            <a:fillRect/>
          </a:stretch>
        </p:blipFill>
        <p:spPr>
          <a:xfrm>
            <a:off x="860633" y="3786713"/>
            <a:ext cx="272125" cy="272125"/>
          </a:xfrm>
          <a:prstGeom prst="rect">
            <a:avLst/>
          </a:prstGeom>
        </p:spPr>
      </p:pic>
      <p:sp>
        <p:nvSpPr>
          <p:cNvPr id="26" name="Text 19"/>
          <p:cNvSpPr txBox="1"/>
          <p:nvPr/>
        </p:nvSpPr>
        <p:spPr>
          <a:xfrm>
            <a:off x="137160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Pul oqimlarini rejalashtirish</a:t>
            </a:r>
            <a:endParaRPr lang="en-US" sz="1450" dirty="0"/>
          </a:p>
        </p:txBody>
      </p:sp>
      <p:sp>
        <p:nvSpPr>
          <p:cNvPr id="27" name="Text 20"/>
          <p:cNvSpPr txBox="1"/>
          <p:nvPr/>
        </p:nvSpPr>
        <p:spPr>
          <a:xfrm>
            <a:off x="71323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to‘lov kalendari va pul oqimlari byudjetini yuritish</a:t>
            </a:r>
            <a:endParaRPr lang="en-US" sz="1350" dirty="0"/>
          </a:p>
        </p:txBody>
      </p:sp>
      <p:sp>
        <p:nvSpPr>
          <p:cNvPr id="28" name="Shape 21"/>
          <p:cNvSpPr/>
          <p:nvPr/>
        </p:nvSpPr>
        <p:spPr>
          <a:xfrm>
            <a:off x="333756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2"/>
          <p:cNvSpPr/>
          <p:nvPr/>
        </p:nvSpPr>
        <p:spPr>
          <a:xfrm>
            <a:off x="3502152" y="3639312"/>
            <a:ext cx="566928" cy="566928"/>
          </a:xfrm>
          <a:prstGeom prst="ellipse">
            <a:avLst/>
          </a:prstGeom>
          <a:solidFill>
            <a:srgbClr val="0D2F4F"/>
          </a:solidFill>
          <a:ln w="12700">
            <a:solidFill>
              <a:srgbClr val="0D2F4F"/>
            </a:solidFill>
            <a:prstDash val="solid"/>
          </a:ln>
        </p:spPr>
      </p:sp>
      <p:pic>
        <p:nvPicPr>
          <p:cNvPr id="30" name="Image 5" descr="preencoded.png">    </p:cNvPr>
          <p:cNvPicPr>
            <a:picLocks noChangeAspect="1"/>
          </p:cNvPicPr>
          <p:nvPr/>
        </p:nvPicPr>
        <p:blipFill>
          <a:blip r:embed="rId6"/>
          <a:stretch>
            <a:fillRect/>
          </a:stretch>
        </p:blipFill>
        <p:spPr>
          <a:xfrm>
            <a:off x="3649553" y="3786713"/>
            <a:ext cx="272125" cy="272125"/>
          </a:xfrm>
          <a:prstGeom prst="rect">
            <a:avLst/>
          </a:prstGeom>
        </p:spPr>
      </p:pic>
      <p:sp>
        <p:nvSpPr>
          <p:cNvPr id="31" name="Text 23"/>
          <p:cNvSpPr txBox="1"/>
          <p:nvPr/>
        </p:nvSpPr>
        <p:spPr>
          <a:xfrm>
            <a:off x="416052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Zaxira fondlarini shakllantirish</a:t>
            </a:r>
            <a:endParaRPr lang="en-US" sz="1450" dirty="0"/>
          </a:p>
        </p:txBody>
      </p:sp>
      <p:sp>
        <p:nvSpPr>
          <p:cNvPr id="32" name="Text 24"/>
          <p:cNvSpPr txBox="1"/>
          <p:nvPr/>
        </p:nvSpPr>
        <p:spPr>
          <a:xfrm>
            <a:off x="350215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kutilmagan holatlar uchun moliyaviy “xavfsizlik yostig‘i”</a:t>
            </a:r>
            <a:endParaRPr lang="en-US" sz="1350" dirty="0"/>
          </a:p>
        </p:txBody>
      </p:sp>
      <p:sp>
        <p:nvSpPr>
          <p:cNvPr id="33" name="Shape 25"/>
          <p:cNvSpPr/>
          <p:nvPr/>
        </p:nvSpPr>
        <p:spPr>
          <a:xfrm>
            <a:off x="612648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6"/>
          <p:cNvSpPr/>
          <p:nvPr/>
        </p:nvSpPr>
        <p:spPr>
          <a:xfrm>
            <a:off x="6291072" y="3639312"/>
            <a:ext cx="566928" cy="566928"/>
          </a:xfrm>
          <a:prstGeom prst="ellipse">
            <a:avLst/>
          </a:prstGeom>
          <a:solidFill>
            <a:srgbClr val="0E9F9A"/>
          </a:solidFill>
          <a:ln w="12700">
            <a:solidFill>
              <a:srgbClr val="0E9F9A"/>
            </a:solidFill>
            <a:prstDash val="solid"/>
          </a:ln>
        </p:spPr>
      </p:sp>
      <p:pic>
        <p:nvPicPr>
          <p:cNvPr id="35" name="Image 6" descr="preencoded.png">    </p:cNvPr>
          <p:cNvPicPr>
            <a:picLocks noChangeAspect="1"/>
          </p:cNvPicPr>
          <p:nvPr/>
        </p:nvPicPr>
        <p:blipFill>
          <a:blip r:embed="rId7"/>
          <a:stretch>
            <a:fillRect/>
          </a:stretch>
        </p:blipFill>
        <p:spPr>
          <a:xfrm>
            <a:off x="6438473" y="3786713"/>
            <a:ext cx="272125" cy="272125"/>
          </a:xfrm>
          <a:prstGeom prst="rect">
            <a:avLst/>
          </a:prstGeom>
        </p:spPr>
      </p:pic>
      <p:sp>
        <p:nvSpPr>
          <p:cNvPr id="36" name="Text 27"/>
          <p:cNvSpPr txBox="1"/>
          <p:nvPr/>
        </p:nvSpPr>
        <p:spPr>
          <a:xfrm>
            <a:off x="694944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Daromadlarni diversifikatsiya qilish</a:t>
            </a:r>
            <a:endParaRPr lang="en-US" sz="1450" dirty="0"/>
          </a:p>
        </p:txBody>
      </p:sp>
      <p:sp>
        <p:nvSpPr>
          <p:cNvPr id="37" name="Text 28"/>
          <p:cNvSpPr txBox="1"/>
          <p:nvPr/>
        </p:nvSpPr>
        <p:spPr>
          <a:xfrm>
            <a:off x="629107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bitta mahsulot yoki xaridorga qaramlikni kamaytirish</a:t>
            </a:r>
            <a:endParaRPr lang="en-US" sz="1350" dirty="0"/>
          </a:p>
        </p:txBody>
      </p:sp>
      <p:sp>
        <p:nvSpPr>
          <p:cNvPr id="38" name="Shape 29"/>
          <p:cNvSpPr/>
          <p:nvPr/>
        </p:nvSpPr>
        <p:spPr>
          <a:xfrm>
            <a:off x="891540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9" name="Shape 30"/>
          <p:cNvSpPr/>
          <p:nvPr/>
        </p:nvSpPr>
        <p:spPr>
          <a:xfrm>
            <a:off x="9079992" y="3639312"/>
            <a:ext cx="566928" cy="566928"/>
          </a:xfrm>
          <a:prstGeom prst="ellipse">
            <a:avLst/>
          </a:prstGeom>
          <a:solidFill>
            <a:srgbClr val="0D2F4F"/>
          </a:solidFill>
          <a:ln w="12700">
            <a:solidFill>
              <a:srgbClr val="0D2F4F"/>
            </a:solidFill>
            <a:prstDash val="solid"/>
          </a:ln>
        </p:spPr>
      </p:sp>
      <p:pic>
        <p:nvPicPr>
          <p:cNvPr id="40" name="Image 7" descr="preencoded.png">    </p:cNvPr>
          <p:cNvPicPr>
            <a:picLocks noChangeAspect="1"/>
          </p:cNvPicPr>
          <p:nvPr/>
        </p:nvPicPr>
        <p:blipFill>
          <a:blip r:embed="rId8"/>
          <a:stretch>
            <a:fillRect/>
          </a:stretch>
        </p:blipFill>
        <p:spPr>
          <a:xfrm>
            <a:off x="9227393" y="3786713"/>
            <a:ext cx="272125" cy="272125"/>
          </a:xfrm>
          <a:prstGeom prst="rect">
            <a:avLst/>
          </a:prstGeom>
        </p:spPr>
      </p:pic>
      <p:sp>
        <p:nvSpPr>
          <p:cNvPr id="41" name="Text 31"/>
          <p:cNvSpPr txBox="1"/>
          <p:nvPr/>
        </p:nvSpPr>
        <p:spPr>
          <a:xfrm>
            <a:off x="973836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Moliyaviy xatarlarni sug‘urtalash</a:t>
            </a:r>
            <a:endParaRPr lang="en-US" sz="1450" dirty="0"/>
          </a:p>
        </p:txBody>
      </p:sp>
      <p:sp>
        <p:nvSpPr>
          <p:cNvPr id="42" name="Text 32"/>
          <p:cNvSpPr txBox="1"/>
          <p:nvPr/>
        </p:nvSpPr>
        <p:spPr>
          <a:xfrm>
            <a:off x="907999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valyuta, foiz va mulkiy xatarlarni xedjlash va sug‘urta</a:t>
            </a:r>
            <a:endParaRPr lang="en-US" sz="1350" dirty="0"/>
          </a:p>
        </p:txBody>
      </p:sp>
      <p:sp>
        <p:nvSpPr>
          <p:cNvPr id="43" name="Shape 33"/>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4" name="Text 34"/>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Asosiy qoida:</a:t>
            </a:r>
            <a:pPr indent="0" marL="0">
              <a:buNone/>
            </a:pPr>
            <a:r>
              <a:rPr lang="en-US" sz="1350" dirty="0">
                <a:solidFill>
                  <a:srgbClr val="1B2A3A"/>
                </a:solidFill>
                <a:latin typeface="Calibri" pitchFamily="34" charset="0"/>
                <a:ea typeface="Calibri" pitchFamily="34" charset="-122"/>
                <a:cs typeface="Calibri" pitchFamily="34" charset="-120"/>
              </a:rPr>
              <a:t> uzoq muddatli aktivlar uzoq muddatli manbalar (o‘z kapitali, uzoq muddatli kreditlar) hisobidan moliyalashtirilishi kerak.</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Moliyaviy barqarorlik korxonaning uzoq muddatli rivojlanishi va ishonchliligining asosiy kafolatidir. Uni avtonomiya, leveraj va likvidlik koeffitsientlari orqali muntazam tahlil qilish, ichki va tashqi omillarni hisobga olish hamda aniq moliyaviy strategiya – maqsadlar, siyosat, byudjetlashtirish va nazorat tizimi orqali boshqarish zarur. Bunda o‘sish va barqarorlik o‘rtasidagi muvozanat hal qiluvchi ahamiyatga ega.</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Mohiyat</a:t>
            </a:r>
            <a:endParaRPr lang="en-US" sz="1500" dirty="0"/>
          </a:p>
          <a:p>
            <a:pPr indent="0" marL="0">
              <a:spcAft>
                <a:spcPts val="200"/>
              </a:spcAft>
              <a:buNone/>
            </a:pPr>
            <a:r>
              <a:rPr lang="en-US" sz="1300" dirty="0">
                <a:solidFill>
                  <a:srgbClr val="FFFFFF"/>
                </a:solidFill>
              </a:rPr>
              <a:t>o‘z mablag‘lari hisobidan faoliyat va majburiyatlarni o‘z vaqtida to‘lash</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Tahlil</a:t>
            </a:r>
            <a:endParaRPr lang="en-US" sz="1500" dirty="0"/>
          </a:p>
          <a:p>
            <a:pPr indent="0" marL="0">
              <a:spcAft>
                <a:spcPts val="200"/>
              </a:spcAft>
              <a:buNone/>
            </a:pPr>
            <a:r>
              <a:rPr lang="en-US" sz="1300" dirty="0">
                <a:solidFill>
                  <a:srgbClr val="FFFFFF"/>
                </a:solidFill>
              </a:rPr>
              <a:t>avtonomiya ≥ 0,5; joriy likvidlik 1,5–2,5; leveraj ≤ 1</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Strategiya</a:t>
            </a:r>
            <a:endParaRPr lang="en-US" sz="1500" dirty="0"/>
          </a:p>
          <a:p>
            <a:pPr indent="0" marL="0">
              <a:spcAft>
                <a:spcPts val="200"/>
              </a:spcAft>
              <a:buNone/>
            </a:pPr>
            <a:r>
              <a:rPr lang="en-US" sz="1300" dirty="0">
                <a:solidFill>
                  <a:srgbClr val="FFFFFF"/>
                </a:solidFill>
              </a:rPr>
              <a:t>tahlil → maqsadlar → siyosat → byudjet → nazorat</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Yo‘llar</a:t>
            </a:r>
            <a:endParaRPr lang="en-US" sz="1500" dirty="0"/>
          </a:p>
          <a:p>
            <a:pPr indent="0" marL="0">
              <a:spcAft>
                <a:spcPts val="200"/>
              </a:spcAft>
              <a:buNone/>
            </a:pPr>
            <a:r>
              <a:rPr lang="en-US" sz="1300" dirty="0">
                <a:solidFill>
                  <a:srgbClr val="FFFFFF"/>
                </a:solidFill>
              </a:rPr>
              <a:t>kapital tuzilmasi, debitorlik, zaxiralar, pul oqimlari, xatarlar boshqaruvi</a:t>
            </a:r>
            <a:endParaRPr lang="en-US" sz="1500" dirty="0"/>
          </a:p>
        </p:txBody>
      </p:sp>
      <p:pic>
        <p:nvPicPr>
          <p:cNvPr id="16" name="Image 4" descr="img9/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Daromad – bu fikr, pul oqimi – bu haqiqat: barqarorlik pulni boshqarishdan boshlanadi.</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9/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Moliyaviy barqarorlik va moliyaviy rivojlanish strategiyasi</dc:title>
  <dc:subject>PptxGenJS Presentation</dc:subject>
  <dc:creator>PptxGenJS</dc:creator>
  <cp:lastModifiedBy>PptxGenJS</cp:lastModifiedBy>
  <cp:revision>1</cp:revision>
  <dcterms:created xsi:type="dcterms:W3CDTF">2026-10-12T12:24:21Z</dcterms:created>
  <dcterms:modified xsi:type="dcterms:W3CDTF">2026-10-12T12:24:21Z</dcterms:modified>
</cp:coreProperties>
</file>