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BFD9E0"/>
                </a:solidFill>
              </a:rPr>
              <a:t>12.10.2026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4A5B6C"/>
                </a:solidFill>
              </a:rPr>
              <a:t>12.10.2026</a:t>
            </a:r>
            <a:endParaRPr lang="en-US" sz="1000" dirty="0"/>
          </a:p>
        </p:txBody>
      </p:sp>
      <p:sp>
        <p:nvSpPr>
          <p:cNvPr id="3" name="Text 1"/>
          <p:cNvSpPr/>
          <p:nvPr>
            <p:ph idx="101"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3/title.png">    </p:cNvPr>
          <p:cNvPicPr>
            <a:picLocks noChangeAspect="1"/>
          </p:cNvPicPr>
          <p:nvPr/>
        </p:nvPicPr>
        <p:blipFill>
          <a:blip r:embed="rId1"/>
          <a:stretch>
            <a:fillRect/>
          </a:stretch>
        </p:blipFill>
        <p:spPr>
          <a:xfrm>
            <a:off x="0" y="0"/>
            <a:ext cx="6236208" cy="6858000"/>
          </a:xfrm>
          <a:prstGeom prst="rect">
            <a:avLst/>
          </a:prstGeom>
        </p:spPr>
      </p:pic>
      <p:sp>
        <p:nvSpPr>
          <p:cNvPr id="3" name="Text 0"/>
          <p:cNvSpPr txBox="1"/>
          <p:nvPr/>
        </p:nvSpPr>
        <p:spPr>
          <a:xfrm>
            <a:off x="6675120" y="1097280"/>
            <a:ext cx="4937760" cy="365760"/>
          </a:xfrm>
          <a:prstGeom prst="rect">
            <a:avLst/>
          </a:prstGeom>
          <a:noFill/>
          <a:ln/>
        </p:spPr>
        <p:txBody>
          <a:bodyPr wrap="square" lIns="0" tIns="0" rIns="0" bIns="0" rtlCol="0" anchor="ctr"/>
          <a:lstStyle/>
          <a:p>
            <a:pPr indent="0" marL="0">
              <a:buNone/>
            </a:pPr>
            <a:r>
              <a:rPr lang="en-US" sz="1400" b="1" spc="600" kern="0" dirty="0">
                <a:solidFill>
                  <a:srgbClr val="F2A541"/>
                </a:solidFill>
              </a:rPr>
              <a:t>MAVZU</a:t>
            </a:r>
            <a:endParaRPr lang="en-US" sz="1400" dirty="0"/>
          </a:p>
        </p:txBody>
      </p:sp>
      <p:sp>
        <p:nvSpPr>
          <p:cNvPr id="4" name="Text 1"/>
          <p:cNvSpPr txBox="1"/>
          <p:nvPr/>
        </p:nvSpPr>
        <p:spPr>
          <a:xfrm>
            <a:off x="6675120" y="1554480"/>
            <a:ext cx="5029200" cy="29260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KORXONANING ICHKI VA TASHQI MUHITINI STRATEGIK TAHLIL QILISH</a:t>
            </a:r>
            <a:endParaRPr lang="en-US" sz="3200" dirty="0"/>
          </a:p>
        </p:txBody>
      </p:sp>
      <p:sp>
        <p:nvSpPr>
          <p:cNvPr id="5" name="Text 2"/>
          <p:cNvSpPr txBox="1"/>
          <p:nvPr/>
        </p:nvSpPr>
        <p:spPr>
          <a:xfrm>
            <a:off x="6675120" y="4663440"/>
            <a:ext cx="4937760" cy="365760"/>
          </a:xfrm>
          <a:prstGeom prst="rect">
            <a:avLst/>
          </a:prstGeom>
          <a:noFill/>
          <a:ln/>
        </p:spPr>
        <p:txBody>
          <a:bodyPr wrap="square" lIns="0" tIns="0" rIns="0" bIns="0" rtlCol="0" anchor="ctr"/>
          <a:lstStyle/>
          <a:p>
            <a:pPr indent="0" marL="0">
              <a:buNone/>
            </a:pPr>
            <a:r>
              <a:rPr lang="en-US" sz="1600" i="1" dirty="0">
                <a:solidFill>
                  <a:srgbClr val="BFE9E4"/>
                </a:solidFill>
              </a:rPr>
              <a:t>Strategik menejment fanidan taqdimot</a:t>
            </a:r>
            <a:endParaRPr lang="en-US" sz="1600" dirty="0"/>
          </a:p>
        </p:txBody>
      </p:sp>
      <p:sp>
        <p:nvSpPr>
          <p:cNvPr id="6" name="Text 3"/>
          <p:cNvSpPr txBox="1"/>
          <p:nvPr/>
        </p:nvSpPr>
        <p:spPr>
          <a:xfrm>
            <a:off x="6675120" y="5212080"/>
            <a:ext cx="4937760" cy="731520"/>
          </a:xfrm>
          <a:prstGeom prst="rect">
            <a:avLst/>
          </a:prstGeom>
          <a:noFill/>
          <a:ln/>
        </p:spPr>
        <p:txBody>
          <a:bodyPr wrap="square" lIns="0" tIns="0" rIns="0" bIns="0" rtlCol="0" anchor="ctr"/>
          <a:lstStyle/>
          <a:p>
            <a:pPr indent="0" marL="0">
              <a:spcAft>
                <a:spcPts val="400"/>
              </a:spcAft>
              <a:buNone/>
            </a:pPr>
            <a:r>
              <a:rPr lang="en-US" sz="1400" dirty="0">
                <a:solidFill>
                  <a:srgbClr val="DCEBEF"/>
                </a:solidFill>
              </a:rPr>
              <a:t>Bajardi: ______________________</a:t>
            </a:r>
            <a:endParaRPr lang="en-US" sz="1400" dirty="0"/>
          </a:p>
          <a:p>
            <a:pPr indent="0" marL="0">
              <a:spcAft>
                <a:spcPts val="400"/>
              </a:spcAft>
              <a:buNone/>
            </a:pPr>
            <a:r>
              <a:rPr lang="en-US" sz="1400" dirty="0">
                <a:solidFill>
                  <a:srgbClr val="DCEBEF"/>
                </a:solidFill>
              </a:rPr>
              <a:t>Tekshirdi: ____________________</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Reja</a:t>
            </a:r>
            <a:endParaRPr lang="en-US" sz="3000" dirty="0"/>
          </a:p>
        </p:txBody>
      </p:sp>
      <p:sp>
        <p:nvSpPr>
          <p:cNvPr id="3" name="Shape 1"/>
          <p:cNvSpPr/>
          <p:nvPr/>
        </p:nvSpPr>
        <p:spPr>
          <a:xfrm>
            <a:off x="548640" y="14630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Text 2"/>
          <p:cNvSpPr txBox="1"/>
          <p:nvPr/>
        </p:nvSpPr>
        <p:spPr>
          <a:xfrm>
            <a:off x="731520" y="14630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01</a:t>
            </a:r>
            <a:endParaRPr lang="en-US" sz="2400" dirty="0"/>
          </a:p>
        </p:txBody>
      </p:sp>
      <p:sp>
        <p:nvSpPr>
          <p:cNvPr id="5" name="Shape 3"/>
          <p:cNvSpPr/>
          <p:nvPr/>
        </p:nvSpPr>
        <p:spPr>
          <a:xfrm>
            <a:off x="1371600" y="1572768"/>
            <a:ext cx="512064" cy="512064"/>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1504737" y="1705905"/>
            <a:ext cx="245791" cy="245791"/>
          </a:xfrm>
          <a:prstGeom prst="rect">
            <a:avLst/>
          </a:prstGeom>
        </p:spPr>
      </p:pic>
      <p:sp>
        <p:nvSpPr>
          <p:cNvPr id="7" name="Text 4"/>
          <p:cNvSpPr txBox="1"/>
          <p:nvPr/>
        </p:nvSpPr>
        <p:spPr>
          <a:xfrm>
            <a:off x="2057400" y="14630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Korxona muhiti tushunchasi va strategik tahlilning mohiyati</a:t>
            </a:r>
            <a:endParaRPr lang="en-US" sz="1600" dirty="0"/>
          </a:p>
        </p:txBody>
      </p:sp>
      <p:sp>
        <p:nvSpPr>
          <p:cNvPr id="8" name="Shape 5"/>
          <p:cNvSpPr/>
          <p:nvPr/>
        </p:nvSpPr>
        <p:spPr>
          <a:xfrm>
            <a:off x="548640" y="23774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Text 6"/>
          <p:cNvSpPr txBox="1"/>
          <p:nvPr/>
        </p:nvSpPr>
        <p:spPr>
          <a:xfrm>
            <a:off x="731520" y="23774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02</a:t>
            </a:r>
            <a:endParaRPr lang="en-US" sz="2400" dirty="0"/>
          </a:p>
        </p:txBody>
      </p:sp>
      <p:sp>
        <p:nvSpPr>
          <p:cNvPr id="10" name="Shape 7"/>
          <p:cNvSpPr/>
          <p:nvPr/>
        </p:nvSpPr>
        <p:spPr>
          <a:xfrm>
            <a:off x="1371600" y="2487168"/>
            <a:ext cx="512064" cy="512064"/>
          </a:xfrm>
          <a:prstGeom prst="ellipse">
            <a:avLst/>
          </a:prstGeom>
          <a:solidFill>
            <a:srgbClr val="0D2F4F"/>
          </a:solidFill>
          <a:ln w="12700">
            <a:solidFill>
              <a:srgbClr val="0D2F4F"/>
            </a:solidFill>
            <a:prstDash val="solid"/>
          </a:ln>
        </p:spPr>
      </p:sp>
      <p:pic>
        <p:nvPicPr>
          <p:cNvPr id="11" name="Image 1" descr="preencoded.png">    </p:cNvPr>
          <p:cNvPicPr>
            <a:picLocks noChangeAspect="1"/>
          </p:cNvPicPr>
          <p:nvPr/>
        </p:nvPicPr>
        <p:blipFill>
          <a:blip r:embed="rId2"/>
          <a:stretch>
            <a:fillRect/>
          </a:stretch>
        </p:blipFill>
        <p:spPr>
          <a:xfrm>
            <a:off x="1504737" y="2620305"/>
            <a:ext cx="245791" cy="245791"/>
          </a:xfrm>
          <a:prstGeom prst="rect">
            <a:avLst/>
          </a:prstGeom>
        </p:spPr>
      </p:pic>
      <p:sp>
        <p:nvSpPr>
          <p:cNvPr id="12" name="Text 8"/>
          <p:cNvSpPr txBox="1"/>
          <p:nvPr/>
        </p:nvSpPr>
        <p:spPr>
          <a:xfrm>
            <a:off x="2057400" y="23774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Tashqi makromuhit tahlili: PESTEL usuli</a:t>
            </a:r>
            <a:endParaRPr lang="en-US" sz="1600" dirty="0"/>
          </a:p>
        </p:txBody>
      </p:sp>
      <p:sp>
        <p:nvSpPr>
          <p:cNvPr id="13" name="Shape 9"/>
          <p:cNvSpPr/>
          <p:nvPr/>
        </p:nvSpPr>
        <p:spPr>
          <a:xfrm>
            <a:off x="548640" y="32918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Text 10"/>
          <p:cNvSpPr txBox="1"/>
          <p:nvPr/>
        </p:nvSpPr>
        <p:spPr>
          <a:xfrm>
            <a:off x="731520" y="32918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03</a:t>
            </a:r>
            <a:endParaRPr lang="en-US" sz="2400" dirty="0"/>
          </a:p>
        </p:txBody>
      </p:sp>
      <p:sp>
        <p:nvSpPr>
          <p:cNvPr id="15" name="Shape 11"/>
          <p:cNvSpPr/>
          <p:nvPr/>
        </p:nvSpPr>
        <p:spPr>
          <a:xfrm>
            <a:off x="1371600" y="3401568"/>
            <a:ext cx="512064" cy="512064"/>
          </a:xfrm>
          <a:prstGeom prst="ellipse">
            <a:avLst/>
          </a:prstGeom>
          <a:solidFill>
            <a:srgbClr val="0E9F9A"/>
          </a:solidFill>
          <a:ln w="12700">
            <a:solidFill>
              <a:srgbClr val="0E9F9A"/>
            </a:solidFill>
            <a:prstDash val="solid"/>
          </a:ln>
        </p:spPr>
      </p:sp>
      <p:pic>
        <p:nvPicPr>
          <p:cNvPr id="16" name="Image 2" descr="preencoded.png">    </p:cNvPr>
          <p:cNvPicPr>
            <a:picLocks noChangeAspect="1"/>
          </p:cNvPicPr>
          <p:nvPr/>
        </p:nvPicPr>
        <p:blipFill>
          <a:blip r:embed="rId3"/>
          <a:stretch>
            <a:fillRect/>
          </a:stretch>
        </p:blipFill>
        <p:spPr>
          <a:xfrm>
            <a:off x="1504737" y="3534705"/>
            <a:ext cx="245791" cy="245791"/>
          </a:xfrm>
          <a:prstGeom prst="rect">
            <a:avLst/>
          </a:prstGeom>
        </p:spPr>
      </p:pic>
      <p:sp>
        <p:nvSpPr>
          <p:cNvPr id="17" name="Text 12"/>
          <p:cNvSpPr txBox="1"/>
          <p:nvPr/>
        </p:nvSpPr>
        <p:spPr>
          <a:xfrm>
            <a:off x="2057400" y="32918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Tashqi mikromuhit va raqobat muhiti tahlili</a:t>
            </a:r>
            <a:endParaRPr lang="en-US" sz="1600" dirty="0"/>
          </a:p>
        </p:txBody>
      </p:sp>
      <p:sp>
        <p:nvSpPr>
          <p:cNvPr id="18" name="Shape 13"/>
          <p:cNvSpPr/>
          <p:nvPr/>
        </p:nvSpPr>
        <p:spPr>
          <a:xfrm>
            <a:off x="548640" y="42062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Text 14"/>
          <p:cNvSpPr txBox="1"/>
          <p:nvPr/>
        </p:nvSpPr>
        <p:spPr>
          <a:xfrm>
            <a:off x="731520" y="42062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04</a:t>
            </a:r>
            <a:endParaRPr lang="en-US" sz="2400" dirty="0"/>
          </a:p>
        </p:txBody>
      </p:sp>
      <p:sp>
        <p:nvSpPr>
          <p:cNvPr id="20" name="Shape 15"/>
          <p:cNvSpPr/>
          <p:nvPr/>
        </p:nvSpPr>
        <p:spPr>
          <a:xfrm>
            <a:off x="1371600" y="4315968"/>
            <a:ext cx="512064" cy="512064"/>
          </a:xfrm>
          <a:prstGeom prst="ellipse">
            <a:avLst/>
          </a:prstGeom>
          <a:solidFill>
            <a:srgbClr val="0D2F4F"/>
          </a:solidFill>
          <a:ln w="12700">
            <a:solidFill>
              <a:srgbClr val="0D2F4F"/>
            </a:solidFill>
            <a:prstDash val="solid"/>
          </a:ln>
        </p:spPr>
      </p:sp>
      <p:pic>
        <p:nvPicPr>
          <p:cNvPr id="21" name="Image 3" descr="preencoded.png">    </p:cNvPr>
          <p:cNvPicPr>
            <a:picLocks noChangeAspect="1"/>
          </p:cNvPicPr>
          <p:nvPr/>
        </p:nvPicPr>
        <p:blipFill>
          <a:blip r:embed="rId4"/>
          <a:stretch>
            <a:fillRect/>
          </a:stretch>
        </p:blipFill>
        <p:spPr>
          <a:xfrm>
            <a:off x="1504737" y="4449105"/>
            <a:ext cx="245791" cy="245791"/>
          </a:xfrm>
          <a:prstGeom prst="rect">
            <a:avLst/>
          </a:prstGeom>
        </p:spPr>
      </p:pic>
      <p:sp>
        <p:nvSpPr>
          <p:cNvPr id="22" name="Text 16"/>
          <p:cNvSpPr txBox="1"/>
          <p:nvPr/>
        </p:nvSpPr>
        <p:spPr>
          <a:xfrm>
            <a:off x="2057400" y="42062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Korxonaning ichki muhiti tahlili va uning modellari</a:t>
            </a:r>
            <a:endParaRPr lang="en-US" sz="1600" dirty="0"/>
          </a:p>
        </p:txBody>
      </p:sp>
      <p:sp>
        <p:nvSpPr>
          <p:cNvPr id="23" name="Shape 17"/>
          <p:cNvSpPr/>
          <p:nvPr/>
        </p:nvSpPr>
        <p:spPr>
          <a:xfrm>
            <a:off x="548640" y="51206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Text 18"/>
          <p:cNvSpPr txBox="1"/>
          <p:nvPr/>
        </p:nvSpPr>
        <p:spPr>
          <a:xfrm>
            <a:off x="731520" y="51206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05</a:t>
            </a:r>
            <a:endParaRPr lang="en-US" sz="2400" dirty="0"/>
          </a:p>
        </p:txBody>
      </p:sp>
      <p:sp>
        <p:nvSpPr>
          <p:cNvPr id="25" name="Shape 19"/>
          <p:cNvSpPr/>
          <p:nvPr/>
        </p:nvSpPr>
        <p:spPr>
          <a:xfrm>
            <a:off x="1371600" y="5230368"/>
            <a:ext cx="512064" cy="512064"/>
          </a:xfrm>
          <a:prstGeom prst="ellipse">
            <a:avLst/>
          </a:prstGeom>
          <a:solidFill>
            <a:srgbClr val="0E9F9A"/>
          </a:solidFill>
          <a:ln w="12700">
            <a:solidFill>
              <a:srgbClr val="0E9F9A"/>
            </a:solidFill>
            <a:prstDash val="solid"/>
          </a:ln>
        </p:spPr>
      </p:sp>
      <p:pic>
        <p:nvPicPr>
          <p:cNvPr id="26" name="Image 4" descr="preencoded.png">    </p:cNvPr>
          <p:cNvPicPr>
            <a:picLocks noChangeAspect="1"/>
          </p:cNvPicPr>
          <p:nvPr/>
        </p:nvPicPr>
        <p:blipFill>
          <a:blip r:embed="rId5"/>
          <a:stretch>
            <a:fillRect/>
          </a:stretch>
        </p:blipFill>
        <p:spPr>
          <a:xfrm>
            <a:off x="1504737" y="5363505"/>
            <a:ext cx="245791" cy="245791"/>
          </a:xfrm>
          <a:prstGeom prst="rect">
            <a:avLst/>
          </a:prstGeom>
        </p:spPr>
      </p:pic>
      <p:sp>
        <p:nvSpPr>
          <p:cNvPr id="27" name="Text 20"/>
          <p:cNvSpPr txBox="1"/>
          <p:nvPr/>
        </p:nvSpPr>
        <p:spPr>
          <a:xfrm>
            <a:off x="2057400" y="51206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SWOT – ichki va tashqi muhitni kompleks tahlil qilish</a:t>
            </a:r>
            <a:endParaRPr lang="en-US" sz="1600" dirty="0"/>
          </a:p>
        </p:txBody>
      </p:sp>
      <p:pic>
        <p:nvPicPr>
          <p:cNvPr id="28" name="Image 5" descr="img3/plan.png">    </p:cNvPr>
          <p:cNvPicPr>
            <a:picLocks noChangeAspect="1"/>
          </p:cNvPicPr>
          <p:nvPr/>
        </p:nvPicPr>
        <p:blipFill>
          <a:blip r:embed="rId6"/>
          <a:stretch>
            <a:fillRect/>
          </a:stretch>
        </p:blipFill>
        <p:spPr>
          <a:xfrm>
            <a:off x="7680960" y="1463040"/>
            <a:ext cx="3931920" cy="3054096"/>
          </a:xfrm>
          <a:prstGeom prst="rect">
            <a:avLst/>
          </a:prstGeom>
        </p:spPr>
      </p:pic>
      <p:sp>
        <p:nvSpPr>
          <p:cNvPr id="29" name="Text 21"/>
          <p:cNvSpPr txBox="1"/>
          <p:nvPr/>
        </p:nvSpPr>
        <p:spPr>
          <a:xfrm>
            <a:off x="7680960" y="4663440"/>
            <a:ext cx="3931920" cy="731520"/>
          </a:xfrm>
          <a:prstGeom prst="rect">
            <a:avLst/>
          </a:prstGeom>
          <a:noFill/>
          <a:ln/>
        </p:spPr>
        <p:txBody>
          <a:bodyPr wrap="square" lIns="0" tIns="0" rIns="0" bIns="0" rtlCol="0" anchor="ctr"/>
          <a:lstStyle/>
          <a:p>
            <a:pPr indent="0" marL="0">
              <a:buNone/>
            </a:pPr>
            <a:r>
              <a:rPr lang="en-US" sz="1400" i="1" dirty="0">
                <a:solidFill>
                  <a:srgbClr val="4A5B6C"/>
                </a:solidFill>
              </a:rPr>
              <a:t>Xulosa va asosiy xulosalar taqdimot so‘ngida beriladi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Korxona muhiti tushunchasi va tuzilishi</a:t>
            </a:r>
            <a:endParaRPr lang="en-US" sz="3000" dirty="0"/>
          </a:p>
        </p:txBody>
      </p:sp>
      <p:sp>
        <p:nvSpPr>
          <p:cNvPr id="3" name="Shape 1"/>
          <p:cNvSpPr/>
          <p:nvPr/>
        </p:nvSpPr>
        <p:spPr>
          <a:xfrm>
            <a:off x="731520" y="1417320"/>
            <a:ext cx="4754880" cy="4754880"/>
          </a:xfrm>
          <a:prstGeom prst="ellipse">
            <a:avLst/>
          </a:prstGeom>
          <a:solidFill>
            <a:srgbClr val="0D2F4F"/>
          </a:solidFill>
          <a:ln w="25400">
            <a:solidFill>
              <a:srgbClr val="FFFFFF"/>
            </a:solidFill>
            <a:prstDash val="solid"/>
          </a:ln>
        </p:spPr>
      </p:sp>
      <p:sp>
        <p:nvSpPr>
          <p:cNvPr id="4" name="Shape 2"/>
          <p:cNvSpPr/>
          <p:nvPr/>
        </p:nvSpPr>
        <p:spPr>
          <a:xfrm>
            <a:off x="1508760" y="2194560"/>
            <a:ext cx="3200400" cy="3200400"/>
          </a:xfrm>
          <a:prstGeom prst="ellipse">
            <a:avLst/>
          </a:prstGeom>
          <a:solidFill>
            <a:srgbClr val="3B6EA5"/>
          </a:solidFill>
          <a:ln w="25400">
            <a:solidFill>
              <a:srgbClr val="FFFFFF"/>
            </a:solidFill>
            <a:prstDash val="solid"/>
          </a:ln>
        </p:spPr>
      </p:sp>
      <p:sp>
        <p:nvSpPr>
          <p:cNvPr id="5" name="Shape 3"/>
          <p:cNvSpPr/>
          <p:nvPr/>
        </p:nvSpPr>
        <p:spPr>
          <a:xfrm>
            <a:off x="2240280" y="2926080"/>
            <a:ext cx="1737360" cy="1737360"/>
          </a:xfrm>
          <a:prstGeom prst="ellipse">
            <a:avLst/>
          </a:prstGeom>
          <a:solidFill>
            <a:srgbClr val="0E9F9A"/>
          </a:solidFill>
          <a:ln w="25400">
            <a:solidFill>
              <a:srgbClr val="FFFFFF"/>
            </a:solidFill>
            <a:prstDash val="solid"/>
          </a:ln>
        </p:spPr>
      </p:sp>
      <p:sp>
        <p:nvSpPr>
          <p:cNvPr id="6" name="Text 4"/>
          <p:cNvSpPr txBox="1"/>
          <p:nvPr/>
        </p:nvSpPr>
        <p:spPr>
          <a:xfrm>
            <a:off x="2286000" y="3383280"/>
            <a:ext cx="1645920" cy="822960"/>
          </a:xfrm>
          <a:prstGeom prst="rect">
            <a:avLst/>
          </a:prstGeom>
          <a:noFill/>
          <a:ln/>
        </p:spPr>
        <p:txBody>
          <a:bodyPr wrap="square" lIns="0" tIns="0" rIns="0" bIns="0" rtlCol="0" anchor="ctr"/>
          <a:lstStyle/>
          <a:p>
            <a:pPr algn="ctr" indent="0" marL="0">
              <a:buNone/>
            </a:pPr>
            <a:r>
              <a:rPr lang="en-US" sz="1500" b="1" dirty="0">
                <a:solidFill>
                  <a:srgbClr val="FFFFFF"/>
                </a:solidFill>
              </a:rPr>
              <a:t>Ichki muhit</a:t>
            </a:r>
            <a:endParaRPr lang="en-US" sz="1500" dirty="0"/>
          </a:p>
        </p:txBody>
      </p:sp>
      <p:sp>
        <p:nvSpPr>
          <p:cNvPr id="7" name="Text 5"/>
          <p:cNvSpPr txBox="1"/>
          <p:nvPr/>
        </p:nvSpPr>
        <p:spPr>
          <a:xfrm>
            <a:off x="2194560" y="2313432"/>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rPr>
              <a:t>Mikromuhit</a:t>
            </a:r>
            <a:endParaRPr lang="en-US" sz="1500" dirty="0"/>
          </a:p>
        </p:txBody>
      </p:sp>
      <p:sp>
        <p:nvSpPr>
          <p:cNvPr id="8" name="Text 6"/>
          <p:cNvSpPr txBox="1"/>
          <p:nvPr/>
        </p:nvSpPr>
        <p:spPr>
          <a:xfrm>
            <a:off x="2194560" y="1554480"/>
            <a:ext cx="1828800" cy="457200"/>
          </a:xfrm>
          <a:prstGeom prst="rect">
            <a:avLst/>
          </a:prstGeom>
          <a:noFill/>
          <a:ln/>
        </p:spPr>
        <p:txBody>
          <a:bodyPr wrap="square" lIns="0" tIns="0" rIns="0" bIns="0" rtlCol="0" anchor="ctr"/>
          <a:lstStyle/>
          <a:p>
            <a:pPr algn="ctr" indent="0" marL="0">
              <a:buNone/>
            </a:pPr>
            <a:r>
              <a:rPr lang="en-US" sz="1500" b="1" dirty="0">
                <a:solidFill>
                  <a:srgbClr val="F2A541"/>
                </a:solidFill>
              </a:rPr>
              <a:t>Makromuhit</a:t>
            </a:r>
            <a:endParaRPr lang="en-US" sz="1500" dirty="0"/>
          </a:p>
        </p:txBody>
      </p:sp>
      <p:sp>
        <p:nvSpPr>
          <p:cNvPr id="9" name="Text 7"/>
          <p:cNvSpPr txBox="1"/>
          <p:nvPr/>
        </p:nvSpPr>
        <p:spPr>
          <a:xfrm>
            <a:off x="2103120" y="4690872"/>
            <a:ext cx="2011680" cy="502920"/>
          </a:xfrm>
          <a:prstGeom prst="rect">
            <a:avLst/>
          </a:prstGeom>
          <a:noFill/>
          <a:ln/>
        </p:spPr>
        <p:txBody>
          <a:bodyPr wrap="square" lIns="0" tIns="0" rIns="0" bIns="0" rtlCol="0" anchor="ctr"/>
          <a:lstStyle/>
          <a:p>
            <a:pPr algn="ctr" indent="0" marL="0">
              <a:buNone/>
            </a:pPr>
            <a:r>
              <a:rPr lang="en-US" sz="1100" dirty="0">
                <a:solidFill>
                  <a:srgbClr val="FFFFFF"/>
                </a:solidFill>
              </a:rPr>
              <a:t>iste’molchilar · raqobatchilar</a:t>
            </a:r>
            <a:endParaRPr lang="en-US" sz="1100" dirty="0"/>
          </a:p>
          <a:p>
            <a:pPr algn="ctr" indent="0" marL="0">
              <a:buNone/>
            </a:pPr>
            <a:r>
              <a:rPr lang="en-US" sz="1100" dirty="0">
                <a:solidFill>
                  <a:srgbClr val="FFFFFF"/>
                </a:solidFill>
              </a:rPr>
              <a:t>ta’minotchilar · banklar</a:t>
            </a:r>
            <a:endParaRPr lang="en-US" sz="1100" dirty="0"/>
          </a:p>
        </p:txBody>
      </p:sp>
      <p:sp>
        <p:nvSpPr>
          <p:cNvPr id="10" name="Text 8"/>
          <p:cNvSpPr txBox="1"/>
          <p:nvPr/>
        </p:nvSpPr>
        <p:spPr>
          <a:xfrm>
            <a:off x="1828800" y="5440680"/>
            <a:ext cx="2560320" cy="502920"/>
          </a:xfrm>
          <a:prstGeom prst="rect">
            <a:avLst/>
          </a:prstGeom>
          <a:noFill/>
          <a:ln/>
        </p:spPr>
        <p:txBody>
          <a:bodyPr wrap="square" lIns="0" tIns="0" rIns="0" bIns="0" rtlCol="0" anchor="ctr"/>
          <a:lstStyle/>
          <a:p>
            <a:pPr algn="ctr" indent="0" marL="0">
              <a:buNone/>
            </a:pPr>
            <a:r>
              <a:rPr lang="en-US" sz="1100" dirty="0">
                <a:solidFill>
                  <a:srgbClr val="DCEBEF"/>
                </a:solidFill>
              </a:rPr>
              <a:t>siyosat · iqtisod · jamiyat</a:t>
            </a:r>
            <a:endParaRPr lang="en-US" sz="1100" dirty="0"/>
          </a:p>
          <a:p>
            <a:pPr algn="ctr" indent="0" marL="0">
              <a:buNone/>
            </a:pPr>
            <a:r>
              <a:rPr lang="en-US" sz="1100" dirty="0">
                <a:solidFill>
                  <a:srgbClr val="DCEBEF"/>
                </a:solidFill>
              </a:rPr>
              <a:t>texnologiya · ekologiya · huquq</a:t>
            </a:r>
            <a:endParaRPr lang="en-US" sz="1100" dirty="0"/>
          </a:p>
        </p:txBody>
      </p:sp>
      <p:sp>
        <p:nvSpPr>
          <p:cNvPr id="11" name="Text 9"/>
          <p:cNvSpPr txBox="1"/>
          <p:nvPr/>
        </p:nvSpPr>
        <p:spPr>
          <a:xfrm>
            <a:off x="6035040" y="1371600"/>
            <a:ext cx="5577840" cy="164592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Korxona muhiti</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korxona faoliyatiga ta’sir ko‘rsatuvchi barcha omillar, sub’ektlar va sharoitlar majmui. Korxona ochiq tizim sifatida muhit bilan doimiy resurs, axborot va mahsulot almashinuvida bo‘ladi, shu sababli uning muvaffaqiyati muhitga qanchalik to‘g‘ri moslasha olishiga bog‘liq.</a:t>
            </a:r>
            <a:endParaRPr lang="en-US" sz="1400" dirty="0"/>
          </a:p>
        </p:txBody>
      </p:sp>
      <p:sp>
        <p:nvSpPr>
          <p:cNvPr id="12" name="Text 10"/>
          <p:cNvSpPr txBox="1"/>
          <p:nvPr/>
        </p:nvSpPr>
        <p:spPr>
          <a:xfrm>
            <a:off x="6035040" y="2880360"/>
            <a:ext cx="5577840" cy="3291840"/>
          </a:xfrm>
          <a:prstGeom prst="rect">
            <a:avLst/>
          </a:prstGeom>
          <a:noFill/>
          <a:ln/>
        </p:spPr>
        <p:txBody>
          <a:bodyPr wrap="square" lIns="0" tIns="0" rIns="0" bIns="0" rtlCol="0" anchor="t"/>
          <a:lstStyle/>
          <a:p>
            <a:pPr marL="177800" indent="-177800">
              <a:spcAft>
                <a:spcPts val="1000"/>
              </a:spcAft>
              <a:buSzPct val="100000"/>
              <a:buChar char="•"/>
            </a:pPr>
            <a:r>
              <a:rPr lang="en-US" sz="1400" b="1" dirty="0">
                <a:solidFill>
                  <a:srgbClr val="0E9F9A"/>
                </a:solidFill>
                <a:latin typeface="Calibri" pitchFamily="34" charset="0"/>
                <a:ea typeface="Calibri" pitchFamily="34" charset="-122"/>
                <a:cs typeface="Calibri" pitchFamily="34" charset="-120"/>
              </a:rPr>
              <a:t>Ichki muhit</a:t>
            </a:r>
            <a:pPr indent="0" marL="0">
              <a:spcAft>
                <a:spcPts val="1000"/>
              </a:spcAft>
              <a:buNone/>
            </a:pPr>
            <a:r>
              <a:rPr lang="en-US" sz="1400" dirty="0">
                <a:solidFill>
                  <a:srgbClr val="1B2A3A"/>
                </a:solidFill>
                <a:latin typeface="Calibri" pitchFamily="34" charset="0"/>
                <a:ea typeface="Calibri" pitchFamily="34" charset="-122"/>
                <a:cs typeface="Calibri" pitchFamily="34" charset="-120"/>
              </a:rPr>
              <a:t> – korxonaning o‘zi boshqara oladigan omillar: maqsadlar, tuzilma, xodimlar, texnologiya, moliya, korporativ madaniyat.</a:t>
            </a:r>
            <a:endParaRPr lang="en-US" sz="1400" dirty="0"/>
          </a:p>
          <a:p>
            <a:pPr marL="177800" indent="-177800">
              <a:spcAft>
                <a:spcPts val="1000"/>
              </a:spcAft>
              <a:buSzPct val="100000"/>
              <a:buChar char="•"/>
            </a:pPr>
            <a:r>
              <a:rPr lang="en-US" sz="1400" b="1" dirty="0">
                <a:solidFill>
                  <a:srgbClr val="0E9F9A"/>
                </a:solidFill>
                <a:latin typeface="Calibri" pitchFamily="34" charset="0"/>
                <a:ea typeface="Calibri" pitchFamily="34" charset="-122"/>
                <a:cs typeface="Calibri" pitchFamily="34" charset="-120"/>
              </a:rPr>
              <a:t>Mikromuhit (bevosita ta’sir muhiti)</a:t>
            </a:r>
            <a:pPr indent="0" marL="0">
              <a:spcAft>
                <a:spcPts val="1000"/>
              </a:spcAft>
              <a:buNone/>
            </a:pPr>
            <a:r>
              <a:rPr lang="en-US" sz="1400" dirty="0">
                <a:solidFill>
                  <a:srgbClr val="1B2A3A"/>
                </a:solidFill>
                <a:latin typeface="Calibri" pitchFamily="34" charset="0"/>
                <a:ea typeface="Calibri" pitchFamily="34" charset="-122"/>
                <a:cs typeface="Calibri" pitchFamily="34" charset="-120"/>
              </a:rPr>
              <a:t> – korxona bilan to‘g‘ridan-to‘g‘ri munosabatda bo‘lgan sub’ektlar: iste’molchilar, ta’minotchilar, raqobatchilar, vositachilar, banklar.</a:t>
            </a:r>
            <a:endParaRPr lang="en-US" sz="1400" dirty="0"/>
          </a:p>
          <a:p>
            <a:pPr marL="177800" indent="-177800">
              <a:spcAft>
                <a:spcPts val="1000"/>
              </a:spcAft>
              <a:buSzPct val="100000"/>
              <a:buChar char="•"/>
            </a:pPr>
            <a:r>
              <a:rPr lang="en-US" sz="1400" b="1" dirty="0">
                <a:solidFill>
                  <a:srgbClr val="0E9F9A"/>
                </a:solidFill>
                <a:latin typeface="Calibri" pitchFamily="34" charset="0"/>
                <a:ea typeface="Calibri" pitchFamily="34" charset="-122"/>
                <a:cs typeface="Calibri" pitchFamily="34" charset="-120"/>
              </a:rPr>
              <a:t>Makromuhit (bilvosita ta’sir muhiti)</a:t>
            </a:r>
            <a:pPr indent="0" marL="0">
              <a:spcAft>
                <a:spcPts val="1000"/>
              </a:spcAft>
              <a:buNone/>
            </a:pPr>
            <a:r>
              <a:rPr lang="en-US" sz="1400" dirty="0">
                <a:solidFill>
                  <a:srgbClr val="1B2A3A"/>
                </a:solidFill>
                <a:latin typeface="Calibri" pitchFamily="34" charset="0"/>
                <a:ea typeface="Calibri" pitchFamily="34" charset="-122"/>
                <a:cs typeface="Calibri" pitchFamily="34" charset="-120"/>
              </a:rPr>
              <a:t> – korxona ta’sir qila olmaydigan, lekin uning faoliyatini belgilovchi umumiy sharoitlar: davlat siyosati, iqtisodiyot, demografiya, texnologik taraqqiyot.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Muhitni strategik tahlil qilishning mohiyati</a:t>
            </a:r>
            <a:endParaRPr lang="en-US" sz="3000" dirty="0"/>
          </a:p>
        </p:txBody>
      </p:sp>
      <p:pic>
        <p:nvPicPr>
          <p:cNvPr id="3" name="Image 0" descr="img3/essence.png">    </p:cNvPr>
          <p:cNvPicPr>
            <a:picLocks noChangeAspect="1"/>
          </p:cNvPicPr>
          <p:nvPr/>
        </p:nvPicPr>
        <p:blipFill>
          <a:blip r:embed="rId1"/>
          <a:stretch>
            <a:fillRect/>
          </a:stretch>
        </p:blipFill>
        <p:spPr>
          <a:xfrm>
            <a:off x="548640" y="1371600"/>
            <a:ext cx="4206240" cy="3273552"/>
          </a:xfrm>
          <a:prstGeom prst="rect">
            <a:avLst/>
          </a:prstGeom>
        </p:spPr>
      </p:pic>
      <p:sp>
        <p:nvSpPr>
          <p:cNvPr id="4" name="Text 1"/>
          <p:cNvSpPr txBox="1"/>
          <p:nvPr/>
        </p:nvSpPr>
        <p:spPr>
          <a:xfrm>
            <a:off x="548640" y="4800600"/>
            <a:ext cx="4206240" cy="146304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Strategik tahlil</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korxona strategiyasini asoslash uchun tashqi muhitdagi imkoniyat va tahdidlarni, ichki muhitdagi kuchli va zaif tomonlarni aniqlash, baholash va prognozlash jarayonidir.</a:t>
            </a:r>
            <a:endParaRPr lang="en-US" sz="1400" dirty="0"/>
          </a:p>
        </p:txBody>
      </p:sp>
      <p:sp>
        <p:nvSpPr>
          <p:cNvPr id="5" name="Text 2"/>
          <p:cNvSpPr txBox="1"/>
          <p:nvPr/>
        </p:nvSpPr>
        <p:spPr>
          <a:xfrm>
            <a:off x="5120640" y="1371600"/>
            <a:ext cx="6492240" cy="365760"/>
          </a:xfrm>
          <a:prstGeom prst="rect">
            <a:avLst/>
          </a:prstGeom>
          <a:noFill/>
          <a:ln/>
        </p:spPr>
        <p:txBody>
          <a:bodyPr wrap="square" lIns="0" tIns="0" rIns="0" bIns="0" rtlCol="0" anchor="ctr"/>
          <a:lstStyle/>
          <a:p>
            <a:pPr indent="0" marL="0">
              <a:buNone/>
            </a:pPr>
            <a:r>
              <a:rPr lang="en-US" sz="1600" b="1" dirty="0">
                <a:solidFill>
                  <a:srgbClr val="0D2F4F"/>
                </a:solidFill>
              </a:rPr>
              <a:t>Tahlilning maqsad va vazifalari:</a:t>
            </a:r>
            <a:endParaRPr lang="en-US" sz="1600" dirty="0"/>
          </a:p>
        </p:txBody>
      </p:sp>
      <p:sp>
        <p:nvSpPr>
          <p:cNvPr id="6" name="Text 3"/>
          <p:cNvSpPr txBox="1"/>
          <p:nvPr/>
        </p:nvSpPr>
        <p:spPr>
          <a:xfrm>
            <a:off x="5120640" y="1783080"/>
            <a:ext cx="6492240" cy="132588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o‘zgarishlarni oldindan sezish va ularga o‘z vaqtida javob berish;</a:t>
            </a:r>
            <a:endParaRPr lang="en-US" sz="1400" dirty="0"/>
          </a:p>
          <a:p>
            <a:pPr marL="177800" indent="-1778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raqobat ustunligi manbalarini aniqlash;</a:t>
            </a:r>
            <a:endParaRPr lang="en-US" sz="1400" dirty="0"/>
          </a:p>
          <a:p>
            <a:pPr marL="177800" indent="-1778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strategik qarorlar uchun ishonchli axborot bazasini yaratish;</a:t>
            </a:r>
            <a:endParaRPr lang="en-US" sz="1400" dirty="0"/>
          </a:p>
          <a:p>
            <a:pPr marL="177800" indent="-177800">
              <a:spcAft>
                <a:spcPts val="300"/>
              </a:spcAft>
              <a:buSzPct val="100000"/>
              <a:buChar char="•"/>
            </a:pPr>
            <a:r>
              <a:rPr lang="en-US" sz="1400" dirty="0">
                <a:solidFill>
                  <a:srgbClr val="1B2A3A"/>
                </a:solidFill>
                <a:latin typeface="Calibri" pitchFamily="34" charset="0"/>
                <a:ea typeface="Calibri" pitchFamily="34" charset="-122"/>
                <a:cs typeface="Calibri" pitchFamily="34" charset="-120"/>
              </a:rPr>
              <a:t>xavf-xatarlarni kamaytirish va resurslarni to‘g‘ri yo‘naltirish.</a:t>
            </a:r>
            <a:endParaRPr lang="en-US" sz="1400" dirty="0"/>
          </a:p>
        </p:txBody>
      </p:sp>
      <p:sp>
        <p:nvSpPr>
          <p:cNvPr id="7" name="Text 4"/>
          <p:cNvSpPr txBox="1"/>
          <p:nvPr/>
        </p:nvSpPr>
        <p:spPr>
          <a:xfrm>
            <a:off x="5120640" y="3200400"/>
            <a:ext cx="6492240" cy="365760"/>
          </a:xfrm>
          <a:prstGeom prst="rect">
            <a:avLst/>
          </a:prstGeom>
          <a:noFill/>
          <a:ln/>
        </p:spPr>
        <p:txBody>
          <a:bodyPr wrap="square" lIns="0" tIns="0" rIns="0" bIns="0" rtlCol="0" anchor="ctr"/>
          <a:lstStyle/>
          <a:p>
            <a:pPr indent="0" marL="0">
              <a:buNone/>
            </a:pPr>
            <a:r>
              <a:rPr lang="en-US" sz="1600" b="1" dirty="0">
                <a:solidFill>
                  <a:srgbClr val="0D2F4F"/>
                </a:solidFill>
              </a:rPr>
              <a:t>Tashqi muhitning asosiy xususiyatlari:</a:t>
            </a:r>
            <a:endParaRPr lang="en-US" sz="1600" dirty="0"/>
          </a:p>
        </p:txBody>
      </p:sp>
      <p:sp>
        <p:nvSpPr>
          <p:cNvPr id="8" name="Shape 5"/>
          <p:cNvSpPr/>
          <p:nvPr/>
        </p:nvSpPr>
        <p:spPr>
          <a:xfrm>
            <a:off x="5120640" y="3657600"/>
            <a:ext cx="3154680" cy="1143000"/>
          </a:xfrm>
          <a:prstGeom prst="roundRect">
            <a:avLst>
              <a:gd name="adj" fmla="val 96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Shape 6"/>
          <p:cNvSpPr/>
          <p:nvPr/>
        </p:nvSpPr>
        <p:spPr>
          <a:xfrm>
            <a:off x="5257800" y="3931920"/>
            <a:ext cx="566928" cy="566928"/>
          </a:xfrm>
          <a:prstGeom prst="ellipse">
            <a:avLst/>
          </a:prstGeom>
          <a:solidFill>
            <a:srgbClr val="0E9F9A"/>
          </a:solidFill>
          <a:ln w="12700">
            <a:solidFill>
              <a:srgbClr val="0E9F9A"/>
            </a:solidFill>
            <a:prstDash val="solid"/>
          </a:ln>
        </p:spPr>
      </p:sp>
      <p:pic>
        <p:nvPicPr>
          <p:cNvPr id="10" name="Image 1" descr="preencoded.png">    </p:cNvPr>
          <p:cNvPicPr>
            <a:picLocks noChangeAspect="1"/>
          </p:cNvPicPr>
          <p:nvPr/>
        </p:nvPicPr>
        <p:blipFill>
          <a:blip r:embed="rId2"/>
          <a:stretch>
            <a:fillRect/>
          </a:stretch>
        </p:blipFill>
        <p:spPr>
          <a:xfrm>
            <a:off x="5405201" y="4079321"/>
            <a:ext cx="272125" cy="272125"/>
          </a:xfrm>
          <a:prstGeom prst="rect">
            <a:avLst/>
          </a:prstGeom>
        </p:spPr>
      </p:pic>
      <p:sp>
        <p:nvSpPr>
          <p:cNvPr id="11" name="Text 7"/>
          <p:cNvSpPr txBox="1"/>
          <p:nvPr/>
        </p:nvSpPr>
        <p:spPr>
          <a:xfrm>
            <a:off x="5943600" y="3730752"/>
            <a:ext cx="2240280" cy="100584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O‘zaro bog‘liqlik</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bir omil o‘zgarishi boshqalariga ham ta’sir qiladi</a:t>
            </a:r>
            <a:endParaRPr lang="en-US" sz="1400" dirty="0"/>
          </a:p>
        </p:txBody>
      </p:sp>
      <p:sp>
        <p:nvSpPr>
          <p:cNvPr id="12" name="Shape 8"/>
          <p:cNvSpPr/>
          <p:nvPr/>
        </p:nvSpPr>
        <p:spPr>
          <a:xfrm>
            <a:off x="8412480" y="3657600"/>
            <a:ext cx="3154680" cy="1143000"/>
          </a:xfrm>
          <a:prstGeom prst="roundRect">
            <a:avLst>
              <a:gd name="adj" fmla="val 96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9"/>
          <p:cNvSpPr/>
          <p:nvPr/>
        </p:nvSpPr>
        <p:spPr>
          <a:xfrm>
            <a:off x="8549640" y="3931920"/>
            <a:ext cx="566928" cy="566928"/>
          </a:xfrm>
          <a:prstGeom prst="ellipse">
            <a:avLst/>
          </a:prstGeom>
          <a:solidFill>
            <a:srgbClr val="0D2F4F"/>
          </a:solidFill>
          <a:ln w="12700">
            <a:solidFill>
              <a:srgbClr val="0D2F4F"/>
            </a:solidFill>
            <a:prstDash val="solid"/>
          </a:ln>
        </p:spPr>
      </p:sp>
      <p:pic>
        <p:nvPicPr>
          <p:cNvPr id="14" name="Image 2" descr="preencoded.png">    </p:cNvPr>
          <p:cNvPicPr>
            <a:picLocks noChangeAspect="1"/>
          </p:cNvPicPr>
          <p:nvPr/>
        </p:nvPicPr>
        <p:blipFill>
          <a:blip r:embed="rId3"/>
          <a:stretch>
            <a:fillRect/>
          </a:stretch>
        </p:blipFill>
        <p:spPr>
          <a:xfrm>
            <a:off x="8697041" y="4079321"/>
            <a:ext cx="272125" cy="272125"/>
          </a:xfrm>
          <a:prstGeom prst="rect">
            <a:avLst/>
          </a:prstGeom>
        </p:spPr>
      </p:pic>
      <p:sp>
        <p:nvSpPr>
          <p:cNvPr id="15" name="Text 10"/>
          <p:cNvSpPr txBox="1"/>
          <p:nvPr/>
        </p:nvSpPr>
        <p:spPr>
          <a:xfrm>
            <a:off x="9235440" y="3730752"/>
            <a:ext cx="2240280" cy="100584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Murakkablik</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korxona javob berishi kerak bo‘lgan omillar soni va xilma-xilligi</a:t>
            </a:r>
            <a:endParaRPr lang="en-US" sz="1400" dirty="0"/>
          </a:p>
        </p:txBody>
      </p:sp>
      <p:sp>
        <p:nvSpPr>
          <p:cNvPr id="16" name="Shape 11"/>
          <p:cNvSpPr/>
          <p:nvPr/>
        </p:nvSpPr>
        <p:spPr>
          <a:xfrm>
            <a:off x="5120640" y="4937760"/>
            <a:ext cx="3154680" cy="1143000"/>
          </a:xfrm>
          <a:prstGeom prst="roundRect">
            <a:avLst>
              <a:gd name="adj" fmla="val 96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7" name="Shape 12"/>
          <p:cNvSpPr/>
          <p:nvPr/>
        </p:nvSpPr>
        <p:spPr>
          <a:xfrm>
            <a:off x="5257800" y="5212080"/>
            <a:ext cx="566928" cy="566928"/>
          </a:xfrm>
          <a:prstGeom prst="ellipse">
            <a:avLst/>
          </a:prstGeom>
          <a:solidFill>
            <a:srgbClr val="0E9F9A"/>
          </a:solidFill>
          <a:ln w="12700">
            <a:solidFill>
              <a:srgbClr val="0E9F9A"/>
            </a:solidFill>
            <a:prstDash val="solid"/>
          </a:ln>
        </p:spPr>
      </p:sp>
      <p:pic>
        <p:nvPicPr>
          <p:cNvPr id="18" name="Image 3" descr="preencoded.png">    </p:cNvPr>
          <p:cNvPicPr>
            <a:picLocks noChangeAspect="1"/>
          </p:cNvPicPr>
          <p:nvPr/>
        </p:nvPicPr>
        <p:blipFill>
          <a:blip r:embed="rId4"/>
          <a:stretch>
            <a:fillRect/>
          </a:stretch>
        </p:blipFill>
        <p:spPr>
          <a:xfrm>
            <a:off x="5405201" y="5359481"/>
            <a:ext cx="272125" cy="272125"/>
          </a:xfrm>
          <a:prstGeom prst="rect">
            <a:avLst/>
          </a:prstGeom>
        </p:spPr>
      </p:pic>
      <p:sp>
        <p:nvSpPr>
          <p:cNvPr id="19" name="Text 13"/>
          <p:cNvSpPr txBox="1"/>
          <p:nvPr/>
        </p:nvSpPr>
        <p:spPr>
          <a:xfrm>
            <a:off x="5943600" y="5010912"/>
            <a:ext cx="2240280" cy="100584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Dinamiklik</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muhit o‘zgarish tezligi; raqamli davrda u keskin oshgan</a:t>
            </a:r>
            <a:endParaRPr lang="en-US" sz="1400" dirty="0"/>
          </a:p>
        </p:txBody>
      </p:sp>
      <p:sp>
        <p:nvSpPr>
          <p:cNvPr id="20" name="Shape 14"/>
          <p:cNvSpPr/>
          <p:nvPr/>
        </p:nvSpPr>
        <p:spPr>
          <a:xfrm>
            <a:off x="8412480" y="4937760"/>
            <a:ext cx="3154680" cy="1143000"/>
          </a:xfrm>
          <a:prstGeom prst="roundRect">
            <a:avLst>
              <a:gd name="adj" fmla="val 96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1" name="Shape 15"/>
          <p:cNvSpPr/>
          <p:nvPr/>
        </p:nvSpPr>
        <p:spPr>
          <a:xfrm>
            <a:off x="8549640" y="5212080"/>
            <a:ext cx="566928" cy="566928"/>
          </a:xfrm>
          <a:prstGeom prst="ellipse">
            <a:avLst/>
          </a:prstGeom>
          <a:solidFill>
            <a:srgbClr val="0D2F4F"/>
          </a:solidFill>
          <a:ln w="12700">
            <a:solidFill>
              <a:srgbClr val="0D2F4F"/>
            </a:solidFill>
            <a:prstDash val="solid"/>
          </a:ln>
        </p:spPr>
      </p:sp>
      <p:pic>
        <p:nvPicPr>
          <p:cNvPr id="22" name="Image 4" descr="preencoded.png">    </p:cNvPr>
          <p:cNvPicPr>
            <a:picLocks noChangeAspect="1"/>
          </p:cNvPicPr>
          <p:nvPr/>
        </p:nvPicPr>
        <p:blipFill>
          <a:blip r:embed="rId5"/>
          <a:stretch>
            <a:fillRect/>
          </a:stretch>
        </p:blipFill>
        <p:spPr>
          <a:xfrm>
            <a:off x="8697041" y="5359481"/>
            <a:ext cx="272125" cy="272125"/>
          </a:xfrm>
          <a:prstGeom prst="rect">
            <a:avLst/>
          </a:prstGeom>
        </p:spPr>
      </p:pic>
      <p:sp>
        <p:nvSpPr>
          <p:cNvPr id="23" name="Text 16"/>
          <p:cNvSpPr txBox="1"/>
          <p:nvPr/>
        </p:nvSpPr>
        <p:spPr>
          <a:xfrm>
            <a:off x="9235440" y="5010912"/>
            <a:ext cx="2240280" cy="100584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Noaniqlik</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axborotning yetishmasligi va uning ishonchlilik darajasi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Tashqi makromuhit tahlili: PESTEL usuli</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500" dirty="0">
                <a:solidFill>
                  <a:srgbClr val="1B2A3A"/>
                </a:solidFill>
                <a:latin typeface="Calibri" pitchFamily="34" charset="0"/>
                <a:ea typeface="Calibri" pitchFamily="34" charset="-122"/>
                <a:cs typeface="Calibri" pitchFamily="34" charset="-120"/>
              </a:rPr>
              <a:t>PESTEL – F. Agilar (1967) taklif etgan PEST tahlilining kengaytirilgan shakli bo‘lib, makromuhitni oltita guruh omillar bo‘yicha tizimli o‘rganadi. Har bir omil korxona uchun imkoniyat yoki tahdid sifatida baholanadi.</a:t>
            </a:r>
            <a:endParaRPr lang="en-US" sz="1500" dirty="0"/>
          </a:p>
        </p:txBody>
      </p:sp>
      <p:sp>
        <p:nvSpPr>
          <p:cNvPr id="4" name="Shape 2"/>
          <p:cNvSpPr/>
          <p:nvPr/>
        </p:nvSpPr>
        <p:spPr>
          <a:xfrm>
            <a:off x="548640" y="2148840"/>
            <a:ext cx="3520440" cy="1874520"/>
          </a:xfrm>
          <a:prstGeom prst="roundRect">
            <a:avLst>
              <a:gd name="adj" fmla="val 5854"/>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Shape 3"/>
          <p:cNvSpPr/>
          <p:nvPr/>
        </p:nvSpPr>
        <p:spPr>
          <a:xfrm>
            <a:off x="731520" y="2331720"/>
            <a:ext cx="685800" cy="685800"/>
          </a:xfrm>
          <a:prstGeom prst="ellipse">
            <a:avLst/>
          </a:prstGeom>
          <a:solidFill>
            <a:srgbClr val="0E9F9A"/>
          </a:solidFill>
          <a:ln w="12700">
            <a:solidFill>
              <a:srgbClr val="0E9F9A"/>
            </a:solidFill>
            <a:prstDash val="solid"/>
          </a:ln>
        </p:spPr>
      </p:sp>
      <p:sp>
        <p:nvSpPr>
          <p:cNvPr id="6" name="Text 4"/>
          <p:cNvSpPr txBox="1"/>
          <p:nvPr/>
        </p:nvSpPr>
        <p:spPr>
          <a:xfrm>
            <a:off x="731520" y="233172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P</a:t>
            </a:r>
            <a:endParaRPr lang="en-US" sz="2600" dirty="0"/>
          </a:p>
        </p:txBody>
      </p:sp>
      <p:sp>
        <p:nvSpPr>
          <p:cNvPr id="7" name="Text 5"/>
          <p:cNvSpPr txBox="1"/>
          <p:nvPr/>
        </p:nvSpPr>
        <p:spPr>
          <a:xfrm>
            <a:off x="1554480" y="2331720"/>
            <a:ext cx="1874520" cy="685800"/>
          </a:xfrm>
          <a:prstGeom prst="rect">
            <a:avLst/>
          </a:prstGeom>
          <a:noFill/>
          <a:ln/>
        </p:spPr>
        <p:txBody>
          <a:bodyPr wrap="square" lIns="0" tIns="0" rIns="0" bIns="0" rtlCol="0" anchor="ctr"/>
          <a:lstStyle/>
          <a:p>
            <a:pPr indent="0" marL="0">
              <a:buNone/>
            </a:pPr>
            <a:r>
              <a:rPr lang="en-US" sz="1600" b="1" dirty="0">
                <a:solidFill>
                  <a:srgbClr val="0D2F4F"/>
                </a:solidFill>
              </a:rPr>
              <a:t>Siyosiy omillar</a:t>
            </a:r>
            <a:endParaRPr lang="en-US" sz="1600" dirty="0"/>
          </a:p>
        </p:txBody>
      </p:sp>
      <p:sp>
        <p:nvSpPr>
          <p:cNvPr id="8" name="Shape 6"/>
          <p:cNvSpPr/>
          <p:nvPr/>
        </p:nvSpPr>
        <p:spPr>
          <a:xfrm>
            <a:off x="3474720" y="2423160"/>
            <a:ext cx="457200" cy="457200"/>
          </a:xfrm>
          <a:prstGeom prst="ellipse">
            <a:avLst/>
          </a:prstGeom>
          <a:solidFill>
            <a:srgbClr val="F2A541"/>
          </a:solidFill>
          <a:ln w="12700">
            <a:solidFill>
              <a:srgbClr val="F2A541"/>
            </a:solidFill>
            <a:prstDash val="solid"/>
          </a:ln>
        </p:spPr>
      </p:sp>
      <p:pic>
        <p:nvPicPr>
          <p:cNvPr id="9" name="Image 0" descr="preencoded.png">    </p:cNvPr>
          <p:cNvPicPr>
            <a:picLocks noChangeAspect="1"/>
          </p:cNvPicPr>
          <p:nvPr/>
        </p:nvPicPr>
        <p:blipFill>
          <a:blip r:embed="rId1"/>
          <a:stretch>
            <a:fillRect/>
          </a:stretch>
        </p:blipFill>
        <p:spPr>
          <a:xfrm>
            <a:off x="3593592" y="2542032"/>
            <a:ext cx="219456" cy="219456"/>
          </a:xfrm>
          <a:prstGeom prst="rect">
            <a:avLst/>
          </a:prstGeom>
        </p:spPr>
      </p:pic>
      <p:sp>
        <p:nvSpPr>
          <p:cNvPr id="10" name="Text 7"/>
          <p:cNvSpPr txBox="1"/>
          <p:nvPr/>
        </p:nvSpPr>
        <p:spPr>
          <a:xfrm>
            <a:off x="731520" y="3108960"/>
            <a:ext cx="3154680" cy="86868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davlat iqtisodiy siyosati, soliq va bojxona siyosati, tadbirkorlikni qo‘llab-quvvatlash, siyosiy barqarorlik</a:t>
            </a:r>
            <a:endParaRPr lang="en-US" sz="1350" dirty="0"/>
          </a:p>
        </p:txBody>
      </p:sp>
      <p:sp>
        <p:nvSpPr>
          <p:cNvPr id="11" name="Shape 8"/>
          <p:cNvSpPr/>
          <p:nvPr/>
        </p:nvSpPr>
        <p:spPr>
          <a:xfrm>
            <a:off x="4343400" y="2148840"/>
            <a:ext cx="3520440" cy="1874520"/>
          </a:xfrm>
          <a:prstGeom prst="roundRect">
            <a:avLst>
              <a:gd name="adj" fmla="val 5854"/>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2" name="Shape 9"/>
          <p:cNvSpPr/>
          <p:nvPr/>
        </p:nvSpPr>
        <p:spPr>
          <a:xfrm>
            <a:off x="4526280" y="2331720"/>
            <a:ext cx="685800" cy="685800"/>
          </a:xfrm>
          <a:prstGeom prst="ellipse">
            <a:avLst/>
          </a:prstGeom>
          <a:solidFill>
            <a:srgbClr val="0D2F4F"/>
          </a:solidFill>
          <a:ln w="12700">
            <a:solidFill>
              <a:srgbClr val="0D2F4F"/>
            </a:solidFill>
            <a:prstDash val="solid"/>
          </a:ln>
        </p:spPr>
      </p:sp>
      <p:sp>
        <p:nvSpPr>
          <p:cNvPr id="13" name="Text 10"/>
          <p:cNvSpPr txBox="1"/>
          <p:nvPr/>
        </p:nvSpPr>
        <p:spPr>
          <a:xfrm>
            <a:off x="4526280" y="233172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E</a:t>
            </a:r>
            <a:endParaRPr lang="en-US" sz="2600" dirty="0"/>
          </a:p>
        </p:txBody>
      </p:sp>
      <p:sp>
        <p:nvSpPr>
          <p:cNvPr id="14" name="Text 11"/>
          <p:cNvSpPr txBox="1"/>
          <p:nvPr/>
        </p:nvSpPr>
        <p:spPr>
          <a:xfrm>
            <a:off x="5349240" y="2331720"/>
            <a:ext cx="1874520" cy="685800"/>
          </a:xfrm>
          <a:prstGeom prst="rect">
            <a:avLst/>
          </a:prstGeom>
          <a:noFill/>
          <a:ln/>
        </p:spPr>
        <p:txBody>
          <a:bodyPr wrap="square" lIns="0" tIns="0" rIns="0" bIns="0" rtlCol="0" anchor="ctr"/>
          <a:lstStyle/>
          <a:p>
            <a:pPr indent="0" marL="0">
              <a:buNone/>
            </a:pPr>
            <a:r>
              <a:rPr lang="en-US" sz="1600" b="1" dirty="0">
                <a:solidFill>
                  <a:srgbClr val="0D2F4F"/>
                </a:solidFill>
              </a:rPr>
              <a:t>Iqtisodiy omillar</a:t>
            </a:r>
            <a:endParaRPr lang="en-US" sz="1600" dirty="0"/>
          </a:p>
        </p:txBody>
      </p:sp>
      <p:sp>
        <p:nvSpPr>
          <p:cNvPr id="15" name="Shape 12"/>
          <p:cNvSpPr/>
          <p:nvPr/>
        </p:nvSpPr>
        <p:spPr>
          <a:xfrm>
            <a:off x="7269480" y="2423160"/>
            <a:ext cx="457200" cy="457200"/>
          </a:xfrm>
          <a:prstGeom prst="ellipse">
            <a:avLst/>
          </a:prstGeom>
          <a:solidFill>
            <a:srgbClr val="F2A541"/>
          </a:solidFill>
          <a:ln w="12700">
            <a:solidFill>
              <a:srgbClr val="F2A541"/>
            </a:solidFill>
            <a:prstDash val="solid"/>
          </a:ln>
        </p:spPr>
      </p:sp>
      <p:pic>
        <p:nvPicPr>
          <p:cNvPr id="16" name="Image 1" descr="preencoded.png">    </p:cNvPr>
          <p:cNvPicPr>
            <a:picLocks noChangeAspect="1"/>
          </p:cNvPicPr>
          <p:nvPr/>
        </p:nvPicPr>
        <p:blipFill>
          <a:blip r:embed="rId2"/>
          <a:stretch>
            <a:fillRect/>
          </a:stretch>
        </p:blipFill>
        <p:spPr>
          <a:xfrm>
            <a:off x="7388352" y="2542032"/>
            <a:ext cx="219456" cy="219456"/>
          </a:xfrm>
          <a:prstGeom prst="rect">
            <a:avLst/>
          </a:prstGeom>
        </p:spPr>
      </p:pic>
      <p:sp>
        <p:nvSpPr>
          <p:cNvPr id="17" name="Text 13"/>
          <p:cNvSpPr txBox="1"/>
          <p:nvPr/>
        </p:nvSpPr>
        <p:spPr>
          <a:xfrm>
            <a:off x="4526280" y="3108960"/>
            <a:ext cx="3154680" cy="86868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YaIM o‘sishi, inflyatsiya, valyuta kursi, foiz stavkalari, aholining xarid qobiliyati, ishsizlik darajasi</a:t>
            </a:r>
            <a:endParaRPr lang="en-US" sz="1350" dirty="0"/>
          </a:p>
        </p:txBody>
      </p:sp>
      <p:sp>
        <p:nvSpPr>
          <p:cNvPr id="18" name="Shape 14"/>
          <p:cNvSpPr/>
          <p:nvPr/>
        </p:nvSpPr>
        <p:spPr>
          <a:xfrm>
            <a:off x="8138160" y="2148840"/>
            <a:ext cx="3520440" cy="1874520"/>
          </a:xfrm>
          <a:prstGeom prst="roundRect">
            <a:avLst>
              <a:gd name="adj" fmla="val 5854"/>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Shape 15"/>
          <p:cNvSpPr/>
          <p:nvPr/>
        </p:nvSpPr>
        <p:spPr>
          <a:xfrm>
            <a:off x="8321040" y="2331720"/>
            <a:ext cx="685800" cy="685800"/>
          </a:xfrm>
          <a:prstGeom prst="ellipse">
            <a:avLst/>
          </a:prstGeom>
          <a:solidFill>
            <a:srgbClr val="3B6EA5"/>
          </a:solidFill>
          <a:ln w="12700">
            <a:solidFill>
              <a:srgbClr val="3B6EA5"/>
            </a:solidFill>
            <a:prstDash val="solid"/>
          </a:ln>
        </p:spPr>
      </p:sp>
      <p:sp>
        <p:nvSpPr>
          <p:cNvPr id="20" name="Text 16"/>
          <p:cNvSpPr txBox="1"/>
          <p:nvPr/>
        </p:nvSpPr>
        <p:spPr>
          <a:xfrm>
            <a:off x="8321040" y="233172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S</a:t>
            </a:r>
            <a:endParaRPr lang="en-US" sz="2600" dirty="0"/>
          </a:p>
        </p:txBody>
      </p:sp>
      <p:sp>
        <p:nvSpPr>
          <p:cNvPr id="21" name="Text 17"/>
          <p:cNvSpPr txBox="1"/>
          <p:nvPr/>
        </p:nvSpPr>
        <p:spPr>
          <a:xfrm>
            <a:off x="9144000" y="2331720"/>
            <a:ext cx="1874520" cy="685800"/>
          </a:xfrm>
          <a:prstGeom prst="rect">
            <a:avLst/>
          </a:prstGeom>
          <a:noFill/>
          <a:ln/>
        </p:spPr>
        <p:txBody>
          <a:bodyPr wrap="square" lIns="0" tIns="0" rIns="0" bIns="0" rtlCol="0" anchor="ctr"/>
          <a:lstStyle/>
          <a:p>
            <a:pPr indent="0" marL="0">
              <a:buNone/>
            </a:pPr>
            <a:r>
              <a:rPr lang="en-US" sz="1600" b="1" dirty="0">
                <a:solidFill>
                  <a:srgbClr val="0D2F4F"/>
                </a:solidFill>
              </a:rPr>
              <a:t>Ijtimoiy omillar</a:t>
            </a:r>
            <a:endParaRPr lang="en-US" sz="1600" dirty="0"/>
          </a:p>
        </p:txBody>
      </p:sp>
      <p:sp>
        <p:nvSpPr>
          <p:cNvPr id="22" name="Shape 18"/>
          <p:cNvSpPr/>
          <p:nvPr/>
        </p:nvSpPr>
        <p:spPr>
          <a:xfrm>
            <a:off x="11064240" y="2423160"/>
            <a:ext cx="457200" cy="457200"/>
          </a:xfrm>
          <a:prstGeom prst="ellipse">
            <a:avLst/>
          </a:prstGeom>
          <a:solidFill>
            <a:srgbClr val="F2A541"/>
          </a:solidFill>
          <a:ln w="12700">
            <a:solidFill>
              <a:srgbClr val="F2A541"/>
            </a:solidFill>
            <a:prstDash val="solid"/>
          </a:ln>
        </p:spPr>
      </p:sp>
      <p:pic>
        <p:nvPicPr>
          <p:cNvPr id="23" name="Image 2" descr="preencoded.png">    </p:cNvPr>
          <p:cNvPicPr>
            <a:picLocks noChangeAspect="1"/>
          </p:cNvPicPr>
          <p:nvPr/>
        </p:nvPicPr>
        <p:blipFill>
          <a:blip r:embed="rId3"/>
          <a:stretch>
            <a:fillRect/>
          </a:stretch>
        </p:blipFill>
        <p:spPr>
          <a:xfrm>
            <a:off x="11183112" y="2542032"/>
            <a:ext cx="219456" cy="219456"/>
          </a:xfrm>
          <a:prstGeom prst="rect">
            <a:avLst/>
          </a:prstGeom>
        </p:spPr>
      </p:pic>
      <p:sp>
        <p:nvSpPr>
          <p:cNvPr id="24" name="Text 19"/>
          <p:cNvSpPr txBox="1"/>
          <p:nvPr/>
        </p:nvSpPr>
        <p:spPr>
          <a:xfrm>
            <a:off x="8321040" y="3108960"/>
            <a:ext cx="3154680" cy="86868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aholi soni va yosh tarkibi, ta’lim darajasi, urf-odat va qadriyatlar, iste’mol madaniyati, migratsiya</a:t>
            </a:r>
            <a:endParaRPr lang="en-US" sz="1350" dirty="0"/>
          </a:p>
        </p:txBody>
      </p:sp>
      <p:sp>
        <p:nvSpPr>
          <p:cNvPr id="25" name="Shape 20"/>
          <p:cNvSpPr/>
          <p:nvPr/>
        </p:nvSpPr>
        <p:spPr>
          <a:xfrm>
            <a:off x="548640" y="4206240"/>
            <a:ext cx="3520440" cy="1874520"/>
          </a:xfrm>
          <a:prstGeom prst="roundRect">
            <a:avLst>
              <a:gd name="adj" fmla="val 5854"/>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6" name="Shape 21"/>
          <p:cNvSpPr/>
          <p:nvPr/>
        </p:nvSpPr>
        <p:spPr>
          <a:xfrm>
            <a:off x="731520" y="4389120"/>
            <a:ext cx="685800" cy="685800"/>
          </a:xfrm>
          <a:prstGeom prst="ellipse">
            <a:avLst/>
          </a:prstGeom>
          <a:solidFill>
            <a:srgbClr val="0E9F9A"/>
          </a:solidFill>
          <a:ln w="12700">
            <a:solidFill>
              <a:srgbClr val="0E9F9A"/>
            </a:solidFill>
            <a:prstDash val="solid"/>
          </a:ln>
        </p:spPr>
      </p:sp>
      <p:sp>
        <p:nvSpPr>
          <p:cNvPr id="27" name="Text 22"/>
          <p:cNvSpPr txBox="1"/>
          <p:nvPr/>
        </p:nvSpPr>
        <p:spPr>
          <a:xfrm>
            <a:off x="731520" y="438912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a:t>
            </a:r>
            <a:endParaRPr lang="en-US" sz="2600" dirty="0"/>
          </a:p>
        </p:txBody>
      </p:sp>
      <p:sp>
        <p:nvSpPr>
          <p:cNvPr id="28" name="Text 23"/>
          <p:cNvSpPr txBox="1"/>
          <p:nvPr/>
        </p:nvSpPr>
        <p:spPr>
          <a:xfrm>
            <a:off x="1554480" y="4389120"/>
            <a:ext cx="1874520" cy="685800"/>
          </a:xfrm>
          <a:prstGeom prst="rect">
            <a:avLst/>
          </a:prstGeom>
          <a:noFill/>
          <a:ln/>
        </p:spPr>
        <p:txBody>
          <a:bodyPr wrap="square" lIns="0" tIns="0" rIns="0" bIns="0" rtlCol="0" anchor="ctr"/>
          <a:lstStyle/>
          <a:p>
            <a:pPr indent="0" marL="0">
              <a:buNone/>
            </a:pPr>
            <a:r>
              <a:rPr lang="en-US" sz="1600" b="1" dirty="0">
                <a:solidFill>
                  <a:srgbClr val="0D2F4F"/>
                </a:solidFill>
              </a:rPr>
              <a:t>Texnologik omillar</a:t>
            </a:r>
            <a:endParaRPr lang="en-US" sz="1600" dirty="0"/>
          </a:p>
        </p:txBody>
      </p:sp>
      <p:sp>
        <p:nvSpPr>
          <p:cNvPr id="29" name="Shape 24"/>
          <p:cNvSpPr/>
          <p:nvPr/>
        </p:nvSpPr>
        <p:spPr>
          <a:xfrm>
            <a:off x="3474720" y="4480560"/>
            <a:ext cx="457200" cy="457200"/>
          </a:xfrm>
          <a:prstGeom prst="ellipse">
            <a:avLst/>
          </a:prstGeom>
          <a:solidFill>
            <a:srgbClr val="F2A541"/>
          </a:solidFill>
          <a:ln w="12700">
            <a:solidFill>
              <a:srgbClr val="F2A541"/>
            </a:solidFill>
            <a:prstDash val="solid"/>
          </a:ln>
        </p:spPr>
      </p:sp>
      <p:pic>
        <p:nvPicPr>
          <p:cNvPr id="30" name="Image 3" descr="preencoded.png">    </p:cNvPr>
          <p:cNvPicPr>
            <a:picLocks noChangeAspect="1"/>
          </p:cNvPicPr>
          <p:nvPr/>
        </p:nvPicPr>
        <p:blipFill>
          <a:blip r:embed="rId4"/>
          <a:stretch>
            <a:fillRect/>
          </a:stretch>
        </p:blipFill>
        <p:spPr>
          <a:xfrm>
            <a:off x="3593592" y="4599432"/>
            <a:ext cx="219456" cy="219456"/>
          </a:xfrm>
          <a:prstGeom prst="rect">
            <a:avLst/>
          </a:prstGeom>
        </p:spPr>
      </p:pic>
      <p:sp>
        <p:nvSpPr>
          <p:cNvPr id="31" name="Text 25"/>
          <p:cNvSpPr txBox="1"/>
          <p:nvPr/>
        </p:nvSpPr>
        <p:spPr>
          <a:xfrm>
            <a:off x="731520" y="5166360"/>
            <a:ext cx="3154680" cy="86868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yangi texnologiyalar, raqamlashtirish, avtomatlashtirish, sun’iy intellekt, ITR xarajatlari</a:t>
            </a:r>
            <a:endParaRPr lang="en-US" sz="1350" dirty="0"/>
          </a:p>
        </p:txBody>
      </p:sp>
      <p:sp>
        <p:nvSpPr>
          <p:cNvPr id="32" name="Shape 26"/>
          <p:cNvSpPr/>
          <p:nvPr/>
        </p:nvSpPr>
        <p:spPr>
          <a:xfrm>
            <a:off x="4343400" y="4206240"/>
            <a:ext cx="3520440" cy="1874520"/>
          </a:xfrm>
          <a:prstGeom prst="roundRect">
            <a:avLst>
              <a:gd name="adj" fmla="val 5854"/>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3" name="Shape 27"/>
          <p:cNvSpPr/>
          <p:nvPr/>
        </p:nvSpPr>
        <p:spPr>
          <a:xfrm>
            <a:off x="4526280" y="4389120"/>
            <a:ext cx="685800" cy="685800"/>
          </a:xfrm>
          <a:prstGeom prst="ellipse">
            <a:avLst/>
          </a:prstGeom>
          <a:solidFill>
            <a:srgbClr val="0D2F4F"/>
          </a:solidFill>
          <a:ln w="12700">
            <a:solidFill>
              <a:srgbClr val="0D2F4F"/>
            </a:solidFill>
            <a:prstDash val="solid"/>
          </a:ln>
        </p:spPr>
      </p:sp>
      <p:sp>
        <p:nvSpPr>
          <p:cNvPr id="34" name="Text 28"/>
          <p:cNvSpPr txBox="1"/>
          <p:nvPr/>
        </p:nvSpPr>
        <p:spPr>
          <a:xfrm>
            <a:off x="4526280" y="438912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E</a:t>
            </a:r>
            <a:endParaRPr lang="en-US" sz="2600" dirty="0"/>
          </a:p>
        </p:txBody>
      </p:sp>
      <p:sp>
        <p:nvSpPr>
          <p:cNvPr id="35" name="Text 29"/>
          <p:cNvSpPr txBox="1"/>
          <p:nvPr/>
        </p:nvSpPr>
        <p:spPr>
          <a:xfrm>
            <a:off x="5349240" y="4389120"/>
            <a:ext cx="1874520" cy="685800"/>
          </a:xfrm>
          <a:prstGeom prst="rect">
            <a:avLst/>
          </a:prstGeom>
          <a:noFill/>
          <a:ln/>
        </p:spPr>
        <p:txBody>
          <a:bodyPr wrap="square" lIns="0" tIns="0" rIns="0" bIns="0" rtlCol="0" anchor="ctr"/>
          <a:lstStyle/>
          <a:p>
            <a:pPr indent="0" marL="0">
              <a:buNone/>
            </a:pPr>
            <a:r>
              <a:rPr lang="en-US" sz="1600" b="1" dirty="0">
                <a:solidFill>
                  <a:srgbClr val="0D2F4F"/>
                </a:solidFill>
              </a:rPr>
              <a:t>Ekologik omillar</a:t>
            </a:r>
            <a:endParaRPr lang="en-US" sz="1600" dirty="0"/>
          </a:p>
        </p:txBody>
      </p:sp>
      <p:sp>
        <p:nvSpPr>
          <p:cNvPr id="36" name="Shape 30"/>
          <p:cNvSpPr/>
          <p:nvPr/>
        </p:nvSpPr>
        <p:spPr>
          <a:xfrm>
            <a:off x="7269480" y="4480560"/>
            <a:ext cx="457200" cy="457200"/>
          </a:xfrm>
          <a:prstGeom prst="ellipse">
            <a:avLst/>
          </a:prstGeom>
          <a:solidFill>
            <a:srgbClr val="F2A541"/>
          </a:solidFill>
          <a:ln w="12700">
            <a:solidFill>
              <a:srgbClr val="F2A541"/>
            </a:solidFill>
            <a:prstDash val="solid"/>
          </a:ln>
        </p:spPr>
      </p:sp>
      <p:pic>
        <p:nvPicPr>
          <p:cNvPr id="37" name="Image 4" descr="preencoded.png">    </p:cNvPr>
          <p:cNvPicPr>
            <a:picLocks noChangeAspect="1"/>
          </p:cNvPicPr>
          <p:nvPr/>
        </p:nvPicPr>
        <p:blipFill>
          <a:blip r:embed="rId5"/>
          <a:stretch>
            <a:fillRect/>
          </a:stretch>
        </p:blipFill>
        <p:spPr>
          <a:xfrm>
            <a:off x="7388352" y="4599432"/>
            <a:ext cx="219456" cy="219456"/>
          </a:xfrm>
          <a:prstGeom prst="rect">
            <a:avLst/>
          </a:prstGeom>
        </p:spPr>
      </p:pic>
      <p:sp>
        <p:nvSpPr>
          <p:cNvPr id="38" name="Text 31"/>
          <p:cNvSpPr txBox="1"/>
          <p:nvPr/>
        </p:nvSpPr>
        <p:spPr>
          <a:xfrm>
            <a:off x="4526280" y="5166360"/>
            <a:ext cx="3154680" cy="86868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atrof-muhitni muhofaza qilish talablari, iqlim o‘zgarishi, resurs tejamkorligi, “yashil” iqtisodiyot</a:t>
            </a:r>
            <a:endParaRPr lang="en-US" sz="1350" dirty="0"/>
          </a:p>
        </p:txBody>
      </p:sp>
      <p:sp>
        <p:nvSpPr>
          <p:cNvPr id="39" name="Shape 32"/>
          <p:cNvSpPr/>
          <p:nvPr/>
        </p:nvSpPr>
        <p:spPr>
          <a:xfrm>
            <a:off x="8138160" y="4206240"/>
            <a:ext cx="3520440" cy="1874520"/>
          </a:xfrm>
          <a:prstGeom prst="roundRect">
            <a:avLst>
              <a:gd name="adj" fmla="val 5854"/>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0" name="Shape 33"/>
          <p:cNvSpPr/>
          <p:nvPr/>
        </p:nvSpPr>
        <p:spPr>
          <a:xfrm>
            <a:off x="8321040" y="4389120"/>
            <a:ext cx="685800" cy="685800"/>
          </a:xfrm>
          <a:prstGeom prst="ellipse">
            <a:avLst/>
          </a:prstGeom>
          <a:solidFill>
            <a:srgbClr val="3B6EA5"/>
          </a:solidFill>
          <a:ln w="12700">
            <a:solidFill>
              <a:srgbClr val="3B6EA5"/>
            </a:solidFill>
            <a:prstDash val="solid"/>
          </a:ln>
        </p:spPr>
      </p:sp>
      <p:sp>
        <p:nvSpPr>
          <p:cNvPr id="41" name="Text 34"/>
          <p:cNvSpPr txBox="1"/>
          <p:nvPr/>
        </p:nvSpPr>
        <p:spPr>
          <a:xfrm>
            <a:off x="8321040" y="438912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L</a:t>
            </a:r>
            <a:endParaRPr lang="en-US" sz="2600" dirty="0"/>
          </a:p>
        </p:txBody>
      </p:sp>
      <p:sp>
        <p:nvSpPr>
          <p:cNvPr id="42" name="Text 35"/>
          <p:cNvSpPr txBox="1"/>
          <p:nvPr/>
        </p:nvSpPr>
        <p:spPr>
          <a:xfrm>
            <a:off x="9144000" y="4389120"/>
            <a:ext cx="1874520" cy="685800"/>
          </a:xfrm>
          <a:prstGeom prst="rect">
            <a:avLst/>
          </a:prstGeom>
          <a:noFill/>
          <a:ln/>
        </p:spPr>
        <p:txBody>
          <a:bodyPr wrap="square" lIns="0" tIns="0" rIns="0" bIns="0" rtlCol="0" anchor="ctr"/>
          <a:lstStyle/>
          <a:p>
            <a:pPr indent="0" marL="0">
              <a:buNone/>
            </a:pPr>
            <a:r>
              <a:rPr lang="en-US" sz="1600" b="1" dirty="0">
                <a:solidFill>
                  <a:srgbClr val="0D2F4F"/>
                </a:solidFill>
              </a:rPr>
              <a:t>Huquqiy omillar</a:t>
            </a:r>
            <a:endParaRPr lang="en-US" sz="1600" dirty="0"/>
          </a:p>
        </p:txBody>
      </p:sp>
      <p:sp>
        <p:nvSpPr>
          <p:cNvPr id="43" name="Shape 36"/>
          <p:cNvSpPr/>
          <p:nvPr/>
        </p:nvSpPr>
        <p:spPr>
          <a:xfrm>
            <a:off x="11064240" y="4480560"/>
            <a:ext cx="457200" cy="457200"/>
          </a:xfrm>
          <a:prstGeom prst="ellipse">
            <a:avLst/>
          </a:prstGeom>
          <a:solidFill>
            <a:srgbClr val="F2A541"/>
          </a:solidFill>
          <a:ln w="12700">
            <a:solidFill>
              <a:srgbClr val="F2A541"/>
            </a:solidFill>
            <a:prstDash val="solid"/>
          </a:ln>
        </p:spPr>
      </p:sp>
      <p:pic>
        <p:nvPicPr>
          <p:cNvPr id="44" name="Image 5" descr="preencoded.png">    </p:cNvPr>
          <p:cNvPicPr>
            <a:picLocks noChangeAspect="1"/>
          </p:cNvPicPr>
          <p:nvPr/>
        </p:nvPicPr>
        <p:blipFill>
          <a:blip r:embed="rId6"/>
          <a:stretch>
            <a:fillRect/>
          </a:stretch>
        </p:blipFill>
        <p:spPr>
          <a:xfrm>
            <a:off x="11183112" y="4599432"/>
            <a:ext cx="219456" cy="219456"/>
          </a:xfrm>
          <a:prstGeom prst="rect">
            <a:avLst/>
          </a:prstGeom>
        </p:spPr>
      </p:pic>
      <p:sp>
        <p:nvSpPr>
          <p:cNvPr id="45" name="Text 37"/>
          <p:cNvSpPr txBox="1"/>
          <p:nvPr/>
        </p:nvSpPr>
        <p:spPr>
          <a:xfrm>
            <a:off x="8321040" y="5166360"/>
            <a:ext cx="3154680" cy="86868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mehnat, soliq va raqobat qonunchiligi, litsenziyalash, iste’molchilar huquqlarini himoya qilish</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Tashqi mikromuhit va uning sub’ektlari</a:t>
            </a:r>
            <a:endParaRPr lang="en-US" sz="3000" dirty="0"/>
          </a:p>
        </p:txBody>
      </p:sp>
      <p:sp>
        <p:nvSpPr>
          <p:cNvPr id="3" name="Shape 1"/>
          <p:cNvSpPr/>
          <p:nvPr/>
        </p:nvSpPr>
        <p:spPr>
          <a:xfrm flipH="1">
            <a:off x="3063240" y="1874520"/>
            <a:ext cx="914" cy="1874520"/>
          </a:xfrm>
          <a:prstGeom prst="line">
            <a:avLst/>
          </a:prstGeom>
          <a:noFill/>
          <a:ln w="19050">
            <a:solidFill>
              <a:srgbClr val="0E9F9A"/>
            </a:solidFill>
            <a:prstDash val="dash"/>
          </a:ln>
        </p:spPr>
      </p:sp>
      <p:sp>
        <p:nvSpPr>
          <p:cNvPr id="4" name="Shape 2"/>
          <p:cNvSpPr/>
          <p:nvPr/>
        </p:nvSpPr>
        <p:spPr>
          <a:xfrm flipH="1">
            <a:off x="3063240" y="2811780"/>
            <a:ext cx="1623382" cy="937260"/>
          </a:xfrm>
          <a:prstGeom prst="line">
            <a:avLst/>
          </a:prstGeom>
          <a:noFill/>
          <a:ln w="19050">
            <a:solidFill>
              <a:srgbClr val="0E9F9A"/>
            </a:solidFill>
            <a:prstDash val="dash"/>
          </a:ln>
        </p:spPr>
      </p:sp>
      <p:sp>
        <p:nvSpPr>
          <p:cNvPr id="5" name="Shape 3"/>
          <p:cNvSpPr/>
          <p:nvPr/>
        </p:nvSpPr>
        <p:spPr>
          <a:xfrm>
            <a:off x="3063240" y="3749040"/>
            <a:ext cx="1623382" cy="937260"/>
          </a:xfrm>
          <a:prstGeom prst="line">
            <a:avLst/>
          </a:prstGeom>
          <a:noFill/>
          <a:ln w="19050">
            <a:solidFill>
              <a:srgbClr val="0E9F9A"/>
            </a:solidFill>
            <a:prstDash val="dash"/>
          </a:ln>
        </p:spPr>
      </p:sp>
      <p:sp>
        <p:nvSpPr>
          <p:cNvPr id="6" name="Shape 4"/>
          <p:cNvSpPr/>
          <p:nvPr/>
        </p:nvSpPr>
        <p:spPr>
          <a:xfrm>
            <a:off x="3063240" y="3749040"/>
            <a:ext cx="914" cy="1874520"/>
          </a:xfrm>
          <a:prstGeom prst="line">
            <a:avLst/>
          </a:prstGeom>
          <a:noFill/>
          <a:ln w="19050">
            <a:solidFill>
              <a:srgbClr val="0E9F9A"/>
            </a:solidFill>
            <a:prstDash val="dash"/>
          </a:ln>
        </p:spPr>
      </p:sp>
      <p:sp>
        <p:nvSpPr>
          <p:cNvPr id="7" name="Shape 5"/>
          <p:cNvSpPr/>
          <p:nvPr/>
        </p:nvSpPr>
        <p:spPr>
          <a:xfrm flipH="1">
            <a:off x="1439858" y="3749040"/>
            <a:ext cx="1623382" cy="937260"/>
          </a:xfrm>
          <a:prstGeom prst="line">
            <a:avLst/>
          </a:prstGeom>
          <a:noFill/>
          <a:ln w="19050">
            <a:solidFill>
              <a:srgbClr val="0E9F9A"/>
            </a:solidFill>
            <a:prstDash val="dash"/>
          </a:ln>
        </p:spPr>
      </p:sp>
      <p:sp>
        <p:nvSpPr>
          <p:cNvPr id="8" name="Shape 6"/>
          <p:cNvSpPr/>
          <p:nvPr/>
        </p:nvSpPr>
        <p:spPr>
          <a:xfrm>
            <a:off x="1439858" y="2811780"/>
            <a:ext cx="1623382" cy="937260"/>
          </a:xfrm>
          <a:prstGeom prst="line">
            <a:avLst/>
          </a:prstGeom>
          <a:noFill/>
          <a:ln w="19050">
            <a:solidFill>
              <a:srgbClr val="0E9F9A"/>
            </a:solidFill>
            <a:prstDash val="dash"/>
          </a:ln>
        </p:spPr>
      </p:sp>
      <p:sp>
        <p:nvSpPr>
          <p:cNvPr id="9" name="Shape 7"/>
          <p:cNvSpPr/>
          <p:nvPr/>
        </p:nvSpPr>
        <p:spPr>
          <a:xfrm>
            <a:off x="2286000" y="2971800"/>
            <a:ext cx="1554480" cy="1554480"/>
          </a:xfrm>
          <a:prstGeom prst="ellipse">
            <a:avLst/>
          </a:prstGeom>
          <a:solidFill>
            <a:srgbClr val="0D2F4F"/>
          </a:solidFill>
          <a:ln w="38100">
            <a:solidFill>
              <a:srgbClr val="F2A541"/>
            </a:solidFill>
            <a:prstDash val="solid"/>
          </a:ln>
          <a:effectLst>
            <a:outerShdw sx="100000" sy="100000" kx="0" ky="0" algn="bl" rotWithShape="0" blurRad="101600" dist="38100" dir="5400000">
              <a:srgbClr val="0D2F4F">
                <a:alpha val="18000"/>
              </a:srgbClr>
            </a:outerShdw>
          </a:effectLst>
        </p:spPr>
      </p:sp>
      <p:sp>
        <p:nvSpPr>
          <p:cNvPr id="10" name="Text 8"/>
          <p:cNvSpPr txBox="1"/>
          <p:nvPr/>
        </p:nvSpPr>
        <p:spPr>
          <a:xfrm>
            <a:off x="2286000" y="2971800"/>
            <a:ext cx="1554480" cy="1554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KORXONA</a:t>
            </a:r>
            <a:endParaRPr lang="en-US" sz="1600" dirty="0"/>
          </a:p>
        </p:txBody>
      </p:sp>
      <p:sp>
        <p:nvSpPr>
          <p:cNvPr id="11" name="Shape 9"/>
          <p:cNvSpPr/>
          <p:nvPr/>
        </p:nvSpPr>
        <p:spPr>
          <a:xfrm>
            <a:off x="2715768" y="1417320"/>
            <a:ext cx="694944" cy="694944"/>
          </a:xfrm>
          <a:prstGeom prst="ellipse">
            <a:avLst/>
          </a:prstGeom>
          <a:solidFill>
            <a:srgbClr val="0E9F9A"/>
          </a:solidFill>
          <a:ln w="12700">
            <a:solidFill>
              <a:srgbClr val="0E9F9A"/>
            </a:solidFill>
            <a:prstDash val="solid"/>
          </a:ln>
        </p:spPr>
      </p:sp>
      <p:pic>
        <p:nvPicPr>
          <p:cNvPr id="12" name="Image 0" descr="preencoded.png">    </p:cNvPr>
          <p:cNvPicPr>
            <a:picLocks noChangeAspect="1"/>
          </p:cNvPicPr>
          <p:nvPr/>
        </p:nvPicPr>
        <p:blipFill>
          <a:blip r:embed="rId1"/>
          <a:stretch>
            <a:fillRect/>
          </a:stretch>
        </p:blipFill>
        <p:spPr>
          <a:xfrm>
            <a:off x="2896453" y="1598005"/>
            <a:ext cx="333573" cy="333573"/>
          </a:xfrm>
          <a:prstGeom prst="rect">
            <a:avLst/>
          </a:prstGeom>
        </p:spPr>
      </p:pic>
      <p:sp>
        <p:nvSpPr>
          <p:cNvPr id="13" name="Text 10"/>
          <p:cNvSpPr txBox="1"/>
          <p:nvPr/>
        </p:nvSpPr>
        <p:spPr>
          <a:xfrm>
            <a:off x="2194560" y="2130552"/>
            <a:ext cx="1737360" cy="320040"/>
          </a:xfrm>
          <a:prstGeom prst="rect">
            <a:avLst/>
          </a:prstGeom>
          <a:noFill/>
          <a:ln/>
        </p:spPr>
        <p:txBody>
          <a:bodyPr wrap="square" lIns="0" tIns="0" rIns="0" bIns="0" rtlCol="0" anchor="ctr"/>
          <a:lstStyle/>
          <a:p>
            <a:pPr algn="ctr" indent="0" marL="0">
              <a:buNone/>
            </a:pPr>
            <a:r>
              <a:rPr lang="en-US" sz="1200" b="1" dirty="0">
                <a:solidFill>
                  <a:srgbClr val="0D2F4F"/>
                </a:solidFill>
              </a:rPr>
              <a:t>Iste’molchilar</a:t>
            </a:r>
            <a:endParaRPr lang="en-US" sz="1200" dirty="0"/>
          </a:p>
        </p:txBody>
      </p:sp>
      <p:sp>
        <p:nvSpPr>
          <p:cNvPr id="14" name="Shape 11"/>
          <p:cNvSpPr/>
          <p:nvPr/>
        </p:nvSpPr>
        <p:spPr>
          <a:xfrm>
            <a:off x="4339150" y="2354580"/>
            <a:ext cx="694944" cy="694944"/>
          </a:xfrm>
          <a:prstGeom prst="ellipse">
            <a:avLst/>
          </a:prstGeom>
          <a:solidFill>
            <a:srgbClr val="0D2F4F"/>
          </a:solidFill>
          <a:ln w="12700">
            <a:solidFill>
              <a:srgbClr val="0D2F4F"/>
            </a:solidFill>
            <a:prstDash val="solid"/>
          </a:ln>
        </p:spPr>
      </p:sp>
      <p:pic>
        <p:nvPicPr>
          <p:cNvPr id="15" name="Image 1" descr="preencoded.png">    </p:cNvPr>
          <p:cNvPicPr>
            <a:picLocks noChangeAspect="1"/>
          </p:cNvPicPr>
          <p:nvPr/>
        </p:nvPicPr>
        <p:blipFill>
          <a:blip r:embed="rId2"/>
          <a:stretch>
            <a:fillRect/>
          </a:stretch>
        </p:blipFill>
        <p:spPr>
          <a:xfrm>
            <a:off x="4519835" y="2535265"/>
            <a:ext cx="333573" cy="333573"/>
          </a:xfrm>
          <a:prstGeom prst="rect">
            <a:avLst/>
          </a:prstGeom>
        </p:spPr>
      </p:pic>
      <p:sp>
        <p:nvSpPr>
          <p:cNvPr id="16" name="Text 12"/>
          <p:cNvSpPr txBox="1"/>
          <p:nvPr/>
        </p:nvSpPr>
        <p:spPr>
          <a:xfrm>
            <a:off x="3817942" y="3067812"/>
            <a:ext cx="1737360" cy="320040"/>
          </a:xfrm>
          <a:prstGeom prst="rect">
            <a:avLst/>
          </a:prstGeom>
          <a:noFill/>
          <a:ln/>
        </p:spPr>
        <p:txBody>
          <a:bodyPr wrap="square" lIns="0" tIns="0" rIns="0" bIns="0" rtlCol="0" anchor="ctr"/>
          <a:lstStyle/>
          <a:p>
            <a:pPr algn="ctr" indent="0" marL="0">
              <a:buNone/>
            </a:pPr>
            <a:r>
              <a:rPr lang="en-US" sz="1200" b="1" dirty="0">
                <a:solidFill>
                  <a:srgbClr val="0D2F4F"/>
                </a:solidFill>
              </a:rPr>
              <a:t>Ta’minotchilar</a:t>
            </a:r>
            <a:endParaRPr lang="en-US" sz="1200" dirty="0"/>
          </a:p>
        </p:txBody>
      </p:sp>
      <p:sp>
        <p:nvSpPr>
          <p:cNvPr id="17" name="Shape 13"/>
          <p:cNvSpPr/>
          <p:nvPr/>
        </p:nvSpPr>
        <p:spPr>
          <a:xfrm>
            <a:off x="4339150" y="4229100"/>
            <a:ext cx="694944" cy="694944"/>
          </a:xfrm>
          <a:prstGeom prst="ellipse">
            <a:avLst/>
          </a:prstGeom>
          <a:solidFill>
            <a:srgbClr val="0E9F9A"/>
          </a:solidFill>
          <a:ln w="12700">
            <a:solidFill>
              <a:srgbClr val="0E9F9A"/>
            </a:solidFill>
            <a:prstDash val="solid"/>
          </a:ln>
        </p:spPr>
      </p:sp>
      <p:pic>
        <p:nvPicPr>
          <p:cNvPr id="18" name="Image 2" descr="preencoded.png">    </p:cNvPr>
          <p:cNvPicPr>
            <a:picLocks noChangeAspect="1"/>
          </p:cNvPicPr>
          <p:nvPr/>
        </p:nvPicPr>
        <p:blipFill>
          <a:blip r:embed="rId3"/>
          <a:stretch>
            <a:fillRect/>
          </a:stretch>
        </p:blipFill>
        <p:spPr>
          <a:xfrm>
            <a:off x="4519835" y="4409785"/>
            <a:ext cx="333573" cy="333573"/>
          </a:xfrm>
          <a:prstGeom prst="rect">
            <a:avLst/>
          </a:prstGeom>
        </p:spPr>
      </p:pic>
      <p:sp>
        <p:nvSpPr>
          <p:cNvPr id="19" name="Text 14"/>
          <p:cNvSpPr txBox="1"/>
          <p:nvPr/>
        </p:nvSpPr>
        <p:spPr>
          <a:xfrm>
            <a:off x="3817942" y="4942332"/>
            <a:ext cx="1737360" cy="320040"/>
          </a:xfrm>
          <a:prstGeom prst="rect">
            <a:avLst/>
          </a:prstGeom>
          <a:noFill/>
          <a:ln/>
        </p:spPr>
        <p:txBody>
          <a:bodyPr wrap="square" lIns="0" tIns="0" rIns="0" bIns="0" rtlCol="0" anchor="ctr"/>
          <a:lstStyle/>
          <a:p>
            <a:pPr algn="ctr" indent="0" marL="0">
              <a:buNone/>
            </a:pPr>
            <a:r>
              <a:rPr lang="en-US" sz="1200" b="1" dirty="0">
                <a:solidFill>
                  <a:srgbClr val="0D2F4F"/>
                </a:solidFill>
              </a:rPr>
              <a:t>Raqobatchilar</a:t>
            </a:r>
            <a:endParaRPr lang="en-US" sz="1200" dirty="0"/>
          </a:p>
        </p:txBody>
      </p:sp>
      <p:sp>
        <p:nvSpPr>
          <p:cNvPr id="20" name="Shape 15"/>
          <p:cNvSpPr/>
          <p:nvPr/>
        </p:nvSpPr>
        <p:spPr>
          <a:xfrm>
            <a:off x="2715768" y="5166360"/>
            <a:ext cx="694944" cy="694944"/>
          </a:xfrm>
          <a:prstGeom prst="ellipse">
            <a:avLst/>
          </a:prstGeom>
          <a:solidFill>
            <a:srgbClr val="0D2F4F"/>
          </a:solidFill>
          <a:ln w="12700">
            <a:solidFill>
              <a:srgbClr val="0D2F4F"/>
            </a:solidFill>
            <a:prstDash val="solid"/>
          </a:ln>
        </p:spPr>
      </p:sp>
      <p:pic>
        <p:nvPicPr>
          <p:cNvPr id="21" name="Image 3" descr="preencoded.png">    </p:cNvPr>
          <p:cNvPicPr>
            <a:picLocks noChangeAspect="1"/>
          </p:cNvPicPr>
          <p:nvPr/>
        </p:nvPicPr>
        <p:blipFill>
          <a:blip r:embed="rId4"/>
          <a:stretch>
            <a:fillRect/>
          </a:stretch>
        </p:blipFill>
        <p:spPr>
          <a:xfrm>
            <a:off x="2896453" y="5347045"/>
            <a:ext cx="333573" cy="333573"/>
          </a:xfrm>
          <a:prstGeom prst="rect">
            <a:avLst/>
          </a:prstGeom>
        </p:spPr>
      </p:pic>
      <p:sp>
        <p:nvSpPr>
          <p:cNvPr id="22" name="Text 16"/>
          <p:cNvSpPr txBox="1"/>
          <p:nvPr/>
        </p:nvSpPr>
        <p:spPr>
          <a:xfrm>
            <a:off x="2194560" y="5879592"/>
            <a:ext cx="1737360" cy="320040"/>
          </a:xfrm>
          <a:prstGeom prst="rect">
            <a:avLst/>
          </a:prstGeom>
          <a:noFill/>
          <a:ln/>
        </p:spPr>
        <p:txBody>
          <a:bodyPr wrap="square" lIns="0" tIns="0" rIns="0" bIns="0" rtlCol="0" anchor="ctr"/>
          <a:lstStyle/>
          <a:p>
            <a:pPr algn="ctr" indent="0" marL="0">
              <a:buNone/>
            </a:pPr>
            <a:r>
              <a:rPr lang="en-US" sz="1200" b="1" dirty="0">
                <a:solidFill>
                  <a:srgbClr val="0D2F4F"/>
                </a:solidFill>
              </a:rPr>
              <a:t>Vositachilar</a:t>
            </a:r>
            <a:endParaRPr lang="en-US" sz="1200" dirty="0"/>
          </a:p>
        </p:txBody>
      </p:sp>
      <p:sp>
        <p:nvSpPr>
          <p:cNvPr id="23" name="Shape 17"/>
          <p:cNvSpPr/>
          <p:nvPr/>
        </p:nvSpPr>
        <p:spPr>
          <a:xfrm>
            <a:off x="1092386" y="4229100"/>
            <a:ext cx="694944" cy="694944"/>
          </a:xfrm>
          <a:prstGeom prst="ellipse">
            <a:avLst/>
          </a:prstGeom>
          <a:solidFill>
            <a:srgbClr val="0E9F9A"/>
          </a:solidFill>
          <a:ln w="12700">
            <a:solidFill>
              <a:srgbClr val="0E9F9A"/>
            </a:solidFill>
            <a:prstDash val="solid"/>
          </a:ln>
        </p:spPr>
      </p:sp>
      <p:pic>
        <p:nvPicPr>
          <p:cNvPr id="24" name="Image 4" descr="preencoded.png">    </p:cNvPr>
          <p:cNvPicPr>
            <a:picLocks noChangeAspect="1"/>
          </p:cNvPicPr>
          <p:nvPr/>
        </p:nvPicPr>
        <p:blipFill>
          <a:blip r:embed="rId5"/>
          <a:stretch>
            <a:fillRect/>
          </a:stretch>
        </p:blipFill>
        <p:spPr>
          <a:xfrm>
            <a:off x="1273072" y="4409785"/>
            <a:ext cx="333573" cy="333573"/>
          </a:xfrm>
          <a:prstGeom prst="rect">
            <a:avLst/>
          </a:prstGeom>
        </p:spPr>
      </p:pic>
      <p:sp>
        <p:nvSpPr>
          <p:cNvPr id="25" name="Text 18"/>
          <p:cNvSpPr txBox="1"/>
          <p:nvPr/>
        </p:nvSpPr>
        <p:spPr>
          <a:xfrm>
            <a:off x="571178" y="4942332"/>
            <a:ext cx="1737360" cy="320040"/>
          </a:xfrm>
          <a:prstGeom prst="rect">
            <a:avLst/>
          </a:prstGeom>
          <a:noFill/>
          <a:ln/>
        </p:spPr>
        <p:txBody>
          <a:bodyPr wrap="square" lIns="0" tIns="0" rIns="0" bIns="0" rtlCol="0" anchor="ctr"/>
          <a:lstStyle/>
          <a:p>
            <a:pPr algn="ctr" indent="0" marL="0">
              <a:buNone/>
            </a:pPr>
            <a:r>
              <a:rPr lang="en-US" sz="1200" b="1" dirty="0">
                <a:solidFill>
                  <a:srgbClr val="0D2F4F"/>
                </a:solidFill>
              </a:rPr>
              <a:t>Moliya institutlari</a:t>
            </a:r>
            <a:endParaRPr lang="en-US" sz="1200" dirty="0"/>
          </a:p>
        </p:txBody>
      </p:sp>
      <p:sp>
        <p:nvSpPr>
          <p:cNvPr id="26" name="Shape 19"/>
          <p:cNvSpPr/>
          <p:nvPr/>
        </p:nvSpPr>
        <p:spPr>
          <a:xfrm>
            <a:off x="1092386" y="2354580"/>
            <a:ext cx="694944" cy="694944"/>
          </a:xfrm>
          <a:prstGeom prst="ellipse">
            <a:avLst/>
          </a:prstGeom>
          <a:solidFill>
            <a:srgbClr val="0D2F4F"/>
          </a:solidFill>
          <a:ln w="12700">
            <a:solidFill>
              <a:srgbClr val="0D2F4F"/>
            </a:solidFill>
            <a:prstDash val="solid"/>
          </a:ln>
        </p:spPr>
      </p:sp>
      <p:pic>
        <p:nvPicPr>
          <p:cNvPr id="27" name="Image 5" descr="preencoded.png">    </p:cNvPr>
          <p:cNvPicPr>
            <a:picLocks noChangeAspect="1"/>
          </p:cNvPicPr>
          <p:nvPr/>
        </p:nvPicPr>
        <p:blipFill>
          <a:blip r:embed="rId6"/>
          <a:stretch>
            <a:fillRect/>
          </a:stretch>
        </p:blipFill>
        <p:spPr>
          <a:xfrm>
            <a:off x="1273072" y="2535265"/>
            <a:ext cx="333573" cy="333573"/>
          </a:xfrm>
          <a:prstGeom prst="rect">
            <a:avLst/>
          </a:prstGeom>
        </p:spPr>
      </p:pic>
      <p:sp>
        <p:nvSpPr>
          <p:cNvPr id="28" name="Text 20"/>
          <p:cNvSpPr txBox="1"/>
          <p:nvPr/>
        </p:nvSpPr>
        <p:spPr>
          <a:xfrm>
            <a:off x="571178" y="3067812"/>
            <a:ext cx="1737360" cy="320040"/>
          </a:xfrm>
          <a:prstGeom prst="rect">
            <a:avLst/>
          </a:prstGeom>
          <a:noFill/>
          <a:ln/>
        </p:spPr>
        <p:txBody>
          <a:bodyPr wrap="square" lIns="0" tIns="0" rIns="0" bIns="0" rtlCol="0" anchor="ctr"/>
          <a:lstStyle/>
          <a:p>
            <a:pPr algn="ctr" indent="0" marL="0">
              <a:buNone/>
            </a:pPr>
            <a:r>
              <a:rPr lang="en-US" sz="1200" b="1" dirty="0">
                <a:solidFill>
                  <a:srgbClr val="0D2F4F"/>
                </a:solidFill>
              </a:rPr>
              <a:t>Kontakt auditoriyalar</a:t>
            </a:r>
            <a:endParaRPr lang="en-US" sz="1200" dirty="0"/>
          </a:p>
        </p:txBody>
      </p:sp>
      <p:sp>
        <p:nvSpPr>
          <p:cNvPr id="29" name="Text 21"/>
          <p:cNvSpPr txBox="1"/>
          <p:nvPr/>
        </p:nvSpPr>
        <p:spPr>
          <a:xfrm>
            <a:off x="6035040" y="1371600"/>
            <a:ext cx="5577840" cy="3566160"/>
          </a:xfrm>
          <a:prstGeom prst="rect">
            <a:avLst/>
          </a:prstGeom>
          <a:noFill/>
          <a:ln/>
        </p:spPr>
        <p:txBody>
          <a:bodyPr wrap="square" lIns="0" tIns="0" rIns="0" bIns="0" rtlCol="0" anchor="t"/>
          <a:lstStyle/>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Iste’molchilar</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talab hajmi, ehtiyojlar, to‘lov qobiliyati va sodiqlik darajasi o‘rganiladi; ular korxona mavjudligining asosiy sababidir.</a:t>
            </a:r>
            <a:endParaRPr lang="en-US" sz="1400" dirty="0"/>
          </a:p>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Ta’minotchilar</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xomashyo narxi, sifati, yetkazib berish muddati va ishonchliligi tahlil qilinadi.</a:t>
            </a:r>
            <a:endParaRPr lang="en-US" sz="1400" dirty="0"/>
          </a:p>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Raqobatchilar</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ularning bozor ulushi, strategiyasi, kuchli va zaif tomonlari baholanadi.</a:t>
            </a:r>
            <a:endParaRPr lang="en-US" sz="1400" dirty="0"/>
          </a:p>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Vositachilar</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ulgurji va chakana savdo, logistika, reklama agentliklari; mahsulotni iste’molchiga yetkazadi.</a:t>
            </a:r>
            <a:endParaRPr lang="en-US" sz="1400" dirty="0"/>
          </a:p>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Moliya institutlari</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banklar, investorlar, sug‘urta kompaniyalari: kapitalga kirish imkoniyatini belgilaydi.</a:t>
            </a:r>
            <a:endParaRPr lang="en-US" sz="1400" dirty="0"/>
          </a:p>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Kontakt auditoriyalar</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OAV, jamoatchilik, mahalliy hokimiyat: korxona obro‘siga ta’sir qiladi.</a:t>
            </a:r>
            <a:endParaRPr lang="en-US" sz="1400" dirty="0"/>
          </a:p>
        </p:txBody>
      </p:sp>
      <p:sp>
        <p:nvSpPr>
          <p:cNvPr id="30" name="Shape 22"/>
          <p:cNvSpPr/>
          <p:nvPr/>
        </p:nvSpPr>
        <p:spPr>
          <a:xfrm>
            <a:off x="6035040" y="5074920"/>
            <a:ext cx="5577840" cy="1097280"/>
          </a:xfrm>
          <a:prstGeom prst="roundRect">
            <a:avLst>
              <a:gd name="adj" fmla="val 10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1" name="Text 23"/>
          <p:cNvSpPr txBox="1"/>
          <p:nvPr/>
        </p:nvSpPr>
        <p:spPr>
          <a:xfrm>
            <a:off x="6217920" y="5120640"/>
            <a:ext cx="5212080" cy="100584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Makromuhitdan farqli: </a:t>
            </a:r>
            <a:pPr indent="0" marL="0">
              <a:buNone/>
            </a:pPr>
            <a:r>
              <a:rPr lang="en-US" sz="1400" dirty="0">
                <a:solidFill>
                  <a:srgbClr val="1B2A3A"/>
                </a:solidFill>
                <a:latin typeface="Calibri" pitchFamily="34" charset="0"/>
                <a:ea typeface="Calibri" pitchFamily="34" charset="-122"/>
                <a:cs typeface="Calibri" pitchFamily="34" charset="-120"/>
              </a:rPr>
              <a:t>mikromuhit omillariga korxona shartnomalar, marketing va hamkorlik orqali ma’lum darajada ta’sir o‘tkaza oladi.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Raqobat muhiti tahlili va raqobatchilar profili</a:t>
            </a:r>
            <a:endParaRPr lang="en-US" sz="3000" dirty="0"/>
          </a:p>
        </p:txBody>
      </p:sp>
      <p:sp>
        <p:nvSpPr>
          <p:cNvPr id="3" name="Text 1"/>
          <p:cNvSpPr txBox="1"/>
          <p:nvPr/>
        </p:nvSpPr>
        <p:spPr>
          <a:xfrm>
            <a:off x="548640" y="1325880"/>
            <a:ext cx="6766560" cy="146304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Raqobat muhiti</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M. Porterning “besh kuch” modeli orqali baholanadi: sohadagi raqobat, yangi raqobatchilar, o‘rinbosar mahsulotlar, ta’minotchilar va xaridorlar kuchi. So‘ngra asosiy raqobatchilar alohida tahlil qilinadi va </a:t>
            </a:r>
            <a:pPr indent="0" marL="0">
              <a:spcAft>
                <a:spcPts val="600"/>
              </a:spcAft>
              <a:buNone/>
            </a:pPr>
            <a:r>
              <a:rPr lang="en-US" sz="1400" b="1" dirty="0">
                <a:solidFill>
                  <a:srgbClr val="0D2F4F"/>
                </a:solidFill>
                <a:latin typeface="Calibri" pitchFamily="34" charset="0"/>
                <a:ea typeface="Calibri" pitchFamily="34" charset="-122"/>
                <a:cs typeface="Calibri" pitchFamily="34" charset="-120"/>
              </a:rPr>
              <a:t>muvaffaqiyatning kalit omillari</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bozorda g‘alaba qozonish uchun hal qiluvchi bo‘lgan jihatlar aniqlanadi.</a:t>
            </a:r>
            <a:endParaRPr lang="en-US" sz="1400" dirty="0"/>
          </a:p>
        </p:txBody>
      </p:sp>
      <p:sp>
        <p:nvSpPr>
          <p:cNvPr id="4" name="Text 2"/>
          <p:cNvSpPr txBox="1"/>
          <p:nvPr/>
        </p:nvSpPr>
        <p:spPr>
          <a:xfrm>
            <a:off x="548640" y="2834640"/>
            <a:ext cx="6766560" cy="365760"/>
          </a:xfrm>
          <a:prstGeom prst="rect">
            <a:avLst/>
          </a:prstGeom>
          <a:noFill/>
          <a:ln/>
        </p:spPr>
        <p:txBody>
          <a:bodyPr wrap="square" lIns="0" tIns="0" rIns="0" bIns="0" rtlCol="0" anchor="ctr"/>
          <a:lstStyle/>
          <a:p>
            <a:pPr indent="0" marL="0">
              <a:buNone/>
            </a:pPr>
            <a:r>
              <a:rPr lang="en-US" sz="1600" b="1" dirty="0">
                <a:solidFill>
                  <a:srgbClr val="0D2F4F"/>
                </a:solidFill>
              </a:rPr>
              <a:t>Raqobatchilar profili (shartli misol, 1–5 ball):</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6766560" cy="914400"/>
        </p:xfrm>
        <a:graphic>
          <a:graphicData uri="http://schemas.openxmlformats.org/drawingml/2006/table">
            <a:tbl>
              <a:tblPr/>
              <a:tblGrid>
                <a:gridCol w="2377440"/>
                <a:gridCol w="1463040"/>
                <a:gridCol w="1463040"/>
                <a:gridCol w="1463040"/>
              </a:tblGrid>
              <a:tr h="365760">
                <a:tc>
                  <a:txBody>
                    <a:bodyPr/>
                    <a:lstStyle/>
                    <a:p>
                      <a:pPr indent="0" marL="0">
                        <a:buNone/>
                      </a:pPr>
                      <a:r>
                        <a:rPr lang="en-US" sz="1300" b="1" dirty="0">
                          <a:solidFill>
                            <a:srgbClr val="FFFFFF"/>
                          </a:solidFill>
                        </a:rPr>
                        <a:t>Omil</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Bizning korxona</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Raqobatchi A</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Raqobatchi B</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r>
              <a:tr h="365760">
                <a:tc>
                  <a:txBody>
                    <a:bodyPr/>
                    <a:lstStyle/>
                    <a:p>
                      <a:pPr algn="l" indent="0" marL="0">
                        <a:buNone/>
                      </a:pPr>
                      <a:r>
                        <a:rPr lang="en-US" sz="1300" b="1" dirty="0">
                          <a:solidFill>
                            <a:srgbClr val="1B2A3A"/>
                          </a:solidFill>
                        </a:rPr>
                        <a:t>Mahsulot sifati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300" b="1" dirty="0">
                          <a:solidFill>
                            <a:srgbClr val="0E9F9A"/>
                          </a:solidFill>
                        </a:rPr>
                        <a:t>4</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300" dirty="0">
                          <a:solidFill>
                            <a:srgbClr val="1B2A3A"/>
                          </a:solidFill>
                        </a:rPr>
                        <a:t>5</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300" dirty="0">
                          <a:solidFill>
                            <a:srgbClr val="1B2A3A"/>
                          </a:solidFill>
                        </a:rPr>
                        <a:t>3</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365760">
                <a:tc>
                  <a:txBody>
                    <a:bodyPr/>
                    <a:lstStyle/>
                    <a:p>
                      <a:pPr algn="l" indent="0" marL="0">
                        <a:buNone/>
                      </a:pPr>
                      <a:r>
                        <a:rPr lang="en-US" sz="1300" b="1" dirty="0">
                          <a:solidFill>
                            <a:srgbClr val="1B2A3A"/>
                          </a:solidFill>
                        </a:rPr>
                        <a:t>Narx darajasi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E9F9A"/>
                          </a:solidFill>
                        </a:rPr>
                        <a:t>4</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A3A"/>
                          </a:solidFill>
                        </a:rPr>
                        <a:t>3</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A3A"/>
                          </a:solidFill>
                        </a:rPr>
                        <a:t>5</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365760">
                <a:tc>
                  <a:txBody>
                    <a:bodyPr/>
                    <a:lstStyle/>
                    <a:p>
                      <a:pPr algn="l" indent="0" marL="0">
                        <a:buNone/>
                      </a:pPr>
                      <a:r>
                        <a:rPr lang="en-US" sz="1300" b="1" dirty="0">
                          <a:solidFill>
                            <a:srgbClr val="1B2A3A"/>
                          </a:solidFill>
                        </a:rPr>
                        <a:t>Brend obro‘si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300" b="1" dirty="0">
                          <a:solidFill>
                            <a:srgbClr val="0E9F9A"/>
                          </a:solidFill>
                        </a:rPr>
                        <a:t>3</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300" dirty="0">
                          <a:solidFill>
                            <a:srgbClr val="1B2A3A"/>
                          </a:solidFill>
                        </a:rPr>
                        <a:t>5</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300" dirty="0">
                          <a:solidFill>
                            <a:srgbClr val="1B2A3A"/>
                          </a:solidFill>
                        </a:rPr>
                        <a:t>3</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365760">
                <a:tc>
                  <a:txBody>
                    <a:bodyPr/>
                    <a:lstStyle/>
                    <a:p>
                      <a:pPr algn="l" indent="0" marL="0">
                        <a:buNone/>
                      </a:pPr>
                      <a:r>
                        <a:rPr lang="en-US" sz="1300" b="1" dirty="0">
                          <a:solidFill>
                            <a:srgbClr val="1B2A3A"/>
                          </a:solidFill>
                        </a:rPr>
                        <a:t>Sotuv tarmog‘i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E9F9A"/>
                          </a:solidFill>
                        </a:rPr>
                        <a:t>3</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A3A"/>
                          </a:solidFill>
                        </a:rPr>
                        <a:t>4</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A3A"/>
                          </a:solidFill>
                        </a:rPr>
                        <a:t>4</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365760">
                <a:tc>
                  <a:txBody>
                    <a:bodyPr/>
                    <a:lstStyle/>
                    <a:p>
                      <a:pPr algn="l" indent="0" marL="0">
                        <a:buNone/>
                      </a:pPr>
                      <a:r>
                        <a:rPr lang="en-US" sz="1300" b="1" dirty="0">
                          <a:solidFill>
                            <a:srgbClr val="1B2A3A"/>
                          </a:solidFill>
                        </a:rPr>
                        <a:t>Innovatsiyalar</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300" b="1" dirty="0">
                          <a:solidFill>
                            <a:srgbClr val="0E9F9A"/>
                          </a:solidFill>
                        </a:rPr>
                        <a:t>5</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300" dirty="0">
                          <a:solidFill>
                            <a:srgbClr val="1B2A3A"/>
                          </a:solidFill>
                        </a:rPr>
                        <a:t>3</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300" dirty="0">
                          <a:solidFill>
                            <a:srgbClr val="1B2A3A"/>
                          </a:solidFill>
                        </a:rPr>
                        <a:t>2</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365760">
                <a:tc>
                  <a:txBody>
                    <a:bodyPr/>
                    <a:lstStyle/>
                    <a:p>
                      <a:pPr algn="l" indent="0" marL="0">
                        <a:buNone/>
                      </a:pPr>
                      <a:r>
                        <a:rPr lang="en-US" sz="1300" b="1" dirty="0">
                          <a:solidFill>
                            <a:srgbClr val="1B2A3A"/>
                          </a:solidFill>
                        </a:rPr>
                        <a:t>Servis xizmati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E9F9A"/>
                          </a:solidFill>
                        </a:rPr>
                        <a:t>4</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A3A"/>
                          </a:solidFill>
                        </a:rPr>
                        <a:t>4</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A3A"/>
                          </a:solidFill>
                        </a:rPr>
                        <a:t>3</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FFFFFF"/>
                          </a:solidFill>
                        </a:rPr>
                        <a:t>Jami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E9F9A"/>
                    </a:solidFill>
                  </a:tcPr>
                </a:tc>
                <a:tc>
                  <a:txBody>
                    <a:bodyPr/>
                    <a:lstStyle/>
                    <a:p>
                      <a:pPr algn="ctr" indent="0" marL="0">
                        <a:buNone/>
                      </a:pPr>
                      <a:r>
                        <a:rPr lang="en-US" sz="1300" b="1" dirty="0">
                          <a:solidFill>
                            <a:srgbClr val="FFFFFF"/>
                          </a:solidFill>
                        </a:rPr>
                        <a:t>23</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E9F9A"/>
                    </a:solidFill>
                  </a:tcPr>
                </a:tc>
                <a:tc>
                  <a:txBody>
                    <a:bodyPr/>
                    <a:lstStyle/>
                    <a:p>
                      <a:pPr algn="ctr" indent="0" marL="0">
                        <a:buNone/>
                      </a:pPr>
                      <a:r>
                        <a:rPr lang="en-US" sz="1300" b="1" dirty="0">
                          <a:solidFill>
                            <a:srgbClr val="FFFFFF"/>
                          </a:solidFill>
                        </a:rPr>
                        <a:t>24</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E9F9A"/>
                    </a:solidFill>
                  </a:tcPr>
                </a:tc>
                <a:tc>
                  <a:txBody>
                    <a:bodyPr/>
                    <a:lstStyle/>
                    <a:p>
                      <a:pPr algn="ctr" indent="0" marL="0">
                        <a:buNone/>
                      </a:pPr>
                      <a:r>
                        <a:rPr lang="en-US" sz="1300" b="1" dirty="0">
                          <a:solidFill>
                            <a:srgbClr val="FFFFFF"/>
                          </a:solidFill>
                        </a:rPr>
                        <a:t>20</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E9F9A"/>
                    </a:solidFill>
                  </a:tcPr>
                </a:tc>
              </a:tr>
            </a:tbl>
          </a:graphicData>
        </a:graphic>
      </p:graphicFrame>
      <p:pic>
        <p:nvPicPr>
          <p:cNvPr id="6" name="Image 0" descr="img3/compete.png">    </p:cNvPr>
          <p:cNvPicPr>
            <a:picLocks noChangeAspect="1"/>
          </p:cNvPicPr>
          <p:nvPr/>
        </p:nvPicPr>
        <p:blipFill>
          <a:blip r:embed="rId1"/>
          <a:stretch>
            <a:fillRect/>
          </a:stretch>
        </p:blipFill>
        <p:spPr>
          <a:xfrm>
            <a:off x="7680960" y="1371600"/>
            <a:ext cx="3931920" cy="3054096"/>
          </a:xfrm>
          <a:prstGeom prst="rect">
            <a:avLst/>
          </a:prstGeom>
        </p:spPr>
      </p:pic>
      <p:sp>
        <p:nvSpPr>
          <p:cNvPr id="7" name="Shape 3"/>
          <p:cNvSpPr/>
          <p:nvPr/>
        </p:nvSpPr>
        <p:spPr>
          <a:xfrm>
            <a:off x="7680960" y="4617720"/>
            <a:ext cx="3931920" cy="1554480"/>
          </a:xfrm>
          <a:prstGeom prst="roundRect">
            <a:avLst>
              <a:gd name="adj" fmla="val 7059"/>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8" name="Text 4"/>
          <p:cNvSpPr txBox="1"/>
          <p:nvPr/>
        </p:nvSpPr>
        <p:spPr>
          <a:xfrm>
            <a:off x="7863840" y="4663440"/>
            <a:ext cx="3566160" cy="146304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Raqobatchilarni o‘rganish manbalari: </a:t>
            </a:r>
            <a:pPr indent="0" marL="0">
              <a:buNone/>
            </a:pPr>
            <a:r>
              <a:rPr lang="en-US" sz="1400" dirty="0">
                <a:solidFill>
                  <a:srgbClr val="1B2A3A"/>
                </a:solidFill>
                <a:latin typeface="Calibri" pitchFamily="34" charset="0"/>
                <a:ea typeface="Calibri" pitchFamily="34" charset="-122"/>
                <a:cs typeface="Calibri" pitchFamily="34" charset="-120"/>
              </a:rPr>
              <a:t>hisobotlar, saytlar va ijtimoiy tarmoqlar, mijozlar so‘rovi, ko‘rgazmalar, benchmarking – eng yaxshi tajribani taqqoslash.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Korxonaning ichki muhiti tahlili</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500" dirty="0">
                <a:solidFill>
                  <a:srgbClr val="1B2A3A"/>
                </a:solidFill>
                <a:latin typeface="Calibri" pitchFamily="34" charset="0"/>
                <a:ea typeface="Calibri" pitchFamily="34" charset="-122"/>
                <a:cs typeface="Calibri" pitchFamily="34" charset="-120"/>
              </a:rPr>
              <a:t>Ichki muhit tahlili korxonaning strategik salohiyatini – raqobatda tayanishi mumkin bo‘lgan resurs va qobiliyatlarini aniqlaydi. U odatda funksional sohalar kesimida “boshqaruv tekshiruvi” (menejment audit) shaklida o‘tkaziladi:</a:t>
            </a:r>
            <a:endParaRPr lang="en-US" sz="1500" dirty="0"/>
          </a:p>
        </p:txBody>
      </p:sp>
      <p:sp>
        <p:nvSpPr>
          <p:cNvPr id="4" name="Shape 2"/>
          <p:cNvSpPr/>
          <p:nvPr/>
        </p:nvSpPr>
        <p:spPr>
          <a:xfrm>
            <a:off x="548640" y="2148840"/>
            <a:ext cx="3520440" cy="1874520"/>
          </a:xfrm>
          <a:prstGeom prst="roundRect">
            <a:avLst>
              <a:gd name="adj" fmla="val 5854"/>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Shape 3"/>
          <p:cNvSpPr/>
          <p:nvPr/>
        </p:nvSpPr>
        <p:spPr>
          <a:xfrm>
            <a:off x="731520" y="2331720"/>
            <a:ext cx="640080" cy="640080"/>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897941" y="2498141"/>
            <a:ext cx="307238" cy="307238"/>
          </a:xfrm>
          <a:prstGeom prst="rect">
            <a:avLst/>
          </a:prstGeom>
        </p:spPr>
      </p:pic>
      <p:sp>
        <p:nvSpPr>
          <p:cNvPr id="7" name="Text 4"/>
          <p:cNvSpPr txBox="1"/>
          <p:nvPr/>
        </p:nvSpPr>
        <p:spPr>
          <a:xfrm>
            <a:off x="1508760" y="2331720"/>
            <a:ext cx="2423160" cy="640080"/>
          </a:xfrm>
          <a:prstGeom prst="rect">
            <a:avLst/>
          </a:prstGeom>
          <a:noFill/>
          <a:ln/>
        </p:spPr>
        <p:txBody>
          <a:bodyPr wrap="square" lIns="0" tIns="0" rIns="0" bIns="0" rtlCol="0" anchor="ctr"/>
          <a:lstStyle/>
          <a:p>
            <a:pPr indent="0" marL="0">
              <a:buNone/>
            </a:pPr>
            <a:r>
              <a:rPr lang="en-US" sz="1600" b="1" dirty="0">
                <a:solidFill>
                  <a:srgbClr val="0D2F4F"/>
                </a:solidFill>
              </a:rPr>
              <a:t>Marketing</a:t>
            </a:r>
            <a:endParaRPr lang="en-US" sz="1600" dirty="0"/>
          </a:p>
        </p:txBody>
      </p:sp>
      <p:sp>
        <p:nvSpPr>
          <p:cNvPr id="8" name="Text 5"/>
          <p:cNvSpPr txBox="1"/>
          <p:nvPr/>
        </p:nvSpPr>
        <p:spPr>
          <a:xfrm>
            <a:off x="731520" y="3063240"/>
            <a:ext cx="3154680" cy="91440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bozor ulushi, assortiment, narx siyosati, sotuv kanallari, reklama samaradorligi, brend</a:t>
            </a:r>
            <a:endParaRPr lang="en-US" sz="1400" dirty="0"/>
          </a:p>
        </p:txBody>
      </p:sp>
      <p:sp>
        <p:nvSpPr>
          <p:cNvPr id="9" name="Shape 6"/>
          <p:cNvSpPr/>
          <p:nvPr/>
        </p:nvSpPr>
        <p:spPr>
          <a:xfrm>
            <a:off x="4343400" y="2148840"/>
            <a:ext cx="3520440" cy="1874520"/>
          </a:xfrm>
          <a:prstGeom prst="roundRect">
            <a:avLst>
              <a:gd name="adj" fmla="val 5854"/>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0" name="Shape 7"/>
          <p:cNvSpPr/>
          <p:nvPr/>
        </p:nvSpPr>
        <p:spPr>
          <a:xfrm>
            <a:off x="4526280" y="2331720"/>
            <a:ext cx="640080" cy="640080"/>
          </a:xfrm>
          <a:prstGeom prst="ellipse">
            <a:avLst/>
          </a:prstGeom>
          <a:solidFill>
            <a:srgbClr val="0D2F4F"/>
          </a:solidFill>
          <a:ln w="12700">
            <a:solidFill>
              <a:srgbClr val="0D2F4F"/>
            </a:solidFill>
            <a:prstDash val="solid"/>
          </a:ln>
        </p:spPr>
      </p:sp>
      <p:pic>
        <p:nvPicPr>
          <p:cNvPr id="11" name="Image 1" descr="preencoded.png">    </p:cNvPr>
          <p:cNvPicPr>
            <a:picLocks noChangeAspect="1"/>
          </p:cNvPicPr>
          <p:nvPr/>
        </p:nvPicPr>
        <p:blipFill>
          <a:blip r:embed="rId2"/>
          <a:stretch>
            <a:fillRect/>
          </a:stretch>
        </p:blipFill>
        <p:spPr>
          <a:xfrm>
            <a:off x="4692701" y="2498141"/>
            <a:ext cx="307238" cy="307238"/>
          </a:xfrm>
          <a:prstGeom prst="rect">
            <a:avLst/>
          </a:prstGeom>
        </p:spPr>
      </p:pic>
      <p:sp>
        <p:nvSpPr>
          <p:cNvPr id="12" name="Text 8"/>
          <p:cNvSpPr txBox="1"/>
          <p:nvPr/>
        </p:nvSpPr>
        <p:spPr>
          <a:xfrm>
            <a:off x="5303520" y="2331720"/>
            <a:ext cx="2423160" cy="640080"/>
          </a:xfrm>
          <a:prstGeom prst="rect">
            <a:avLst/>
          </a:prstGeom>
          <a:noFill/>
          <a:ln/>
        </p:spPr>
        <p:txBody>
          <a:bodyPr wrap="square" lIns="0" tIns="0" rIns="0" bIns="0" rtlCol="0" anchor="ctr"/>
          <a:lstStyle/>
          <a:p>
            <a:pPr indent="0" marL="0">
              <a:buNone/>
            </a:pPr>
            <a:r>
              <a:rPr lang="en-US" sz="1600" b="1" dirty="0">
                <a:solidFill>
                  <a:srgbClr val="0D2F4F"/>
                </a:solidFill>
              </a:rPr>
              <a:t>Ishlab chiqarish</a:t>
            </a:r>
            <a:endParaRPr lang="en-US" sz="1600" dirty="0"/>
          </a:p>
        </p:txBody>
      </p:sp>
      <p:sp>
        <p:nvSpPr>
          <p:cNvPr id="13" name="Text 9"/>
          <p:cNvSpPr txBox="1"/>
          <p:nvPr/>
        </p:nvSpPr>
        <p:spPr>
          <a:xfrm>
            <a:off x="4526280" y="3063240"/>
            <a:ext cx="3154680" cy="91440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quvvatlardan foydalanish, texnologiya darajasi, tannarx, sifat nazorati, logistika</a:t>
            </a:r>
            <a:endParaRPr lang="en-US" sz="1400" dirty="0"/>
          </a:p>
        </p:txBody>
      </p:sp>
      <p:sp>
        <p:nvSpPr>
          <p:cNvPr id="14" name="Shape 10"/>
          <p:cNvSpPr/>
          <p:nvPr/>
        </p:nvSpPr>
        <p:spPr>
          <a:xfrm>
            <a:off x="8138160" y="2148840"/>
            <a:ext cx="3520440" cy="1874520"/>
          </a:xfrm>
          <a:prstGeom prst="roundRect">
            <a:avLst>
              <a:gd name="adj" fmla="val 5854"/>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5" name="Shape 11"/>
          <p:cNvSpPr/>
          <p:nvPr/>
        </p:nvSpPr>
        <p:spPr>
          <a:xfrm>
            <a:off x="8321040" y="2331720"/>
            <a:ext cx="640080" cy="640080"/>
          </a:xfrm>
          <a:prstGeom prst="ellipse">
            <a:avLst/>
          </a:prstGeom>
          <a:solidFill>
            <a:srgbClr val="0E9F9A"/>
          </a:solidFill>
          <a:ln w="12700">
            <a:solidFill>
              <a:srgbClr val="0E9F9A"/>
            </a:solidFill>
            <a:prstDash val="solid"/>
          </a:ln>
        </p:spPr>
      </p:sp>
      <p:pic>
        <p:nvPicPr>
          <p:cNvPr id="16" name="Image 2" descr="preencoded.png">    </p:cNvPr>
          <p:cNvPicPr>
            <a:picLocks noChangeAspect="1"/>
          </p:cNvPicPr>
          <p:nvPr/>
        </p:nvPicPr>
        <p:blipFill>
          <a:blip r:embed="rId3"/>
          <a:stretch>
            <a:fillRect/>
          </a:stretch>
        </p:blipFill>
        <p:spPr>
          <a:xfrm>
            <a:off x="8487461" y="2498141"/>
            <a:ext cx="307238" cy="307238"/>
          </a:xfrm>
          <a:prstGeom prst="rect">
            <a:avLst/>
          </a:prstGeom>
        </p:spPr>
      </p:pic>
      <p:sp>
        <p:nvSpPr>
          <p:cNvPr id="17" name="Text 12"/>
          <p:cNvSpPr txBox="1"/>
          <p:nvPr/>
        </p:nvSpPr>
        <p:spPr>
          <a:xfrm>
            <a:off x="9098280" y="2331720"/>
            <a:ext cx="2423160" cy="640080"/>
          </a:xfrm>
          <a:prstGeom prst="rect">
            <a:avLst/>
          </a:prstGeom>
          <a:noFill/>
          <a:ln/>
        </p:spPr>
        <p:txBody>
          <a:bodyPr wrap="square" lIns="0" tIns="0" rIns="0" bIns="0" rtlCol="0" anchor="ctr"/>
          <a:lstStyle/>
          <a:p>
            <a:pPr indent="0" marL="0">
              <a:buNone/>
            </a:pPr>
            <a:r>
              <a:rPr lang="en-US" sz="1600" b="1" dirty="0">
                <a:solidFill>
                  <a:srgbClr val="0D2F4F"/>
                </a:solidFill>
              </a:rPr>
              <a:t>Moliya</a:t>
            </a:r>
            <a:endParaRPr lang="en-US" sz="1600" dirty="0"/>
          </a:p>
        </p:txBody>
      </p:sp>
      <p:sp>
        <p:nvSpPr>
          <p:cNvPr id="18" name="Text 13"/>
          <p:cNvSpPr txBox="1"/>
          <p:nvPr/>
        </p:nvSpPr>
        <p:spPr>
          <a:xfrm>
            <a:off x="8321040" y="3063240"/>
            <a:ext cx="3154680" cy="91440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rentabellik, likvidlik, to‘lov qobiliyati, qarz yuki, investitsiya imkoniyatlari</a:t>
            </a:r>
            <a:endParaRPr lang="en-US" sz="1400" dirty="0"/>
          </a:p>
        </p:txBody>
      </p:sp>
      <p:sp>
        <p:nvSpPr>
          <p:cNvPr id="19" name="Shape 14"/>
          <p:cNvSpPr/>
          <p:nvPr/>
        </p:nvSpPr>
        <p:spPr>
          <a:xfrm>
            <a:off x="548640" y="4206240"/>
            <a:ext cx="3520440" cy="1874520"/>
          </a:xfrm>
          <a:prstGeom prst="roundRect">
            <a:avLst>
              <a:gd name="adj" fmla="val 5854"/>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0" name="Shape 15"/>
          <p:cNvSpPr/>
          <p:nvPr/>
        </p:nvSpPr>
        <p:spPr>
          <a:xfrm>
            <a:off x="731520" y="4389120"/>
            <a:ext cx="640080" cy="640080"/>
          </a:xfrm>
          <a:prstGeom prst="ellipse">
            <a:avLst/>
          </a:prstGeom>
          <a:solidFill>
            <a:srgbClr val="0D2F4F"/>
          </a:solidFill>
          <a:ln w="12700">
            <a:solidFill>
              <a:srgbClr val="0D2F4F"/>
            </a:solidFill>
            <a:prstDash val="solid"/>
          </a:ln>
        </p:spPr>
      </p:sp>
      <p:pic>
        <p:nvPicPr>
          <p:cNvPr id="21" name="Image 3" descr="preencoded.png">    </p:cNvPr>
          <p:cNvPicPr>
            <a:picLocks noChangeAspect="1"/>
          </p:cNvPicPr>
          <p:nvPr/>
        </p:nvPicPr>
        <p:blipFill>
          <a:blip r:embed="rId4"/>
          <a:stretch>
            <a:fillRect/>
          </a:stretch>
        </p:blipFill>
        <p:spPr>
          <a:xfrm>
            <a:off x="897941" y="4555541"/>
            <a:ext cx="307238" cy="307238"/>
          </a:xfrm>
          <a:prstGeom prst="rect">
            <a:avLst/>
          </a:prstGeom>
        </p:spPr>
      </p:pic>
      <p:sp>
        <p:nvSpPr>
          <p:cNvPr id="22" name="Text 16"/>
          <p:cNvSpPr txBox="1"/>
          <p:nvPr/>
        </p:nvSpPr>
        <p:spPr>
          <a:xfrm>
            <a:off x="1508760" y="4389120"/>
            <a:ext cx="2423160" cy="640080"/>
          </a:xfrm>
          <a:prstGeom prst="rect">
            <a:avLst/>
          </a:prstGeom>
          <a:noFill/>
          <a:ln/>
        </p:spPr>
        <p:txBody>
          <a:bodyPr wrap="square" lIns="0" tIns="0" rIns="0" bIns="0" rtlCol="0" anchor="ctr"/>
          <a:lstStyle/>
          <a:p>
            <a:pPr indent="0" marL="0">
              <a:buNone/>
            </a:pPr>
            <a:r>
              <a:rPr lang="en-US" sz="1600" b="1" dirty="0">
                <a:solidFill>
                  <a:srgbClr val="0D2F4F"/>
                </a:solidFill>
              </a:rPr>
              <a:t>Xodimlar</a:t>
            </a:r>
            <a:endParaRPr lang="en-US" sz="1600" dirty="0"/>
          </a:p>
        </p:txBody>
      </p:sp>
      <p:sp>
        <p:nvSpPr>
          <p:cNvPr id="23" name="Text 17"/>
          <p:cNvSpPr txBox="1"/>
          <p:nvPr/>
        </p:nvSpPr>
        <p:spPr>
          <a:xfrm>
            <a:off x="731520" y="5120640"/>
            <a:ext cx="3154680" cy="91440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malaka va tajriba, kadrlar qo‘nimsizligi, motivatsiya tizimi, mehnat unumdorligi</a:t>
            </a:r>
            <a:endParaRPr lang="en-US" sz="1400" dirty="0"/>
          </a:p>
        </p:txBody>
      </p:sp>
      <p:sp>
        <p:nvSpPr>
          <p:cNvPr id="24" name="Shape 18"/>
          <p:cNvSpPr/>
          <p:nvPr/>
        </p:nvSpPr>
        <p:spPr>
          <a:xfrm>
            <a:off x="4343400" y="4206240"/>
            <a:ext cx="3520440" cy="1874520"/>
          </a:xfrm>
          <a:prstGeom prst="roundRect">
            <a:avLst>
              <a:gd name="adj" fmla="val 5854"/>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5" name="Shape 19"/>
          <p:cNvSpPr/>
          <p:nvPr/>
        </p:nvSpPr>
        <p:spPr>
          <a:xfrm>
            <a:off x="4526280" y="4389120"/>
            <a:ext cx="640080" cy="640080"/>
          </a:xfrm>
          <a:prstGeom prst="ellipse">
            <a:avLst/>
          </a:prstGeom>
          <a:solidFill>
            <a:srgbClr val="0E9F9A"/>
          </a:solidFill>
          <a:ln w="12700">
            <a:solidFill>
              <a:srgbClr val="0E9F9A"/>
            </a:solidFill>
            <a:prstDash val="solid"/>
          </a:ln>
        </p:spPr>
      </p:sp>
      <p:pic>
        <p:nvPicPr>
          <p:cNvPr id="26" name="Image 4" descr="preencoded.png">    </p:cNvPr>
          <p:cNvPicPr>
            <a:picLocks noChangeAspect="1"/>
          </p:cNvPicPr>
          <p:nvPr/>
        </p:nvPicPr>
        <p:blipFill>
          <a:blip r:embed="rId5"/>
          <a:stretch>
            <a:fillRect/>
          </a:stretch>
        </p:blipFill>
        <p:spPr>
          <a:xfrm>
            <a:off x="4692701" y="4555541"/>
            <a:ext cx="307238" cy="307238"/>
          </a:xfrm>
          <a:prstGeom prst="rect">
            <a:avLst/>
          </a:prstGeom>
        </p:spPr>
      </p:pic>
      <p:sp>
        <p:nvSpPr>
          <p:cNvPr id="27" name="Text 20"/>
          <p:cNvSpPr txBox="1"/>
          <p:nvPr/>
        </p:nvSpPr>
        <p:spPr>
          <a:xfrm>
            <a:off x="5303520" y="4389120"/>
            <a:ext cx="2423160" cy="640080"/>
          </a:xfrm>
          <a:prstGeom prst="rect">
            <a:avLst/>
          </a:prstGeom>
          <a:noFill/>
          <a:ln/>
        </p:spPr>
        <p:txBody>
          <a:bodyPr wrap="square" lIns="0" tIns="0" rIns="0" bIns="0" rtlCol="0" anchor="ctr"/>
          <a:lstStyle/>
          <a:p>
            <a:pPr indent="0" marL="0">
              <a:buNone/>
            </a:pPr>
            <a:r>
              <a:rPr lang="en-US" sz="1600" b="1" dirty="0">
                <a:solidFill>
                  <a:srgbClr val="0D2F4F"/>
                </a:solidFill>
              </a:rPr>
              <a:t>Tashkilot va boshqaruv</a:t>
            </a:r>
            <a:endParaRPr lang="en-US" sz="1600" dirty="0"/>
          </a:p>
        </p:txBody>
      </p:sp>
      <p:sp>
        <p:nvSpPr>
          <p:cNvPr id="28" name="Text 21"/>
          <p:cNvSpPr txBox="1"/>
          <p:nvPr/>
        </p:nvSpPr>
        <p:spPr>
          <a:xfrm>
            <a:off x="4526280" y="5120640"/>
            <a:ext cx="3154680" cy="91440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tashkiliy tuzilma, qaror qabul qilish tezligi, korporativ madaniyat, axborot tizimlari</a:t>
            </a:r>
            <a:endParaRPr lang="en-US" sz="1400" dirty="0"/>
          </a:p>
        </p:txBody>
      </p:sp>
      <p:sp>
        <p:nvSpPr>
          <p:cNvPr id="29" name="Shape 22"/>
          <p:cNvSpPr/>
          <p:nvPr/>
        </p:nvSpPr>
        <p:spPr>
          <a:xfrm>
            <a:off x="8138160" y="4206240"/>
            <a:ext cx="3520440" cy="1874520"/>
          </a:xfrm>
          <a:prstGeom prst="roundRect">
            <a:avLst>
              <a:gd name="adj" fmla="val 5854"/>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0" name="Shape 23"/>
          <p:cNvSpPr/>
          <p:nvPr/>
        </p:nvSpPr>
        <p:spPr>
          <a:xfrm>
            <a:off x="8321040" y="4389120"/>
            <a:ext cx="640080" cy="640080"/>
          </a:xfrm>
          <a:prstGeom prst="ellipse">
            <a:avLst/>
          </a:prstGeom>
          <a:solidFill>
            <a:srgbClr val="0D2F4F"/>
          </a:solidFill>
          <a:ln w="12700">
            <a:solidFill>
              <a:srgbClr val="0D2F4F"/>
            </a:solidFill>
            <a:prstDash val="solid"/>
          </a:ln>
        </p:spPr>
      </p:sp>
      <p:pic>
        <p:nvPicPr>
          <p:cNvPr id="31" name="Image 5" descr="preencoded.png">    </p:cNvPr>
          <p:cNvPicPr>
            <a:picLocks noChangeAspect="1"/>
          </p:cNvPicPr>
          <p:nvPr/>
        </p:nvPicPr>
        <p:blipFill>
          <a:blip r:embed="rId6"/>
          <a:stretch>
            <a:fillRect/>
          </a:stretch>
        </p:blipFill>
        <p:spPr>
          <a:xfrm>
            <a:off x="8487461" y="4555541"/>
            <a:ext cx="307238" cy="307238"/>
          </a:xfrm>
          <a:prstGeom prst="rect">
            <a:avLst/>
          </a:prstGeom>
        </p:spPr>
      </p:pic>
      <p:sp>
        <p:nvSpPr>
          <p:cNvPr id="32" name="Text 24"/>
          <p:cNvSpPr txBox="1"/>
          <p:nvPr/>
        </p:nvSpPr>
        <p:spPr>
          <a:xfrm>
            <a:off x="9098280" y="4389120"/>
            <a:ext cx="2423160" cy="640080"/>
          </a:xfrm>
          <a:prstGeom prst="rect">
            <a:avLst/>
          </a:prstGeom>
          <a:noFill/>
          <a:ln/>
        </p:spPr>
        <p:txBody>
          <a:bodyPr wrap="square" lIns="0" tIns="0" rIns="0" bIns="0" rtlCol="0" anchor="ctr"/>
          <a:lstStyle/>
          <a:p>
            <a:pPr indent="0" marL="0">
              <a:buNone/>
            </a:pPr>
            <a:r>
              <a:rPr lang="en-US" sz="1600" b="1" dirty="0">
                <a:solidFill>
                  <a:srgbClr val="0D2F4F"/>
                </a:solidFill>
              </a:rPr>
              <a:t>ITR va innovatsiyalar</a:t>
            </a:r>
            <a:endParaRPr lang="en-US" sz="1600" dirty="0"/>
          </a:p>
        </p:txBody>
      </p:sp>
      <p:sp>
        <p:nvSpPr>
          <p:cNvPr id="33" name="Text 25"/>
          <p:cNvSpPr txBox="1"/>
          <p:nvPr/>
        </p:nvSpPr>
        <p:spPr>
          <a:xfrm>
            <a:off x="8321040" y="5120640"/>
            <a:ext cx="3154680" cy="91440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yangi mahsulotlar ulushi, patentlar, ilmiy tadqiqot xarajatlari, raqamlashtirish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Ichki muhitni tahlil qilish modellari</a:t>
            </a:r>
            <a:endParaRPr lang="en-US" sz="3000" dirty="0"/>
          </a:p>
        </p:txBody>
      </p:sp>
      <p:sp>
        <p:nvSpPr>
          <p:cNvPr id="3" name="Text 1"/>
          <p:cNvSpPr txBox="1"/>
          <p:nvPr/>
        </p:nvSpPr>
        <p:spPr>
          <a:xfrm>
            <a:off x="548640" y="1325880"/>
            <a:ext cx="5120640" cy="365760"/>
          </a:xfrm>
          <a:prstGeom prst="rect">
            <a:avLst/>
          </a:prstGeom>
          <a:noFill/>
          <a:ln/>
        </p:spPr>
        <p:txBody>
          <a:bodyPr wrap="square" lIns="0" tIns="0" rIns="0" bIns="0" rtlCol="0" anchor="ctr"/>
          <a:lstStyle/>
          <a:p>
            <a:pPr indent="0" marL="0">
              <a:buNone/>
            </a:pPr>
            <a:r>
              <a:rPr lang="en-US" sz="1600" b="1" dirty="0">
                <a:solidFill>
                  <a:srgbClr val="0D2F4F"/>
                </a:solidFill>
              </a:rPr>
              <a:t>McKinsey 7S modeli (1980-yillar boshi)</a:t>
            </a:r>
            <a:endParaRPr lang="en-US" sz="1600" dirty="0"/>
          </a:p>
        </p:txBody>
      </p:sp>
      <p:sp>
        <p:nvSpPr>
          <p:cNvPr id="4" name="Shape 2"/>
          <p:cNvSpPr/>
          <p:nvPr/>
        </p:nvSpPr>
        <p:spPr>
          <a:xfrm flipH="1">
            <a:off x="3017520" y="2331720"/>
            <a:ext cx="914" cy="1600200"/>
          </a:xfrm>
          <a:prstGeom prst="line">
            <a:avLst/>
          </a:prstGeom>
          <a:noFill/>
          <a:ln w="19050">
            <a:solidFill>
              <a:srgbClr val="9FC9D2"/>
            </a:solidFill>
            <a:prstDash val="solid"/>
          </a:ln>
        </p:spPr>
      </p:sp>
      <p:sp>
        <p:nvSpPr>
          <p:cNvPr id="5" name="Shape 3"/>
          <p:cNvSpPr/>
          <p:nvPr/>
        </p:nvSpPr>
        <p:spPr>
          <a:xfrm flipH="1">
            <a:off x="3017520" y="3131820"/>
            <a:ext cx="1385814" cy="800100"/>
          </a:xfrm>
          <a:prstGeom prst="line">
            <a:avLst/>
          </a:prstGeom>
          <a:noFill/>
          <a:ln w="19050">
            <a:solidFill>
              <a:srgbClr val="9FC9D2"/>
            </a:solidFill>
            <a:prstDash val="solid"/>
          </a:ln>
        </p:spPr>
      </p:sp>
      <p:sp>
        <p:nvSpPr>
          <p:cNvPr id="6" name="Shape 4"/>
          <p:cNvSpPr/>
          <p:nvPr/>
        </p:nvSpPr>
        <p:spPr>
          <a:xfrm>
            <a:off x="3017520" y="3931920"/>
            <a:ext cx="1385814" cy="800100"/>
          </a:xfrm>
          <a:prstGeom prst="line">
            <a:avLst/>
          </a:prstGeom>
          <a:noFill/>
          <a:ln w="19050">
            <a:solidFill>
              <a:srgbClr val="9FC9D2"/>
            </a:solidFill>
            <a:prstDash val="solid"/>
          </a:ln>
        </p:spPr>
      </p:sp>
      <p:sp>
        <p:nvSpPr>
          <p:cNvPr id="7" name="Shape 5"/>
          <p:cNvSpPr/>
          <p:nvPr/>
        </p:nvSpPr>
        <p:spPr>
          <a:xfrm>
            <a:off x="3017520" y="3931920"/>
            <a:ext cx="914" cy="1600200"/>
          </a:xfrm>
          <a:prstGeom prst="line">
            <a:avLst/>
          </a:prstGeom>
          <a:noFill/>
          <a:ln w="19050">
            <a:solidFill>
              <a:srgbClr val="9FC9D2"/>
            </a:solidFill>
            <a:prstDash val="solid"/>
          </a:ln>
        </p:spPr>
      </p:sp>
      <p:sp>
        <p:nvSpPr>
          <p:cNvPr id="8" name="Shape 6"/>
          <p:cNvSpPr/>
          <p:nvPr/>
        </p:nvSpPr>
        <p:spPr>
          <a:xfrm flipH="1">
            <a:off x="1631706" y="3931920"/>
            <a:ext cx="1385814" cy="800100"/>
          </a:xfrm>
          <a:prstGeom prst="line">
            <a:avLst/>
          </a:prstGeom>
          <a:noFill/>
          <a:ln w="19050">
            <a:solidFill>
              <a:srgbClr val="9FC9D2"/>
            </a:solidFill>
            <a:prstDash val="solid"/>
          </a:ln>
        </p:spPr>
      </p:sp>
      <p:sp>
        <p:nvSpPr>
          <p:cNvPr id="9" name="Shape 7"/>
          <p:cNvSpPr/>
          <p:nvPr/>
        </p:nvSpPr>
        <p:spPr>
          <a:xfrm>
            <a:off x="1631706" y="3131820"/>
            <a:ext cx="1385814" cy="800100"/>
          </a:xfrm>
          <a:prstGeom prst="line">
            <a:avLst/>
          </a:prstGeom>
          <a:noFill/>
          <a:ln w="19050">
            <a:solidFill>
              <a:srgbClr val="9FC9D2"/>
            </a:solidFill>
            <a:prstDash val="solid"/>
          </a:ln>
        </p:spPr>
      </p:sp>
      <p:sp>
        <p:nvSpPr>
          <p:cNvPr id="10" name="Shape 8"/>
          <p:cNvSpPr/>
          <p:nvPr/>
        </p:nvSpPr>
        <p:spPr>
          <a:xfrm>
            <a:off x="2514600" y="1828800"/>
            <a:ext cx="1005840" cy="1005840"/>
          </a:xfrm>
          <a:prstGeom prst="ellipse">
            <a:avLst/>
          </a:prstGeom>
          <a:solidFill>
            <a:srgbClr val="0D2F4F"/>
          </a:solidFill>
          <a:ln w="25400">
            <a:solidFill>
              <a:srgbClr val="FFFFFF"/>
            </a:solidFill>
            <a:prstDash val="solid"/>
          </a:ln>
          <a:effectLst>
            <a:outerShdw sx="100000" sy="100000" kx="0" ky="0" algn="bl" rotWithShape="0" blurRad="101600" dist="38100" dir="5400000">
              <a:srgbClr val="0D2F4F">
                <a:alpha val="18000"/>
              </a:srgbClr>
            </a:outerShdw>
          </a:effectLst>
        </p:spPr>
      </p:sp>
      <p:sp>
        <p:nvSpPr>
          <p:cNvPr id="11" name="Text 9"/>
          <p:cNvSpPr txBox="1"/>
          <p:nvPr/>
        </p:nvSpPr>
        <p:spPr>
          <a:xfrm>
            <a:off x="2514600" y="1828800"/>
            <a:ext cx="1005840" cy="1005840"/>
          </a:xfrm>
          <a:prstGeom prst="rect">
            <a:avLst/>
          </a:prstGeom>
          <a:noFill/>
          <a:ln/>
        </p:spPr>
        <p:txBody>
          <a:bodyPr wrap="square" lIns="0" tIns="0" rIns="0" bIns="0" rtlCol="0" anchor="ctr"/>
          <a:lstStyle/>
          <a:p>
            <a:pPr algn="ctr" indent="0" marL="0">
              <a:buNone/>
            </a:pPr>
            <a:r>
              <a:rPr lang="en-US" sz="1200" b="1" dirty="0">
                <a:solidFill>
                  <a:srgbClr val="FFFFFF"/>
                </a:solidFill>
              </a:rPr>
              <a:t>Strategiya</a:t>
            </a:r>
            <a:endParaRPr lang="en-US" sz="1200" dirty="0"/>
          </a:p>
        </p:txBody>
      </p:sp>
      <p:sp>
        <p:nvSpPr>
          <p:cNvPr id="12" name="Shape 10"/>
          <p:cNvSpPr/>
          <p:nvPr/>
        </p:nvSpPr>
        <p:spPr>
          <a:xfrm>
            <a:off x="3900414" y="2628900"/>
            <a:ext cx="1005840" cy="1005840"/>
          </a:xfrm>
          <a:prstGeom prst="ellipse">
            <a:avLst/>
          </a:prstGeom>
          <a:solidFill>
            <a:srgbClr val="0D2F4F"/>
          </a:solidFill>
          <a:ln w="25400">
            <a:solidFill>
              <a:srgbClr val="FFFFFF"/>
            </a:solidFill>
            <a:prstDash val="solid"/>
          </a:ln>
          <a:effectLst>
            <a:outerShdw sx="100000" sy="100000" kx="0" ky="0" algn="bl" rotWithShape="0" blurRad="101600" dist="38100" dir="5400000">
              <a:srgbClr val="0D2F4F">
                <a:alpha val="18000"/>
              </a:srgbClr>
            </a:outerShdw>
          </a:effectLst>
        </p:spPr>
      </p:sp>
      <p:sp>
        <p:nvSpPr>
          <p:cNvPr id="13" name="Text 11"/>
          <p:cNvSpPr txBox="1"/>
          <p:nvPr/>
        </p:nvSpPr>
        <p:spPr>
          <a:xfrm>
            <a:off x="3900414" y="2628900"/>
            <a:ext cx="1005840" cy="1005840"/>
          </a:xfrm>
          <a:prstGeom prst="rect">
            <a:avLst/>
          </a:prstGeom>
          <a:noFill/>
          <a:ln/>
        </p:spPr>
        <p:txBody>
          <a:bodyPr wrap="square" lIns="0" tIns="0" rIns="0" bIns="0" rtlCol="0" anchor="ctr"/>
          <a:lstStyle/>
          <a:p>
            <a:pPr algn="ctr" indent="0" marL="0">
              <a:buNone/>
            </a:pPr>
            <a:r>
              <a:rPr lang="en-US" sz="1200" b="1" dirty="0">
                <a:solidFill>
                  <a:srgbClr val="FFFFFF"/>
                </a:solidFill>
              </a:rPr>
              <a:t>Tuzilma</a:t>
            </a:r>
            <a:endParaRPr lang="en-US" sz="1200" dirty="0"/>
          </a:p>
        </p:txBody>
      </p:sp>
      <p:sp>
        <p:nvSpPr>
          <p:cNvPr id="14" name="Shape 12"/>
          <p:cNvSpPr/>
          <p:nvPr/>
        </p:nvSpPr>
        <p:spPr>
          <a:xfrm>
            <a:off x="3900414" y="4229100"/>
            <a:ext cx="1005840" cy="1005840"/>
          </a:xfrm>
          <a:prstGeom prst="ellipse">
            <a:avLst/>
          </a:prstGeom>
          <a:solidFill>
            <a:srgbClr val="0D2F4F"/>
          </a:solidFill>
          <a:ln w="25400">
            <a:solidFill>
              <a:srgbClr val="FFFFFF"/>
            </a:solidFill>
            <a:prstDash val="solid"/>
          </a:ln>
          <a:effectLst>
            <a:outerShdw sx="100000" sy="100000" kx="0" ky="0" algn="bl" rotWithShape="0" blurRad="101600" dist="38100" dir="5400000">
              <a:srgbClr val="0D2F4F">
                <a:alpha val="18000"/>
              </a:srgbClr>
            </a:outerShdw>
          </a:effectLst>
        </p:spPr>
      </p:sp>
      <p:sp>
        <p:nvSpPr>
          <p:cNvPr id="15" name="Text 13"/>
          <p:cNvSpPr txBox="1"/>
          <p:nvPr/>
        </p:nvSpPr>
        <p:spPr>
          <a:xfrm>
            <a:off x="3900414" y="4229100"/>
            <a:ext cx="1005840" cy="1005840"/>
          </a:xfrm>
          <a:prstGeom prst="rect">
            <a:avLst/>
          </a:prstGeom>
          <a:noFill/>
          <a:ln/>
        </p:spPr>
        <p:txBody>
          <a:bodyPr wrap="square" lIns="0" tIns="0" rIns="0" bIns="0" rtlCol="0" anchor="ctr"/>
          <a:lstStyle/>
          <a:p>
            <a:pPr algn="ctr" indent="0" marL="0">
              <a:buNone/>
            </a:pPr>
            <a:r>
              <a:rPr lang="en-US" sz="1200" b="1" dirty="0">
                <a:solidFill>
                  <a:srgbClr val="FFFFFF"/>
                </a:solidFill>
              </a:rPr>
              <a:t>Tizimlar</a:t>
            </a:r>
            <a:endParaRPr lang="en-US" sz="1200" dirty="0"/>
          </a:p>
        </p:txBody>
      </p:sp>
      <p:sp>
        <p:nvSpPr>
          <p:cNvPr id="16" name="Shape 14"/>
          <p:cNvSpPr/>
          <p:nvPr/>
        </p:nvSpPr>
        <p:spPr>
          <a:xfrm>
            <a:off x="2514600" y="5029200"/>
            <a:ext cx="1005840" cy="1005840"/>
          </a:xfrm>
          <a:prstGeom prst="ellipse">
            <a:avLst/>
          </a:prstGeom>
          <a:solidFill>
            <a:srgbClr val="0E9F9A"/>
          </a:solidFill>
          <a:ln w="25400">
            <a:solidFill>
              <a:srgbClr val="FFFFFF"/>
            </a:solidFill>
            <a:prstDash val="solid"/>
          </a:ln>
          <a:effectLst>
            <a:outerShdw sx="100000" sy="100000" kx="0" ky="0" algn="bl" rotWithShape="0" blurRad="101600" dist="38100" dir="5400000">
              <a:srgbClr val="0D2F4F">
                <a:alpha val="18000"/>
              </a:srgbClr>
            </a:outerShdw>
          </a:effectLst>
        </p:spPr>
      </p:sp>
      <p:sp>
        <p:nvSpPr>
          <p:cNvPr id="17" name="Text 15"/>
          <p:cNvSpPr txBox="1"/>
          <p:nvPr/>
        </p:nvSpPr>
        <p:spPr>
          <a:xfrm>
            <a:off x="2514600" y="5029200"/>
            <a:ext cx="1005840" cy="1005840"/>
          </a:xfrm>
          <a:prstGeom prst="rect">
            <a:avLst/>
          </a:prstGeom>
          <a:noFill/>
          <a:ln/>
        </p:spPr>
        <p:txBody>
          <a:bodyPr wrap="square" lIns="0" tIns="0" rIns="0" bIns="0" rtlCol="0" anchor="ctr"/>
          <a:lstStyle/>
          <a:p>
            <a:pPr algn="ctr" indent="0" marL="0">
              <a:buNone/>
            </a:pPr>
            <a:r>
              <a:rPr lang="en-US" sz="1200" b="1" dirty="0">
                <a:solidFill>
                  <a:srgbClr val="FFFFFF"/>
                </a:solidFill>
              </a:rPr>
              <a:t>Uslub</a:t>
            </a:r>
            <a:endParaRPr lang="en-US" sz="1200" dirty="0"/>
          </a:p>
        </p:txBody>
      </p:sp>
      <p:sp>
        <p:nvSpPr>
          <p:cNvPr id="18" name="Shape 16"/>
          <p:cNvSpPr/>
          <p:nvPr/>
        </p:nvSpPr>
        <p:spPr>
          <a:xfrm>
            <a:off x="1128786" y="4229100"/>
            <a:ext cx="1005840" cy="1005840"/>
          </a:xfrm>
          <a:prstGeom prst="ellipse">
            <a:avLst/>
          </a:prstGeom>
          <a:solidFill>
            <a:srgbClr val="0E9F9A"/>
          </a:solidFill>
          <a:ln w="25400">
            <a:solidFill>
              <a:srgbClr val="FFFFFF"/>
            </a:solidFill>
            <a:prstDash val="solid"/>
          </a:ln>
          <a:effectLst>
            <a:outerShdw sx="100000" sy="100000" kx="0" ky="0" algn="bl" rotWithShape="0" blurRad="101600" dist="38100" dir="5400000">
              <a:srgbClr val="0D2F4F">
                <a:alpha val="18000"/>
              </a:srgbClr>
            </a:outerShdw>
          </a:effectLst>
        </p:spPr>
      </p:sp>
      <p:sp>
        <p:nvSpPr>
          <p:cNvPr id="19" name="Text 17"/>
          <p:cNvSpPr txBox="1"/>
          <p:nvPr/>
        </p:nvSpPr>
        <p:spPr>
          <a:xfrm>
            <a:off x="1128786" y="4229100"/>
            <a:ext cx="1005840" cy="1005840"/>
          </a:xfrm>
          <a:prstGeom prst="rect">
            <a:avLst/>
          </a:prstGeom>
          <a:noFill/>
          <a:ln/>
        </p:spPr>
        <p:txBody>
          <a:bodyPr wrap="square" lIns="0" tIns="0" rIns="0" bIns="0" rtlCol="0" anchor="ctr"/>
          <a:lstStyle/>
          <a:p>
            <a:pPr algn="ctr" indent="0" marL="0">
              <a:buNone/>
            </a:pPr>
            <a:r>
              <a:rPr lang="en-US" sz="1200" b="1" dirty="0">
                <a:solidFill>
                  <a:srgbClr val="FFFFFF"/>
                </a:solidFill>
              </a:rPr>
              <a:t>Xodimlar</a:t>
            </a:r>
            <a:endParaRPr lang="en-US" sz="1200" dirty="0"/>
          </a:p>
        </p:txBody>
      </p:sp>
      <p:sp>
        <p:nvSpPr>
          <p:cNvPr id="20" name="Shape 18"/>
          <p:cNvSpPr/>
          <p:nvPr/>
        </p:nvSpPr>
        <p:spPr>
          <a:xfrm>
            <a:off x="1128786" y="2628900"/>
            <a:ext cx="1005840" cy="1005840"/>
          </a:xfrm>
          <a:prstGeom prst="ellipse">
            <a:avLst/>
          </a:prstGeom>
          <a:solidFill>
            <a:srgbClr val="0E9F9A"/>
          </a:solidFill>
          <a:ln w="25400">
            <a:solidFill>
              <a:srgbClr val="FFFFFF"/>
            </a:solidFill>
            <a:prstDash val="solid"/>
          </a:ln>
          <a:effectLst>
            <a:outerShdw sx="100000" sy="100000" kx="0" ky="0" algn="bl" rotWithShape="0" blurRad="101600" dist="38100" dir="5400000">
              <a:srgbClr val="0D2F4F">
                <a:alpha val="18000"/>
              </a:srgbClr>
            </a:outerShdw>
          </a:effectLst>
        </p:spPr>
      </p:sp>
      <p:sp>
        <p:nvSpPr>
          <p:cNvPr id="21" name="Text 19"/>
          <p:cNvSpPr txBox="1"/>
          <p:nvPr/>
        </p:nvSpPr>
        <p:spPr>
          <a:xfrm>
            <a:off x="1128786" y="2628900"/>
            <a:ext cx="1005840" cy="1005840"/>
          </a:xfrm>
          <a:prstGeom prst="rect">
            <a:avLst/>
          </a:prstGeom>
          <a:noFill/>
          <a:ln/>
        </p:spPr>
        <p:txBody>
          <a:bodyPr wrap="square" lIns="0" tIns="0" rIns="0" bIns="0" rtlCol="0" anchor="ctr"/>
          <a:lstStyle/>
          <a:p>
            <a:pPr algn="ctr" indent="0" marL="0">
              <a:buNone/>
            </a:pPr>
            <a:r>
              <a:rPr lang="en-US" sz="1200" b="1" dirty="0">
                <a:solidFill>
                  <a:srgbClr val="FFFFFF"/>
                </a:solidFill>
              </a:rPr>
              <a:t>Ko‘nikmalar</a:t>
            </a:r>
            <a:endParaRPr lang="en-US" sz="1200" dirty="0"/>
          </a:p>
        </p:txBody>
      </p:sp>
      <p:sp>
        <p:nvSpPr>
          <p:cNvPr id="22" name="Shape 20"/>
          <p:cNvSpPr/>
          <p:nvPr/>
        </p:nvSpPr>
        <p:spPr>
          <a:xfrm>
            <a:off x="2377440" y="3291840"/>
            <a:ext cx="1280160" cy="1280160"/>
          </a:xfrm>
          <a:prstGeom prst="ellipse">
            <a:avLst/>
          </a:prstGeom>
          <a:solidFill>
            <a:srgbClr val="F2A541"/>
          </a:solidFill>
          <a:ln w="25400">
            <a:solidFill>
              <a:srgbClr val="FFFFFF"/>
            </a:solidFill>
            <a:prstDash val="solid"/>
          </a:ln>
          <a:effectLst>
            <a:outerShdw sx="100000" sy="100000" kx="0" ky="0" algn="bl" rotWithShape="0" blurRad="101600" dist="38100" dir="5400000">
              <a:srgbClr val="0D2F4F">
                <a:alpha val="18000"/>
              </a:srgbClr>
            </a:outerShdw>
          </a:effectLst>
        </p:spPr>
      </p:sp>
      <p:sp>
        <p:nvSpPr>
          <p:cNvPr id="23" name="Text 21"/>
          <p:cNvSpPr txBox="1"/>
          <p:nvPr/>
        </p:nvSpPr>
        <p:spPr>
          <a:xfrm>
            <a:off x="2395728" y="3291840"/>
            <a:ext cx="1243584" cy="1280160"/>
          </a:xfrm>
          <a:prstGeom prst="rect">
            <a:avLst/>
          </a:prstGeom>
          <a:noFill/>
          <a:ln/>
        </p:spPr>
        <p:txBody>
          <a:bodyPr wrap="square" lIns="0" tIns="0" rIns="0" bIns="0" rtlCol="0" anchor="ctr"/>
          <a:lstStyle/>
          <a:p>
            <a:pPr algn="ctr" indent="0" marL="0">
              <a:buNone/>
            </a:pPr>
            <a:r>
              <a:rPr lang="en-US" sz="1300" b="1" dirty="0">
                <a:solidFill>
                  <a:srgbClr val="0D2F4F"/>
                </a:solidFill>
              </a:rPr>
              <a:t>Umumiy qadriyatlar</a:t>
            </a:r>
            <a:endParaRPr lang="en-US" sz="1300" dirty="0"/>
          </a:p>
        </p:txBody>
      </p:sp>
      <p:sp>
        <p:nvSpPr>
          <p:cNvPr id="24" name="Text 22"/>
          <p:cNvSpPr txBox="1"/>
          <p:nvPr/>
        </p:nvSpPr>
        <p:spPr>
          <a:xfrm>
            <a:off x="548640" y="5486400"/>
            <a:ext cx="1417320" cy="731520"/>
          </a:xfrm>
          <a:prstGeom prst="rect">
            <a:avLst/>
          </a:prstGeom>
          <a:noFill/>
          <a:ln/>
        </p:spPr>
        <p:txBody>
          <a:bodyPr wrap="square" lIns="0" tIns="0" rIns="0" bIns="0" rtlCol="0" anchor="ctr"/>
          <a:lstStyle/>
          <a:p>
            <a:pPr algn="l" indent="0" marL="0">
              <a:buNone/>
            </a:pPr>
            <a:r>
              <a:rPr lang="en-US" sz="1100" i="1" dirty="0">
                <a:solidFill>
                  <a:srgbClr val="4A5B6C"/>
                </a:solidFill>
              </a:rPr>
              <a:t>To‘q ko‘k – “qattiq”, firuza – “yumshoq” elementlar</a:t>
            </a:r>
            <a:endParaRPr lang="en-US" sz="1100" dirty="0"/>
          </a:p>
        </p:txBody>
      </p:sp>
      <p:sp>
        <p:nvSpPr>
          <p:cNvPr id="25" name="Text 23"/>
          <p:cNvSpPr txBox="1"/>
          <p:nvPr/>
        </p:nvSpPr>
        <p:spPr>
          <a:xfrm>
            <a:off x="6035040" y="1325880"/>
            <a:ext cx="5577840" cy="365760"/>
          </a:xfrm>
          <a:prstGeom prst="rect">
            <a:avLst/>
          </a:prstGeom>
          <a:noFill/>
          <a:ln/>
        </p:spPr>
        <p:txBody>
          <a:bodyPr wrap="square" lIns="0" tIns="0" rIns="0" bIns="0" rtlCol="0" anchor="ctr"/>
          <a:lstStyle/>
          <a:p>
            <a:pPr indent="0" marL="0">
              <a:buNone/>
            </a:pPr>
            <a:r>
              <a:rPr lang="en-US" sz="1600" b="1" dirty="0">
                <a:solidFill>
                  <a:srgbClr val="0D2F4F"/>
                </a:solidFill>
              </a:rPr>
              <a:t>Porterning qiymat zanjiri (1985)</a:t>
            </a:r>
            <a:endParaRPr lang="en-US" sz="1600" dirty="0"/>
          </a:p>
        </p:txBody>
      </p:sp>
      <p:sp>
        <p:nvSpPr>
          <p:cNvPr id="26" name="Text 24"/>
          <p:cNvSpPr txBox="1"/>
          <p:nvPr/>
        </p:nvSpPr>
        <p:spPr>
          <a:xfrm>
            <a:off x="6035040" y="1737360"/>
            <a:ext cx="5577840" cy="1737360"/>
          </a:xfrm>
          <a:prstGeom prst="rect">
            <a:avLst/>
          </a:prstGeom>
          <a:noFill/>
          <a:ln/>
        </p:spPr>
        <p:txBody>
          <a:bodyPr wrap="square" lIns="0" tIns="0" rIns="0" bIns="0" rtlCol="0" anchor="t"/>
          <a:lstStyle/>
          <a:p>
            <a:pPr indent="0" marL="0">
              <a:spcAft>
                <a:spcPts val="500"/>
              </a:spcAft>
              <a:buNone/>
            </a:pPr>
            <a:r>
              <a:rPr lang="en-US" sz="1400" b="1" dirty="0">
                <a:solidFill>
                  <a:srgbClr val="0E9F9A"/>
                </a:solidFill>
                <a:latin typeface="Calibri" pitchFamily="34" charset="0"/>
                <a:ea typeface="Calibri" pitchFamily="34" charset="-122"/>
                <a:cs typeface="Calibri" pitchFamily="34" charset="-120"/>
              </a:rPr>
              <a:t>Asosiy faoliyat: </a:t>
            </a:r>
            <a:pPr indent="0" marL="0">
              <a:spcAft>
                <a:spcPts val="500"/>
              </a:spcAft>
              <a:buNone/>
            </a:pPr>
            <a:r>
              <a:rPr lang="en-US" sz="1400" dirty="0">
                <a:solidFill>
                  <a:srgbClr val="1B2A3A"/>
                </a:solidFill>
                <a:latin typeface="Calibri" pitchFamily="34" charset="0"/>
                <a:ea typeface="Calibri" pitchFamily="34" charset="-122"/>
                <a:cs typeface="Calibri" pitchFamily="34" charset="-120"/>
              </a:rPr>
              <a:t>kiruvchi logistika, ishlab chiqarish, chiquvchi logistika, marketing va sotish, servis.</a:t>
            </a:r>
            <a:endParaRPr lang="en-US" sz="1400" dirty="0"/>
          </a:p>
          <a:p>
            <a:pPr indent="0" marL="0">
              <a:spcAft>
                <a:spcPts val="500"/>
              </a:spcAft>
              <a:buNone/>
            </a:pPr>
            <a:r>
              <a:rPr lang="en-US" sz="1400" b="1" dirty="0">
                <a:solidFill>
                  <a:srgbClr val="0E9F9A"/>
                </a:solidFill>
                <a:latin typeface="Calibri" pitchFamily="34" charset="0"/>
                <a:ea typeface="Calibri" pitchFamily="34" charset="-122"/>
                <a:cs typeface="Calibri" pitchFamily="34" charset="-120"/>
              </a:rPr>
              <a:t>Yordamchi faoliyat: </a:t>
            </a:r>
            <a:pPr indent="0" marL="0">
              <a:spcAft>
                <a:spcPts val="500"/>
              </a:spcAft>
              <a:buNone/>
            </a:pPr>
            <a:r>
              <a:rPr lang="en-US" sz="1400" dirty="0">
                <a:solidFill>
                  <a:srgbClr val="1B2A3A"/>
                </a:solidFill>
                <a:latin typeface="Calibri" pitchFamily="34" charset="0"/>
                <a:ea typeface="Calibri" pitchFamily="34" charset="-122"/>
                <a:cs typeface="Calibri" pitchFamily="34" charset="-120"/>
              </a:rPr>
              <a:t>infratuzilma, kadrlar boshqaruvi, texnologiyalarni rivojlantirish, ta’minot. Tahlil qaysi bo‘g‘in qiymat yaratishini va qayerda xarajat ortiqchaligini ko‘rsatadi.</a:t>
            </a:r>
            <a:endParaRPr lang="en-US" sz="1400" dirty="0"/>
          </a:p>
        </p:txBody>
      </p:sp>
      <p:sp>
        <p:nvSpPr>
          <p:cNvPr id="27" name="Text 25"/>
          <p:cNvSpPr txBox="1"/>
          <p:nvPr/>
        </p:nvSpPr>
        <p:spPr>
          <a:xfrm>
            <a:off x="6035040" y="3611880"/>
            <a:ext cx="5577840" cy="365760"/>
          </a:xfrm>
          <a:prstGeom prst="rect">
            <a:avLst/>
          </a:prstGeom>
          <a:noFill/>
          <a:ln/>
        </p:spPr>
        <p:txBody>
          <a:bodyPr wrap="square" lIns="0" tIns="0" rIns="0" bIns="0" rtlCol="0" anchor="ctr"/>
          <a:lstStyle/>
          <a:p>
            <a:pPr indent="0" marL="0">
              <a:buNone/>
            </a:pPr>
            <a:r>
              <a:rPr lang="en-US" sz="1600" b="1" dirty="0">
                <a:solidFill>
                  <a:srgbClr val="0D2F4F"/>
                </a:solidFill>
              </a:rPr>
              <a:t>VRIO tahlili (J. Barni) – resurs raqobat ustunligi beradimi?</a:t>
            </a:r>
            <a:endParaRPr lang="en-US" sz="1600" dirty="0"/>
          </a:p>
        </p:txBody>
      </p:sp>
      <p:sp>
        <p:nvSpPr>
          <p:cNvPr id="28" name="Shape 26"/>
          <p:cNvSpPr/>
          <p:nvPr/>
        </p:nvSpPr>
        <p:spPr>
          <a:xfrm>
            <a:off x="6035040" y="4069080"/>
            <a:ext cx="2697480" cy="914400"/>
          </a:xfrm>
          <a:prstGeom prst="roundRect">
            <a:avLst>
              <a:gd name="adj" fmla="val 12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9" name="Shape 27"/>
          <p:cNvSpPr/>
          <p:nvPr/>
        </p:nvSpPr>
        <p:spPr>
          <a:xfrm>
            <a:off x="6144768" y="4251960"/>
            <a:ext cx="548640" cy="548640"/>
          </a:xfrm>
          <a:prstGeom prst="ellipse">
            <a:avLst/>
          </a:prstGeom>
          <a:solidFill>
            <a:srgbClr val="0E9F9A"/>
          </a:solidFill>
          <a:ln w="12700">
            <a:solidFill>
              <a:srgbClr val="0E9F9A"/>
            </a:solidFill>
            <a:prstDash val="solid"/>
          </a:ln>
        </p:spPr>
      </p:sp>
      <p:sp>
        <p:nvSpPr>
          <p:cNvPr id="30" name="Text 28"/>
          <p:cNvSpPr txBox="1"/>
          <p:nvPr/>
        </p:nvSpPr>
        <p:spPr>
          <a:xfrm>
            <a:off x="6144768" y="42519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V</a:t>
            </a:r>
            <a:endParaRPr lang="en-US" sz="2000" dirty="0"/>
          </a:p>
        </p:txBody>
      </p:sp>
      <p:sp>
        <p:nvSpPr>
          <p:cNvPr id="31" name="Text 29"/>
          <p:cNvSpPr txBox="1"/>
          <p:nvPr/>
        </p:nvSpPr>
        <p:spPr>
          <a:xfrm>
            <a:off x="6812280" y="4114800"/>
            <a:ext cx="1828800" cy="822960"/>
          </a:xfrm>
          <a:prstGeom prst="rect">
            <a:avLst/>
          </a:prstGeom>
          <a:noFill/>
          <a:ln/>
        </p:spPr>
        <p:txBody>
          <a:bodyPr wrap="square" lIns="0" tIns="0" rIns="0" bIns="0" rtlCol="0" anchor="ctr"/>
          <a:lstStyle/>
          <a:p>
            <a:pPr indent="0" marL="0">
              <a:buNone/>
            </a:pPr>
            <a:r>
              <a:rPr lang="en-US" sz="1300" b="1" dirty="0">
                <a:solidFill>
                  <a:srgbClr val="0D2F4F"/>
                </a:solidFill>
                <a:latin typeface="Calibri" pitchFamily="34" charset="0"/>
                <a:ea typeface="Calibri" pitchFamily="34" charset="-122"/>
                <a:cs typeface="Calibri" pitchFamily="34" charset="-120"/>
              </a:rPr>
              <a:t>Qimmatli</a:t>
            </a:r>
            <a:endParaRPr lang="en-US" sz="1300" dirty="0"/>
          </a:p>
          <a:p>
            <a:pPr indent="0" marL="0">
              <a:buNone/>
            </a:pPr>
            <a:r>
              <a:rPr lang="en-US" sz="1200" dirty="0">
                <a:solidFill>
                  <a:srgbClr val="1B2A3A"/>
                </a:solidFill>
                <a:latin typeface="Calibri" pitchFamily="34" charset="0"/>
                <a:ea typeface="Calibri" pitchFamily="34" charset="-122"/>
                <a:cs typeface="Calibri" pitchFamily="34" charset="-120"/>
              </a:rPr>
              <a:t>imkoniyatdan foydalanishga yordam beradimi?</a:t>
            </a:r>
            <a:endParaRPr lang="en-US" sz="1300" dirty="0"/>
          </a:p>
        </p:txBody>
      </p:sp>
      <p:sp>
        <p:nvSpPr>
          <p:cNvPr id="32" name="Shape 30"/>
          <p:cNvSpPr/>
          <p:nvPr/>
        </p:nvSpPr>
        <p:spPr>
          <a:xfrm>
            <a:off x="8869680" y="4069080"/>
            <a:ext cx="2697480" cy="914400"/>
          </a:xfrm>
          <a:prstGeom prst="roundRect">
            <a:avLst>
              <a:gd name="adj" fmla="val 12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3" name="Shape 31"/>
          <p:cNvSpPr/>
          <p:nvPr/>
        </p:nvSpPr>
        <p:spPr>
          <a:xfrm>
            <a:off x="8979408" y="4251960"/>
            <a:ext cx="548640" cy="548640"/>
          </a:xfrm>
          <a:prstGeom prst="ellipse">
            <a:avLst/>
          </a:prstGeom>
          <a:solidFill>
            <a:srgbClr val="0D2F4F"/>
          </a:solidFill>
          <a:ln w="12700">
            <a:solidFill>
              <a:srgbClr val="0D2F4F"/>
            </a:solidFill>
            <a:prstDash val="solid"/>
          </a:ln>
        </p:spPr>
      </p:sp>
      <p:sp>
        <p:nvSpPr>
          <p:cNvPr id="34" name="Text 32"/>
          <p:cNvSpPr txBox="1"/>
          <p:nvPr/>
        </p:nvSpPr>
        <p:spPr>
          <a:xfrm>
            <a:off x="8979408" y="42519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R</a:t>
            </a:r>
            <a:endParaRPr lang="en-US" sz="2000" dirty="0"/>
          </a:p>
        </p:txBody>
      </p:sp>
      <p:sp>
        <p:nvSpPr>
          <p:cNvPr id="35" name="Text 33"/>
          <p:cNvSpPr txBox="1"/>
          <p:nvPr/>
        </p:nvSpPr>
        <p:spPr>
          <a:xfrm>
            <a:off x="9646920" y="4114800"/>
            <a:ext cx="1828800" cy="822960"/>
          </a:xfrm>
          <a:prstGeom prst="rect">
            <a:avLst/>
          </a:prstGeom>
          <a:noFill/>
          <a:ln/>
        </p:spPr>
        <p:txBody>
          <a:bodyPr wrap="square" lIns="0" tIns="0" rIns="0" bIns="0" rtlCol="0" anchor="ctr"/>
          <a:lstStyle/>
          <a:p>
            <a:pPr indent="0" marL="0">
              <a:buNone/>
            </a:pPr>
            <a:r>
              <a:rPr lang="en-US" sz="1300" b="1" dirty="0">
                <a:solidFill>
                  <a:srgbClr val="0D2F4F"/>
                </a:solidFill>
                <a:latin typeface="Calibri" pitchFamily="34" charset="0"/>
                <a:ea typeface="Calibri" pitchFamily="34" charset="-122"/>
                <a:cs typeface="Calibri" pitchFamily="34" charset="-120"/>
              </a:rPr>
              <a:t>Noyob</a:t>
            </a:r>
            <a:endParaRPr lang="en-US" sz="1300" dirty="0"/>
          </a:p>
          <a:p>
            <a:pPr indent="0" marL="0">
              <a:buNone/>
            </a:pPr>
            <a:r>
              <a:rPr lang="en-US" sz="1200" dirty="0">
                <a:solidFill>
                  <a:srgbClr val="1B2A3A"/>
                </a:solidFill>
                <a:latin typeface="Calibri" pitchFamily="34" charset="0"/>
                <a:ea typeface="Calibri" pitchFamily="34" charset="-122"/>
                <a:cs typeface="Calibri" pitchFamily="34" charset="-120"/>
              </a:rPr>
              <a:t>raqobatchilarda kam uchraydimi?</a:t>
            </a:r>
            <a:endParaRPr lang="en-US" sz="1300" dirty="0"/>
          </a:p>
        </p:txBody>
      </p:sp>
      <p:sp>
        <p:nvSpPr>
          <p:cNvPr id="36" name="Shape 34"/>
          <p:cNvSpPr/>
          <p:nvPr/>
        </p:nvSpPr>
        <p:spPr>
          <a:xfrm>
            <a:off x="6035040" y="5120640"/>
            <a:ext cx="2697480" cy="914400"/>
          </a:xfrm>
          <a:prstGeom prst="roundRect">
            <a:avLst>
              <a:gd name="adj" fmla="val 12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7" name="Shape 35"/>
          <p:cNvSpPr/>
          <p:nvPr/>
        </p:nvSpPr>
        <p:spPr>
          <a:xfrm>
            <a:off x="6144768" y="5303520"/>
            <a:ext cx="548640" cy="548640"/>
          </a:xfrm>
          <a:prstGeom prst="ellipse">
            <a:avLst/>
          </a:prstGeom>
          <a:solidFill>
            <a:srgbClr val="0E9F9A"/>
          </a:solidFill>
          <a:ln w="12700">
            <a:solidFill>
              <a:srgbClr val="0E9F9A"/>
            </a:solidFill>
            <a:prstDash val="solid"/>
          </a:ln>
        </p:spPr>
      </p:sp>
      <p:sp>
        <p:nvSpPr>
          <p:cNvPr id="38" name="Text 36"/>
          <p:cNvSpPr txBox="1"/>
          <p:nvPr/>
        </p:nvSpPr>
        <p:spPr>
          <a:xfrm>
            <a:off x="6144768" y="53035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I</a:t>
            </a:r>
            <a:endParaRPr lang="en-US" sz="2000" dirty="0"/>
          </a:p>
        </p:txBody>
      </p:sp>
      <p:sp>
        <p:nvSpPr>
          <p:cNvPr id="39" name="Text 37"/>
          <p:cNvSpPr txBox="1"/>
          <p:nvPr/>
        </p:nvSpPr>
        <p:spPr>
          <a:xfrm>
            <a:off x="6812280" y="5166360"/>
            <a:ext cx="1828800" cy="822960"/>
          </a:xfrm>
          <a:prstGeom prst="rect">
            <a:avLst/>
          </a:prstGeom>
          <a:noFill/>
          <a:ln/>
        </p:spPr>
        <p:txBody>
          <a:bodyPr wrap="square" lIns="0" tIns="0" rIns="0" bIns="0" rtlCol="0" anchor="ctr"/>
          <a:lstStyle/>
          <a:p>
            <a:pPr indent="0" marL="0">
              <a:buNone/>
            </a:pPr>
            <a:r>
              <a:rPr lang="en-US" sz="1300" b="1" dirty="0">
                <a:solidFill>
                  <a:srgbClr val="0D2F4F"/>
                </a:solidFill>
                <a:latin typeface="Calibri" pitchFamily="34" charset="0"/>
                <a:ea typeface="Calibri" pitchFamily="34" charset="-122"/>
                <a:cs typeface="Calibri" pitchFamily="34" charset="-120"/>
              </a:rPr>
              <a:t>Taqlid qilish qiyin</a:t>
            </a:r>
            <a:endParaRPr lang="en-US" sz="1300" dirty="0"/>
          </a:p>
          <a:p>
            <a:pPr indent="0" marL="0">
              <a:buNone/>
            </a:pPr>
            <a:r>
              <a:rPr lang="en-US" sz="1200" dirty="0">
                <a:solidFill>
                  <a:srgbClr val="1B2A3A"/>
                </a:solidFill>
                <a:latin typeface="Calibri" pitchFamily="34" charset="0"/>
                <a:ea typeface="Calibri" pitchFamily="34" charset="-122"/>
                <a:cs typeface="Calibri" pitchFamily="34" charset="-120"/>
              </a:rPr>
              <a:t>nusxa ko‘chirish qimmat yoki mumkin emasmi?</a:t>
            </a:r>
            <a:endParaRPr lang="en-US" sz="1300" dirty="0"/>
          </a:p>
        </p:txBody>
      </p:sp>
      <p:sp>
        <p:nvSpPr>
          <p:cNvPr id="40" name="Shape 38"/>
          <p:cNvSpPr/>
          <p:nvPr/>
        </p:nvSpPr>
        <p:spPr>
          <a:xfrm>
            <a:off x="8869680" y="5120640"/>
            <a:ext cx="2697480" cy="914400"/>
          </a:xfrm>
          <a:prstGeom prst="roundRect">
            <a:avLst>
              <a:gd name="adj" fmla="val 12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1" name="Shape 39"/>
          <p:cNvSpPr/>
          <p:nvPr/>
        </p:nvSpPr>
        <p:spPr>
          <a:xfrm>
            <a:off x="8979408" y="5303520"/>
            <a:ext cx="548640" cy="548640"/>
          </a:xfrm>
          <a:prstGeom prst="ellipse">
            <a:avLst/>
          </a:prstGeom>
          <a:solidFill>
            <a:srgbClr val="0D2F4F"/>
          </a:solidFill>
          <a:ln w="12700">
            <a:solidFill>
              <a:srgbClr val="0D2F4F"/>
            </a:solidFill>
            <a:prstDash val="solid"/>
          </a:ln>
        </p:spPr>
      </p:sp>
      <p:sp>
        <p:nvSpPr>
          <p:cNvPr id="42" name="Text 40"/>
          <p:cNvSpPr txBox="1"/>
          <p:nvPr/>
        </p:nvSpPr>
        <p:spPr>
          <a:xfrm>
            <a:off x="8979408" y="53035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O</a:t>
            </a:r>
            <a:endParaRPr lang="en-US" sz="2000" dirty="0"/>
          </a:p>
        </p:txBody>
      </p:sp>
      <p:sp>
        <p:nvSpPr>
          <p:cNvPr id="43" name="Text 41"/>
          <p:cNvSpPr txBox="1"/>
          <p:nvPr/>
        </p:nvSpPr>
        <p:spPr>
          <a:xfrm>
            <a:off x="9646920" y="5166360"/>
            <a:ext cx="1828800" cy="822960"/>
          </a:xfrm>
          <a:prstGeom prst="rect">
            <a:avLst/>
          </a:prstGeom>
          <a:noFill/>
          <a:ln/>
        </p:spPr>
        <p:txBody>
          <a:bodyPr wrap="square" lIns="0" tIns="0" rIns="0" bIns="0" rtlCol="0" anchor="ctr"/>
          <a:lstStyle/>
          <a:p>
            <a:pPr indent="0" marL="0">
              <a:buNone/>
            </a:pPr>
            <a:r>
              <a:rPr lang="en-US" sz="1300" b="1" dirty="0">
                <a:solidFill>
                  <a:srgbClr val="0D2F4F"/>
                </a:solidFill>
                <a:latin typeface="Calibri" pitchFamily="34" charset="0"/>
                <a:ea typeface="Calibri" pitchFamily="34" charset="-122"/>
                <a:cs typeface="Calibri" pitchFamily="34" charset="-120"/>
              </a:rPr>
              <a:t>Tashkil etilgan</a:t>
            </a:r>
            <a:endParaRPr lang="en-US" sz="1300" dirty="0"/>
          </a:p>
          <a:p>
            <a:pPr indent="0" marL="0">
              <a:buNone/>
            </a:pPr>
            <a:r>
              <a:rPr lang="en-US" sz="1200" dirty="0">
                <a:solidFill>
                  <a:srgbClr val="1B2A3A"/>
                </a:solidFill>
                <a:latin typeface="Calibri" pitchFamily="34" charset="0"/>
                <a:ea typeface="Calibri" pitchFamily="34" charset="-122"/>
                <a:cs typeface="Calibri" pitchFamily="34" charset="-120"/>
              </a:rPr>
              <a:t>korxona undan foydalanishga tayyormi?</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SWOT – ichki va tashqi muhitni kompleks tahlil qilish</a:t>
            </a:r>
            <a:endParaRPr lang="en-US" sz="3000" dirty="0"/>
          </a:p>
        </p:txBody>
      </p:sp>
      <p:sp>
        <p:nvSpPr>
          <p:cNvPr id="3" name="Text 1"/>
          <p:cNvSpPr txBox="1"/>
          <p:nvPr/>
        </p:nvSpPr>
        <p:spPr>
          <a:xfrm>
            <a:off x="548640" y="1325880"/>
            <a:ext cx="6766560" cy="77724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SWOT matritsasi ichki tahlil (S, W) va tashqi tahlil (O, T) natijalarini birlashtiradi. Omillar kesishmasida to‘rt turdagi strategik yo‘nalish shakllanadi:</a:t>
            </a:r>
            <a:endParaRPr lang="en-US" sz="1400" dirty="0"/>
          </a:p>
        </p:txBody>
      </p:sp>
      <p:sp>
        <p:nvSpPr>
          <p:cNvPr id="4" name="Shape 2"/>
          <p:cNvSpPr/>
          <p:nvPr/>
        </p:nvSpPr>
        <p:spPr>
          <a:xfrm>
            <a:off x="548640" y="2194560"/>
            <a:ext cx="1463040" cy="548640"/>
          </a:xfrm>
          <a:prstGeom prst="roundRect">
            <a:avLst>
              <a:gd name="adj" fmla="val 13333"/>
            </a:avLst>
          </a:prstGeom>
          <a:solidFill>
            <a:srgbClr val="E8F3F6"/>
          </a:solidFill>
          <a:ln w="19050">
            <a:solidFill>
              <a:srgbClr val="FFFFFF"/>
            </a:solidFill>
            <a:prstDash val="solid"/>
          </a:ln>
        </p:spPr>
      </p:sp>
      <p:sp>
        <p:nvSpPr>
          <p:cNvPr id="5" name="Text 3"/>
          <p:cNvSpPr txBox="1"/>
          <p:nvPr/>
        </p:nvSpPr>
        <p:spPr>
          <a:xfrm>
            <a:off x="658368" y="2249424"/>
            <a:ext cx="1243584" cy="438912"/>
          </a:xfrm>
          <a:prstGeom prst="rect">
            <a:avLst/>
          </a:prstGeom>
          <a:noFill/>
          <a:ln/>
        </p:spPr>
        <p:txBody>
          <a:bodyPr wrap="square" lIns="0" tIns="0" rIns="0" bIns="0" rtlCol="0" anchor="ctr"/>
          <a:lstStyle/>
          <a:p>
            <a:pPr algn="ctr" indent="0" marL="0">
              <a:spcAft>
                <a:spcPts val="200"/>
              </a:spcAft>
              <a:buNone/>
            </a:pPr>
            <a:r>
              <a:rPr lang="en-US" sz="1200" b="1" dirty="0">
                <a:solidFill>
                  <a:srgbClr val="0D2F4F"/>
                </a:solidFill>
              </a:rPr>
              <a:t>Ichki \ Tashqi</a:t>
            </a:r>
            <a:endParaRPr lang="en-US" sz="1200" dirty="0"/>
          </a:p>
        </p:txBody>
      </p:sp>
      <p:sp>
        <p:nvSpPr>
          <p:cNvPr id="6" name="Shape 4"/>
          <p:cNvSpPr/>
          <p:nvPr/>
        </p:nvSpPr>
        <p:spPr>
          <a:xfrm>
            <a:off x="2011680" y="2194560"/>
            <a:ext cx="2651760" cy="548640"/>
          </a:xfrm>
          <a:prstGeom prst="roundRect">
            <a:avLst>
              <a:gd name="adj" fmla="val 13333"/>
            </a:avLst>
          </a:prstGeom>
          <a:solidFill>
            <a:srgbClr val="3B6EA5"/>
          </a:solidFill>
          <a:ln w="19050">
            <a:solidFill>
              <a:srgbClr val="FFFFFF"/>
            </a:solidFill>
            <a:prstDash val="solid"/>
          </a:ln>
        </p:spPr>
      </p:sp>
      <p:sp>
        <p:nvSpPr>
          <p:cNvPr id="7" name="Text 5"/>
          <p:cNvSpPr txBox="1"/>
          <p:nvPr/>
        </p:nvSpPr>
        <p:spPr>
          <a:xfrm>
            <a:off x="2121408" y="2249424"/>
            <a:ext cx="2432304" cy="438912"/>
          </a:xfrm>
          <a:prstGeom prst="rect">
            <a:avLst/>
          </a:prstGeom>
          <a:noFill/>
          <a:ln/>
        </p:spPr>
        <p:txBody>
          <a:bodyPr wrap="square" lIns="0" tIns="0" rIns="0" bIns="0" rtlCol="0" anchor="ctr"/>
          <a:lstStyle/>
          <a:p>
            <a:pPr algn="ctr" indent="0" marL="0">
              <a:spcAft>
                <a:spcPts val="200"/>
              </a:spcAft>
              <a:buNone/>
            </a:pPr>
            <a:r>
              <a:rPr lang="en-US" sz="1400" b="1" dirty="0">
                <a:solidFill>
                  <a:srgbClr val="FFFFFF"/>
                </a:solidFill>
              </a:rPr>
              <a:t>O – Imkoniyatlar</a:t>
            </a:r>
            <a:endParaRPr lang="en-US" sz="1400" dirty="0"/>
          </a:p>
        </p:txBody>
      </p:sp>
      <p:sp>
        <p:nvSpPr>
          <p:cNvPr id="8" name="Shape 6"/>
          <p:cNvSpPr/>
          <p:nvPr/>
        </p:nvSpPr>
        <p:spPr>
          <a:xfrm>
            <a:off x="4663440" y="2194560"/>
            <a:ext cx="2651760" cy="548640"/>
          </a:xfrm>
          <a:prstGeom prst="roundRect">
            <a:avLst>
              <a:gd name="adj" fmla="val 13333"/>
            </a:avLst>
          </a:prstGeom>
          <a:solidFill>
            <a:srgbClr val="B5651D"/>
          </a:solidFill>
          <a:ln w="19050">
            <a:solidFill>
              <a:srgbClr val="FFFFFF"/>
            </a:solidFill>
            <a:prstDash val="solid"/>
          </a:ln>
        </p:spPr>
      </p:sp>
      <p:sp>
        <p:nvSpPr>
          <p:cNvPr id="9" name="Text 7"/>
          <p:cNvSpPr txBox="1"/>
          <p:nvPr/>
        </p:nvSpPr>
        <p:spPr>
          <a:xfrm>
            <a:off x="4773168" y="2249424"/>
            <a:ext cx="2432304" cy="438912"/>
          </a:xfrm>
          <a:prstGeom prst="rect">
            <a:avLst/>
          </a:prstGeom>
          <a:noFill/>
          <a:ln/>
        </p:spPr>
        <p:txBody>
          <a:bodyPr wrap="square" lIns="0" tIns="0" rIns="0" bIns="0" rtlCol="0" anchor="ctr"/>
          <a:lstStyle/>
          <a:p>
            <a:pPr algn="ctr" indent="0" marL="0">
              <a:spcAft>
                <a:spcPts val="200"/>
              </a:spcAft>
              <a:buNone/>
            </a:pPr>
            <a:r>
              <a:rPr lang="en-US" sz="1400" b="1" dirty="0">
                <a:solidFill>
                  <a:srgbClr val="FFFFFF"/>
                </a:solidFill>
              </a:rPr>
              <a:t>T – Tahdidlar</a:t>
            </a:r>
            <a:endParaRPr lang="en-US" sz="1400" dirty="0"/>
          </a:p>
        </p:txBody>
      </p:sp>
      <p:sp>
        <p:nvSpPr>
          <p:cNvPr id="10" name="Shape 8"/>
          <p:cNvSpPr/>
          <p:nvPr/>
        </p:nvSpPr>
        <p:spPr>
          <a:xfrm>
            <a:off x="548640" y="2743200"/>
            <a:ext cx="1463040" cy="1600200"/>
          </a:xfrm>
          <a:prstGeom prst="roundRect">
            <a:avLst>
              <a:gd name="adj" fmla="val 5000"/>
            </a:avLst>
          </a:prstGeom>
          <a:solidFill>
            <a:srgbClr val="0E9F9A"/>
          </a:solidFill>
          <a:ln w="19050">
            <a:solidFill>
              <a:srgbClr val="FFFFFF"/>
            </a:solidFill>
            <a:prstDash val="solid"/>
          </a:ln>
        </p:spPr>
      </p:sp>
      <p:sp>
        <p:nvSpPr>
          <p:cNvPr id="11" name="Text 9"/>
          <p:cNvSpPr txBox="1"/>
          <p:nvPr/>
        </p:nvSpPr>
        <p:spPr>
          <a:xfrm>
            <a:off x="658368" y="2798064"/>
            <a:ext cx="1243584" cy="1490472"/>
          </a:xfrm>
          <a:prstGeom prst="rect">
            <a:avLst/>
          </a:prstGeom>
          <a:noFill/>
          <a:ln/>
        </p:spPr>
        <p:txBody>
          <a:bodyPr wrap="square" lIns="0" tIns="0" rIns="0" bIns="0" rtlCol="0" anchor="ctr"/>
          <a:lstStyle/>
          <a:p>
            <a:pPr algn="ctr" indent="0" marL="0">
              <a:spcAft>
                <a:spcPts val="200"/>
              </a:spcAft>
              <a:buNone/>
            </a:pPr>
            <a:r>
              <a:rPr lang="en-US" sz="1400" b="1" dirty="0">
                <a:solidFill>
                  <a:srgbClr val="FFFFFF"/>
                </a:solidFill>
              </a:rPr>
              <a:t>S – Kuchli tomonlar</a:t>
            </a:r>
            <a:endParaRPr lang="en-US" sz="1400" dirty="0"/>
          </a:p>
        </p:txBody>
      </p:sp>
      <p:sp>
        <p:nvSpPr>
          <p:cNvPr id="12" name="Shape 10"/>
          <p:cNvSpPr/>
          <p:nvPr/>
        </p:nvSpPr>
        <p:spPr>
          <a:xfrm>
            <a:off x="548640" y="4343400"/>
            <a:ext cx="1463040" cy="1600200"/>
          </a:xfrm>
          <a:prstGeom prst="roundRect">
            <a:avLst>
              <a:gd name="adj" fmla="val 5000"/>
            </a:avLst>
          </a:prstGeom>
          <a:solidFill>
            <a:srgbClr val="0D2F4F"/>
          </a:solidFill>
          <a:ln w="19050">
            <a:solidFill>
              <a:srgbClr val="FFFFFF"/>
            </a:solidFill>
            <a:prstDash val="solid"/>
          </a:ln>
        </p:spPr>
      </p:sp>
      <p:sp>
        <p:nvSpPr>
          <p:cNvPr id="13" name="Text 11"/>
          <p:cNvSpPr txBox="1"/>
          <p:nvPr/>
        </p:nvSpPr>
        <p:spPr>
          <a:xfrm>
            <a:off x="658368" y="4398264"/>
            <a:ext cx="1243584" cy="1490472"/>
          </a:xfrm>
          <a:prstGeom prst="rect">
            <a:avLst/>
          </a:prstGeom>
          <a:noFill/>
          <a:ln/>
        </p:spPr>
        <p:txBody>
          <a:bodyPr wrap="square" lIns="0" tIns="0" rIns="0" bIns="0" rtlCol="0" anchor="ctr"/>
          <a:lstStyle/>
          <a:p>
            <a:pPr algn="ctr" indent="0" marL="0">
              <a:spcAft>
                <a:spcPts val="200"/>
              </a:spcAft>
              <a:buNone/>
            </a:pPr>
            <a:r>
              <a:rPr lang="en-US" sz="1400" b="1" dirty="0">
                <a:solidFill>
                  <a:srgbClr val="FFFFFF"/>
                </a:solidFill>
              </a:rPr>
              <a:t>W – Zaif tomonlar</a:t>
            </a:r>
            <a:endParaRPr lang="en-US" sz="1400" dirty="0"/>
          </a:p>
        </p:txBody>
      </p:sp>
      <p:sp>
        <p:nvSpPr>
          <p:cNvPr id="14" name="Shape 12"/>
          <p:cNvSpPr/>
          <p:nvPr/>
        </p:nvSpPr>
        <p:spPr>
          <a:xfrm>
            <a:off x="2048256" y="2779776"/>
            <a:ext cx="2578608" cy="1527048"/>
          </a:xfrm>
          <a:prstGeom prst="roundRect">
            <a:avLst>
              <a:gd name="adj" fmla="val 4790"/>
            </a:avLst>
          </a:prstGeom>
          <a:solidFill>
            <a:srgbClr val="FFFFFF"/>
          </a:solidFill>
          <a:ln w="9525">
            <a:solidFill>
              <a:srgbClr val="C9DDE3"/>
            </a:solidFill>
            <a:prstDash val="solid"/>
          </a:ln>
          <a:effectLst>
            <a:outerShdw sx="100000" sy="100000" kx="0" ky="0" algn="bl" rotWithShape="0" blurRad="101600" dist="38100" dir="5400000">
              <a:srgbClr val="0D2F4F">
                <a:alpha val="18000"/>
              </a:srgbClr>
            </a:outerShdw>
          </a:effectLst>
        </p:spPr>
      </p:sp>
      <p:sp>
        <p:nvSpPr>
          <p:cNvPr id="15" name="Text 13"/>
          <p:cNvSpPr txBox="1"/>
          <p:nvPr/>
        </p:nvSpPr>
        <p:spPr>
          <a:xfrm>
            <a:off x="2176272" y="2852928"/>
            <a:ext cx="2322576" cy="1380744"/>
          </a:xfrm>
          <a:prstGeom prst="rect">
            <a:avLst/>
          </a:prstGeom>
          <a:noFill/>
          <a:ln/>
        </p:spPr>
        <p:txBody>
          <a:bodyPr wrap="square" lIns="0" tIns="0" rIns="0" bIns="0" rtlCol="0" anchor="ctr"/>
          <a:lstStyle/>
          <a:p>
            <a:pPr indent="0" marL="0">
              <a:spcAft>
                <a:spcPts val="300"/>
              </a:spcAft>
              <a:buNone/>
            </a:pPr>
            <a:r>
              <a:rPr lang="en-US" sz="1400" b="1" dirty="0">
                <a:solidFill>
                  <a:srgbClr val="0E9F9A"/>
                </a:solidFill>
              </a:rPr>
              <a:t>SO: o‘sish va hujum</a:t>
            </a:r>
            <a:endParaRPr lang="en-US" sz="1400" dirty="0"/>
          </a:p>
          <a:p>
            <a:pPr indent="0" marL="0">
              <a:spcAft>
                <a:spcPts val="300"/>
              </a:spcAft>
              <a:buNone/>
            </a:pPr>
            <a:r>
              <a:rPr lang="en-US" sz="1300" dirty="0">
                <a:solidFill>
                  <a:srgbClr val="1B2A3A"/>
                </a:solidFill>
              </a:rPr>
              <a:t>kuchli tomonlardan foydalanib imkoniyatlarni egallash: yangi bozorlar, assortimentni kengaytirish</a:t>
            </a:r>
            <a:endParaRPr lang="en-US" sz="1400" dirty="0"/>
          </a:p>
        </p:txBody>
      </p:sp>
      <p:sp>
        <p:nvSpPr>
          <p:cNvPr id="16" name="Shape 14"/>
          <p:cNvSpPr/>
          <p:nvPr/>
        </p:nvSpPr>
        <p:spPr>
          <a:xfrm>
            <a:off x="4700016" y="2779776"/>
            <a:ext cx="2578608" cy="1527048"/>
          </a:xfrm>
          <a:prstGeom prst="roundRect">
            <a:avLst>
              <a:gd name="adj" fmla="val 4790"/>
            </a:avLst>
          </a:prstGeom>
          <a:solidFill>
            <a:srgbClr val="FFFFFF"/>
          </a:solidFill>
          <a:ln w="9525">
            <a:solidFill>
              <a:srgbClr val="C9DDE3"/>
            </a:solidFill>
            <a:prstDash val="solid"/>
          </a:ln>
          <a:effectLst>
            <a:outerShdw sx="100000" sy="100000" kx="0" ky="0" algn="bl" rotWithShape="0" blurRad="101600" dist="38100" dir="5400000">
              <a:srgbClr val="0D2F4F">
                <a:alpha val="18000"/>
              </a:srgbClr>
            </a:outerShdw>
          </a:effectLst>
        </p:spPr>
      </p:sp>
      <p:sp>
        <p:nvSpPr>
          <p:cNvPr id="17" name="Text 15"/>
          <p:cNvSpPr txBox="1"/>
          <p:nvPr/>
        </p:nvSpPr>
        <p:spPr>
          <a:xfrm>
            <a:off x="4828032" y="2852928"/>
            <a:ext cx="2322576" cy="1380744"/>
          </a:xfrm>
          <a:prstGeom prst="rect">
            <a:avLst/>
          </a:prstGeom>
          <a:noFill/>
          <a:ln/>
        </p:spPr>
        <p:txBody>
          <a:bodyPr wrap="square" lIns="0" tIns="0" rIns="0" bIns="0" rtlCol="0" anchor="ctr"/>
          <a:lstStyle/>
          <a:p>
            <a:pPr indent="0" marL="0">
              <a:spcAft>
                <a:spcPts val="300"/>
              </a:spcAft>
              <a:buNone/>
            </a:pPr>
            <a:r>
              <a:rPr lang="en-US" sz="1400" b="1" dirty="0">
                <a:solidFill>
                  <a:srgbClr val="0E9F9A"/>
                </a:solidFill>
              </a:rPr>
              <a:t>ST: himoya</a:t>
            </a:r>
            <a:endParaRPr lang="en-US" sz="1400" dirty="0"/>
          </a:p>
          <a:p>
            <a:pPr indent="0" marL="0">
              <a:spcAft>
                <a:spcPts val="300"/>
              </a:spcAft>
              <a:buNone/>
            </a:pPr>
            <a:r>
              <a:rPr lang="en-US" sz="1300" dirty="0">
                <a:solidFill>
                  <a:srgbClr val="1B2A3A"/>
                </a:solidFill>
              </a:rPr>
              <a:t>kuchli tomonlar yordamida tahdidlarni zaiflashtirish: sifat va brend orqali raqobatga javob</a:t>
            </a:r>
            <a:endParaRPr lang="en-US" sz="1400" dirty="0"/>
          </a:p>
        </p:txBody>
      </p:sp>
      <p:sp>
        <p:nvSpPr>
          <p:cNvPr id="18" name="Shape 16"/>
          <p:cNvSpPr/>
          <p:nvPr/>
        </p:nvSpPr>
        <p:spPr>
          <a:xfrm>
            <a:off x="2048256" y="4379976"/>
            <a:ext cx="2578608" cy="1527048"/>
          </a:xfrm>
          <a:prstGeom prst="roundRect">
            <a:avLst>
              <a:gd name="adj" fmla="val 4790"/>
            </a:avLst>
          </a:prstGeom>
          <a:solidFill>
            <a:srgbClr val="FFFFFF"/>
          </a:solidFill>
          <a:ln w="9525">
            <a:solidFill>
              <a:srgbClr val="C9DDE3"/>
            </a:solidFill>
            <a:prstDash val="solid"/>
          </a:ln>
          <a:effectLst>
            <a:outerShdw sx="100000" sy="100000" kx="0" ky="0" algn="bl" rotWithShape="0" blurRad="101600" dist="38100" dir="5400000">
              <a:srgbClr val="0D2F4F">
                <a:alpha val="18000"/>
              </a:srgbClr>
            </a:outerShdw>
          </a:effectLst>
        </p:spPr>
      </p:sp>
      <p:sp>
        <p:nvSpPr>
          <p:cNvPr id="19" name="Text 17"/>
          <p:cNvSpPr txBox="1"/>
          <p:nvPr/>
        </p:nvSpPr>
        <p:spPr>
          <a:xfrm>
            <a:off x="2176272" y="4453128"/>
            <a:ext cx="2322576" cy="1380744"/>
          </a:xfrm>
          <a:prstGeom prst="rect">
            <a:avLst/>
          </a:prstGeom>
          <a:noFill/>
          <a:ln/>
        </p:spPr>
        <p:txBody>
          <a:bodyPr wrap="square" lIns="0" tIns="0" rIns="0" bIns="0" rtlCol="0" anchor="ctr"/>
          <a:lstStyle/>
          <a:p>
            <a:pPr indent="0" marL="0">
              <a:spcAft>
                <a:spcPts val="300"/>
              </a:spcAft>
              <a:buNone/>
            </a:pPr>
            <a:r>
              <a:rPr lang="en-US" sz="1400" b="1" dirty="0">
                <a:solidFill>
                  <a:srgbClr val="0E9F9A"/>
                </a:solidFill>
              </a:rPr>
              <a:t>WO: ichki o‘zgarish</a:t>
            </a:r>
            <a:endParaRPr lang="en-US" sz="1400" dirty="0"/>
          </a:p>
          <a:p>
            <a:pPr indent="0" marL="0">
              <a:spcAft>
                <a:spcPts val="300"/>
              </a:spcAft>
              <a:buNone/>
            </a:pPr>
            <a:r>
              <a:rPr lang="en-US" sz="1300" dirty="0">
                <a:solidFill>
                  <a:srgbClr val="1B2A3A"/>
                </a:solidFill>
              </a:rPr>
              <a:t>imkoniyatlar hisobiga zaifliklarni yo‘qotish: modernizatsiya, hamkorlik, kadrlar tayyorlash</a:t>
            </a:r>
            <a:endParaRPr lang="en-US" sz="1400" dirty="0"/>
          </a:p>
        </p:txBody>
      </p:sp>
      <p:sp>
        <p:nvSpPr>
          <p:cNvPr id="20" name="Shape 18"/>
          <p:cNvSpPr/>
          <p:nvPr/>
        </p:nvSpPr>
        <p:spPr>
          <a:xfrm>
            <a:off x="4700016" y="4379976"/>
            <a:ext cx="2578608" cy="1527048"/>
          </a:xfrm>
          <a:prstGeom prst="roundRect">
            <a:avLst>
              <a:gd name="adj" fmla="val 4790"/>
            </a:avLst>
          </a:prstGeom>
          <a:solidFill>
            <a:srgbClr val="FFFFFF"/>
          </a:solidFill>
          <a:ln w="9525">
            <a:solidFill>
              <a:srgbClr val="C9DDE3"/>
            </a:solidFill>
            <a:prstDash val="solid"/>
          </a:ln>
          <a:effectLst>
            <a:outerShdw sx="100000" sy="100000" kx="0" ky="0" algn="bl" rotWithShape="0" blurRad="101600" dist="38100" dir="5400000">
              <a:srgbClr val="0D2F4F">
                <a:alpha val="18000"/>
              </a:srgbClr>
            </a:outerShdw>
          </a:effectLst>
        </p:spPr>
      </p:sp>
      <p:sp>
        <p:nvSpPr>
          <p:cNvPr id="21" name="Text 19"/>
          <p:cNvSpPr txBox="1"/>
          <p:nvPr/>
        </p:nvSpPr>
        <p:spPr>
          <a:xfrm>
            <a:off x="4828032" y="4453128"/>
            <a:ext cx="2322576" cy="1380744"/>
          </a:xfrm>
          <a:prstGeom prst="rect">
            <a:avLst/>
          </a:prstGeom>
          <a:noFill/>
          <a:ln/>
        </p:spPr>
        <p:txBody>
          <a:bodyPr wrap="square" lIns="0" tIns="0" rIns="0" bIns="0" rtlCol="0" anchor="ctr"/>
          <a:lstStyle/>
          <a:p>
            <a:pPr indent="0" marL="0">
              <a:spcAft>
                <a:spcPts val="300"/>
              </a:spcAft>
              <a:buNone/>
            </a:pPr>
            <a:r>
              <a:rPr lang="en-US" sz="1400" b="1" dirty="0">
                <a:solidFill>
                  <a:srgbClr val="0E9F9A"/>
                </a:solidFill>
              </a:rPr>
              <a:t>WT: omon qolish</a:t>
            </a:r>
            <a:endParaRPr lang="en-US" sz="1400" dirty="0"/>
          </a:p>
          <a:p>
            <a:pPr indent="0" marL="0">
              <a:spcAft>
                <a:spcPts val="300"/>
              </a:spcAft>
              <a:buNone/>
            </a:pPr>
            <a:r>
              <a:rPr lang="en-US" sz="1300" dirty="0">
                <a:solidFill>
                  <a:srgbClr val="1B2A3A"/>
                </a:solidFill>
              </a:rPr>
              <a:t>xavfni minimallashtirish: xarajatlarni qisqartirish, qayta tuzish, bozorni toraytirish</a:t>
            </a:r>
            <a:endParaRPr lang="en-US" sz="1400" dirty="0"/>
          </a:p>
        </p:txBody>
      </p:sp>
      <p:pic>
        <p:nvPicPr>
          <p:cNvPr id="22" name="Image 0" descr="img3/swot.png">    </p:cNvPr>
          <p:cNvPicPr>
            <a:picLocks noChangeAspect="1"/>
          </p:cNvPicPr>
          <p:nvPr/>
        </p:nvPicPr>
        <p:blipFill>
          <a:blip r:embed="rId1"/>
          <a:stretch>
            <a:fillRect/>
          </a:stretch>
        </p:blipFill>
        <p:spPr>
          <a:xfrm>
            <a:off x="7680960" y="1371600"/>
            <a:ext cx="3931920" cy="3054096"/>
          </a:xfrm>
          <a:prstGeom prst="rect">
            <a:avLst/>
          </a:prstGeom>
        </p:spPr>
      </p:pic>
      <p:sp>
        <p:nvSpPr>
          <p:cNvPr id="23" name="Text 20"/>
          <p:cNvSpPr txBox="1"/>
          <p:nvPr/>
        </p:nvSpPr>
        <p:spPr>
          <a:xfrm>
            <a:off x="7680960" y="4572000"/>
            <a:ext cx="3931920" cy="365760"/>
          </a:xfrm>
          <a:prstGeom prst="rect">
            <a:avLst/>
          </a:prstGeom>
          <a:noFill/>
          <a:ln/>
        </p:spPr>
        <p:txBody>
          <a:bodyPr wrap="square" lIns="0" tIns="0" rIns="0" bIns="0" rtlCol="0" anchor="ctr"/>
          <a:lstStyle/>
          <a:p>
            <a:pPr indent="0" marL="0">
              <a:buNone/>
            </a:pPr>
            <a:r>
              <a:rPr lang="en-US" sz="1600" b="1" dirty="0">
                <a:solidFill>
                  <a:srgbClr val="0D2F4F"/>
                </a:solidFill>
              </a:rPr>
              <a:t>Tahlil natijalaridan foydalanish:</a:t>
            </a:r>
            <a:endParaRPr lang="en-US" sz="1600" dirty="0"/>
          </a:p>
        </p:txBody>
      </p:sp>
      <p:sp>
        <p:nvSpPr>
          <p:cNvPr id="24" name="Text 21"/>
          <p:cNvSpPr txBox="1"/>
          <p:nvPr/>
        </p:nvSpPr>
        <p:spPr>
          <a:xfrm>
            <a:off x="7680960" y="4983480"/>
            <a:ext cx="3931920" cy="123444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B2A3A"/>
                </a:solidFill>
                <a:latin typeface="Calibri" pitchFamily="34" charset="0"/>
                <a:ea typeface="Calibri" pitchFamily="34" charset="-122"/>
                <a:cs typeface="Calibri" pitchFamily="34" charset="-120"/>
              </a:rPr>
              <a:t>strategik muqobillarni shakllantirish</a:t>
            </a:r>
            <a:endParaRPr lang="en-US" sz="1400" dirty="0"/>
          </a:p>
          <a:p>
            <a:pPr marL="177800" indent="-177800">
              <a:spcAft>
                <a:spcPts val="400"/>
              </a:spcAft>
              <a:buSzPct val="100000"/>
              <a:buChar char="•"/>
            </a:pPr>
            <a:r>
              <a:rPr lang="en-US" sz="1400" dirty="0">
                <a:solidFill>
                  <a:srgbClr val="1B2A3A"/>
                </a:solidFill>
                <a:latin typeface="Calibri" pitchFamily="34" charset="0"/>
                <a:ea typeface="Calibri" pitchFamily="34" charset="-122"/>
                <a:cs typeface="Calibri" pitchFamily="34" charset="-120"/>
              </a:rPr>
              <a:t>ustuvor yo‘nalishlarni tanlash</a:t>
            </a:r>
            <a:endParaRPr lang="en-US" sz="1400" dirty="0"/>
          </a:p>
          <a:p>
            <a:pPr marL="177800" indent="-177800">
              <a:spcAft>
                <a:spcPts val="400"/>
              </a:spcAft>
              <a:buSzPct val="100000"/>
              <a:buChar char="•"/>
            </a:pPr>
            <a:r>
              <a:rPr lang="en-US" sz="1400" dirty="0">
                <a:solidFill>
                  <a:srgbClr val="1B2A3A"/>
                </a:solidFill>
                <a:latin typeface="Calibri" pitchFamily="34" charset="0"/>
                <a:ea typeface="Calibri" pitchFamily="34" charset="-122"/>
                <a:cs typeface="Calibri" pitchFamily="34" charset="-120"/>
              </a:rPr>
              <a:t>tahlilni yiliga kamida bir marta yangilash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Xulosa</a:t>
            </a:r>
            <a:endParaRPr lang="en-US" sz="3400" dirty="0"/>
          </a:p>
        </p:txBody>
      </p:sp>
      <p:sp>
        <p:nvSpPr>
          <p:cNvPr id="3" name="Text 1"/>
          <p:cNvSpPr txBox="1"/>
          <p:nvPr/>
        </p:nvSpPr>
        <p:spPr>
          <a:xfrm>
            <a:off x="548640" y="1280160"/>
            <a:ext cx="6858000" cy="1920240"/>
          </a:xfrm>
          <a:prstGeom prst="rect">
            <a:avLst/>
          </a:prstGeom>
          <a:noFill/>
          <a:ln/>
        </p:spPr>
        <p:txBody>
          <a:bodyPr wrap="square" lIns="0" tIns="0" rIns="0" bIns="0" rtlCol="0" anchor="t"/>
          <a:lstStyle/>
          <a:p>
            <a:pPr indent="0" marL="0">
              <a:spcAft>
                <a:spcPts val="600"/>
              </a:spcAft>
              <a:buNone/>
            </a:pPr>
            <a:r>
              <a:rPr lang="en-US" sz="1500" dirty="0">
                <a:solidFill>
                  <a:srgbClr val="E6F2F4"/>
                </a:solidFill>
                <a:latin typeface="Calibri" pitchFamily="34" charset="0"/>
                <a:ea typeface="Calibri" pitchFamily="34" charset="-122"/>
                <a:cs typeface="Calibri" pitchFamily="34" charset="-120"/>
              </a:rPr>
              <a:t>Korxona ochiq tizim bo‘lib, uning muvaffaqiyati tashqi muhit o‘zgarishlarini o‘z vaqtida sezish va ichki salohiyatidan to‘g‘ri foydalanishga bog‘liq. Ichki va tashqi muhitni strategik tahlil qilish korxonaga real vaziyatni ob’ektiv baholash, imkoniyatlarni qo‘ldan boy bermaslik, tahdidlarga oldindan tayyorlanish va asoslangan strategiya ishlab chiqish imkonini beradi.</a:t>
            </a:r>
            <a:endParaRPr lang="en-US" sz="1500" dirty="0"/>
          </a:p>
        </p:txBody>
      </p:sp>
      <p:sp>
        <p:nvSpPr>
          <p:cNvPr id="4" name="Shape 2"/>
          <p:cNvSpPr/>
          <p:nvPr/>
        </p:nvSpPr>
        <p:spPr>
          <a:xfrm>
            <a:off x="548640" y="3337560"/>
            <a:ext cx="3291840" cy="1298448"/>
          </a:xfrm>
          <a:prstGeom prst="roundRect">
            <a:avLst>
              <a:gd name="adj" fmla="val 8451"/>
            </a:avLst>
          </a:prstGeom>
          <a:solidFill>
            <a:srgbClr val="FFFFFF">
              <a:alpha val="12000"/>
            </a:srgbClr>
          </a:solidFill>
          <a:ln w="9525">
            <a:solidFill>
              <a:srgbClr val="5FD3C9"/>
            </a:solidFill>
            <a:prstDash val="solid"/>
          </a:ln>
        </p:spPr>
      </p:sp>
      <p:pic>
        <p:nvPicPr>
          <p:cNvPr id="5" name="Image 0" descr="preencoded.png">    </p:cNvPr>
          <p:cNvPicPr>
            <a:picLocks noChangeAspect="1"/>
          </p:cNvPicPr>
          <p:nvPr/>
        </p:nvPicPr>
        <p:blipFill>
          <a:blip r:embed="rId1"/>
          <a:stretch>
            <a:fillRect/>
          </a:stretch>
        </p:blipFill>
        <p:spPr>
          <a:xfrm>
            <a:off x="713232" y="3520440"/>
            <a:ext cx="365760" cy="365760"/>
          </a:xfrm>
          <a:prstGeom prst="rect">
            <a:avLst/>
          </a:prstGeom>
        </p:spPr>
      </p:pic>
      <p:sp>
        <p:nvSpPr>
          <p:cNvPr id="6" name="Text 3"/>
          <p:cNvSpPr txBox="1"/>
          <p:nvPr/>
        </p:nvSpPr>
        <p:spPr>
          <a:xfrm>
            <a:off x="1188720" y="344728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Makromuhit</a:t>
            </a:r>
            <a:endParaRPr lang="en-US" sz="1500" dirty="0"/>
          </a:p>
          <a:p>
            <a:pPr indent="0" marL="0">
              <a:spcAft>
                <a:spcPts val="200"/>
              </a:spcAft>
              <a:buNone/>
            </a:pPr>
            <a:r>
              <a:rPr lang="en-US" sz="1300" dirty="0">
                <a:solidFill>
                  <a:srgbClr val="FFFFFF"/>
                </a:solidFill>
              </a:rPr>
              <a:t>PESTEL – siyosiy, iqtisodiy, ijtimoiy, texnologik, ekologik va huquqiy omillar</a:t>
            </a:r>
            <a:endParaRPr lang="en-US" sz="1500" dirty="0"/>
          </a:p>
        </p:txBody>
      </p:sp>
      <p:sp>
        <p:nvSpPr>
          <p:cNvPr id="7" name="Shape 4"/>
          <p:cNvSpPr/>
          <p:nvPr/>
        </p:nvSpPr>
        <p:spPr>
          <a:xfrm>
            <a:off x="4023360" y="3337560"/>
            <a:ext cx="3291840" cy="1298448"/>
          </a:xfrm>
          <a:prstGeom prst="roundRect">
            <a:avLst>
              <a:gd name="adj" fmla="val 8451"/>
            </a:avLst>
          </a:prstGeom>
          <a:solidFill>
            <a:srgbClr val="FFFFFF">
              <a:alpha val="12000"/>
            </a:srgbClr>
          </a:solidFill>
          <a:ln w="9525">
            <a:solidFill>
              <a:srgbClr val="5FD3C9"/>
            </a:solidFill>
            <a:prstDash val="solid"/>
          </a:ln>
        </p:spPr>
      </p:sp>
      <p:pic>
        <p:nvPicPr>
          <p:cNvPr id="8" name="Image 1" descr="preencoded.png">    </p:cNvPr>
          <p:cNvPicPr>
            <a:picLocks noChangeAspect="1"/>
          </p:cNvPicPr>
          <p:nvPr/>
        </p:nvPicPr>
        <p:blipFill>
          <a:blip r:embed="rId2"/>
          <a:stretch>
            <a:fillRect/>
          </a:stretch>
        </p:blipFill>
        <p:spPr>
          <a:xfrm>
            <a:off x="4187952" y="3520440"/>
            <a:ext cx="365760" cy="365760"/>
          </a:xfrm>
          <a:prstGeom prst="rect">
            <a:avLst/>
          </a:prstGeom>
        </p:spPr>
      </p:pic>
      <p:sp>
        <p:nvSpPr>
          <p:cNvPr id="9" name="Text 5"/>
          <p:cNvSpPr txBox="1"/>
          <p:nvPr/>
        </p:nvSpPr>
        <p:spPr>
          <a:xfrm>
            <a:off x="4663440" y="344728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Mikromuhit</a:t>
            </a:r>
            <a:endParaRPr lang="en-US" sz="1500" dirty="0"/>
          </a:p>
          <a:p>
            <a:pPr indent="0" marL="0">
              <a:spcAft>
                <a:spcPts val="200"/>
              </a:spcAft>
              <a:buNone/>
            </a:pPr>
            <a:r>
              <a:rPr lang="en-US" sz="1300" dirty="0">
                <a:solidFill>
                  <a:srgbClr val="FFFFFF"/>
                </a:solidFill>
              </a:rPr>
              <a:t>iste’molchilar, ta’minotchilar va raqobatchilar; “besh kuch” va raqobatchilar profili</a:t>
            </a:r>
            <a:endParaRPr lang="en-US" sz="1500" dirty="0"/>
          </a:p>
        </p:txBody>
      </p:sp>
      <p:sp>
        <p:nvSpPr>
          <p:cNvPr id="10" name="Shape 6"/>
          <p:cNvSpPr/>
          <p:nvPr/>
        </p:nvSpPr>
        <p:spPr>
          <a:xfrm>
            <a:off x="548640" y="480060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1" name="Image 2" descr="preencoded.png">    </p:cNvPr>
          <p:cNvPicPr>
            <a:picLocks noChangeAspect="1"/>
          </p:cNvPicPr>
          <p:nvPr/>
        </p:nvPicPr>
        <p:blipFill>
          <a:blip r:embed="rId3"/>
          <a:stretch>
            <a:fillRect/>
          </a:stretch>
        </p:blipFill>
        <p:spPr>
          <a:xfrm>
            <a:off x="713232" y="4983480"/>
            <a:ext cx="365760" cy="365760"/>
          </a:xfrm>
          <a:prstGeom prst="rect">
            <a:avLst/>
          </a:prstGeom>
        </p:spPr>
      </p:pic>
      <p:sp>
        <p:nvSpPr>
          <p:cNvPr id="12" name="Text 7"/>
          <p:cNvSpPr txBox="1"/>
          <p:nvPr/>
        </p:nvSpPr>
        <p:spPr>
          <a:xfrm>
            <a:off x="1188720" y="491032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Ichki muhit</a:t>
            </a:r>
            <a:endParaRPr lang="en-US" sz="1500" dirty="0"/>
          </a:p>
          <a:p>
            <a:pPr indent="0" marL="0">
              <a:spcAft>
                <a:spcPts val="200"/>
              </a:spcAft>
              <a:buNone/>
            </a:pPr>
            <a:r>
              <a:rPr lang="en-US" sz="1300" dirty="0">
                <a:solidFill>
                  <a:srgbClr val="FFFFFF"/>
                </a:solidFill>
              </a:rPr>
              <a:t>funksional sohalar, 7S modeli, qiymat zanjiri va VRIO</a:t>
            </a:r>
            <a:endParaRPr lang="en-US" sz="1500" dirty="0"/>
          </a:p>
        </p:txBody>
      </p:sp>
      <p:sp>
        <p:nvSpPr>
          <p:cNvPr id="13" name="Shape 8"/>
          <p:cNvSpPr/>
          <p:nvPr/>
        </p:nvSpPr>
        <p:spPr>
          <a:xfrm>
            <a:off x="4023360" y="480060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4" name="Image 3" descr="preencoded.png">    </p:cNvPr>
          <p:cNvPicPr>
            <a:picLocks noChangeAspect="1"/>
          </p:cNvPicPr>
          <p:nvPr/>
        </p:nvPicPr>
        <p:blipFill>
          <a:blip r:embed="rId4"/>
          <a:stretch>
            <a:fillRect/>
          </a:stretch>
        </p:blipFill>
        <p:spPr>
          <a:xfrm>
            <a:off x="4187952" y="4983480"/>
            <a:ext cx="365760" cy="365760"/>
          </a:xfrm>
          <a:prstGeom prst="rect">
            <a:avLst/>
          </a:prstGeom>
        </p:spPr>
      </p:pic>
      <p:sp>
        <p:nvSpPr>
          <p:cNvPr id="15" name="Text 9"/>
          <p:cNvSpPr txBox="1"/>
          <p:nvPr/>
        </p:nvSpPr>
        <p:spPr>
          <a:xfrm>
            <a:off x="4663440" y="491032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Sintez</a:t>
            </a:r>
            <a:endParaRPr lang="en-US" sz="1500" dirty="0"/>
          </a:p>
          <a:p>
            <a:pPr indent="0" marL="0">
              <a:spcAft>
                <a:spcPts val="200"/>
              </a:spcAft>
              <a:buNone/>
            </a:pPr>
            <a:r>
              <a:rPr lang="en-US" sz="1300" dirty="0">
                <a:solidFill>
                  <a:srgbClr val="FFFFFF"/>
                </a:solidFill>
              </a:rPr>
              <a:t>SWOT matritsasi tahlilni aniq strategik yo‘nalishlarga aylantiradi</a:t>
            </a:r>
            <a:endParaRPr lang="en-US" sz="1500" dirty="0"/>
          </a:p>
        </p:txBody>
      </p:sp>
      <p:pic>
        <p:nvPicPr>
          <p:cNvPr id="16" name="Image 4" descr="img3/conclusion.png">    </p:cNvPr>
          <p:cNvPicPr>
            <a:picLocks noChangeAspect="1"/>
          </p:cNvPicPr>
          <p:nvPr/>
        </p:nvPicPr>
        <p:blipFill>
          <a:blip r:embed="rId5"/>
          <a:stretch>
            <a:fillRect/>
          </a:stretch>
        </p:blipFill>
        <p:spPr>
          <a:xfrm>
            <a:off x="7772400" y="1325880"/>
            <a:ext cx="3840480" cy="2990088"/>
          </a:xfrm>
          <a:prstGeom prst="rect">
            <a:avLst/>
          </a:prstGeom>
        </p:spPr>
      </p:pic>
      <p:sp>
        <p:nvSpPr>
          <p:cNvPr id="17" name="Text 10"/>
          <p:cNvSpPr txBox="1"/>
          <p:nvPr/>
        </p:nvSpPr>
        <p:spPr>
          <a:xfrm>
            <a:off x="7772400" y="4526280"/>
            <a:ext cx="3840480" cy="1463040"/>
          </a:xfrm>
          <a:prstGeom prst="rect">
            <a:avLst/>
          </a:prstGeom>
          <a:noFill/>
          <a:ln/>
        </p:spPr>
        <p:txBody>
          <a:bodyPr wrap="square" lIns="0" tIns="0" rIns="0" bIns="0" rtlCol="0" anchor="t"/>
          <a:lstStyle/>
          <a:p>
            <a:pPr indent="0" marL="0">
              <a:buNone/>
            </a:pPr>
            <a:r>
              <a:rPr lang="en-US" sz="1700" i="1" dirty="0">
                <a:solidFill>
                  <a:srgbClr val="F2A541"/>
                </a:solidFill>
                <a:latin typeface="Cambria" pitchFamily="34" charset="0"/>
                <a:ea typeface="Cambria" pitchFamily="34" charset="-122"/>
                <a:cs typeface="Cambria" pitchFamily="34" charset="-120"/>
              </a:rPr>
              <a:t>O‘zini va muhitini yaxshi biladigan korxona o‘zgarishlardan qo‘rqmaydi – ulardan foydalanadi.</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img3/thanks.png">    </p:cNvPr>
          <p:cNvPicPr>
            <a:picLocks noChangeAspect="1"/>
          </p:cNvPicPr>
          <p:nvPr/>
        </p:nvPicPr>
        <p:blipFill>
          <a:blip r:embed="rId1"/>
          <a:stretch>
            <a:fillRect/>
          </a:stretch>
        </p:blipFill>
        <p:spPr>
          <a:xfrm>
            <a:off x="6766560" y="1280160"/>
            <a:ext cx="4846320" cy="3767328"/>
          </a:xfrm>
          <a:prstGeom prst="rect">
            <a:avLst/>
          </a:prstGeom>
        </p:spPr>
      </p:pic>
      <p:sp>
        <p:nvSpPr>
          <p:cNvPr id="3" name="Text 0"/>
          <p:cNvSpPr txBox="1"/>
          <p:nvPr/>
        </p:nvSpPr>
        <p:spPr>
          <a:xfrm>
            <a:off x="548640" y="2011680"/>
            <a:ext cx="5943600" cy="1828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E’TIBORINGIZ UCHUN RAHMAT!</a:t>
            </a:r>
            <a:endParaRPr lang="en-US" sz="4000" dirty="0"/>
          </a:p>
        </p:txBody>
      </p:sp>
      <p:sp>
        <p:nvSpPr>
          <p:cNvPr id="4" name="Text 1"/>
          <p:cNvSpPr txBox="1"/>
          <p:nvPr/>
        </p:nvSpPr>
        <p:spPr>
          <a:xfrm>
            <a:off x="548640" y="3931920"/>
            <a:ext cx="5943600" cy="457200"/>
          </a:xfrm>
          <a:prstGeom prst="rect">
            <a:avLst/>
          </a:prstGeom>
          <a:noFill/>
          <a:ln/>
        </p:spPr>
        <p:txBody>
          <a:bodyPr wrap="square" lIns="0" tIns="0" rIns="0" bIns="0" rtlCol="0" anchor="ctr"/>
          <a:lstStyle/>
          <a:p>
            <a:pPr indent="0" marL="0">
              <a:buNone/>
            </a:pPr>
            <a:r>
              <a:rPr lang="en-US" sz="1800" i="1" dirty="0">
                <a:solidFill>
                  <a:srgbClr val="F2A541"/>
                </a:solidFill>
              </a:rPr>
              <a:t>Savollaringiz bo‘lsa, marhamat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trategiya">
  <a:themeElements>
    <a:clrScheme name="Strategiya">
      <a:dk1>
        <a:srgbClr val="1B2A3A"/>
      </a:dk1>
      <a:lt1>
        <a:srgbClr val="FFFFFF"/>
      </a:lt1>
      <a:dk2>
        <a:srgbClr val="0D2F4F"/>
      </a:dk2>
      <a:lt2>
        <a:srgbClr val="E8F3F6"/>
      </a:lt2>
      <a:accent1>
        <a:srgbClr val="0E9F9A"/>
      </a:accent1>
      <a:accent2>
        <a:srgbClr val="F2A541"/>
      </a:accent2>
      <a:accent3>
        <a:srgbClr val="0D2F4F"/>
      </a:accent3>
      <a:accent4>
        <a:srgbClr val="3B6EA5"/>
      </a:accent4>
      <a:accent5>
        <a:srgbClr val="5FD3C9"/>
      </a:accent5>
      <a:accent6>
        <a:srgbClr val="B5651D"/>
      </a:accent6>
      <a:hlink>
        <a:srgbClr val="0E9F9A"/>
      </a:hlink>
      <a:folHlink>
        <a:srgbClr val="3B6EA5"/>
      </a:folHlink>
    </a:clrScheme>
    <a:fontScheme name="Strategiy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Korxona muhitini strategik tahlil qilish</dc:title>
  <dc:subject>PptxGenJS Presentation</dc:subject>
  <dc:creator>PptxGenJS</dc:creator>
  <cp:lastModifiedBy>PptxGenJS</cp:lastModifiedBy>
  <cp:revision>1</cp:revision>
  <dcterms:created xsi:type="dcterms:W3CDTF">2026-10-12T11:51:52Z</dcterms:created>
  <dcterms:modified xsi:type="dcterms:W3CDTF">2026-10-12T11:51:52Z</dcterms:modified>
</cp:coreProperties>
</file>