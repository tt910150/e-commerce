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CO₂ chiqindilari</c:v>
                </c:pt>
              </c:strCache>
            </c:strRef>
          </c:tx>
          <c:spPr>
            <a:solidFill>
              <a:srgbClr val="2C8E5F"/>
            </a:solidFill>
            <a:effectLst/>
          </c:spPr>
          <c:invertIfNegative val="0"/>
          <c:dLbls>
            <c:numFmt formatCode="#,##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cat>
            <c:multiLvlStrRef>
              <c:f>Sheet1!$A$2:$A$5</c:f>
              <c:multiLvlStrCache>
                <c:ptCount val="4"/>
                <c:lvl>
                  <c:pt idx="0">
                    <c:v>1-yil</c:v>
                  </c:pt>
                  <c:pt idx="1">
                    <c:v>2-yil</c:v>
                  </c:pt>
                  <c:pt idx="2">
                    <c:v>3-yil</c:v>
                  </c:pt>
                  <c:pt idx="3">
                    <c:v>Maqsad</c:v>
                  </c:pt>
                </c:lvl>
              </c:multiLvlStrCache>
            </c:multiLvlStrRef>
          </c:cat>
          <c:val>
            <c:numRef>
              <c:f>Sheet1!$B$2:$B$5</c:f>
              <c:numCache>
                <c:formatCode>General</c:formatCode>
                <c:ptCount val="4"/>
                <c:pt idx="0">
                  <c:v>1200</c:v>
                </c:pt>
                <c:pt idx="1">
                  <c:v>1050</c:v>
                </c:pt>
                <c:pt idx="2">
                  <c:v>900</c:v>
                </c:pt>
                <c:pt idx="3">
                  <c:v>700</c:v>
                </c:pt>
              </c:numCache>
            </c:numRef>
          </c:val>
        </c:ser>
        <c:dLbls>
          <c:numFmt formatCode="#,##0" sourceLinked="0"/>
          <c:txPr>
            <a:bodyPr/>
            <a:lstStyle/>
            <a:p>
              <a:pPr>
                <a:defRPr b="0" i="0" strike="noStrike" sz="1100" u="none">
                  <a:solidFill>
                    <a:srgbClr val="1B2A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3A"/>
                </a:solidFill>
                <a:latin typeface="+mn-lt"/>
              </a:defRPr>
            </a:pPr>
            <a:endParaRPr lang="en-US"/>
          </a:p>
        </c:txPr>
        <c:crossAx val="2094734552"/>
        <c:crosses val="autoZero"/>
        <c:auto val="1"/>
        <c:lblAlgn val="ctr"/>
        <c:noMultiLvlLbl val="1"/>
      </c:catAx>
      <c:valAx>
        <c:axId val="2094734552"/>
        <c:scaling>
          <c:orientation val="minMax"/>
          <c:max val="1400"/>
          <c:min val="0"/>
        </c:scaling>
        <c:delete val="0"/>
        <c:axPos val="l"/>
        <c:majorGridlines>
          <c:spPr>
            <a:ln w="9525" cap="flat">
              <a:solidFill>
                <a:srgbClr val="C9DD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B6C"/>
                </a:solidFill>
                <a:latin typeface="+mn-lt"/>
              </a:defRPr>
            </a:pPr>
            <a:endParaRPr lang="en-US"/>
          </a:p>
        </c:txPr>
        <c:crossAx val="2094734554"/>
        <c:crosses val="autoZero"/>
        <c:crossBetween val="between"/>
        <c:majorUnit val="2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BFD9E0"/>
                </a:solidFill>
              </a:rPr>
              <a:t>12.10.2026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indent="0" marL="0">
              <a:buNone/>
            </a:pPr>
            <a:r>
              <a:rPr lang="en-US" sz="1000" dirty="0">
                <a:solidFill>
                  <a:srgbClr val="4A5B6C"/>
                </a:solidFill>
              </a:rPr>
              <a:t>12.10.2026</a:t>
            </a:r>
            <a:endParaRPr lang="en-US" sz="1000" dirty="0"/>
          </a:p>
        </p:txBody>
      </p:sp>
      <p:sp>
        <p:nvSpPr>
          <p:cNvPr id="3" name="Text 1"/>
          <p:cNvSpPr/>
          <p:nvPr>
            <p:ph idx="101"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13/title.png">    </p:cNvPr>
          <p:cNvPicPr>
            <a:picLocks noChangeAspect="1"/>
          </p:cNvPicPr>
          <p:nvPr/>
        </p:nvPicPr>
        <p:blipFill>
          <a:blip r:embed="rId1"/>
          <a:stretch>
            <a:fillRect/>
          </a:stretch>
        </p:blipFill>
        <p:spPr>
          <a:xfrm>
            <a:off x="0" y="0"/>
            <a:ext cx="6236208" cy="6858000"/>
          </a:xfrm>
          <a:prstGeom prst="rect">
            <a:avLst/>
          </a:prstGeom>
        </p:spPr>
      </p:pic>
      <p:sp>
        <p:nvSpPr>
          <p:cNvPr id="3" name="Text 0"/>
          <p:cNvSpPr txBox="1"/>
          <p:nvPr/>
        </p:nvSpPr>
        <p:spPr>
          <a:xfrm>
            <a:off x="6675120" y="1005840"/>
            <a:ext cx="4937760" cy="365760"/>
          </a:xfrm>
          <a:prstGeom prst="rect">
            <a:avLst/>
          </a:prstGeom>
          <a:noFill/>
          <a:ln/>
        </p:spPr>
        <p:txBody>
          <a:bodyPr wrap="square" lIns="0" tIns="0" rIns="0" bIns="0" rtlCol="0" anchor="ctr"/>
          <a:lstStyle/>
          <a:p>
            <a:pPr indent="0" marL="0">
              <a:buNone/>
            </a:pPr>
            <a:r>
              <a:rPr lang="en-US" sz="1400" b="1" spc="600" kern="0" dirty="0">
                <a:solidFill>
                  <a:srgbClr val="F2A541"/>
                </a:solidFill>
              </a:rPr>
              <a:t>MAVZU</a:t>
            </a:r>
            <a:endParaRPr lang="en-US" sz="1400" dirty="0"/>
          </a:p>
        </p:txBody>
      </p:sp>
      <p:sp>
        <p:nvSpPr>
          <p:cNvPr id="4" name="Text 1"/>
          <p:cNvSpPr txBox="1"/>
          <p:nvPr/>
        </p:nvSpPr>
        <p:spPr>
          <a:xfrm>
            <a:off x="6675120" y="1463040"/>
            <a:ext cx="5029200" cy="31089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KORXONANING BARQAROR RIVOJLANISH STRATEGIYASI VA EKOLOGIK MENEJMENT</a:t>
            </a:r>
            <a:endParaRPr lang="en-US" sz="3000" dirty="0"/>
          </a:p>
        </p:txBody>
      </p:sp>
      <p:sp>
        <p:nvSpPr>
          <p:cNvPr id="5" name="Text 2"/>
          <p:cNvSpPr txBox="1"/>
          <p:nvPr/>
        </p:nvSpPr>
        <p:spPr>
          <a:xfrm>
            <a:off x="6675120" y="4663440"/>
            <a:ext cx="4937760" cy="365760"/>
          </a:xfrm>
          <a:prstGeom prst="rect">
            <a:avLst/>
          </a:prstGeom>
          <a:noFill/>
          <a:ln/>
        </p:spPr>
        <p:txBody>
          <a:bodyPr wrap="square" lIns="0" tIns="0" rIns="0" bIns="0" rtlCol="0" anchor="ctr"/>
          <a:lstStyle/>
          <a:p>
            <a:pPr indent="0" marL="0">
              <a:buNone/>
            </a:pPr>
            <a:r>
              <a:rPr lang="en-US" sz="1600" i="1" dirty="0">
                <a:solidFill>
                  <a:srgbClr val="BFE9E4"/>
                </a:solidFill>
              </a:rPr>
              <a:t>Strategik menejment fanidan taqdimot</a:t>
            </a:r>
            <a:endParaRPr lang="en-US" sz="1600" dirty="0"/>
          </a:p>
        </p:txBody>
      </p:sp>
      <p:sp>
        <p:nvSpPr>
          <p:cNvPr id="6" name="Text 3"/>
          <p:cNvSpPr txBox="1"/>
          <p:nvPr/>
        </p:nvSpPr>
        <p:spPr>
          <a:xfrm>
            <a:off x="6675120" y="5212080"/>
            <a:ext cx="4937760" cy="731520"/>
          </a:xfrm>
          <a:prstGeom prst="rect">
            <a:avLst/>
          </a:prstGeom>
          <a:noFill/>
          <a:ln/>
        </p:spPr>
        <p:txBody>
          <a:bodyPr wrap="square" lIns="0" tIns="0" rIns="0" bIns="0" rtlCol="0" anchor="ctr"/>
          <a:lstStyle/>
          <a:p>
            <a:pPr indent="0" marL="0">
              <a:spcAft>
                <a:spcPts val="400"/>
              </a:spcAft>
              <a:buNone/>
            </a:pPr>
            <a:r>
              <a:rPr lang="en-US" sz="1400" dirty="0">
                <a:solidFill>
                  <a:srgbClr val="DCEBEF"/>
                </a:solidFill>
              </a:rPr>
              <a:t>Bajardi: ______________________</a:t>
            </a:r>
            <a:endParaRPr lang="en-US" sz="1400" dirty="0"/>
          </a:p>
          <a:p>
            <a:pPr indent="0" marL="0">
              <a:spcAft>
                <a:spcPts val="400"/>
              </a:spcAft>
              <a:buNone/>
            </a:pPr>
            <a:r>
              <a:rPr lang="en-US" sz="1400" dirty="0">
                <a:solidFill>
                  <a:srgbClr val="DCEBEF"/>
                </a:solidFill>
              </a:rPr>
              <a:t>Tekshirdi: ____________________</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Reja</a:t>
            </a:r>
            <a:endParaRPr lang="en-US" sz="3000" dirty="0"/>
          </a:p>
        </p:txBody>
      </p:sp>
      <p:sp>
        <p:nvSpPr>
          <p:cNvPr id="3" name="Shape 1"/>
          <p:cNvSpPr/>
          <p:nvPr/>
        </p:nvSpPr>
        <p:spPr>
          <a:xfrm>
            <a:off x="548640" y="14630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Text 2"/>
          <p:cNvSpPr txBox="1"/>
          <p:nvPr/>
        </p:nvSpPr>
        <p:spPr>
          <a:xfrm>
            <a:off x="731520" y="14630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01</a:t>
            </a:r>
            <a:endParaRPr lang="en-US" sz="2400" dirty="0"/>
          </a:p>
        </p:txBody>
      </p:sp>
      <p:sp>
        <p:nvSpPr>
          <p:cNvPr id="5" name="Shape 3"/>
          <p:cNvSpPr/>
          <p:nvPr/>
        </p:nvSpPr>
        <p:spPr>
          <a:xfrm>
            <a:off x="1371600" y="1572768"/>
            <a:ext cx="512064" cy="512064"/>
          </a:xfrm>
          <a:prstGeom prst="ellipse">
            <a:avLst/>
          </a:prstGeom>
          <a:solidFill>
            <a:srgbClr val="0E9F9A"/>
          </a:solidFill>
          <a:ln w="12700">
            <a:solidFill>
              <a:srgbClr val="0E9F9A"/>
            </a:solidFill>
            <a:prstDash val="solid"/>
          </a:ln>
        </p:spPr>
      </p:sp>
      <p:pic>
        <p:nvPicPr>
          <p:cNvPr id="6" name="Image 0" descr="preencoded.png">    </p:cNvPr>
          <p:cNvPicPr>
            <a:picLocks noChangeAspect="1"/>
          </p:cNvPicPr>
          <p:nvPr/>
        </p:nvPicPr>
        <p:blipFill>
          <a:blip r:embed="rId1"/>
          <a:stretch>
            <a:fillRect/>
          </a:stretch>
        </p:blipFill>
        <p:spPr>
          <a:xfrm>
            <a:off x="1504737" y="1705905"/>
            <a:ext cx="245791" cy="245791"/>
          </a:xfrm>
          <a:prstGeom prst="rect">
            <a:avLst/>
          </a:prstGeom>
        </p:spPr>
      </p:pic>
      <p:sp>
        <p:nvSpPr>
          <p:cNvPr id="7" name="Text 4"/>
          <p:cNvSpPr txBox="1"/>
          <p:nvPr/>
        </p:nvSpPr>
        <p:spPr>
          <a:xfrm>
            <a:off x="2057400" y="14630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Barqaror rivojlanish konsepsiyasi va uning tamoyillari</a:t>
            </a:r>
            <a:endParaRPr lang="en-US" sz="1600" dirty="0"/>
          </a:p>
        </p:txBody>
      </p:sp>
      <p:sp>
        <p:nvSpPr>
          <p:cNvPr id="8" name="Shape 5"/>
          <p:cNvSpPr/>
          <p:nvPr/>
        </p:nvSpPr>
        <p:spPr>
          <a:xfrm>
            <a:off x="548640" y="23774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Text 6"/>
          <p:cNvSpPr txBox="1"/>
          <p:nvPr/>
        </p:nvSpPr>
        <p:spPr>
          <a:xfrm>
            <a:off x="731520" y="23774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02</a:t>
            </a:r>
            <a:endParaRPr lang="en-US" sz="2400" dirty="0"/>
          </a:p>
        </p:txBody>
      </p:sp>
      <p:sp>
        <p:nvSpPr>
          <p:cNvPr id="10" name="Shape 7"/>
          <p:cNvSpPr/>
          <p:nvPr/>
        </p:nvSpPr>
        <p:spPr>
          <a:xfrm>
            <a:off x="1371600" y="2487168"/>
            <a:ext cx="512064" cy="512064"/>
          </a:xfrm>
          <a:prstGeom prst="ellipse">
            <a:avLst/>
          </a:prstGeom>
          <a:solidFill>
            <a:srgbClr val="0D2F4F"/>
          </a:solidFill>
          <a:ln w="12700">
            <a:solidFill>
              <a:srgbClr val="0D2F4F"/>
            </a:solidFill>
            <a:prstDash val="solid"/>
          </a:ln>
        </p:spPr>
      </p:sp>
      <p:pic>
        <p:nvPicPr>
          <p:cNvPr id="11" name="Image 1" descr="preencoded.png">    </p:cNvPr>
          <p:cNvPicPr>
            <a:picLocks noChangeAspect="1"/>
          </p:cNvPicPr>
          <p:nvPr/>
        </p:nvPicPr>
        <p:blipFill>
          <a:blip r:embed="rId2"/>
          <a:stretch>
            <a:fillRect/>
          </a:stretch>
        </p:blipFill>
        <p:spPr>
          <a:xfrm>
            <a:off x="1504737" y="2620305"/>
            <a:ext cx="245791" cy="245791"/>
          </a:xfrm>
          <a:prstGeom prst="rect">
            <a:avLst/>
          </a:prstGeom>
        </p:spPr>
      </p:pic>
      <p:sp>
        <p:nvSpPr>
          <p:cNvPr id="12" name="Text 8"/>
          <p:cNvSpPr txBox="1"/>
          <p:nvPr/>
        </p:nvSpPr>
        <p:spPr>
          <a:xfrm>
            <a:off x="2057400" y="23774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Korxonaning barqaror rivojlanish strategiyasi va ESG</a:t>
            </a:r>
            <a:endParaRPr lang="en-US" sz="1600" dirty="0"/>
          </a:p>
        </p:txBody>
      </p:sp>
      <p:sp>
        <p:nvSpPr>
          <p:cNvPr id="13" name="Shape 9"/>
          <p:cNvSpPr/>
          <p:nvPr/>
        </p:nvSpPr>
        <p:spPr>
          <a:xfrm>
            <a:off x="548640" y="32918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32918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03</a:t>
            </a:r>
            <a:endParaRPr lang="en-US" sz="2400" dirty="0"/>
          </a:p>
        </p:txBody>
      </p:sp>
      <p:sp>
        <p:nvSpPr>
          <p:cNvPr id="15" name="Shape 11"/>
          <p:cNvSpPr/>
          <p:nvPr/>
        </p:nvSpPr>
        <p:spPr>
          <a:xfrm>
            <a:off x="1371600" y="3401568"/>
            <a:ext cx="512064" cy="512064"/>
          </a:xfrm>
          <a:prstGeom prst="ellipse">
            <a:avLst/>
          </a:prstGeom>
          <a:solidFill>
            <a:srgbClr val="0E9F9A"/>
          </a:solidFill>
          <a:ln w="12700">
            <a:solidFill>
              <a:srgbClr val="0E9F9A"/>
            </a:solidFill>
            <a:prstDash val="solid"/>
          </a:ln>
        </p:spPr>
      </p:sp>
      <p:pic>
        <p:nvPicPr>
          <p:cNvPr id="16" name="Image 2" descr="preencoded.png">    </p:cNvPr>
          <p:cNvPicPr>
            <a:picLocks noChangeAspect="1"/>
          </p:cNvPicPr>
          <p:nvPr/>
        </p:nvPicPr>
        <p:blipFill>
          <a:blip r:embed="rId3"/>
          <a:stretch>
            <a:fillRect/>
          </a:stretch>
        </p:blipFill>
        <p:spPr>
          <a:xfrm>
            <a:off x="1504737" y="3534705"/>
            <a:ext cx="245791" cy="245791"/>
          </a:xfrm>
          <a:prstGeom prst="rect">
            <a:avLst/>
          </a:prstGeom>
        </p:spPr>
      </p:pic>
      <p:sp>
        <p:nvSpPr>
          <p:cNvPr id="17" name="Text 12"/>
          <p:cNvSpPr txBox="1"/>
          <p:nvPr/>
        </p:nvSpPr>
        <p:spPr>
          <a:xfrm>
            <a:off x="2057400" y="32918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Ekologik menejment tizimi va ISO 14001 standarti</a:t>
            </a:r>
            <a:endParaRPr lang="en-US" sz="1600" dirty="0"/>
          </a:p>
        </p:txBody>
      </p:sp>
      <p:sp>
        <p:nvSpPr>
          <p:cNvPr id="18" name="Shape 13"/>
          <p:cNvSpPr/>
          <p:nvPr/>
        </p:nvSpPr>
        <p:spPr>
          <a:xfrm>
            <a:off x="548640" y="42062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Text 14"/>
          <p:cNvSpPr txBox="1"/>
          <p:nvPr/>
        </p:nvSpPr>
        <p:spPr>
          <a:xfrm>
            <a:off x="731520" y="42062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04</a:t>
            </a:r>
            <a:endParaRPr lang="en-US" sz="2400" dirty="0"/>
          </a:p>
        </p:txBody>
      </p:sp>
      <p:sp>
        <p:nvSpPr>
          <p:cNvPr id="20" name="Shape 15"/>
          <p:cNvSpPr/>
          <p:nvPr/>
        </p:nvSpPr>
        <p:spPr>
          <a:xfrm>
            <a:off x="1371600" y="4315968"/>
            <a:ext cx="512064" cy="512064"/>
          </a:xfrm>
          <a:prstGeom prst="ellipse">
            <a:avLst/>
          </a:prstGeom>
          <a:solidFill>
            <a:srgbClr val="0D2F4F"/>
          </a:solidFill>
          <a:ln w="12700">
            <a:solidFill>
              <a:srgbClr val="0D2F4F"/>
            </a:solidFill>
            <a:prstDash val="solid"/>
          </a:ln>
        </p:spPr>
      </p:sp>
      <p:pic>
        <p:nvPicPr>
          <p:cNvPr id="21" name="Image 3" descr="preencoded.png">    </p:cNvPr>
          <p:cNvPicPr>
            <a:picLocks noChangeAspect="1"/>
          </p:cNvPicPr>
          <p:nvPr/>
        </p:nvPicPr>
        <p:blipFill>
          <a:blip r:embed="rId4"/>
          <a:stretch>
            <a:fillRect/>
          </a:stretch>
        </p:blipFill>
        <p:spPr>
          <a:xfrm>
            <a:off x="1504737" y="4449105"/>
            <a:ext cx="245791" cy="245791"/>
          </a:xfrm>
          <a:prstGeom prst="rect">
            <a:avLst/>
          </a:prstGeom>
        </p:spPr>
      </p:pic>
      <p:sp>
        <p:nvSpPr>
          <p:cNvPr id="22" name="Text 16"/>
          <p:cNvSpPr txBox="1"/>
          <p:nvPr/>
        </p:nvSpPr>
        <p:spPr>
          <a:xfrm>
            <a:off x="2057400" y="42062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Ekologik strategiyani joriy etish yo‘llari</a:t>
            </a:r>
            <a:endParaRPr lang="en-US" sz="1600" dirty="0"/>
          </a:p>
        </p:txBody>
      </p:sp>
      <p:sp>
        <p:nvSpPr>
          <p:cNvPr id="23" name="Shape 17"/>
          <p:cNvSpPr/>
          <p:nvPr/>
        </p:nvSpPr>
        <p:spPr>
          <a:xfrm>
            <a:off x="548640" y="5120640"/>
            <a:ext cx="6675120" cy="731520"/>
          </a:xfrm>
          <a:prstGeom prst="roundRect">
            <a:avLst>
              <a:gd name="adj" fmla="val 15000"/>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Text 18"/>
          <p:cNvSpPr txBox="1"/>
          <p:nvPr/>
        </p:nvSpPr>
        <p:spPr>
          <a:xfrm>
            <a:off x="731520" y="5120640"/>
            <a:ext cx="640080" cy="731520"/>
          </a:xfrm>
          <a:prstGeom prst="rect">
            <a:avLst/>
          </a:prstGeom>
          <a:noFill/>
          <a:ln/>
        </p:spPr>
        <p:txBody>
          <a:bodyPr wrap="square" lIns="0" tIns="0" rIns="0" bIns="0" rtlCol="0" anchor="ctr"/>
          <a:lstStyle/>
          <a:p>
            <a:pPr indent="0" marL="0">
              <a:buNone/>
            </a:pPr>
            <a:r>
              <a:rPr lang="en-US" sz="2400" b="1" dirty="0">
                <a:solidFill>
                  <a:srgbClr val="F2A541"/>
                </a:solidFill>
                <a:latin typeface="Cambria" pitchFamily="34" charset="0"/>
                <a:ea typeface="Cambria" pitchFamily="34" charset="-122"/>
                <a:cs typeface="Cambria" pitchFamily="34" charset="-120"/>
              </a:rPr>
              <a:t>05</a:t>
            </a:r>
            <a:endParaRPr lang="en-US" sz="2400" dirty="0"/>
          </a:p>
        </p:txBody>
      </p:sp>
      <p:sp>
        <p:nvSpPr>
          <p:cNvPr id="25" name="Shape 19"/>
          <p:cNvSpPr/>
          <p:nvPr/>
        </p:nvSpPr>
        <p:spPr>
          <a:xfrm>
            <a:off x="1371600" y="5230368"/>
            <a:ext cx="512064" cy="512064"/>
          </a:xfrm>
          <a:prstGeom prst="ellipse">
            <a:avLst/>
          </a:prstGeom>
          <a:solidFill>
            <a:srgbClr val="0E9F9A"/>
          </a:solidFill>
          <a:ln w="12700">
            <a:solidFill>
              <a:srgbClr val="0E9F9A"/>
            </a:solidFill>
            <a:prstDash val="solid"/>
          </a:ln>
        </p:spPr>
      </p:sp>
      <p:pic>
        <p:nvPicPr>
          <p:cNvPr id="26" name="Image 4" descr="preencoded.png">    </p:cNvPr>
          <p:cNvPicPr>
            <a:picLocks noChangeAspect="1"/>
          </p:cNvPicPr>
          <p:nvPr/>
        </p:nvPicPr>
        <p:blipFill>
          <a:blip r:embed="rId5"/>
          <a:stretch>
            <a:fillRect/>
          </a:stretch>
        </p:blipFill>
        <p:spPr>
          <a:xfrm>
            <a:off x="1504737" y="5363505"/>
            <a:ext cx="245791" cy="245791"/>
          </a:xfrm>
          <a:prstGeom prst="rect">
            <a:avLst/>
          </a:prstGeom>
        </p:spPr>
      </p:pic>
      <p:sp>
        <p:nvSpPr>
          <p:cNvPr id="27" name="Text 20"/>
          <p:cNvSpPr txBox="1"/>
          <p:nvPr/>
        </p:nvSpPr>
        <p:spPr>
          <a:xfrm>
            <a:off x="2057400" y="5120640"/>
            <a:ext cx="5029200" cy="731520"/>
          </a:xfrm>
          <a:prstGeom prst="rect">
            <a:avLst/>
          </a:prstGeom>
          <a:noFill/>
          <a:ln/>
        </p:spPr>
        <p:txBody>
          <a:bodyPr wrap="square" lIns="0" tIns="0" rIns="0" bIns="0" rtlCol="0" anchor="ctr"/>
          <a:lstStyle/>
          <a:p>
            <a:pPr indent="0" marL="0">
              <a:buNone/>
            </a:pPr>
            <a:r>
              <a:rPr lang="en-US" sz="1600" b="1" dirty="0">
                <a:solidFill>
                  <a:srgbClr val="0D2F4F"/>
                </a:solidFill>
              </a:rPr>
              <a:t>Barqarorlikni baholash va “yashil” iqtisodiyotga o‘tish</a:t>
            </a:r>
            <a:endParaRPr lang="en-US" sz="1600" dirty="0"/>
          </a:p>
        </p:txBody>
      </p:sp>
      <p:pic>
        <p:nvPicPr>
          <p:cNvPr id="28" name="Image 5" descr="img13/plan.png">    </p:cNvPr>
          <p:cNvPicPr>
            <a:picLocks noChangeAspect="1"/>
          </p:cNvPicPr>
          <p:nvPr/>
        </p:nvPicPr>
        <p:blipFill>
          <a:blip r:embed="rId6"/>
          <a:stretch>
            <a:fillRect/>
          </a:stretch>
        </p:blipFill>
        <p:spPr>
          <a:xfrm>
            <a:off x="7680960" y="1463040"/>
            <a:ext cx="3931920" cy="3054096"/>
          </a:xfrm>
          <a:prstGeom prst="rect">
            <a:avLst/>
          </a:prstGeom>
        </p:spPr>
      </p:pic>
      <p:sp>
        <p:nvSpPr>
          <p:cNvPr id="29" name="Text 21"/>
          <p:cNvSpPr txBox="1"/>
          <p:nvPr/>
        </p:nvSpPr>
        <p:spPr>
          <a:xfrm>
            <a:off x="7680960" y="4663440"/>
            <a:ext cx="3931920" cy="731520"/>
          </a:xfrm>
          <a:prstGeom prst="rect">
            <a:avLst/>
          </a:prstGeom>
          <a:noFill/>
          <a:ln/>
        </p:spPr>
        <p:txBody>
          <a:bodyPr wrap="square" lIns="0" tIns="0" rIns="0" bIns="0" rtlCol="0" anchor="ctr"/>
          <a:lstStyle/>
          <a:p>
            <a:pPr indent="0" marL="0">
              <a:buNone/>
            </a:pPr>
            <a:r>
              <a:rPr lang="en-US" sz="1400" i="1" dirty="0">
                <a:solidFill>
                  <a:srgbClr val="4A5B6C"/>
                </a:solidFill>
              </a:rPr>
              <a:t>Xulosa va asosiy xulosalar taqdimot so‘ngida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Barqaror rivojlanish konsepsiyasining shakllanishi</a:t>
            </a:r>
            <a:endParaRPr lang="en-US" sz="3000" dirty="0"/>
          </a:p>
        </p:txBody>
      </p:sp>
      <p:sp>
        <p:nvSpPr>
          <p:cNvPr id="3" name="Text 1"/>
          <p:cNvSpPr txBox="1"/>
          <p:nvPr/>
        </p:nvSpPr>
        <p:spPr>
          <a:xfrm>
            <a:off x="548640" y="1371600"/>
            <a:ext cx="6766560" cy="178308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Barqaror rivojlanish</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hozirgi avlod ehtiyojlarini kelajak avlodlarning o‘z ehtiyojlarini qondirish imkoniyatiga zarar yetkazmagan holda qondiradigan rivojlanish (Brundtland komissiyasi ta’rifi, 1987). Korxona uchun bu foyda olishni jamiyat va tabiat oldidagi mas’uliyat bilan uyg‘unlashtirishni anglatadi.</a:t>
            </a:r>
            <a:endParaRPr lang="en-US" sz="1400" dirty="0"/>
          </a:p>
        </p:txBody>
      </p:sp>
      <p:sp>
        <p:nvSpPr>
          <p:cNvPr id="4" name="Shape 2"/>
          <p:cNvSpPr/>
          <p:nvPr/>
        </p:nvSpPr>
        <p:spPr>
          <a:xfrm>
            <a:off x="548640" y="3246120"/>
            <a:ext cx="1143000" cy="548640"/>
          </a:xfrm>
          <a:prstGeom prst="roundRect">
            <a:avLst>
              <a:gd name="adj" fmla="val 16667"/>
            </a:avLst>
          </a:prstGeom>
          <a:solidFill>
            <a:srgbClr val="0E9F9A"/>
          </a:solidFill>
          <a:ln w="12700">
            <a:solidFill>
              <a:srgbClr val="0E9F9A"/>
            </a:solidFill>
            <a:prstDash val="solid"/>
          </a:ln>
        </p:spPr>
      </p:sp>
      <p:sp>
        <p:nvSpPr>
          <p:cNvPr id="5" name="Text 3"/>
          <p:cNvSpPr txBox="1"/>
          <p:nvPr/>
        </p:nvSpPr>
        <p:spPr>
          <a:xfrm>
            <a:off x="548640" y="324612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1972</a:t>
            </a:r>
            <a:endParaRPr lang="en-US" sz="1500" dirty="0"/>
          </a:p>
        </p:txBody>
      </p:sp>
      <p:sp>
        <p:nvSpPr>
          <p:cNvPr id="6" name="Text 4"/>
          <p:cNvSpPr txBox="1"/>
          <p:nvPr/>
        </p:nvSpPr>
        <p:spPr>
          <a:xfrm>
            <a:off x="1874520" y="320954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Rim klubi – </a:t>
            </a:r>
            <a:pPr indent="0" marL="0">
              <a:buNone/>
            </a:pPr>
            <a:r>
              <a:rPr lang="en-US" sz="1400" dirty="0">
                <a:solidFill>
                  <a:srgbClr val="1B2A3A"/>
                </a:solidFill>
                <a:latin typeface="Calibri" pitchFamily="34" charset="0"/>
                <a:ea typeface="Calibri" pitchFamily="34" charset="-122"/>
                <a:cs typeface="Calibri" pitchFamily="34" charset="-120"/>
              </a:rPr>
              <a:t>“O‘sish chegaralari” ma’ruzasi – resurslarning cheklanganligi haqida ogohlantirish</a:t>
            </a:r>
            <a:endParaRPr lang="en-US" sz="1400" dirty="0"/>
          </a:p>
        </p:txBody>
      </p:sp>
      <p:sp>
        <p:nvSpPr>
          <p:cNvPr id="7" name="Shape 5"/>
          <p:cNvSpPr/>
          <p:nvPr/>
        </p:nvSpPr>
        <p:spPr>
          <a:xfrm>
            <a:off x="548640" y="3977640"/>
            <a:ext cx="1143000" cy="548640"/>
          </a:xfrm>
          <a:prstGeom prst="roundRect">
            <a:avLst>
              <a:gd name="adj" fmla="val 16667"/>
            </a:avLst>
          </a:prstGeom>
          <a:solidFill>
            <a:srgbClr val="0D2F4F"/>
          </a:solidFill>
          <a:ln w="12700">
            <a:solidFill>
              <a:srgbClr val="0D2F4F"/>
            </a:solidFill>
            <a:prstDash val="solid"/>
          </a:ln>
        </p:spPr>
      </p:sp>
      <p:sp>
        <p:nvSpPr>
          <p:cNvPr id="8" name="Text 6"/>
          <p:cNvSpPr txBox="1"/>
          <p:nvPr/>
        </p:nvSpPr>
        <p:spPr>
          <a:xfrm>
            <a:off x="548640" y="397764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1987</a:t>
            </a:r>
            <a:endParaRPr lang="en-US" sz="1500" dirty="0"/>
          </a:p>
        </p:txBody>
      </p:sp>
      <p:sp>
        <p:nvSpPr>
          <p:cNvPr id="9" name="Text 7"/>
          <p:cNvSpPr txBox="1"/>
          <p:nvPr/>
        </p:nvSpPr>
        <p:spPr>
          <a:xfrm>
            <a:off x="1874520" y="394106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Brundtland komissiyasi – </a:t>
            </a:r>
            <a:pPr indent="0" marL="0">
              <a:buNone/>
            </a:pPr>
            <a:r>
              <a:rPr lang="en-US" sz="1400" dirty="0">
                <a:solidFill>
                  <a:srgbClr val="1B2A3A"/>
                </a:solidFill>
                <a:latin typeface="Calibri" pitchFamily="34" charset="0"/>
                <a:ea typeface="Calibri" pitchFamily="34" charset="-122"/>
                <a:cs typeface="Calibri" pitchFamily="34" charset="-120"/>
              </a:rPr>
              <a:t>“Bizning umumiy kelajagimiz” – barqaror rivojlanishning klassik ta’rifi</a:t>
            </a:r>
            <a:endParaRPr lang="en-US" sz="1400" dirty="0"/>
          </a:p>
        </p:txBody>
      </p:sp>
      <p:sp>
        <p:nvSpPr>
          <p:cNvPr id="10" name="Shape 8"/>
          <p:cNvSpPr/>
          <p:nvPr/>
        </p:nvSpPr>
        <p:spPr>
          <a:xfrm>
            <a:off x="548640" y="4709160"/>
            <a:ext cx="1143000" cy="548640"/>
          </a:xfrm>
          <a:prstGeom prst="roundRect">
            <a:avLst>
              <a:gd name="adj" fmla="val 16667"/>
            </a:avLst>
          </a:prstGeom>
          <a:solidFill>
            <a:srgbClr val="0E9F9A"/>
          </a:solidFill>
          <a:ln w="12700">
            <a:solidFill>
              <a:srgbClr val="0E9F9A"/>
            </a:solidFill>
            <a:prstDash val="solid"/>
          </a:ln>
        </p:spPr>
      </p:sp>
      <p:sp>
        <p:nvSpPr>
          <p:cNvPr id="11" name="Text 9"/>
          <p:cNvSpPr txBox="1"/>
          <p:nvPr/>
        </p:nvSpPr>
        <p:spPr>
          <a:xfrm>
            <a:off x="548640" y="470916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1996</a:t>
            </a:r>
            <a:endParaRPr lang="en-US" sz="1500" dirty="0"/>
          </a:p>
        </p:txBody>
      </p:sp>
      <p:sp>
        <p:nvSpPr>
          <p:cNvPr id="12" name="Text 10"/>
          <p:cNvSpPr txBox="1"/>
          <p:nvPr/>
        </p:nvSpPr>
        <p:spPr>
          <a:xfrm>
            <a:off x="1874520" y="467258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ISO 14001 – </a:t>
            </a:r>
            <a:pPr indent="0" marL="0">
              <a:buNone/>
            </a:pPr>
            <a:r>
              <a:rPr lang="en-US" sz="1400" dirty="0">
                <a:solidFill>
                  <a:srgbClr val="1B2A3A"/>
                </a:solidFill>
                <a:latin typeface="Calibri" pitchFamily="34" charset="0"/>
                <a:ea typeface="Calibri" pitchFamily="34" charset="-122"/>
                <a:cs typeface="Calibri" pitchFamily="34" charset="-120"/>
              </a:rPr>
              <a:t>ekologik menejment tizimining birinchi xalqaro standarti qabul qilindi</a:t>
            </a:r>
            <a:endParaRPr lang="en-US" sz="1400" dirty="0"/>
          </a:p>
        </p:txBody>
      </p:sp>
      <p:sp>
        <p:nvSpPr>
          <p:cNvPr id="13" name="Shape 11"/>
          <p:cNvSpPr/>
          <p:nvPr/>
        </p:nvSpPr>
        <p:spPr>
          <a:xfrm>
            <a:off x="548640" y="5440680"/>
            <a:ext cx="1143000" cy="548640"/>
          </a:xfrm>
          <a:prstGeom prst="roundRect">
            <a:avLst>
              <a:gd name="adj" fmla="val 16667"/>
            </a:avLst>
          </a:prstGeom>
          <a:solidFill>
            <a:srgbClr val="0D2F4F"/>
          </a:solidFill>
          <a:ln w="12700">
            <a:solidFill>
              <a:srgbClr val="0D2F4F"/>
            </a:solidFill>
            <a:prstDash val="solid"/>
          </a:ln>
        </p:spPr>
      </p:sp>
      <p:sp>
        <p:nvSpPr>
          <p:cNvPr id="14" name="Text 12"/>
          <p:cNvSpPr txBox="1"/>
          <p:nvPr/>
        </p:nvSpPr>
        <p:spPr>
          <a:xfrm>
            <a:off x="548640" y="5440680"/>
            <a:ext cx="114300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2015</a:t>
            </a:r>
            <a:endParaRPr lang="en-US" sz="1500" dirty="0"/>
          </a:p>
        </p:txBody>
      </p:sp>
      <p:sp>
        <p:nvSpPr>
          <p:cNvPr id="15" name="Text 13"/>
          <p:cNvSpPr txBox="1"/>
          <p:nvPr/>
        </p:nvSpPr>
        <p:spPr>
          <a:xfrm>
            <a:off x="1874520" y="5404104"/>
            <a:ext cx="5440680" cy="621792"/>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BMT – </a:t>
            </a:r>
            <a:pPr indent="0" marL="0">
              <a:buNone/>
            </a:pPr>
            <a:r>
              <a:rPr lang="en-US" sz="1400" dirty="0">
                <a:solidFill>
                  <a:srgbClr val="1B2A3A"/>
                </a:solidFill>
                <a:latin typeface="Calibri" pitchFamily="34" charset="0"/>
                <a:ea typeface="Calibri" pitchFamily="34" charset="-122"/>
                <a:cs typeface="Calibri" pitchFamily="34" charset="-120"/>
              </a:rPr>
              <a:t>2030-yilgacha bo‘lgan 17 ta Barqaror rivojlanish maqsadi (BRM) qabul qilindi</a:t>
            </a:r>
            <a:endParaRPr lang="en-US" sz="1400" dirty="0"/>
          </a:p>
        </p:txBody>
      </p:sp>
      <p:pic>
        <p:nvPicPr>
          <p:cNvPr id="16" name="Image 0" descr="img13/history.png">    </p:cNvPr>
          <p:cNvPicPr>
            <a:picLocks noChangeAspect="1"/>
          </p:cNvPicPr>
          <p:nvPr/>
        </p:nvPicPr>
        <p:blipFill>
          <a:blip r:embed="rId1"/>
          <a:stretch>
            <a:fillRect/>
          </a:stretch>
        </p:blipFill>
        <p:spPr>
          <a:xfrm>
            <a:off x="7680960" y="1371600"/>
            <a:ext cx="3931920" cy="3054096"/>
          </a:xfrm>
          <a:prstGeom prst="rect">
            <a:avLst/>
          </a:prstGeom>
        </p:spPr>
      </p:pic>
      <p:sp>
        <p:nvSpPr>
          <p:cNvPr id="17" name="Shape 14"/>
          <p:cNvSpPr/>
          <p:nvPr/>
        </p:nvSpPr>
        <p:spPr>
          <a:xfrm>
            <a:off x="7680960" y="4617720"/>
            <a:ext cx="3931920" cy="1554480"/>
          </a:xfrm>
          <a:prstGeom prst="roundRect">
            <a:avLst>
              <a:gd name="adj" fmla="val 7059"/>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8" name="Text 15"/>
          <p:cNvSpPr txBox="1"/>
          <p:nvPr/>
        </p:nvSpPr>
        <p:spPr>
          <a:xfrm>
            <a:off x="7863840" y="4663440"/>
            <a:ext cx="3566160" cy="14630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BRM</a:t>
            </a:r>
            <a:pPr indent="0" marL="0">
              <a:buNone/>
            </a:pPr>
            <a:r>
              <a:rPr lang="en-US" sz="1400" dirty="0">
                <a:solidFill>
                  <a:srgbClr val="1B2A3A"/>
                </a:solidFill>
                <a:latin typeface="Calibri" pitchFamily="34" charset="0"/>
                <a:ea typeface="Calibri" pitchFamily="34" charset="-122"/>
                <a:cs typeface="Calibri" pitchFamily="34" charset="-120"/>
              </a:rPr>
              <a:t> qatoriga qashshoqlikka barham berish, toza energiya, mas’uliyatli iste’mol va iqlim o‘zgarishiga qarshi kurash kiradi.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1. Barqarorlikning uch tayanchi</a:t>
            </a:r>
            <a:endParaRPr lang="en-US" sz="3000" dirty="0"/>
          </a:p>
        </p:txBody>
      </p:sp>
      <p:sp>
        <p:nvSpPr>
          <p:cNvPr id="3" name="Text 1"/>
          <p:cNvSpPr txBox="1"/>
          <p:nvPr/>
        </p:nvSpPr>
        <p:spPr>
          <a:xfrm>
            <a:off x="548640" y="1325880"/>
            <a:ext cx="11064240" cy="73152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Calibri" pitchFamily="34" charset="0"/>
                <a:ea typeface="Calibri" pitchFamily="34" charset="-122"/>
                <a:cs typeface="Calibri" pitchFamily="34" charset="-120"/>
              </a:rPr>
              <a:t>Dj. Elkington (1994) taklif etgan </a:t>
            </a:r>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“uch tayanch” (Triple Bottom Line)</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konsepsiyasiga ko‘ra, korxona faoliyati nafaqat foyda, balki jamiyat va tabiatga ta’siri bilan ham baholanadi:</a:t>
            </a:r>
            <a:endParaRPr lang="en-US" sz="1400" dirty="0"/>
          </a:p>
        </p:txBody>
      </p:sp>
      <p:sp>
        <p:nvSpPr>
          <p:cNvPr id="4" name="Shape 2"/>
          <p:cNvSpPr/>
          <p:nvPr/>
        </p:nvSpPr>
        <p:spPr>
          <a:xfrm>
            <a:off x="548640" y="5532120"/>
            <a:ext cx="11064240" cy="685800"/>
          </a:xfrm>
          <a:prstGeom prst="roundRect">
            <a:avLst>
              <a:gd name="adj" fmla="val 16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5577840"/>
            <a:ext cx="10698480" cy="5943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Muvozanat qoidasi:</a:t>
            </a:r>
            <a:pPr indent="0" marL="0">
              <a:buNone/>
            </a:pPr>
            <a:r>
              <a:rPr lang="en-US" sz="1400" dirty="0">
                <a:solidFill>
                  <a:srgbClr val="1B2A3A"/>
                </a:solidFill>
                <a:latin typeface="Calibri" pitchFamily="34" charset="0"/>
                <a:ea typeface="Calibri" pitchFamily="34" charset="-122"/>
                <a:cs typeface="Calibri" pitchFamily="34" charset="-120"/>
              </a:rPr>
              <a:t> biror tayanchni boshqasi hisobiga rivojlantirish uzoq muddatda korxona barqarorligini buzadi.</a:t>
            </a:r>
            <a:endParaRPr lang="en-US" sz="1400" dirty="0"/>
          </a:p>
        </p:txBody>
      </p:sp>
      <p:sp>
        <p:nvSpPr>
          <p:cNvPr id="6" name="Shape 4"/>
          <p:cNvSpPr/>
          <p:nvPr/>
        </p:nvSpPr>
        <p:spPr>
          <a:xfrm>
            <a:off x="54864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Shape 5"/>
          <p:cNvSpPr/>
          <p:nvPr/>
        </p:nvSpPr>
        <p:spPr>
          <a:xfrm>
            <a:off x="822960" y="2468880"/>
            <a:ext cx="731520" cy="731520"/>
          </a:xfrm>
          <a:prstGeom prst="ellipse">
            <a:avLst/>
          </a:prstGeom>
          <a:solidFill>
            <a:srgbClr val="3B6EA5"/>
          </a:solidFill>
          <a:ln w="12700">
            <a:solidFill>
              <a:srgbClr val="3B6EA5"/>
            </a:solidFill>
            <a:prstDash val="solid"/>
          </a:ln>
        </p:spPr>
      </p:sp>
      <p:pic>
        <p:nvPicPr>
          <p:cNvPr id="8" name="Image 0" descr="preencoded.png">    </p:cNvPr>
          <p:cNvPicPr>
            <a:picLocks noChangeAspect="1"/>
          </p:cNvPicPr>
          <p:nvPr/>
        </p:nvPicPr>
        <p:blipFill>
          <a:blip r:embed="rId1"/>
          <a:stretch>
            <a:fillRect/>
          </a:stretch>
        </p:blipFill>
        <p:spPr>
          <a:xfrm>
            <a:off x="1013155" y="2659075"/>
            <a:ext cx="351130" cy="351130"/>
          </a:xfrm>
          <a:prstGeom prst="rect">
            <a:avLst/>
          </a:prstGeom>
        </p:spPr>
      </p:pic>
      <p:sp>
        <p:nvSpPr>
          <p:cNvPr id="9" name="Text 6"/>
          <p:cNvSpPr txBox="1"/>
          <p:nvPr/>
        </p:nvSpPr>
        <p:spPr>
          <a:xfrm>
            <a:off x="169164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Iqtisodiy</a:t>
            </a:r>
            <a:endParaRPr lang="en-US" sz="1700" dirty="0"/>
          </a:p>
        </p:txBody>
      </p:sp>
      <p:sp>
        <p:nvSpPr>
          <p:cNvPr id="10" name="Text 7"/>
          <p:cNvSpPr txBox="1"/>
          <p:nvPr/>
        </p:nvSpPr>
        <p:spPr>
          <a:xfrm>
            <a:off x="169164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Profit – foyda</a:t>
            </a:r>
            <a:endParaRPr lang="en-US" sz="1200" dirty="0"/>
          </a:p>
        </p:txBody>
      </p:sp>
      <p:sp>
        <p:nvSpPr>
          <p:cNvPr id="11" name="Text 8"/>
          <p:cNvSpPr txBox="1"/>
          <p:nvPr/>
        </p:nvSpPr>
        <p:spPr>
          <a:xfrm>
            <a:off x="82296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barqaror daromad va o‘sish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samarali resurs sarfi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innovatsiyalar va raqobatbardoshlik</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halol soliq to‘lash</a:t>
            </a:r>
            <a:endParaRPr lang="en-US" sz="1400" dirty="0"/>
          </a:p>
        </p:txBody>
      </p:sp>
      <p:sp>
        <p:nvSpPr>
          <p:cNvPr id="12" name="Shape 9"/>
          <p:cNvSpPr/>
          <p:nvPr/>
        </p:nvSpPr>
        <p:spPr>
          <a:xfrm>
            <a:off x="434340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4617720" y="2468880"/>
            <a:ext cx="731520" cy="731520"/>
          </a:xfrm>
          <a:prstGeom prst="ellipse">
            <a:avLst/>
          </a:prstGeom>
          <a:solidFill>
            <a:srgbClr val="B5651D"/>
          </a:solidFill>
          <a:ln w="12700">
            <a:solidFill>
              <a:srgbClr val="B5651D"/>
            </a:solidFill>
            <a:prstDash val="solid"/>
          </a:ln>
        </p:spPr>
      </p:sp>
      <p:pic>
        <p:nvPicPr>
          <p:cNvPr id="14" name="Image 1" descr="preencoded.png">    </p:cNvPr>
          <p:cNvPicPr>
            <a:picLocks noChangeAspect="1"/>
          </p:cNvPicPr>
          <p:nvPr/>
        </p:nvPicPr>
        <p:blipFill>
          <a:blip r:embed="rId2"/>
          <a:stretch>
            <a:fillRect/>
          </a:stretch>
        </p:blipFill>
        <p:spPr>
          <a:xfrm>
            <a:off x="4807915" y="2659075"/>
            <a:ext cx="351130" cy="351130"/>
          </a:xfrm>
          <a:prstGeom prst="rect">
            <a:avLst/>
          </a:prstGeom>
        </p:spPr>
      </p:pic>
      <p:sp>
        <p:nvSpPr>
          <p:cNvPr id="15" name="Text 11"/>
          <p:cNvSpPr txBox="1"/>
          <p:nvPr/>
        </p:nvSpPr>
        <p:spPr>
          <a:xfrm>
            <a:off x="548640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Ijtimoiy</a:t>
            </a:r>
            <a:endParaRPr lang="en-US" sz="1700" dirty="0"/>
          </a:p>
        </p:txBody>
      </p:sp>
      <p:sp>
        <p:nvSpPr>
          <p:cNvPr id="16" name="Text 12"/>
          <p:cNvSpPr txBox="1"/>
          <p:nvPr/>
        </p:nvSpPr>
        <p:spPr>
          <a:xfrm>
            <a:off x="548640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People – odamlar</a:t>
            </a:r>
            <a:endParaRPr lang="en-US" sz="1200" dirty="0"/>
          </a:p>
        </p:txBody>
      </p:sp>
      <p:sp>
        <p:nvSpPr>
          <p:cNvPr id="17" name="Text 13"/>
          <p:cNvSpPr txBox="1"/>
          <p:nvPr/>
        </p:nvSpPr>
        <p:spPr>
          <a:xfrm>
            <a:off x="461772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xavfsiz va adolatli mehnat sharoiti</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xodimlarni rivojlantirish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mahalliy jamiyatni qo‘llab-quvvatlash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iste’molchilar xavfsizligi</a:t>
            </a:r>
            <a:endParaRPr lang="en-US" sz="1400" dirty="0"/>
          </a:p>
        </p:txBody>
      </p:sp>
      <p:sp>
        <p:nvSpPr>
          <p:cNvPr id="18" name="Shape 14"/>
          <p:cNvSpPr/>
          <p:nvPr/>
        </p:nvSpPr>
        <p:spPr>
          <a:xfrm>
            <a:off x="8138160" y="2194560"/>
            <a:ext cx="3520440" cy="3154680"/>
          </a:xfrm>
          <a:prstGeom prst="roundRect">
            <a:avLst>
              <a:gd name="adj" fmla="val 3478"/>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5"/>
          <p:cNvSpPr/>
          <p:nvPr/>
        </p:nvSpPr>
        <p:spPr>
          <a:xfrm>
            <a:off x="8412480" y="2468880"/>
            <a:ext cx="731520" cy="731520"/>
          </a:xfrm>
          <a:prstGeom prst="ellipse">
            <a:avLst/>
          </a:prstGeom>
          <a:solidFill>
            <a:srgbClr val="2C8E5F"/>
          </a:solidFill>
          <a:ln w="12700">
            <a:solidFill>
              <a:srgbClr val="2C8E5F"/>
            </a:solidFill>
            <a:prstDash val="solid"/>
          </a:ln>
        </p:spPr>
      </p:sp>
      <p:pic>
        <p:nvPicPr>
          <p:cNvPr id="20" name="Image 2" descr="preencoded.png">    </p:cNvPr>
          <p:cNvPicPr>
            <a:picLocks noChangeAspect="1"/>
          </p:cNvPicPr>
          <p:nvPr/>
        </p:nvPicPr>
        <p:blipFill>
          <a:blip r:embed="rId3"/>
          <a:stretch>
            <a:fillRect/>
          </a:stretch>
        </p:blipFill>
        <p:spPr>
          <a:xfrm>
            <a:off x="8602675" y="2659075"/>
            <a:ext cx="351130" cy="351130"/>
          </a:xfrm>
          <a:prstGeom prst="rect">
            <a:avLst/>
          </a:prstGeom>
        </p:spPr>
      </p:pic>
      <p:sp>
        <p:nvSpPr>
          <p:cNvPr id="21" name="Text 16"/>
          <p:cNvSpPr txBox="1"/>
          <p:nvPr/>
        </p:nvSpPr>
        <p:spPr>
          <a:xfrm>
            <a:off x="9281160" y="2423160"/>
            <a:ext cx="2240280" cy="548640"/>
          </a:xfrm>
          <a:prstGeom prst="rect">
            <a:avLst/>
          </a:prstGeom>
          <a:noFill/>
          <a:ln/>
        </p:spPr>
        <p:txBody>
          <a:bodyPr wrap="square" lIns="0" tIns="0" rIns="0" bIns="0" rtlCol="0" anchor="ctr"/>
          <a:lstStyle/>
          <a:p>
            <a:pPr indent="0" marL="0">
              <a:buNone/>
            </a:pPr>
            <a:r>
              <a:rPr lang="en-US" sz="1700" b="1" dirty="0">
                <a:solidFill>
                  <a:srgbClr val="0D2F4F"/>
                </a:solidFill>
                <a:latin typeface="Cambria" pitchFamily="34" charset="0"/>
                <a:ea typeface="Cambria" pitchFamily="34" charset="-122"/>
                <a:cs typeface="Cambria" pitchFamily="34" charset="-120"/>
              </a:rPr>
              <a:t>Ekologik</a:t>
            </a:r>
            <a:endParaRPr lang="en-US" sz="1700" dirty="0"/>
          </a:p>
        </p:txBody>
      </p:sp>
      <p:sp>
        <p:nvSpPr>
          <p:cNvPr id="22" name="Text 17"/>
          <p:cNvSpPr txBox="1"/>
          <p:nvPr/>
        </p:nvSpPr>
        <p:spPr>
          <a:xfrm>
            <a:off x="9281160" y="2971800"/>
            <a:ext cx="2240280" cy="365760"/>
          </a:xfrm>
          <a:prstGeom prst="rect">
            <a:avLst/>
          </a:prstGeom>
          <a:noFill/>
          <a:ln/>
        </p:spPr>
        <p:txBody>
          <a:bodyPr wrap="square" lIns="0" tIns="0" rIns="0" bIns="0" rtlCol="0" anchor="ctr"/>
          <a:lstStyle/>
          <a:p>
            <a:pPr indent="0" marL="0">
              <a:buNone/>
            </a:pPr>
            <a:r>
              <a:rPr lang="en-US" sz="1200" i="1" dirty="0">
                <a:solidFill>
                  <a:srgbClr val="4A5B6C"/>
                </a:solidFill>
              </a:rPr>
              <a:t>Planet – sayyora</a:t>
            </a:r>
            <a:endParaRPr lang="en-US" sz="1200" dirty="0"/>
          </a:p>
        </p:txBody>
      </p:sp>
      <p:sp>
        <p:nvSpPr>
          <p:cNvPr id="23" name="Text 18"/>
          <p:cNvSpPr txBox="1"/>
          <p:nvPr/>
        </p:nvSpPr>
        <p:spPr>
          <a:xfrm>
            <a:off x="8412480" y="3474720"/>
            <a:ext cx="3017520" cy="17830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chiqindilar va emissiyani kamaytirish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energiya va suvni tejash</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qayta tiklanuvchi resurslar</a:t>
            </a:r>
            <a:endParaRPr lang="en-US" sz="1400" dirty="0"/>
          </a:p>
          <a:p>
            <a:pPr marL="177800" indent="-177800">
              <a:spcAft>
                <a:spcPts val="800"/>
              </a:spcAft>
              <a:buSzPct val="100000"/>
              <a:buChar char="•"/>
            </a:pPr>
            <a:r>
              <a:rPr lang="en-US" sz="1400" dirty="0">
                <a:solidFill>
                  <a:srgbClr val="1B2A3A"/>
                </a:solidFill>
                <a:latin typeface="Calibri" pitchFamily="34" charset="0"/>
                <a:ea typeface="Calibri" pitchFamily="34" charset="-122"/>
                <a:cs typeface="Calibri" pitchFamily="34" charset="-120"/>
              </a:rPr>
              <a:t>bioxilma-xillikni asrash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Barqaror rivojlanish strategiyasi va ESG</a:t>
            </a:r>
            <a:endParaRPr lang="en-US" sz="3000" dirty="0"/>
          </a:p>
        </p:txBody>
      </p:sp>
      <p:pic>
        <p:nvPicPr>
          <p:cNvPr id="3" name="Image 0" descr="img13/esg.png">    </p:cNvPr>
          <p:cNvPicPr>
            <a:picLocks noChangeAspect="1"/>
          </p:cNvPicPr>
          <p:nvPr/>
        </p:nvPicPr>
        <p:blipFill>
          <a:blip r:embed="rId1"/>
          <a:stretch>
            <a:fillRect/>
          </a:stretch>
        </p:blipFill>
        <p:spPr>
          <a:xfrm>
            <a:off x="548640" y="1371600"/>
            <a:ext cx="4206240" cy="3273552"/>
          </a:xfrm>
          <a:prstGeom prst="rect">
            <a:avLst/>
          </a:prstGeom>
        </p:spPr>
      </p:pic>
      <p:sp>
        <p:nvSpPr>
          <p:cNvPr id="4" name="Text 1"/>
          <p:cNvSpPr txBox="1"/>
          <p:nvPr/>
        </p:nvSpPr>
        <p:spPr>
          <a:xfrm>
            <a:off x="548640" y="4800600"/>
            <a:ext cx="4206240" cy="1463040"/>
          </a:xfrm>
          <a:prstGeom prst="rect">
            <a:avLst/>
          </a:prstGeom>
          <a:noFill/>
          <a:ln/>
        </p:spPr>
        <p:txBody>
          <a:bodyPr wrap="square" lIns="0" tIns="0" rIns="0" bIns="0" rtlCol="0" anchor="t"/>
          <a:lstStyle/>
          <a:p>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Barqaror rivojlanish strategiyasi</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 korxonaning iqtisodiy maqsadlarini ekologik va ijtimoiy mas’uliyat bilan birlashtiruvchi uzoq muddatli rejasi. Uning bajarilishi xalqaro amaliyotda </a:t>
            </a:r>
            <a:pPr indent="0" marL="0">
              <a:spcAft>
                <a:spcPts val="600"/>
              </a:spcAft>
              <a:buNone/>
            </a:pPr>
            <a:r>
              <a:rPr lang="en-US" sz="1400" b="1" dirty="0">
                <a:solidFill>
                  <a:srgbClr val="0E9F9A"/>
                </a:solidFill>
                <a:latin typeface="Calibri" pitchFamily="34" charset="0"/>
                <a:ea typeface="Calibri" pitchFamily="34" charset="-122"/>
                <a:cs typeface="Calibri" pitchFamily="34" charset="-120"/>
              </a:rPr>
              <a:t>ESG</a:t>
            </a:r>
            <a:pPr indent="0" marL="0">
              <a:spcAft>
                <a:spcPts val="600"/>
              </a:spcAft>
              <a:buNone/>
            </a:pPr>
            <a:r>
              <a:rPr lang="en-US" sz="1400" dirty="0">
                <a:solidFill>
                  <a:srgbClr val="1B2A3A"/>
                </a:solidFill>
                <a:latin typeface="Calibri" pitchFamily="34" charset="0"/>
                <a:ea typeface="Calibri" pitchFamily="34" charset="-122"/>
                <a:cs typeface="Calibri" pitchFamily="34" charset="-120"/>
              </a:rPr>
              <a:t> mezonlari bo‘yicha baholanadi.</a:t>
            </a:r>
            <a:endParaRPr lang="en-US" sz="1400" dirty="0"/>
          </a:p>
        </p:txBody>
      </p:sp>
      <p:sp>
        <p:nvSpPr>
          <p:cNvPr id="5" name="Text 2"/>
          <p:cNvSpPr txBox="1"/>
          <p:nvPr/>
        </p:nvSpPr>
        <p:spPr>
          <a:xfrm>
            <a:off x="5120640" y="1371600"/>
            <a:ext cx="6492240" cy="365760"/>
          </a:xfrm>
          <a:prstGeom prst="rect">
            <a:avLst/>
          </a:prstGeom>
          <a:noFill/>
          <a:ln/>
        </p:spPr>
        <p:txBody>
          <a:bodyPr wrap="square" lIns="0" tIns="0" rIns="0" bIns="0" rtlCol="0" anchor="ctr"/>
          <a:lstStyle/>
          <a:p>
            <a:pPr indent="0" marL="0">
              <a:buNone/>
            </a:pPr>
            <a:r>
              <a:rPr lang="en-US" sz="1600" b="1" dirty="0">
                <a:solidFill>
                  <a:srgbClr val="0D2F4F"/>
                </a:solidFill>
              </a:rPr>
              <a:t>ESG mezonlari va bog‘liq tushunchalar:</a:t>
            </a:r>
            <a:endParaRPr lang="en-US" sz="1600" dirty="0"/>
          </a:p>
        </p:txBody>
      </p:sp>
      <p:sp>
        <p:nvSpPr>
          <p:cNvPr id="6" name="Shape 3"/>
          <p:cNvSpPr/>
          <p:nvPr/>
        </p:nvSpPr>
        <p:spPr>
          <a:xfrm>
            <a:off x="5120640" y="1920240"/>
            <a:ext cx="566928" cy="566928"/>
          </a:xfrm>
          <a:prstGeom prst="ellipse">
            <a:avLst/>
          </a:prstGeom>
          <a:solidFill>
            <a:srgbClr val="0E9F9A"/>
          </a:solidFill>
          <a:ln w="12700">
            <a:solidFill>
              <a:srgbClr val="0E9F9A"/>
            </a:solidFill>
            <a:prstDash val="solid"/>
          </a:ln>
        </p:spPr>
      </p:sp>
      <p:pic>
        <p:nvPicPr>
          <p:cNvPr id="7" name="Image 1" descr="preencoded.png">    </p:cNvPr>
          <p:cNvPicPr>
            <a:picLocks noChangeAspect="1"/>
          </p:cNvPicPr>
          <p:nvPr/>
        </p:nvPicPr>
        <p:blipFill>
          <a:blip r:embed="rId2"/>
          <a:stretch>
            <a:fillRect/>
          </a:stretch>
        </p:blipFill>
        <p:spPr>
          <a:xfrm>
            <a:off x="5268041" y="2067641"/>
            <a:ext cx="272125" cy="272125"/>
          </a:xfrm>
          <a:prstGeom prst="rect">
            <a:avLst/>
          </a:prstGeom>
        </p:spPr>
      </p:pic>
      <p:sp>
        <p:nvSpPr>
          <p:cNvPr id="8" name="Text 4"/>
          <p:cNvSpPr txBox="1"/>
          <p:nvPr/>
        </p:nvSpPr>
        <p:spPr>
          <a:xfrm>
            <a:off x="5852160" y="187452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E – Environmental (ekologik)</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issiqxona gazlari, energiya sarfi, chiqindilar, suv va resurslardan foydalanish.</a:t>
            </a:r>
            <a:endParaRPr lang="en-US" sz="1400" dirty="0"/>
          </a:p>
        </p:txBody>
      </p:sp>
      <p:sp>
        <p:nvSpPr>
          <p:cNvPr id="9" name="Shape 5"/>
          <p:cNvSpPr/>
          <p:nvPr/>
        </p:nvSpPr>
        <p:spPr>
          <a:xfrm>
            <a:off x="5120640" y="2788920"/>
            <a:ext cx="566928" cy="566928"/>
          </a:xfrm>
          <a:prstGeom prst="ellipse">
            <a:avLst/>
          </a:prstGeom>
          <a:solidFill>
            <a:srgbClr val="0D2F4F"/>
          </a:solidFill>
          <a:ln w="12700">
            <a:solidFill>
              <a:srgbClr val="0D2F4F"/>
            </a:solidFill>
            <a:prstDash val="solid"/>
          </a:ln>
        </p:spPr>
      </p:sp>
      <p:pic>
        <p:nvPicPr>
          <p:cNvPr id="10" name="Image 2" descr="preencoded.png">    </p:cNvPr>
          <p:cNvPicPr>
            <a:picLocks noChangeAspect="1"/>
          </p:cNvPicPr>
          <p:nvPr/>
        </p:nvPicPr>
        <p:blipFill>
          <a:blip r:embed="rId3"/>
          <a:stretch>
            <a:fillRect/>
          </a:stretch>
        </p:blipFill>
        <p:spPr>
          <a:xfrm>
            <a:off x="5268041" y="2936321"/>
            <a:ext cx="272125" cy="272125"/>
          </a:xfrm>
          <a:prstGeom prst="rect">
            <a:avLst/>
          </a:prstGeom>
        </p:spPr>
      </p:pic>
      <p:sp>
        <p:nvSpPr>
          <p:cNvPr id="11" name="Text 6"/>
          <p:cNvSpPr txBox="1"/>
          <p:nvPr/>
        </p:nvSpPr>
        <p:spPr>
          <a:xfrm>
            <a:off x="5852160" y="274320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S – Social (ijtimoiy)</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mehnat sharoiti, xodimlar huquqlari, jamiyat bilan munosabat, mahsulot xavfsizligi.</a:t>
            </a:r>
            <a:endParaRPr lang="en-US" sz="1400" dirty="0"/>
          </a:p>
        </p:txBody>
      </p:sp>
      <p:sp>
        <p:nvSpPr>
          <p:cNvPr id="12" name="Shape 7"/>
          <p:cNvSpPr/>
          <p:nvPr/>
        </p:nvSpPr>
        <p:spPr>
          <a:xfrm>
            <a:off x="5120640" y="3657600"/>
            <a:ext cx="566928" cy="566928"/>
          </a:xfrm>
          <a:prstGeom prst="ellipse">
            <a:avLst/>
          </a:prstGeom>
          <a:solidFill>
            <a:srgbClr val="0E9F9A"/>
          </a:solidFill>
          <a:ln w="12700">
            <a:solidFill>
              <a:srgbClr val="0E9F9A"/>
            </a:solidFill>
            <a:prstDash val="solid"/>
          </a:ln>
        </p:spPr>
      </p:sp>
      <p:pic>
        <p:nvPicPr>
          <p:cNvPr id="13" name="Image 3" descr="preencoded.png">    </p:cNvPr>
          <p:cNvPicPr>
            <a:picLocks noChangeAspect="1"/>
          </p:cNvPicPr>
          <p:nvPr/>
        </p:nvPicPr>
        <p:blipFill>
          <a:blip r:embed="rId4"/>
          <a:stretch>
            <a:fillRect/>
          </a:stretch>
        </p:blipFill>
        <p:spPr>
          <a:xfrm>
            <a:off x="5268041" y="3805001"/>
            <a:ext cx="272125" cy="272125"/>
          </a:xfrm>
          <a:prstGeom prst="rect">
            <a:avLst/>
          </a:prstGeom>
        </p:spPr>
      </p:pic>
      <p:sp>
        <p:nvSpPr>
          <p:cNvPr id="14" name="Text 8"/>
          <p:cNvSpPr txBox="1"/>
          <p:nvPr/>
        </p:nvSpPr>
        <p:spPr>
          <a:xfrm>
            <a:off x="5852160" y="361188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G – Governance (boshqaruv)</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shaffof boshqaruv, korrupsiyaga qarshi kurash, aksiyadorlar huquqlari.</a:t>
            </a:r>
            <a:endParaRPr lang="en-US" sz="1400" dirty="0"/>
          </a:p>
        </p:txBody>
      </p:sp>
      <p:sp>
        <p:nvSpPr>
          <p:cNvPr id="15" name="Shape 9"/>
          <p:cNvSpPr/>
          <p:nvPr/>
        </p:nvSpPr>
        <p:spPr>
          <a:xfrm>
            <a:off x="5120640" y="4526280"/>
            <a:ext cx="566928" cy="566928"/>
          </a:xfrm>
          <a:prstGeom prst="ellipse">
            <a:avLst/>
          </a:prstGeom>
          <a:solidFill>
            <a:srgbClr val="0D2F4F"/>
          </a:solidFill>
          <a:ln w="12700">
            <a:solidFill>
              <a:srgbClr val="0D2F4F"/>
            </a:solidFill>
            <a:prstDash val="solid"/>
          </a:ln>
        </p:spPr>
      </p:sp>
      <p:pic>
        <p:nvPicPr>
          <p:cNvPr id="16" name="Image 4" descr="preencoded.png">    </p:cNvPr>
          <p:cNvPicPr>
            <a:picLocks noChangeAspect="1"/>
          </p:cNvPicPr>
          <p:nvPr/>
        </p:nvPicPr>
        <p:blipFill>
          <a:blip r:embed="rId5"/>
          <a:stretch>
            <a:fillRect/>
          </a:stretch>
        </p:blipFill>
        <p:spPr>
          <a:xfrm>
            <a:off x="5268041" y="4673681"/>
            <a:ext cx="272125" cy="272125"/>
          </a:xfrm>
          <a:prstGeom prst="rect">
            <a:avLst/>
          </a:prstGeom>
        </p:spPr>
      </p:pic>
      <p:sp>
        <p:nvSpPr>
          <p:cNvPr id="17" name="Text 10"/>
          <p:cNvSpPr txBox="1"/>
          <p:nvPr/>
        </p:nvSpPr>
        <p:spPr>
          <a:xfrm>
            <a:off x="5852160" y="448056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Korporativ ijtimoiy mas’uliyat (KSM)</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korxonaning qonundan tashqari ixtiyoriy ijtimoiy majburiyatlari.</a:t>
            </a:r>
            <a:endParaRPr lang="en-US" sz="1400" dirty="0"/>
          </a:p>
        </p:txBody>
      </p:sp>
      <p:sp>
        <p:nvSpPr>
          <p:cNvPr id="18" name="Shape 11"/>
          <p:cNvSpPr/>
          <p:nvPr/>
        </p:nvSpPr>
        <p:spPr>
          <a:xfrm>
            <a:off x="5120640" y="5394960"/>
            <a:ext cx="566928" cy="566928"/>
          </a:xfrm>
          <a:prstGeom prst="ellipse">
            <a:avLst/>
          </a:prstGeom>
          <a:solidFill>
            <a:srgbClr val="0E9F9A"/>
          </a:solidFill>
          <a:ln w="12700">
            <a:solidFill>
              <a:srgbClr val="0E9F9A"/>
            </a:solidFill>
            <a:prstDash val="solid"/>
          </a:ln>
        </p:spPr>
      </p:sp>
      <p:pic>
        <p:nvPicPr>
          <p:cNvPr id="19" name="Image 5" descr="preencoded.png">    </p:cNvPr>
          <p:cNvPicPr>
            <a:picLocks noChangeAspect="1"/>
          </p:cNvPicPr>
          <p:nvPr/>
        </p:nvPicPr>
        <p:blipFill>
          <a:blip r:embed="rId6"/>
          <a:stretch>
            <a:fillRect/>
          </a:stretch>
        </p:blipFill>
        <p:spPr>
          <a:xfrm>
            <a:off x="5268041" y="5542361"/>
            <a:ext cx="272125" cy="272125"/>
          </a:xfrm>
          <a:prstGeom prst="rect">
            <a:avLst/>
          </a:prstGeom>
        </p:spPr>
      </p:pic>
      <p:sp>
        <p:nvSpPr>
          <p:cNvPr id="20" name="Text 12"/>
          <p:cNvSpPr txBox="1"/>
          <p:nvPr/>
        </p:nvSpPr>
        <p:spPr>
          <a:xfrm>
            <a:off x="5852160" y="5349240"/>
            <a:ext cx="5760720" cy="822960"/>
          </a:xfrm>
          <a:prstGeom prst="rect">
            <a:avLst/>
          </a:prstGeom>
          <a:noFill/>
          <a:ln/>
        </p:spPr>
        <p:txBody>
          <a:bodyPr wrap="square" lIns="0" tIns="0" rIns="0" bIns="0" rtlCol="0" anchor="t"/>
          <a:lstStyle/>
          <a:p>
            <a:pPr indent="0" marL="0">
              <a:buNone/>
            </a:pPr>
            <a:r>
              <a:rPr lang="en-US" sz="1400" b="1" dirty="0">
                <a:solidFill>
                  <a:srgbClr val="0D2F4F"/>
                </a:solidFill>
                <a:latin typeface="Calibri" pitchFamily="34" charset="0"/>
                <a:ea typeface="Calibri" pitchFamily="34" charset="-122"/>
                <a:cs typeface="Calibri" pitchFamily="34" charset="-120"/>
              </a:rPr>
              <a:t>Barqarorlik hisoboti</a:t>
            </a:r>
            <a:endParaRPr lang="en-US" sz="1400" dirty="0"/>
          </a:p>
          <a:p>
            <a:pPr indent="0" marL="0">
              <a:buNone/>
            </a:pPr>
            <a:r>
              <a:rPr lang="en-US" sz="1400" dirty="0">
                <a:solidFill>
                  <a:srgbClr val="1B2A3A"/>
                </a:solidFill>
                <a:latin typeface="Calibri" pitchFamily="34" charset="0"/>
                <a:ea typeface="Calibri" pitchFamily="34" charset="-122"/>
                <a:cs typeface="Calibri" pitchFamily="34" charset="-120"/>
              </a:rPr>
              <a:t>GRI kabi standartlar asosida ESG ko‘rsatkichlarini oshkor qilish.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2. Ekologik strategiya turlari</a:t>
            </a:r>
            <a:endParaRPr lang="en-US" sz="3000" dirty="0"/>
          </a:p>
        </p:txBody>
      </p:sp>
      <p:pic>
        <p:nvPicPr>
          <p:cNvPr id="3" name="Image 0" descr="img13/types.png">    </p:cNvPr>
          <p:cNvPicPr>
            <a:picLocks noChangeAspect="1"/>
          </p:cNvPicPr>
          <p:nvPr/>
        </p:nvPicPr>
        <p:blipFill>
          <a:blip r:embed="rId1"/>
          <a:stretch>
            <a:fillRect/>
          </a:stretch>
        </p:blipFill>
        <p:spPr>
          <a:xfrm>
            <a:off x="548640" y="1371600"/>
            <a:ext cx="3200400" cy="4114800"/>
          </a:xfrm>
          <a:prstGeom prst="rect">
            <a:avLst/>
          </a:prstGeom>
        </p:spPr>
      </p:pic>
      <p:sp>
        <p:nvSpPr>
          <p:cNvPr id="4" name="Text 1"/>
          <p:cNvSpPr txBox="1"/>
          <p:nvPr/>
        </p:nvSpPr>
        <p:spPr>
          <a:xfrm>
            <a:off x="548640" y="5577840"/>
            <a:ext cx="3200400" cy="594360"/>
          </a:xfrm>
          <a:prstGeom prst="rect">
            <a:avLst/>
          </a:prstGeom>
          <a:noFill/>
          <a:ln/>
        </p:spPr>
        <p:txBody>
          <a:bodyPr wrap="square" lIns="0" tIns="0" rIns="0" bIns="0" rtlCol="0" anchor="ctr"/>
          <a:lstStyle/>
          <a:p>
            <a:pPr indent="0" marL="0">
              <a:buNone/>
            </a:pPr>
            <a:r>
              <a:rPr lang="en-US" sz="1200" i="1" dirty="0">
                <a:solidFill>
                  <a:srgbClr val="4A5B6C"/>
                </a:solidFill>
              </a:rPr>
              <a:t>Korxonaning ekologik muammolarga munosabati bo‘yicha tasnif</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0" y="1371600"/>
          <a:ext cx="7498080" cy="914400"/>
        </p:xfrm>
        <a:graphic>
          <a:graphicData uri="http://schemas.openxmlformats.org/drawingml/2006/table">
            <a:tbl>
              <a:tblPr/>
              <a:tblGrid>
                <a:gridCol w="1737360"/>
                <a:gridCol w="3566160"/>
                <a:gridCol w="2194560"/>
              </a:tblGrid>
              <a:tr h="548640">
                <a:tc>
                  <a:txBody>
                    <a:bodyPr/>
                    <a:lstStyle/>
                    <a:p>
                      <a:pPr algn="l" indent="0" marL="0">
                        <a:buNone/>
                      </a:pPr>
                      <a:r>
                        <a:rPr lang="en-US" sz="1300" b="1" dirty="0">
                          <a:solidFill>
                            <a:srgbClr val="FFFFFF"/>
                          </a:solidFill>
                        </a:rPr>
                        <a:t>Strategiya</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Mohiyati</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c>
                  <a:txBody>
                    <a:bodyPr/>
                    <a:lstStyle/>
                    <a:p>
                      <a:pPr algn="ctr" indent="0" marL="0">
                        <a:buNone/>
                      </a:pPr>
                      <a:r>
                        <a:rPr lang="en-US" sz="1300" b="1" dirty="0">
                          <a:solidFill>
                            <a:srgbClr val="FFFFFF"/>
                          </a:solidFill>
                        </a:rPr>
                        <a:t>Natija</a:t>
                      </a:r>
                      <a:endParaRPr lang="en-US" sz="130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0D2F4F"/>
                    </a:solidFill>
                  </a:tcPr>
                </a:tc>
              </a:tr>
              <a:tr h="548640">
                <a:tc>
                  <a:txBody>
                    <a:bodyPr/>
                    <a:lstStyle/>
                    <a:p>
                      <a:pPr algn="l" indent="0" marL="0">
                        <a:buNone/>
                      </a:pPr>
                      <a:r>
                        <a:rPr lang="en-US" sz="1250" b="1" dirty="0">
                          <a:solidFill>
                            <a:srgbClr val="0D2F4F"/>
                          </a:solidFill>
                        </a:rPr>
                        <a:t>Reaktiv</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ekologik talablarni e’tiborsiz qoldirish, faqat jarima bo‘lganda harakat qilish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jarimalar, obro‘ yo‘qotilishi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Himoyaviy</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qonun talablarini minimal darajada bajarish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xatar kamayadi, lekin ustunlik yo‘q</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Muvofiqlik</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standartlarga to‘liq rioya, ekologik menejment joriy etish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barqaror obro‘, bozorga kirish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r h="548640">
                <a:tc>
                  <a:txBody>
                    <a:bodyPr/>
                    <a:lstStyle/>
                    <a:p>
                      <a:pPr algn="l" indent="0" marL="0">
                        <a:buNone/>
                      </a:pPr>
                      <a:r>
                        <a:rPr lang="en-US" sz="1250" b="1" dirty="0">
                          <a:solidFill>
                            <a:srgbClr val="0D2F4F"/>
                          </a:solidFill>
                        </a:rPr>
                        <a:t>Proaktiv</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talablardan oldinga o‘tib, ifloslanishni manbada oldini olish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A"/>
                          </a:solidFill>
                        </a:rPr>
                        <a:t>xarajatlar tejalishi, ishonch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FFFFFF"/>
                    </a:solidFill>
                  </a:tcPr>
                </a:tc>
              </a:tr>
              <a:tr h="548640">
                <a:tc>
                  <a:txBody>
                    <a:bodyPr/>
                    <a:lstStyle/>
                    <a:p>
                      <a:pPr algn="l" indent="0" marL="0">
                        <a:buNone/>
                      </a:pPr>
                      <a:r>
                        <a:rPr lang="en-US" sz="1250" b="1" dirty="0">
                          <a:solidFill>
                            <a:srgbClr val="0D2F4F"/>
                          </a:solidFill>
                        </a:rPr>
                        <a:t>Innovatsion (“yashil”)</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ekologik toza mahsulot va texnologiyalarni biznes asosi qilish</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c>
                  <a:txBody>
                    <a:bodyPr/>
                    <a:lstStyle/>
                    <a:p>
                      <a:pPr algn="l" indent="0" marL="0">
                        <a:buNone/>
                      </a:pPr>
                      <a:r>
                        <a:rPr lang="en-US" sz="1250" dirty="0">
                          <a:solidFill>
                            <a:srgbClr val="1B2A3A"/>
                          </a:solidFill>
                        </a:rPr>
                        <a:t>yangi bozorlar, raqobat ustunligi</a:t>
                      </a:r>
                      <a:endParaRPr lang="en-US" sz="1250" dirty="0"/>
                    </a:p>
                  </a:txBody>
                  <a:tcPr marL="54864" marR="54864" marT="54864" marB="54864" anchor="ctr">
                    <a:lnL w="9525" cap="flat" cmpd="sng" algn="ctr">
                      <a:solidFill>
                        <a:srgbClr val="C9DDE3"/>
                      </a:solidFill>
                      <a:prstDash val="solid"/>
                      <a:round/>
                      <a:headEnd type="none" w="med" len="med"/>
                      <a:tailEnd type="none" w="med" len="med"/>
                    </a:lnL>
                    <a:lnR w="9525" cap="flat" cmpd="sng" algn="ctr">
                      <a:solidFill>
                        <a:srgbClr val="C9DDE3"/>
                      </a:solidFill>
                      <a:prstDash val="solid"/>
                      <a:round/>
                      <a:headEnd type="none" w="med" len="med"/>
                      <a:tailEnd type="none" w="med" len="med"/>
                    </a:lnR>
                    <a:lnT w="9525" cap="flat" cmpd="sng" algn="ctr">
                      <a:solidFill>
                        <a:srgbClr val="C9DDE3"/>
                      </a:solidFill>
                      <a:prstDash val="solid"/>
                      <a:round/>
                      <a:headEnd type="none" w="med" len="med"/>
                      <a:tailEnd type="none" w="med" len="med"/>
                    </a:lnT>
                    <a:lnB w="9525" cap="flat" cmpd="sng" algn="ctr">
                      <a:solidFill>
                        <a:srgbClr val="C9DDE3"/>
                      </a:solidFill>
                      <a:prstDash val="solid"/>
                      <a:round/>
                      <a:headEnd type="none" w="med" len="med"/>
                      <a:tailEnd type="none" w="med" len="med"/>
                    </a:lnB>
                    <a:solidFill>
                      <a:srgbClr val="E8F3F6"/>
                    </a:solidFill>
                  </a:tcPr>
                </a:tc>
              </a:tr>
            </a:tbl>
          </a:graphicData>
        </a:graphic>
      </p:graphicFrame>
      <p:sp>
        <p:nvSpPr>
          <p:cNvPr id="6" name="Shape 2"/>
          <p:cNvSpPr/>
          <p:nvPr/>
        </p:nvSpPr>
        <p:spPr>
          <a:xfrm>
            <a:off x="4114800" y="5486400"/>
            <a:ext cx="7498080" cy="731520"/>
          </a:xfrm>
          <a:prstGeom prst="roundRect">
            <a:avLst>
              <a:gd name="adj" fmla="val 15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7" name="Text 3"/>
          <p:cNvSpPr txBox="1"/>
          <p:nvPr/>
        </p:nvSpPr>
        <p:spPr>
          <a:xfrm>
            <a:off x="4297680" y="5532120"/>
            <a:ext cx="7132320" cy="640080"/>
          </a:xfrm>
          <a:prstGeom prst="rect">
            <a:avLst/>
          </a:prstGeom>
          <a:noFill/>
          <a:ln/>
        </p:spPr>
        <p:txBody>
          <a:bodyPr wrap="square" lIns="0" tIns="0" rIns="0" bIns="0" rtlCol="0" anchor="ctr"/>
          <a:lstStyle/>
          <a:p>
            <a:pPr indent="0" marL="0">
              <a:buNone/>
            </a:pPr>
            <a:r>
              <a:rPr lang="en-US" sz="1400" dirty="0">
                <a:solidFill>
                  <a:srgbClr val="1B2A3A"/>
                </a:solidFill>
                <a:latin typeface="Calibri" pitchFamily="34" charset="0"/>
                <a:ea typeface="Calibri" pitchFamily="34" charset="-122"/>
                <a:cs typeface="Calibri" pitchFamily="34" charset="-120"/>
              </a:rPr>
              <a:t>Zamonaviy tendensiya: </a:t>
            </a:r>
            <a:pPr indent="0" marL="0">
              <a:buNone/>
            </a:pPr>
            <a:r>
              <a:rPr lang="en-US" sz="1400" b="1" dirty="0">
                <a:solidFill>
                  <a:srgbClr val="0D2F4F"/>
                </a:solidFill>
                <a:latin typeface="Calibri" pitchFamily="34" charset="0"/>
                <a:ea typeface="Calibri" pitchFamily="34" charset="-122"/>
                <a:cs typeface="Calibri" pitchFamily="34" charset="-120"/>
              </a:rPr>
              <a:t>reaktivdan proaktiv va innovatsion</a:t>
            </a:r>
            <a:pPr indent="0" marL="0">
              <a:buNone/>
            </a:pPr>
            <a:r>
              <a:rPr lang="en-US" sz="1400" dirty="0">
                <a:solidFill>
                  <a:srgbClr val="1B2A3A"/>
                </a:solidFill>
                <a:latin typeface="Calibri" pitchFamily="34" charset="0"/>
                <a:ea typeface="Calibri" pitchFamily="34" charset="-122"/>
                <a:cs typeface="Calibri" pitchFamily="34" charset="-120"/>
              </a:rPr>
              <a:t> strategiyaga o‘tish.</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3. Ekologik menejment tizimi (ISO 14001)</a:t>
            </a:r>
            <a:endParaRPr lang="en-US" sz="3000" dirty="0"/>
          </a:p>
        </p:txBody>
      </p:sp>
      <p:sp>
        <p:nvSpPr>
          <p:cNvPr id="3" name="Shape 1"/>
          <p:cNvSpPr/>
          <p:nvPr/>
        </p:nvSpPr>
        <p:spPr>
          <a:xfrm>
            <a:off x="548640" y="1371600"/>
            <a:ext cx="2212848" cy="685800"/>
          </a:xfrm>
          <a:prstGeom prst="homePlate">
            <a:avLst/>
          </a:prstGeom>
          <a:solidFill>
            <a:srgbClr val="0E9F9A"/>
          </a:solidFill>
          <a:ln w="12700">
            <a:solidFill>
              <a:srgbClr val="FFFFFF"/>
            </a:solidFill>
            <a:prstDash val="solid"/>
          </a:ln>
        </p:spPr>
      </p:sp>
      <p:sp>
        <p:nvSpPr>
          <p:cNvPr id="4" name="Text 2"/>
          <p:cNvSpPr txBox="1"/>
          <p:nvPr/>
        </p:nvSpPr>
        <p:spPr>
          <a:xfrm>
            <a:off x="731520"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1-bosqich</a:t>
            </a:r>
            <a:endParaRPr lang="en-US" sz="1400" dirty="0"/>
          </a:p>
        </p:txBody>
      </p:sp>
      <p:sp>
        <p:nvSpPr>
          <p:cNvPr id="5" name="Shape 3"/>
          <p:cNvSpPr/>
          <p:nvPr/>
        </p:nvSpPr>
        <p:spPr>
          <a:xfrm>
            <a:off x="594360"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6" name="Shape 4"/>
          <p:cNvSpPr/>
          <p:nvPr/>
        </p:nvSpPr>
        <p:spPr>
          <a:xfrm>
            <a:off x="731520" y="2377440"/>
            <a:ext cx="457200" cy="45720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50392" y="2496312"/>
            <a:ext cx="219456" cy="219456"/>
          </a:xfrm>
          <a:prstGeom prst="rect">
            <a:avLst/>
          </a:prstGeom>
        </p:spPr>
      </p:pic>
      <p:sp>
        <p:nvSpPr>
          <p:cNvPr id="8" name="Text 5"/>
          <p:cNvSpPr txBox="1"/>
          <p:nvPr/>
        </p:nvSpPr>
        <p:spPr>
          <a:xfrm>
            <a:off x="1280160"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Ekologik siyosat</a:t>
            </a:r>
            <a:endParaRPr lang="en-US" sz="1350" dirty="0"/>
          </a:p>
        </p:txBody>
      </p:sp>
      <p:sp>
        <p:nvSpPr>
          <p:cNvPr id="9" name="Text 6"/>
          <p:cNvSpPr txBox="1"/>
          <p:nvPr/>
        </p:nvSpPr>
        <p:spPr>
          <a:xfrm>
            <a:off x="731520"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rahbariyatning atrof-muhitni muhofaza qilish bo‘yicha majburiyatlari</a:t>
            </a:r>
            <a:endParaRPr lang="en-US" sz="1300" dirty="0"/>
          </a:p>
        </p:txBody>
      </p:sp>
      <p:sp>
        <p:nvSpPr>
          <p:cNvPr id="10" name="Shape 7"/>
          <p:cNvSpPr/>
          <p:nvPr/>
        </p:nvSpPr>
        <p:spPr>
          <a:xfrm>
            <a:off x="2761488" y="1371600"/>
            <a:ext cx="2212848" cy="685800"/>
          </a:xfrm>
          <a:prstGeom prst="chevron">
            <a:avLst/>
          </a:prstGeom>
          <a:solidFill>
            <a:srgbClr val="0D2F4F"/>
          </a:solidFill>
          <a:ln w="12700">
            <a:solidFill>
              <a:srgbClr val="FFFFFF"/>
            </a:solidFill>
            <a:prstDash val="solid"/>
          </a:ln>
        </p:spPr>
      </p:sp>
      <p:sp>
        <p:nvSpPr>
          <p:cNvPr id="11" name="Text 8"/>
          <p:cNvSpPr txBox="1"/>
          <p:nvPr/>
        </p:nvSpPr>
        <p:spPr>
          <a:xfrm>
            <a:off x="3218688"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2-bosqich</a:t>
            </a:r>
            <a:endParaRPr lang="en-US" sz="1400" dirty="0"/>
          </a:p>
        </p:txBody>
      </p:sp>
      <p:sp>
        <p:nvSpPr>
          <p:cNvPr id="12" name="Shape 9"/>
          <p:cNvSpPr/>
          <p:nvPr/>
        </p:nvSpPr>
        <p:spPr>
          <a:xfrm>
            <a:off x="2807208"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3" name="Shape 10"/>
          <p:cNvSpPr/>
          <p:nvPr/>
        </p:nvSpPr>
        <p:spPr>
          <a:xfrm>
            <a:off x="2944368" y="2377440"/>
            <a:ext cx="457200" cy="457200"/>
          </a:xfrm>
          <a:prstGeom prst="ellipse">
            <a:avLst/>
          </a:prstGeom>
          <a:solidFill>
            <a:srgbClr val="F2A541"/>
          </a:solidFill>
          <a:ln w="12700">
            <a:solidFill>
              <a:srgbClr val="F2A541"/>
            </a:solidFill>
            <a:prstDash val="solid"/>
          </a:ln>
        </p:spPr>
      </p:sp>
      <p:pic>
        <p:nvPicPr>
          <p:cNvPr id="14" name="Image 1" descr="preencoded.png">    </p:cNvPr>
          <p:cNvPicPr>
            <a:picLocks noChangeAspect="1"/>
          </p:cNvPicPr>
          <p:nvPr/>
        </p:nvPicPr>
        <p:blipFill>
          <a:blip r:embed="rId2"/>
          <a:stretch>
            <a:fillRect/>
          </a:stretch>
        </p:blipFill>
        <p:spPr>
          <a:xfrm>
            <a:off x="3063240" y="2496312"/>
            <a:ext cx="219456" cy="219456"/>
          </a:xfrm>
          <a:prstGeom prst="rect">
            <a:avLst/>
          </a:prstGeom>
        </p:spPr>
      </p:pic>
      <p:sp>
        <p:nvSpPr>
          <p:cNvPr id="15" name="Text 11"/>
          <p:cNvSpPr txBox="1"/>
          <p:nvPr/>
        </p:nvSpPr>
        <p:spPr>
          <a:xfrm>
            <a:off x="3493008"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Rejalashtirish</a:t>
            </a:r>
            <a:endParaRPr lang="en-US" sz="1350" dirty="0"/>
          </a:p>
        </p:txBody>
      </p:sp>
      <p:sp>
        <p:nvSpPr>
          <p:cNvPr id="16" name="Text 12"/>
          <p:cNvSpPr txBox="1"/>
          <p:nvPr/>
        </p:nvSpPr>
        <p:spPr>
          <a:xfrm>
            <a:off x="2944368"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ekologik aspektlar, qonun talablari va maqsadlarni aniqlash</a:t>
            </a:r>
            <a:endParaRPr lang="en-US" sz="1300" dirty="0"/>
          </a:p>
        </p:txBody>
      </p:sp>
      <p:sp>
        <p:nvSpPr>
          <p:cNvPr id="17" name="Shape 13"/>
          <p:cNvSpPr/>
          <p:nvPr/>
        </p:nvSpPr>
        <p:spPr>
          <a:xfrm>
            <a:off x="4974336" y="1371600"/>
            <a:ext cx="2212848" cy="685800"/>
          </a:xfrm>
          <a:prstGeom prst="chevron">
            <a:avLst/>
          </a:prstGeom>
          <a:solidFill>
            <a:srgbClr val="0E9F9A"/>
          </a:solidFill>
          <a:ln w="12700">
            <a:solidFill>
              <a:srgbClr val="FFFFFF"/>
            </a:solidFill>
            <a:prstDash val="solid"/>
          </a:ln>
        </p:spPr>
      </p:sp>
      <p:sp>
        <p:nvSpPr>
          <p:cNvPr id="18" name="Text 14"/>
          <p:cNvSpPr txBox="1"/>
          <p:nvPr/>
        </p:nvSpPr>
        <p:spPr>
          <a:xfrm>
            <a:off x="5431536"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3-bosqich</a:t>
            </a:r>
            <a:endParaRPr lang="en-US" sz="1400" dirty="0"/>
          </a:p>
        </p:txBody>
      </p:sp>
      <p:sp>
        <p:nvSpPr>
          <p:cNvPr id="19" name="Shape 15"/>
          <p:cNvSpPr/>
          <p:nvPr/>
        </p:nvSpPr>
        <p:spPr>
          <a:xfrm>
            <a:off x="5020056"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0" name="Shape 16"/>
          <p:cNvSpPr/>
          <p:nvPr/>
        </p:nvSpPr>
        <p:spPr>
          <a:xfrm>
            <a:off x="5157216" y="2377440"/>
            <a:ext cx="457200" cy="457200"/>
          </a:xfrm>
          <a:prstGeom prst="ellipse">
            <a:avLst/>
          </a:prstGeom>
          <a:solidFill>
            <a:srgbClr val="F2A541"/>
          </a:solidFill>
          <a:ln w="12700">
            <a:solidFill>
              <a:srgbClr val="F2A541"/>
            </a:solidFill>
            <a:prstDash val="solid"/>
          </a:ln>
        </p:spPr>
      </p:sp>
      <p:pic>
        <p:nvPicPr>
          <p:cNvPr id="21" name="Image 2" descr="preencoded.png">    </p:cNvPr>
          <p:cNvPicPr>
            <a:picLocks noChangeAspect="1"/>
          </p:cNvPicPr>
          <p:nvPr/>
        </p:nvPicPr>
        <p:blipFill>
          <a:blip r:embed="rId3"/>
          <a:stretch>
            <a:fillRect/>
          </a:stretch>
        </p:blipFill>
        <p:spPr>
          <a:xfrm>
            <a:off x="5276088" y="2496312"/>
            <a:ext cx="219456" cy="219456"/>
          </a:xfrm>
          <a:prstGeom prst="rect">
            <a:avLst/>
          </a:prstGeom>
        </p:spPr>
      </p:pic>
      <p:sp>
        <p:nvSpPr>
          <p:cNvPr id="22" name="Text 17"/>
          <p:cNvSpPr txBox="1"/>
          <p:nvPr/>
        </p:nvSpPr>
        <p:spPr>
          <a:xfrm>
            <a:off x="5705856"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Joriy etish</a:t>
            </a:r>
            <a:endParaRPr lang="en-US" sz="1350" dirty="0"/>
          </a:p>
        </p:txBody>
      </p:sp>
      <p:sp>
        <p:nvSpPr>
          <p:cNvPr id="23" name="Text 18"/>
          <p:cNvSpPr txBox="1"/>
          <p:nvPr/>
        </p:nvSpPr>
        <p:spPr>
          <a:xfrm>
            <a:off x="5157216"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mas’ullar, o‘qitish, hujjatlar, favqulodda holatlarga tayyorgarlik</a:t>
            </a:r>
            <a:endParaRPr lang="en-US" sz="1300" dirty="0"/>
          </a:p>
        </p:txBody>
      </p:sp>
      <p:sp>
        <p:nvSpPr>
          <p:cNvPr id="24" name="Shape 19"/>
          <p:cNvSpPr/>
          <p:nvPr/>
        </p:nvSpPr>
        <p:spPr>
          <a:xfrm>
            <a:off x="7187184" y="1371600"/>
            <a:ext cx="2212848" cy="685800"/>
          </a:xfrm>
          <a:prstGeom prst="chevron">
            <a:avLst/>
          </a:prstGeom>
          <a:solidFill>
            <a:srgbClr val="0D2F4F"/>
          </a:solidFill>
          <a:ln w="12700">
            <a:solidFill>
              <a:srgbClr val="FFFFFF"/>
            </a:solidFill>
            <a:prstDash val="solid"/>
          </a:ln>
        </p:spPr>
      </p:sp>
      <p:sp>
        <p:nvSpPr>
          <p:cNvPr id="25" name="Text 20"/>
          <p:cNvSpPr txBox="1"/>
          <p:nvPr/>
        </p:nvSpPr>
        <p:spPr>
          <a:xfrm>
            <a:off x="7644384"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4-bosqich</a:t>
            </a:r>
            <a:endParaRPr lang="en-US" sz="1400" dirty="0"/>
          </a:p>
        </p:txBody>
      </p:sp>
      <p:sp>
        <p:nvSpPr>
          <p:cNvPr id="26" name="Shape 21"/>
          <p:cNvSpPr/>
          <p:nvPr/>
        </p:nvSpPr>
        <p:spPr>
          <a:xfrm>
            <a:off x="7232904"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7" name="Shape 22"/>
          <p:cNvSpPr/>
          <p:nvPr/>
        </p:nvSpPr>
        <p:spPr>
          <a:xfrm>
            <a:off x="7370064" y="2377440"/>
            <a:ext cx="457200" cy="45720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7488936" y="2496312"/>
            <a:ext cx="219456" cy="219456"/>
          </a:xfrm>
          <a:prstGeom prst="rect">
            <a:avLst/>
          </a:prstGeom>
        </p:spPr>
      </p:pic>
      <p:sp>
        <p:nvSpPr>
          <p:cNvPr id="29" name="Text 23"/>
          <p:cNvSpPr txBox="1"/>
          <p:nvPr/>
        </p:nvSpPr>
        <p:spPr>
          <a:xfrm>
            <a:off x="7918704"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Monitoring</a:t>
            </a:r>
            <a:endParaRPr lang="en-US" sz="1350" dirty="0"/>
          </a:p>
        </p:txBody>
      </p:sp>
      <p:sp>
        <p:nvSpPr>
          <p:cNvPr id="30" name="Text 24"/>
          <p:cNvSpPr txBox="1"/>
          <p:nvPr/>
        </p:nvSpPr>
        <p:spPr>
          <a:xfrm>
            <a:off x="7370064"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chiqindilar, emissiya, energiya sarfini o‘lchash, ichki audit</a:t>
            </a:r>
            <a:endParaRPr lang="en-US" sz="1300" dirty="0"/>
          </a:p>
        </p:txBody>
      </p:sp>
      <p:sp>
        <p:nvSpPr>
          <p:cNvPr id="31" name="Shape 25"/>
          <p:cNvSpPr/>
          <p:nvPr/>
        </p:nvSpPr>
        <p:spPr>
          <a:xfrm>
            <a:off x="9400032" y="1371600"/>
            <a:ext cx="2212848" cy="685800"/>
          </a:xfrm>
          <a:prstGeom prst="chevron">
            <a:avLst/>
          </a:prstGeom>
          <a:solidFill>
            <a:srgbClr val="0E9F9A"/>
          </a:solidFill>
          <a:ln w="12700">
            <a:solidFill>
              <a:srgbClr val="FFFFFF"/>
            </a:solidFill>
            <a:prstDash val="solid"/>
          </a:ln>
        </p:spPr>
      </p:sp>
      <p:sp>
        <p:nvSpPr>
          <p:cNvPr id="32" name="Text 26"/>
          <p:cNvSpPr txBox="1"/>
          <p:nvPr/>
        </p:nvSpPr>
        <p:spPr>
          <a:xfrm>
            <a:off x="9857232" y="1371600"/>
            <a:ext cx="1463040" cy="685800"/>
          </a:xfrm>
          <a:prstGeom prst="rect">
            <a:avLst/>
          </a:prstGeom>
          <a:noFill/>
          <a:ln/>
        </p:spPr>
        <p:txBody>
          <a:bodyPr wrap="square" lIns="0" tIns="0" rIns="0" bIns="0" rtlCol="0" anchor="ctr"/>
          <a:lstStyle/>
          <a:p>
            <a:pPr indent="0" marL="0">
              <a:buNone/>
            </a:pPr>
            <a:r>
              <a:rPr lang="en-US" sz="1400" b="1" dirty="0">
                <a:solidFill>
                  <a:srgbClr val="FFFFFF"/>
                </a:solidFill>
              </a:rPr>
              <a:t>5-bosqich</a:t>
            </a:r>
            <a:endParaRPr lang="en-US" sz="1400" dirty="0"/>
          </a:p>
        </p:txBody>
      </p:sp>
      <p:sp>
        <p:nvSpPr>
          <p:cNvPr id="33" name="Shape 27"/>
          <p:cNvSpPr/>
          <p:nvPr/>
        </p:nvSpPr>
        <p:spPr>
          <a:xfrm>
            <a:off x="9445752" y="2240280"/>
            <a:ext cx="2057400" cy="2103120"/>
          </a:xfrm>
          <a:prstGeom prst="roundRect">
            <a:avLst>
              <a:gd name="adj" fmla="val 5333"/>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8"/>
          <p:cNvSpPr/>
          <p:nvPr/>
        </p:nvSpPr>
        <p:spPr>
          <a:xfrm>
            <a:off x="9582912" y="2377440"/>
            <a:ext cx="457200" cy="457200"/>
          </a:xfrm>
          <a:prstGeom prst="ellipse">
            <a:avLst/>
          </a:prstGeom>
          <a:solidFill>
            <a:srgbClr val="F2A541"/>
          </a:solidFill>
          <a:ln w="12700">
            <a:solidFill>
              <a:srgbClr val="F2A541"/>
            </a:solidFill>
            <a:prstDash val="solid"/>
          </a:ln>
        </p:spPr>
      </p:sp>
      <p:pic>
        <p:nvPicPr>
          <p:cNvPr id="35" name="Image 4" descr="preencoded.png">    </p:cNvPr>
          <p:cNvPicPr>
            <a:picLocks noChangeAspect="1"/>
          </p:cNvPicPr>
          <p:nvPr/>
        </p:nvPicPr>
        <p:blipFill>
          <a:blip r:embed="rId5"/>
          <a:stretch>
            <a:fillRect/>
          </a:stretch>
        </p:blipFill>
        <p:spPr>
          <a:xfrm>
            <a:off x="9701784" y="2496312"/>
            <a:ext cx="219456" cy="219456"/>
          </a:xfrm>
          <a:prstGeom prst="rect">
            <a:avLst/>
          </a:prstGeom>
        </p:spPr>
      </p:pic>
      <p:sp>
        <p:nvSpPr>
          <p:cNvPr id="36" name="Text 29"/>
          <p:cNvSpPr txBox="1"/>
          <p:nvPr/>
        </p:nvSpPr>
        <p:spPr>
          <a:xfrm>
            <a:off x="10131552" y="2331720"/>
            <a:ext cx="1325880" cy="548640"/>
          </a:xfrm>
          <a:prstGeom prst="rect">
            <a:avLst/>
          </a:prstGeom>
          <a:noFill/>
          <a:ln/>
        </p:spPr>
        <p:txBody>
          <a:bodyPr wrap="square" lIns="0" tIns="0" rIns="0" bIns="0" rtlCol="0" anchor="ctr"/>
          <a:lstStyle/>
          <a:p>
            <a:pPr indent="0" marL="0">
              <a:buNone/>
            </a:pPr>
            <a:r>
              <a:rPr lang="en-US" sz="1350" b="1" dirty="0">
                <a:solidFill>
                  <a:srgbClr val="0D2F4F"/>
                </a:solidFill>
              </a:rPr>
              <a:t>Rahbariyat tahlili</a:t>
            </a:r>
            <a:endParaRPr lang="en-US" sz="1350" dirty="0"/>
          </a:p>
        </p:txBody>
      </p:sp>
      <p:sp>
        <p:nvSpPr>
          <p:cNvPr id="37" name="Text 30"/>
          <p:cNvSpPr txBox="1"/>
          <p:nvPr/>
        </p:nvSpPr>
        <p:spPr>
          <a:xfrm>
            <a:off x="9582912" y="2971800"/>
            <a:ext cx="1783080" cy="132588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natijalarni baholash va tizimni uzluksiz takomillashtirish</a:t>
            </a:r>
            <a:endParaRPr lang="en-US" sz="1300" dirty="0"/>
          </a:p>
        </p:txBody>
      </p:sp>
      <p:pic>
        <p:nvPicPr>
          <p:cNvPr id="38" name="Image 5" descr="img13/steps.png">    </p:cNvPr>
          <p:cNvPicPr>
            <a:picLocks noChangeAspect="1"/>
          </p:cNvPicPr>
          <p:nvPr/>
        </p:nvPicPr>
        <p:blipFill>
          <a:blip r:embed="rId6"/>
          <a:stretch>
            <a:fillRect/>
          </a:stretch>
        </p:blipFill>
        <p:spPr>
          <a:xfrm>
            <a:off x="548640" y="4526280"/>
            <a:ext cx="2194560" cy="1709928"/>
          </a:xfrm>
          <a:prstGeom prst="rect">
            <a:avLst/>
          </a:prstGeom>
        </p:spPr>
      </p:pic>
      <p:sp>
        <p:nvSpPr>
          <p:cNvPr id="39" name="Text 31"/>
          <p:cNvSpPr txBox="1"/>
          <p:nvPr/>
        </p:nvSpPr>
        <p:spPr>
          <a:xfrm>
            <a:off x="3017520" y="4526280"/>
            <a:ext cx="8595360" cy="1737360"/>
          </a:xfrm>
          <a:prstGeom prst="rect">
            <a:avLst/>
          </a:prstGeom>
          <a:noFill/>
          <a:ln/>
        </p:spPr>
        <p:txBody>
          <a:bodyPr wrap="square" lIns="0" tIns="0" rIns="0" bIns="0" rtlCol="0" anchor="t"/>
          <a:lstStyle/>
          <a:p>
            <a:pPr indent="0" marL="0">
              <a:buNone/>
            </a:pPr>
            <a:r>
              <a:rPr lang="en-US" sz="1400" b="1" dirty="0">
                <a:solidFill>
                  <a:srgbClr val="0E9F9A"/>
                </a:solidFill>
                <a:latin typeface="Calibri" pitchFamily="34" charset="0"/>
                <a:ea typeface="Calibri" pitchFamily="34" charset="-122"/>
                <a:cs typeface="Calibri" pitchFamily="34" charset="-120"/>
              </a:rPr>
              <a:t>ISO 14001</a:t>
            </a:r>
            <a:pPr indent="0" marL="0">
              <a:buNone/>
            </a:pPr>
            <a:r>
              <a:rPr lang="en-US" sz="1400" dirty="0">
                <a:solidFill>
                  <a:srgbClr val="1B2A3A"/>
                </a:solidFill>
                <a:latin typeface="Calibri" pitchFamily="34" charset="0"/>
                <a:ea typeface="Calibri" pitchFamily="34" charset="-122"/>
                <a:cs typeface="Calibri" pitchFamily="34" charset="-120"/>
              </a:rPr>
              <a:t> (amaldagi tahriri – 2015-yil) – ekologik menejment tizimiga qo‘yiladigan talablarni belgilovchi xalqaro standart. U PDCA sikliga asoslanadi va korxonaga ekologik xatarlarni boshqarish, resurslarni tejash, qonunchilikka rioya qilishni kafolatlash hamda xalqaro bozorlarda ishonch qozonish imkonini beradi. Standart bo‘yicha sertifikat mustaqil sertifikatlash organlari tomonidan beriladi.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4. Ekologik strategiyani joriy etish yo‘llari</a:t>
            </a:r>
            <a:endParaRPr lang="en-US" sz="3000" dirty="0"/>
          </a:p>
        </p:txBody>
      </p:sp>
      <p:sp>
        <p:nvSpPr>
          <p:cNvPr id="3" name="Shape 1"/>
          <p:cNvSpPr/>
          <p:nvPr/>
        </p:nvSpPr>
        <p:spPr>
          <a:xfrm>
            <a:off x="54864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Shape 2"/>
          <p:cNvSpPr/>
          <p:nvPr/>
        </p:nvSpPr>
        <p:spPr>
          <a:xfrm>
            <a:off x="713232" y="1536192"/>
            <a:ext cx="566928" cy="566928"/>
          </a:xfrm>
          <a:prstGeom prst="ellipse">
            <a:avLst/>
          </a:prstGeom>
          <a:solidFill>
            <a:srgbClr val="0E9F9A"/>
          </a:solidFill>
          <a:ln w="12700">
            <a:solidFill>
              <a:srgbClr val="0E9F9A"/>
            </a:solidFill>
            <a:prstDash val="solid"/>
          </a:ln>
        </p:spPr>
      </p:sp>
      <p:pic>
        <p:nvPicPr>
          <p:cNvPr id="5" name="Image 0" descr="preencoded.png">    </p:cNvPr>
          <p:cNvPicPr>
            <a:picLocks noChangeAspect="1"/>
          </p:cNvPicPr>
          <p:nvPr/>
        </p:nvPicPr>
        <p:blipFill>
          <a:blip r:embed="rId1"/>
          <a:stretch>
            <a:fillRect/>
          </a:stretch>
        </p:blipFill>
        <p:spPr>
          <a:xfrm>
            <a:off x="860633" y="1683593"/>
            <a:ext cx="272125" cy="272125"/>
          </a:xfrm>
          <a:prstGeom prst="rect">
            <a:avLst/>
          </a:prstGeom>
        </p:spPr>
      </p:pic>
      <p:sp>
        <p:nvSpPr>
          <p:cNvPr id="6" name="Text 3"/>
          <p:cNvSpPr txBox="1"/>
          <p:nvPr/>
        </p:nvSpPr>
        <p:spPr>
          <a:xfrm>
            <a:off x="137160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Energiya samaradorligi</a:t>
            </a:r>
            <a:endParaRPr lang="en-US" sz="1450" dirty="0"/>
          </a:p>
        </p:txBody>
      </p:sp>
      <p:sp>
        <p:nvSpPr>
          <p:cNvPr id="7" name="Text 4"/>
          <p:cNvSpPr txBox="1"/>
          <p:nvPr/>
        </p:nvSpPr>
        <p:spPr>
          <a:xfrm>
            <a:off x="71323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LED yoritish, energiya tejovchi uskunalar, issiqlik izolyatsiyasi</a:t>
            </a:r>
            <a:endParaRPr lang="en-US" sz="1350" dirty="0"/>
          </a:p>
        </p:txBody>
      </p:sp>
      <p:sp>
        <p:nvSpPr>
          <p:cNvPr id="8" name="Shape 5"/>
          <p:cNvSpPr/>
          <p:nvPr/>
        </p:nvSpPr>
        <p:spPr>
          <a:xfrm>
            <a:off x="333756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3502152" y="1536192"/>
            <a:ext cx="566928" cy="566928"/>
          </a:xfrm>
          <a:prstGeom prst="ellipse">
            <a:avLst/>
          </a:prstGeom>
          <a:solidFill>
            <a:srgbClr val="0D2F4F"/>
          </a:solidFill>
          <a:ln w="12700">
            <a:solidFill>
              <a:srgbClr val="0D2F4F"/>
            </a:solidFill>
            <a:prstDash val="solid"/>
          </a:ln>
        </p:spPr>
      </p:sp>
      <p:pic>
        <p:nvPicPr>
          <p:cNvPr id="10" name="Image 1" descr="preencoded.png">    </p:cNvPr>
          <p:cNvPicPr>
            <a:picLocks noChangeAspect="1"/>
          </p:cNvPicPr>
          <p:nvPr/>
        </p:nvPicPr>
        <p:blipFill>
          <a:blip r:embed="rId2"/>
          <a:stretch>
            <a:fillRect/>
          </a:stretch>
        </p:blipFill>
        <p:spPr>
          <a:xfrm>
            <a:off x="3649553" y="1683593"/>
            <a:ext cx="272125" cy="272125"/>
          </a:xfrm>
          <a:prstGeom prst="rect">
            <a:avLst/>
          </a:prstGeom>
        </p:spPr>
      </p:pic>
      <p:sp>
        <p:nvSpPr>
          <p:cNvPr id="11" name="Text 7"/>
          <p:cNvSpPr txBox="1"/>
          <p:nvPr/>
        </p:nvSpPr>
        <p:spPr>
          <a:xfrm>
            <a:off x="416052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Qayta tiklanuvchi energiya</a:t>
            </a:r>
            <a:endParaRPr lang="en-US" sz="1450" dirty="0"/>
          </a:p>
        </p:txBody>
      </p:sp>
      <p:sp>
        <p:nvSpPr>
          <p:cNvPr id="12" name="Text 8"/>
          <p:cNvSpPr txBox="1"/>
          <p:nvPr/>
        </p:nvSpPr>
        <p:spPr>
          <a:xfrm>
            <a:off x="350215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quyosh panellari va shamol energiyasidan foydalanish</a:t>
            </a:r>
            <a:endParaRPr lang="en-US" sz="1350" dirty="0"/>
          </a:p>
        </p:txBody>
      </p:sp>
      <p:sp>
        <p:nvSpPr>
          <p:cNvPr id="13" name="Shape 9"/>
          <p:cNvSpPr/>
          <p:nvPr/>
        </p:nvSpPr>
        <p:spPr>
          <a:xfrm>
            <a:off x="612648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Shape 10"/>
          <p:cNvSpPr/>
          <p:nvPr/>
        </p:nvSpPr>
        <p:spPr>
          <a:xfrm>
            <a:off x="6291072" y="1536192"/>
            <a:ext cx="566928" cy="566928"/>
          </a:xfrm>
          <a:prstGeom prst="ellipse">
            <a:avLst/>
          </a:prstGeom>
          <a:solidFill>
            <a:srgbClr val="0E9F9A"/>
          </a:solidFill>
          <a:ln w="12700">
            <a:solidFill>
              <a:srgbClr val="0E9F9A"/>
            </a:solidFill>
            <a:prstDash val="solid"/>
          </a:ln>
        </p:spPr>
      </p:sp>
      <p:pic>
        <p:nvPicPr>
          <p:cNvPr id="15" name="Image 2" descr="preencoded.png">    </p:cNvPr>
          <p:cNvPicPr>
            <a:picLocks noChangeAspect="1"/>
          </p:cNvPicPr>
          <p:nvPr/>
        </p:nvPicPr>
        <p:blipFill>
          <a:blip r:embed="rId3"/>
          <a:stretch>
            <a:fillRect/>
          </a:stretch>
        </p:blipFill>
        <p:spPr>
          <a:xfrm>
            <a:off x="6438473" y="1683593"/>
            <a:ext cx="272125" cy="272125"/>
          </a:xfrm>
          <a:prstGeom prst="rect">
            <a:avLst/>
          </a:prstGeom>
        </p:spPr>
      </p:pic>
      <p:sp>
        <p:nvSpPr>
          <p:cNvPr id="16" name="Text 11"/>
          <p:cNvSpPr txBox="1"/>
          <p:nvPr/>
        </p:nvSpPr>
        <p:spPr>
          <a:xfrm>
            <a:off x="694944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Chiqindilarni qayta ishlash</a:t>
            </a:r>
            <a:endParaRPr lang="en-US" sz="1450" dirty="0"/>
          </a:p>
        </p:txBody>
      </p:sp>
      <p:sp>
        <p:nvSpPr>
          <p:cNvPr id="17" name="Text 12"/>
          <p:cNvSpPr txBox="1"/>
          <p:nvPr/>
        </p:nvSpPr>
        <p:spPr>
          <a:xfrm>
            <a:off x="629107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saralash, qayta foydalanish, aylanma iqtisodiyot tamoyillari</a:t>
            </a:r>
            <a:endParaRPr lang="en-US" sz="1350" dirty="0"/>
          </a:p>
        </p:txBody>
      </p:sp>
      <p:sp>
        <p:nvSpPr>
          <p:cNvPr id="18" name="Shape 13"/>
          <p:cNvSpPr/>
          <p:nvPr/>
        </p:nvSpPr>
        <p:spPr>
          <a:xfrm>
            <a:off x="8915400" y="137160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9" name="Shape 14"/>
          <p:cNvSpPr/>
          <p:nvPr/>
        </p:nvSpPr>
        <p:spPr>
          <a:xfrm>
            <a:off x="9079992" y="1536192"/>
            <a:ext cx="566928" cy="566928"/>
          </a:xfrm>
          <a:prstGeom prst="ellipse">
            <a:avLst/>
          </a:prstGeom>
          <a:solidFill>
            <a:srgbClr val="0D2F4F"/>
          </a:solidFill>
          <a:ln w="12700">
            <a:solidFill>
              <a:srgbClr val="0D2F4F"/>
            </a:solidFill>
            <a:prstDash val="solid"/>
          </a:ln>
        </p:spPr>
      </p:sp>
      <p:pic>
        <p:nvPicPr>
          <p:cNvPr id="20" name="Image 3" descr="preencoded.png">    </p:cNvPr>
          <p:cNvPicPr>
            <a:picLocks noChangeAspect="1"/>
          </p:cNvPicPr>
          <p:nvPr/>
        </p:nvPicPr>
        <p:blipFill>
          <a:blip r:embed="rId4"/>
          <a:stretch>
            <a:fillRect/>
          </a:stretch>
        </p:blipFill>
        <p:spPr>
          <a:xfrm>
            <a:off x="9227393" y="1683593"/>
            <a:ext cx="272125" cy="272125"/>
          </a:xfrm>
          <a:prstGeom prst="rect">
            <a:avLst/>
          </a:prstGeom>
        </p:spPr>
      </p:pic>
      <p:sp>
        <p:nvSpPr>
          <p:cNvPr id="21" name="Text 15"/>
          <p:cNvSpPr txBox="1"/>
          <p:nvPr/>
        </p:nvSpPr>
        <p:spPr>
          <a:xfrm>
            <a:off x="9738360" y="150876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Suvni tejash</a:t>
            </a:r>
            <a:endParaRPr lang="en-US" sz="1450" dirty="0"/>
          </a:p>
        </p:txBody>
      </p:sp>
      <p:sp>
        <p:nvSpPr>
          <p:cNvPr id="22" name="Text 16"/>
          <p:cNvSpPr txBox="1"/>
          <p:nvPr/>
        </p:nvSpPr>
        <p:spPr>
          <a:xfrm>
            <a:off x="9079992" y="224028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aylanma suv ta’minoti, oqova suvlarni tozalash</a:t>
            </a:r>
            <a:endParaRPr lang="en-US" sz="1350" dirty="0"/>
          </a:p>
        </p:txBody>
      </p:sp>
      <p:sp>
        <p:nvSpPr>
          <p:cNvPr id="23" name="Shape 17"/>
          <p:cNvSpPr/>
          <p:nvPr/>
        </p:nvSpPr>
        <p:spPr>
          <a:xfrm>
            <a:off x="54864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4" name="Shape 18"/>
          <p:cNvSpPr/>
          <p:nvPr/>
        </p:nvSpPr>
        <p:spPr>
          <a:xfrm>
            <a:off x="713232" y="3639312"/>
            <a:ext cx="566928" cy="566928"/>
          </a:xfrm>
          <a:prstGeom prst="ellipse">
            <a:avLst/>
          </a:prstGeom>
          <a:solidFill>
            <a:srgbClr val="0E9F9A"/>
          </a:solidFill>
          <a:ln w="12700">
            <a:solidFill>
              <a:srgbClr val="0E9F9A"/>
            </a:solidFill>
            <a:prstDash val="solid"/>
          </a:ln>
        </p:spPr>
      </p:sp>
      <p:pic>
        <p:nvPicPr>
          <p:cNvPr id="25" name="Image 4" descr="preencoded.png">    </p:cNvPr>
          <p:cNvPicPr>
            <a:picLocks noChangeAspect="1"/>
          </p:cNvPicPr>
          <p:nvPr/>
        </p:nvPicPr>
        <p:blipFill>
          <a:blip r:embed="rId5"/>
          <a:stretch>
            <a:fillRect/>
          </a:stretch>
        </p:blipFill>
        <p:spPr>
          <a:xfrm>
            <a:off x="860633" y="3786713"/>
            <a:ext cx="272125" cy="272125"/>
          </a:xfrm>
          <a:prstGeom prst="rect">
            <a:avLst/>
          </a:prstGeom>
        </p:spPr>
      </p:pic>
      <p:sp>
        <p:nvSpPr>
          <p:cNvPr id="26" name="Text 19"/>
          <p:cNvSpPr txBox="1"/>
          <p:nvPr/>
        </p:nvSpPr>
        <p:spPr>
          <a:xfrm>
            <a:off x="137160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“Yashil” logistika</a:t>
            </a:r>
            <a:endParaRPr lang="en-US" sz="1450" dirty="0"/>
          </a:p>
        </p:txBody>
      </p:sp>
      <p:sp>
        <p:nvSpPr>
          <p:cNvPr id="27" name="Text 20"/>
          <p:cNvSpPr txBox="1"/>
          <p:nvPr/>
        </p:nvSpPr>
        <p:spPr>
          <a:xfrm>
            <a:off x="71323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marshrutlarni optimallash, ekologik toza transport</a:t>
            </a:r>
            <a:endParaRPr lang="en-US" sz="1350" dirty="0"/>
          </a:p>
        </p:txBody>
      </p:sp>
      <p:sp>
        <p:nvSpPr>
          <p:cNvPr id="28" name="Shape 21"/>
          <p:cNvSpPr/>
          <p:nvPr/>
        </p:nvSpPr>
        <p:spPr>
          <a:xfrm>
            <a:off x="333756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29" name="Shape 22"/>
          <p:cNvSpPr/>
          <p:nvPr/>
        </p:nvSpPr>
        <p:spPr>
          <a:xfrm>
            <a:off x="3502152" y="3639312"/>
            <a:ext cx="566928" cy="566928"/>
          </a:xfrm>
          <a:prstGeom prst="ellipse">
            <a:avLst/>
          </a:prstGeom>
          <a:solidFill>
            <a:srgbClr val="0D2F4F"/>
          </a:solidFill>
          <a:ln w="12700">
            <a:solidFill>
              <a:srgbClr val="0D2F4F"/>
            </a:solidFill>
            <a:prstDash val="solid"/>
          </a:ln>
        </p:spPr>
      </p:sp>
      <p:pic>
        <p:nvPicPr>
          <p:cNvPr id="30" name="Image 5" descr="preencoded.png">    </p:cNvPr>
          <p:cNvPicPr>
            <a:picLocks noChangeAspect="1"/>
          </p:cNvPicPr>
          <p:nvPr/>
        </p:nvPicPr>
        <p:blipFill>
          <a:blip r:embed="rId6"/>
          <a:stretch>
            <a:fillRect/>
          </a:stretch>
        </p:blipFill>
        <p:spPr>
          <a:xfrm>
            <a:off x="3649553" y="3786713"/>
            <a:ext cx="272125" cy="272125"/>
          </a:xfrm>
          <a:prstGeom prst="rect">
            <a:avLst/>
          </a:prstGeom>
        </p:spPr>
      </p:pic>
      <p:sp>
        <p:nvSpPr>
          <p:cNvPr id="31" name="Text 23"/>
          <p:cNvSpPr txBox="1"/>
          <p:nvPr/>
        </p:nvSpPr>
        <p:spPr>
          <a:xfrm>
            <a:off x="416052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Ekologik mahsulot va qadoq</a:t>
            </a:r>
            <a:endParaRPr lang="en-US" sz="1450" dirty="0"/>
          </a:p>
        </p:txBody>
      </p:sp>
      <p:sp>
        <p:nvSpPr>
          <p:cNvPr id="32" name="Text 24"/>
          <p:cNvSpPr txBox="1"/>
          <p:nvPr/>
        </p:nvSpPr>
        <p:spPr>
          <a:xfrm>
            <a:off x="350215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biologik parchalanadigan va qayta ishlanadigan materiallar</a:t>
            </a:r>
            <a:endParaRPr lang="en-US" sz="1350" dirty="0"/>
          </a:p>
        </p:txBody>
      </p:sp>
      <p:sp>
        <p:nvSpPr>
          <p:cNvPr id="33" name="Shape 25"/>
          <p:cNvSpPr/>
          <p:nvPr/>
        </p:nvSpPr>
        <p:spPr>
          <a:xfrm>
            <a:off x="612648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4" name="Shape 26"/>
          <p:cNvSpPr/>
          <p:nvPr/>
        </p:nvSpPr>
        <p:spPr>
          <a:xfrm>
            <a:off x="6291072" y="3639312"/>
            <a:ext cx="566928" cy="566928"/>
          </a:xfrm>
          <a:prstGeom prst="ellipse">
            <a:avLst/>
          </a:prstGeom>
          <a:solidFill>
            <a:srgbClr val="0E9F9A"/>
          </a:solidFill>
          <a:ln w="12700">
            <a:solidFill>
              <a:srgbClr val="0E9F9A"/>
            </a:solidFill>
            <a:prstDash val="solid"/>
          </a:ln>
        </p:spPr>
      </p:sp>
      <p:pic>
        <p:nvPicPr>
          <p:cNvPr id="35" name="Image 6" descr="preencoded.png">    </p:cNvPr>
          <p:cNvPicPr>
            <a:picLocks noChangeAspect="1"/>
          </p:cNvPicPr>
          <p:nvPr/>
        </p:nvPicPr>
        <p:blipFill>
          <a:blip r:embed="rId7"/>
          <a:stretch>
            <a:fillRect/>
          </a:stretch>
        </p:blipFill>
        <p:spPr>
          <a:xfrm>
            <a:off x="6438473" y="3786713"/>
            <a:ext cx="272125" cy="272125"/>
          </a:xfrm>
          <a:prstGeom prst="rect">
            <a:avLst/>
          </a:prstGeom>
        </p:spPr>
      </p:pic>
      <p:sp>
        <p:nvSpPr>
          <p:cNvPr id="36" name="Text 27"/>
          <p:cNvSpPr txBox="1"/>
          <p:nvPr/>
        </p:nvSpPr>
        <p:spPr>
          <a:xfrm>
            <a:off x="694944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Ekologik sertifikatlash</a:t>
            </a:r>
            <a:endParaRPr lang="en-US" sz="1450" dirty="0"/>
          </a:p>
        </p:txBody>
      </p:sp>
      <p:sp>
        <p:nvSpPr>
          <p:cNvPr id="37" name="Text 28"/>
          <p:cNvSpPr txBox="1"/>
          <p:nvPr/>
        </p:nvSpPr>
        <p:spPr>
          <a:xfrm>
            <a:off x="629107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ISO 14001, eko-yorliqlar orqali ishonchni oshirish</a:t>
            </a:r>
            <a:endParaRPr lang="en-US" sz="1350" dirty="0"/>
          </a:p>
        </p:txBody>
      </p:sp>
      <p:sp>
        <p:nvSpPr>
          <p:cNvPr id="38" name="Shape 29"/>
          <p:cNvSpPr/>
          <p:nvPr/>
        </p:nvSpPr>
        <p:spPr>
          <a:xfrm>
            <a:off x="8915400" y="3474720"/>
            <a:ext cx="2651760" cy="1965960"/>
          </a:xfrm>
          <a:prstGeom prst="roundRect">
            <a:avLst>
              <a:gd name="adj" fmla="val 5581"/>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39" name="Shape 30"/>
          <p:cNvSpPr/>
          <p:nvPr/>
        </p:nvSpPr>
        <p:spPr>
          <a:xfrm>
            <a:off x="9079992" y="3639312"/>
            <a:ext cx="566928" cy="566928"/>
          </a:xfrm>
          <a:prstGeom prst="ellipse">
            <a:avLst/>
          </a:prstGeom>
          <a:solidFill>
            <a:srgbClr val="0D2F4F"/>
          </a:solidFill>
          <a:ln w="12700">
            <a:solidFill>
              <a:srgbClr val="0D2F4F"/>
            </a:solidFill>
            <a:prstDash val="solid"/>
          </a:ln>
        </p:spPr>
      </p:sp>
      <p:pic>
        <p:nvPicPr>
          <p:cNvPr id="40" name="Image 7" descr="preencoded.png">    </p:cNvPr>
          <p:cNvPicPr>
            <a:picLocks noChangeAspect="1"/>
          </p:cNvPicPr>
          <p:nvPr/>
        </p:nvPicPr>
        <p:blipFill>
          <a:blip r:embed="rId8"/>
          <a:stretch>
            <a:fillRect/>
          </a:stretch>
        </p:blipFill>
        <p:spPr>
          <a:xfrm>
            <a:off x="9227393" y="3786713"/>
            <a:ext cx="272125" cy="272125"/>
          </a:xfrm>
          <a:prstGeom prst="rect">
            <a:avLst/>
          </a:prstGeom>
        </p:spPr>
      </p:pic>
      <p:sp>
        <p:nvSpPr>
          <p:cNvPr id="41" name="Text 31"/>
          <p:cNvSpPr txBox="1"/>
          <p:nvPr/>
        </p:nvSpPr>
        <p:spPr>
          <a:xfrm>
            <a:off x="9738360" y="3611880"/>
            <a:ext cx="1737360" cy="640080"/>
          </a:xfrm>
          <a:prstGeom prst="rect">
            <a:avLst/>
          </a:prstGeom>
          <a:noFill/>
          <a:ln/>
        </p:spPr>
        <p:txBody>
          <a:bodyPr wrap="square" lIns="0" tIns="0" rIns="0" bIns="0" rtlCol="0" anchor="ctr"/>
          <a:lstStyle/>
          <a:p>
            <a:pPr indent="0" marL="0">
              <a:buNone/>
            </a:pPr>
            <a:r>
              <a:rPr lang="en-US" sz="1450" b="1" dirty="0">
                <a:solidFill>
                  <a:srgbClr val="0D2F4F"/>
                </a:solidFill>
              </a:rPr>
              <a:t>Ekologik madaniyat</a:t>
            </a:r>
            <a:endParaRPr lang="en-US" sz="1450" dirty="0"/>
          </a:p>
        </p:txBody>
      </p:sp>
      <p:sp>
        <p:nvSpPr>
          <p:cNvPr id="42" name="Text 32"/>
          <p:cNvSpPr txBox="1"/>
          <p:nvPr/>
        </p:nvSpPr>
        <p:spPr>
          <a:xfrm>
            <a:off x="9079992" y="4343400"/>
            <a:ext cx="2322576" cy="1051560"/>
          </a:xfrm>
          <a:prstGeom prst="rect">
            <a:avLst/>
          </a:prstGeom>
          <a:noFill/>
          <a:ln/>
        </p:spPr>
        <p:txBody>
          <a:bodyPr wrap="square" lIns="0" tIns="0" rIns="0" bIns="0" rtlCol="0" anchor="t"/>
          <a:lstStyle/>
          <a:p>
            <a:pPr indent="0" marL="0">
              <a:buNone/>
            </a:pPr>
            <a:r>
              <a:rPr lang="en-US" sz="1350" dirty="0">
                <a:solidFill>
                  <a:srgbClr val="1B2A3A"/>
                </a:solidFill>
                <a:latin typeface="Calibri" pitchFamily="34" charset="0"/>
                <a:ea typeface="Calibri" pitchFamily="34" charset="-122"/>
                <a:cs typeface="Calibri" pitchFamily="34" charset="-120"/>
              </a:rPr>
              <a:t>xodimlarni o‘qitish va ekologik tashabbuslarni rag‘batlantirish</a:t>
            </a:r>
            <a:endParaRPr lang="en-US" sz="1350" dirty="0"/>
          </a:p>
        </p:txBody>
      </p:sp>
      <p:sp>
        <p:nvSpPr>
          <p:cNvPr id="43" name="Shape 33"/>
          <p:cNvSpPr/>
          <p:nvPr/>
        </p:nvSpPr>
        <p:spPr>
          <a:xfrm>
            <a:off x="548640" y="5623560"/>
            <a:ext cx="11064240" cy="594360"/>
          </a:xfrm>
          <a:prstGeom prst="roundRect">
            <a:avLst>
              <a:gd name="adj" fmla="val 18462"/>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4" name="Text 34"/>
          <p:cNvSpPr txBox="1"/>
          <p:nvPr/>
        </p:nvSpPr>
        <p:spPr>
          <a:xfrm>
            <a:off x="731520" y="5669280"/>
            <a:ext cx="10698480" cy="502920"/>
          </a:xfrm>
          <a:prstGeom prst="rect">
            <a:avLst/>
          </a:prstGeom>
          <a:noFill/>
          <a:ln/>
        </p:spPr>
        <p:txBody>
          <a:bodyPr wrap="square" lIns="0" tIns="0" rIns="0" bIns="0" rtlCol="0" anchor="ctr"/>
          <a:lstStyle/>
          <a:p>
            <a:pPr indent="0" marL="0">
              <a:buNone/>
            </a:pPr>
            <a:r>
              <a:rPr lang="en-US" sz="1350" b="1" dirty="0">
                <a:solidFill>
                  <a:srgbClr val="0D2F4F"/>
                </a:solidFill>
                <a:latin typeface="Calibri" pitchFamily="34" charset="0"/>
                <a:ea typeface="Calibri" pitchFamily="34" charset="-122"/>
                <a:cs typeface="Calibri" pitchFamily="34" charset="-120"/>
              </a:rPr>
              <a:t>Aylanma iqtisodiyot (3R):</a:t>
            </a:r>
            <a:pPr indent="0" marL="0">
              <a:buNone/>
            </a:pPr>
            <a:r>
              <a:rPr lang="en-US" sz="1350" dirty="0">
                <a:solidFill>
                  <a:srgbClr val="1B2A3A"/>
                </a:solidFill>
                <a:latin typeface="Calibri" pitchFamily="34" charset="0"/>
                <a:ea typeface="Calibri" pitchFamily="34" charset="-122"/>
                <a:cs typeface="Calibri" pitchFamily="34" charset="-120"/>
              </a:rPr>
              <a:t> kamaytirish (Reduce) → qayta foydalanish (Reuse) → qayta ishlash (Recycle).</a:t>
            </a:r>
            <a:endParaRPr lang="en-US" sz="135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Barqarorlik ko‘rsatkichlarini baholash</a:t>
            </a:r>
            <a:endParaRPr lang="en-US" sz="3000" dirty="0"/>
          </a:p>
        </p:txBody>
      </p:sp>
      <p:sp>
        <p:nvSpPr>
          <p:cNvPr id="3" name="Text 1"/>
          <p:cNvSpPr txBox="1"/>
          <p:nvPr/>
        </p:nvSpPr>
        <p:spPr>
          <a:xfrm>
            <a:off x="548640" y="1371600"/>
            <a:ext cx="5120640" cy="32004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Uglerod izi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korxona faoliyatidan chiqadigan CO₂ ekvivalenti (tonna).</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Energiya sig‘imi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mahsulot birligiga sarflangan energiya.</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Chiqindilarni qayta ishlash</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qayta ishlangan chiqindilar ulushi (%).</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Suv sarfi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mahsulot birligiga to‘g‘ri keladigan suv hajmi.</a:t>
            </a:r>
            <a:endParaRPr lang="en-US" sz="1400" dirty="0"/>
          </a:p>
          <a:p>
            <a:pPr marL="177800" indent="-177800">
              <a:spcAft>
                <a:spcPts val="900"/>
              </a:spcAft>
              <a:buSzPct val="100000"/>
              <a:buChar char="•"/>
            </a:pPr>
            <a:r>
              <a:rPr lang="en-US" sz="1400" b="1" dirty="0">
                <a:solidFill>
                  <a:srgbClr val="0E9F9A"/>
                </a:solidFill>
                <a:latin typeface="Calibri" pitchFamily="34" charset="0"/>
                <a:ea typeface="Calibri" pitchFamily="34" charset="-122"/>
                <a:cs typeface="Calibri" pitchFamily="34" charset="-120"/>
              </a:rPr>
              <a:t>ESG reytingi</a:t>
            </a:r>
            <a:pPr indent="0" marL="0">
              <a:spcAft>
                <a:spcPts val="900"/>
              </a:spcAft>
              <a:buNone/>
            </a:pPr>
            <a:r>
              <a:rPr lang="en-US" sz="1400" dirty="0">
                <a:solidFill>
                  <a:srgbClr val="1B2A3A"/>
                </a:solidFill>
                <a:latin typeface="Calibri" pitchFamily="34" charset="0"/>
                <a:ea typeface="Calibri" pitchFamily="34" charset="-122"/>
                <a:cs typeface="Calibri" pitchFamily="34" charset="-120"/>
              </a:rPr>
              <a:t> – mustaqil agentliklar bergan baho.</a:t>
            </a:r>
            <a:endParaRPr lang="en-US" sz="1400" dirty="0"/>
          </a:p>
        </p:txBody>
      </p:sp>
      <p:sp>
        <p:nvSpPr>
          <p:cNvPr id="4" name="Shape 2"/>
          <p:cNvSpPr/>
          <p:nvPr/>
        </p:nvSpPr>
        <p:spPr>
          <a:xfrm>
            <a:off x="548640" y="4297680"/>
            <a:ext cx="5120640" cy="1371600"/>
          </a:xfrm>
          <a:prstGeom prst="roundRect">
            <a:avLst>
              <a:gd name="adj" fmla="val 8000"/>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5" name="Text 3"/>
          <p:cNvSpPr txBox="1"/>
          <p:nvPr/>
        </p:nvSpPr>
        <p:spPr>
          <a:xfrm>
            <a:off x="731520" y="4343400"/>
            <a:ext cx="4754880" cy="128016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Shartli misol:</a:t>
            </a:r>
            <a:pPr indent="0" marL="0">
              <a:buNone/>
            </a:pPr>
            <a:r>
              <a:rPr lang="en-US" sz="1400" dirty="0">
                <a:solidFill>
                  <a:srgbClr val="1B2A3A"/>
                </a:solidFill>
                <a:latin typeface="Calibri" pitchFamily="34" charset="0"/>
                <a:ea typeface="Calibri" pitchFamily="34" charset="-122"/>
                <a:cs typeface="Calibri" pitchFamily="34" charset="-120"/>
              </a:rPr>
              <a:t> energiya tejash va quyosh panellari o‘rnatilgach, CO₂ chiqindilari 3 yilda 25% ga kamaygan.</a:t>
            </a:r>
            <a:endParaRPr lang="en-US" sz="1400" dirty="0"/>
          </a:p>
        </p:txBody>
      </p:sp>
      <p:sp>
        <p:nvSpPr>
          <p:cNvPr id="6" name="Text 4"/>
          <p:cNvSpPr txBox="1"/>
          <p:nvPr/>
        </p:nvSpPr>
        <p:spPr>
          <a:xfrm>
            <a:off x="6035040" y="1325880"/>
            <a:ext cx="5577840" cy="365760"/>
          </a:xfrm>
          <a:prstGeom prst="rect">
            <a:avLst/>
          </a:prstGeom>
          <a:noFill/>
          <a:ln/>
        </p:spPr>
        <p:txBody>
          <a:bodyPr wrap="square" lIns="0" tIns="0" rIns="0" bIns="0" rtlCol="0" anchor="ctr"/>
          <a:lstStyle/>
          <a:p>
            <a:pPr indent="0" marL="0">
              <a:buNone/>
            </a:pPr>
            <a:r>
              <a:rPr lang="en-US" sz="1500" b="1" dirty="0">
                <a:solidFill>
                  <a:srgbClr val="0D2F4F"/>
                </a:solidFill>
              </a:rPr>
              <a:t>CO₂ chiqindilari, tonna/yil (shartli misol)</a:t>
            </a:r>
            <a:endParaRPr lang="en-US" sz="1500" dirty="0"/>
          </a:p>
        </p:txBody>
      </p:sp>
      <p:graphicFrame>
        <p:nvGraphicFramePr>
          <p:cNvPr id="7"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5. “Yashil” iqtisodiyotga o‘tish: to‘siqlar va foydalar</a:t>
            </a:r>
            <a:endParaRPr lang="en-US" sz="3000" dirty="0"/>
          </a:p>
        </p:txBody>
      </p:sp>
      <p:sp>
        <p:nvSpPr>
          <p:cNvPr id="3" name="Shape 1"/>
          <p:cNvSpPr/>
          <p:nvPr/>
        </p:nvSpPr>
        <p:spPr>
          <a:xfrm>
            <a:off x="548640" y="1371600"/>
            <a:ext cx="5440680" cy="4023360"/>
          </a:xfrm>
          <a:prstGeom prst="roundRect">
            <a:avLst>
              <a:gd name="adj" fmla="val 272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4" name="Shape 2"/>
          <p:cNvSpPr/>
          <p:nvPr/>
        </p:nvSpPr>
        <p:spPr>
          <a:xfrm>
            <a:off x="777240" y="1554480"/>
            <a:ext cx="594360" cy="594360"/>
          </a:xfrm>
          <a:prstGeom prst="ellipse">
            <a:avLst/>
          </a:prstGeom>
          <a:solidFill>
            <a:srgbClr val="B5651D"/>
          </a:solidFill>
          <a:ln w="12700">
            <a:solidFill>
              <a:srgbClr val="B5651D"/>
            </a:solidFill>
            <a:prstDash val="solid"/>
          </a:ln>
        </p:spPr>
      </p:sp>
      <p:pic>
        <p:nvPicPr>
          <p:cNvPr id="5" name="Image 0" descr="preencoded.png">    </p:cNvPr>
          <p:cNvPicPr>
            <a:picLocks noChangeAspect="1"/>
          </p:cNvPicPr>
          <p:nvPr/>
        </p:nvPicPr>
        <p:blipFill>
          <a:blip r:embed="rId1"/>
          <a:stretch>
            <a:fillRect/>
          </a:stretch>
        </p:blipFill>
        <p:spPr>
          <a:xfrm>
            <a:off x="931774" y="1709014"/>
            <a:ext cx="285293" cy="285293"/>
          </a:xfrm>
          <a:prstGeom prst="rect">
            <a:avLst/>
          </a:prstGeom>
        </p:spPr>
      </p:pic>
      <p:sp>
        <p:nvSpPr>
          <p:cNvPr id="6" name="Text 3"/>
          <p:cNvSpPr txBox="1"/>
          <p:nvPr/>
        </p:nvSpPr>
        <p:spPr>
          <a:xfrm>
            <a:off x="1508760" y="1554480"/>
            <a:ext cx="4297680" cy="594360"/>
          </a:xfrm>
          <a:prstGeom prst="rect">
            <a:avLst/>
          </a:prstGeom>
          <a:noFill/>
          <a:ln/>
        </p:spPr>
        <p:txBody>
          <a:bodyPr wrap="square" lIns="0" tIns="0" rIns="0" bIns="0" rtlCol="0" anchor="ctr"/>
          <a:lstStyle/>
          <a:p>
            <a:pPr indent="0" marL="0">
              <a:buNone/>
            </a:pPr>
            <a:r>
              <a:rPr lang="en-US" sz="1700" b="1" dirty="0">
                <a:solidFill>
                  <a:srgbClr val="0D2F4F"/>
                </a:solidFill>
              </a:rPr>
              <a:t>Asosiy to‘siqlar</a:t>
            </a:r>
            <a:endParaRPr lang="en-US" sz="1700" dirty="0"/>
          </a:p>
        </p:txBody>
      </p:sp>
      <p:sp>
        <p:nvSpPr>
          <p:cNvPr id="7" name="Text 4"/>
          <p:cNvSpPr txBox="1"/>
          <p:nvPr/>
        </p:nvSpPr>
        <p:spPr>
          <a:xfrm>
            <a:off x="822960" y="2331720"/>
            <a:ext cx="4937760" cy="2971800"/>
          </a:xfrm>
          <a:prstGeom prst="rect">
            <a:avLst/>
          </a:prstGeom>
          <a:noFill/>
          <a:ln/>
        </p:spPr>
        <p:txBody>
          <a:bodyPr wrap="square" lIns="0" tIns="0" rIns="0" bIns="0" rtlCol="0" anchor="t"/>
          <a:lstStyle/>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Yuqori boshlang‘ich xarajat</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yangi uskuna va texnologiyalar qimmat.</a:t>
            </a:r>
            <a:endParaRPr lang="en-US" sz="1400" dirty="0"/>
          </a:p>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Qoplanish muddati uzoq</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ekologik investitsiyalar samarasi sekin keladi.</a:t>
            </a:r>
            <a:endParaRPr lang="en-US" sz="1400" dirty="0"/>
          </a:p>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Bilim va mutaxassislar yetishmasligi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ekologik menejment bo‘yicha kadrlar kam.</a:t>
            </a:r>
            <a:endParaRPr lang="en-US" sz="1400" dirty="0"/>
          </a:p>
          <a:p>
            <a:pPr marL="177800" indent="-177800">
              <a:spcAft>
                <a:spcPts val="700"/>
              </a:spcAft>
              <a:buSzPct val="100000"/>
              <a:buChar char="•"/>
            </a:pPr>
            <a:r>
              <a:rPr lang="en-US" sz="1400" b="1" dirty="0">
                <a:solidFill>
                  <a:srgbClr val="B5651D"/>
                </a:solidFill>
                <a:latin typeface="Calibri" pitchFamily="34" charset="0"/>
                <a:ea typeface="Calibri" pitchFamily="34" charset="-122"/>
                <a:cs typeface="Calibri" pitchFamily="34" charset="-120"/>
              </a:rPr>
              <a:t>Rag‘batlarning yetarli emasligi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ifloslantirish arzonroq bo‘lib qolishi mumkin.</a:t>
            </a:r>
            <a:endParaRPr lang="en-US" sz="1400" dirty="0"/>
          </a:p>
        </p:txBody>
      </p:sp>
      <p:sp>
        <p:nvSpPr>
          <p:cNvPr id="8" name="Shape 5"/>
          <p:cNvSpPr/>
          <p:nvPr/>
        </p:nvSpPr>
        <p:spPr>
          <a:xfrm>
            <a:off x="6172200" y="1371600"/>
            <a:ext cx="5440680" cy="4023360"/>
          </a:xfrm>
          <a:prstGeom prst="roundRect">
            <a:avLst>
              <a:gd name="adj" fmla="val 2727"/>
            </a:avLst>
          </a:prstGeom>
          <a:solidFill>
            <a:srgbClr val="FFFFFF"/>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9" name="Shape 6"/>
          <p:cNvSpPr/>
          <p:nvPr/>
        </p:nvSpPr>
        <p:spPr>
          <a:xfrm>
            <a:off x="6400800" y="1554480"/>
            <a:ext cx="594360" cy="594360"/>
          </a:xfrm>
          <a:prstGeom prst="ellipse">
            <a:avLst/>
          </a:prstGeom>
          <a:solidFill>
            <a:srgbClr val="0E9F9A"/>
          </a:solidFill>
          <a:ln w="12700">
            <a:solidFill>
              <a:srgbClr val="0E9F9A"/>
            </a:solidFill>
            <a:prstDash val="solid"/>
          </a:ln>
        </p:spPr>
      </p:sp>
      <p:pic>
        <p:nvPicPr>
          <p:cNvPr id="10" name="Image 1" descr="preencoded.png">    </p:cNvPr>
          <p:cNvPicPr>
            <a:picLocks noChangeAspect="1"/>
          </p:cNvPicPr>
          <p:nvPr/>
        </p:nvPicPr>
        <p:blipFill>
          <a:blip r:embed="rId2"/>
          <a:stretch>
            <a:fillRect/>
          </a:stretch>
        </p:blipFill>
        <p:spPr>
          <a:xfrm>
            <a:off x="6555334" y="1709014"/>
            <a:ext cx="285293" cy="285293"/>
          </a:xfrm>
          <a:prstGeom prst="rect">
            <a:avLst/>
          </a:prstGeom>
        </p:spPr>
      </p:pic>
      <p:sp>
        <p:nvSpPr>
          <p:cNvPr id="11" name="Text 7"/>
          <p:cNvSpPr txBox="1"/>
          <p:nvPr/>
        </p:nvSpPr>
        <p:spPr>
          <a:xfrm>
            <a:off x="7132320" y="1554480"/>
            <a:ext cx="4297680" cy="594360"/>
          </a:xfrm>
          <a:prstGeom prst="rect">
            <a:avLst/>
          </a:prstGeom>
          <a:noFill/>
          <a:ln/>
        </p:spPr>
        <p:txBody>
          <a:bodyPr wrap="square" lIns="0" tIns="0" rIns="0" bIns="0" rtlCol="0" anchor="ctr"/>
          <a:lstStyle/>
          <a:p>
            <a:pPr indent="0" marL="0">
              <a:buNone/>
            </a:pPr>
            <a:r>
              <a:rPr lang="en-US" sz="1700" b="1" dirty="0">
                <a:solidFill>
                  <a:srgbClr val="0D2F4F"/>
                </a:solidFill>
              </a:rPr>
              <a:t>Korxona uchun foydalar</a:t>
            </a:r>
            <a:endParaRPr lang="en-US" sz="1700" dirty="0"/>
          </a:p>
        </p:txBody>
      </p:sp>
      <p:sp>
        <p:nvSpPr>
          <p:cNvPr id="12" name="Text 8"/>
          <p:cNvSpPr txBox="1"/>
          <p:nvPr/>
        </p:nvSpPr>
        <p:spPr>
          <a:xfrm>
            <a:off x="6446520" y="2331720"/>
            <a:ext cx="4937760" cy="2971800"/>
          </a:xfrm>
          <a:prstGeom prst="rect">
            <a:avLst/>
          </a:prstGeom>
          <a:noFill/>
          <a:ln/>
        </p:spPr>
        <p:txBody>
          <a:bodyPr wrap="square" lIns="0" tIns="0" rIns="0" bIns="0" rtlCol="0" anchor="t"/>
          <a:lstStyle/>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Xarajatlarning kamayishi</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energiya, suv va xomashyo tejaladi.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Yangi bozorlar</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ekologik talablar qattiq bo‘lgan eksport bozorlariga kirish.</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Obro‘ va ishonch</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iste’molchi va investorlar “yashil” brendlarni afzal ko‘radi.</a:t>
            </a:r>
            <a:endParaRPr lang="en-US" sz="1400" dirty="0"/>
          </a:p>
          <a:p>
            <a:pPr marL="177800" indent="-177800">
              <a:spcAft>
                <a:spcPts val="700"/>
              </a:spcAft>
              <a:buSzPct val="100000"/>
              <a:buChar char="•"/>
            </a:pPr>
            <a:r>
              <a:rPr lang="en-US" sz="1400" b="1" dirty="0">
                <a:solidFill>
                  <a:srgbClr val="0E9F9A"/>
                </a:solidFill>
                <a:latin typeface="Calibri" pitchFamily="34" charset="0"/>
                <a:ea typeface="Calibri" pitchFamily="34" charset="-122"/>
                <a:cs typeface="Calibri" pitchFamily="34" charset="-120"/>
              </a:rPr>
              <a:t>Arzon moliyalashtirish</a:t>
            </a:r>
            <a:pPr indent="0" marL="0">
              <a:spcAft>
                <a:spcPts val="700"/>
              </a:spcAft>
              <a:buNone/>
            </a:pPr>
            <a:r>
              <a:rPr lang="en-US" sz="1400" dirty="0">
                <a:solidFill>
                  <a:srgbClr val="1B2A3A"/>
                </a:solidFill>
                <a:latin typeface="Calibri" pitchFamily="34" charset="0"/>
                <a:ea typeface="Calibri" pitchFamily="34" charset="-122"/>
                <a:cs typeface="Calibri" pitchFamily="34" charset="-120"/>
              </a:rPr>
              <a:t> – “yashil” kreditlar va xalqaro grantlar.</a:t>
            </a:r>
            <a:endParaRPr lang="en-US" sz="1400" dirty="0"/>
          </a:p>
        </p:txBody>
      </p:sp>
      <p:sp>
        <p:nvSpPr>
          <p:cNvPr id="13" name="Shape 9"/>
          <p:cNvSpPr/>
          <p:nvPr/>
        </p:nvSpPr>
        <p:spPr>
          <a:xfrm>
            <a:off x="548640" y="5577840"/>
            <a:ext cx="11064240" cy="640080"/>
          </a:xfrm>
          <a:prstGeom prst="roundRect">
            <a:avLst>
              <a:gd name="adj" fmla="val 17143"/>
            </a:avLst>
          </a:prstGeom>
          <a:solidFill>
            <a:srgbClr val="E8F3F6"/>
          </a:solidFill>
          <a:ln w="9525">
            <a:solidFill>
              <a:srgbClr val="D5E6EB"/>
            </a:solidFill>
            <a:prstDash val="solid"/>
          </a:ln>
          <a:effectLst>
            <a:outerShdw sx="100000" sy="100000" kx="0" ky="0" algn="bl" rotWithShape="0" blurRad="101600" dist="38100" dir="5400000">
              <a:srgbClr val="0D2F4F">
                <a:alpha val="18000"/>
              </a:srgbClr>
            </a:outerShdw>
          </a:effectLst>
        </p:spPr>
      </p:sp>
      <p:sp>
        <p:nvSpPr>
          <p:cNvPr id="14" name="Text 10"/>
          <p:cNvSpPr txBox="1"/>
          <p:nvPr/>
        </p:nvSpPr>
        <p:spPr>
          <a:xfrm>
            <a:off x="731520" y="5623560"/>
            <a:ext cx="10698480" cy="548640"/>
          </a:xfrm>
          <a:prstGeom prst="rect">
            <a:avLst/>
          </a:prstGeom>
          <a:noFill/>
          <a:ln/>
        </p:spPr>
        <p:txBody>
          <a:bodyPr wrap="square" lIns="0" tIns="0" rIns="0" bIns="0" rtlCol="0" anchor="ctr"/>
          <a:lstStyle/>
          <a:p>
            <a:pPr indent="0" marL="0">
              <a:buNone/>
            </a:pPr>
            <a:r>
              <a:rPr lang="en-US" sz="1400" b="1" dirty="0">
                <a:solidFill>
                  <a:srgbClr val="0D2F4F"/>
                </a:solidFill>
                <a:latin typeface="Calibri" pitchFamily="34" charset="0"/>
                <a:ea typeface="Calibri" pitchFamily="34" charset="-122"/>
                <a:cs typeface="Calibri" pitchFamily="34" charset="-120"/>
              </a:rPr>
              <a:t>O‘zbekistonda</a:t>
            </a:r>
            <a:pPr indent="0" marL="0">
              <a:buNone/>
            </a:pPr>
            <a:r>
              <a:rPr lang="en-US" sz="1400" dirty="0">
                <a:solidFill>
                  <a:srgbClr val="1B2A3A"/>
                </a:solidFill>
                <a:latin typeface="Calibri" pitchFamily="34" charset="0"/>
                <a:ea typeface="Calibri" pitchFamily="34" charset="-122"/>
                <a:cs typeface="Calibri" pitchFamily="34" charset="-120"/>
              </a:rPr>
              <a:t> “2019–2030 yillarda “yashil” iqtisodiyotga o‘tish strategiyasi” qabul qilingan bo‘lib, u energiya samaradorligi va qayta tiklanuvchi energiyani rivojlantirishni nazarda tutadi.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B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686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Xulosa</a:t>
            </a:r>
            <a:endParaRPr lang="en-US" sz="3400" dirty="0"/>
          </a:p>
        </p:txBody>
      </p:sp>
      <p:sp>
        <p:nvSpPr>
          <p:cNvPr id="3" name="Text 1"/>
          <p:cNvSpPr txBox="1"/>
          <p:nvPr/>
        </p:nvSpPr>
        <p:spPr>
          <a:xfrm>
            <a:off x="548640" y="1280160"/>
            <a:ext cx="6858000" cy="1965960"/>
          </a:xfrm>
          <a:prstGeom prst="rect">
            <a:avLst/>
          </a:prstGeom>
          <a:noFill/>
          <a:ln/>
        </p:spPr>
        <p:txBody>
          <a:bodyPr wrap="square" lIns="0" tIns="0" rIns="0" bIns="0" rtlCol="0" anchor="t"/>
          <a:lstStyle/>
          <a:p>
            <a:pPr indent="0" marL="0">
              <a:spcAft>
                <a:spcPts val="600"/>
              </a:spcAft>
              <a:buNone/>
            </a:pPr>
            <a:r>
              <a:rPr lang="en-US" sz="1400" dirty="0">
                <a:solidFill>
                  <a:srgbClr val="E6F2F4"/>
                </a:solidFill>
                <a:latin typeface="Calibri" pitchFamily="34" charset="0"/>
                <a:ea typeface="Calibri" pitchFamily="34" charset="-122"/>
                <a:cs typeface="Calibri" pitchFamily="34" charset="-120"/>
              </a:rPr>
              <a:t>Barqaror rivojlanish – korxonaning uzoq muddatli muvaffaqiyati uchun zaruriy shart. Iqtisodiy, ijtimoiy va ekologik maqsadlarni uyg‘unlashtirgan strategiya, ISO 14001 asosidagi ekologik menejment tizimi, energiya va resurslarni tejash, chiqindilarni qayta ishlash hamda ESG ko‘rsatkichlarini muntazam baholash korxonaga xarajatlarni kamaytirish, yangi bozorlarga chiqish va jamiyat ishonchini qozonish imkonini beradi.</a:t>
            </a:r>
            <a:endParaRPr lang="en-US" sz="1400" dirty="0"/>
          </a:p>
        </p:txBody>
      </p:sp>
      <p:sp>
        <p:nvSpPr>
          <p:cNvPr id="4" name="Shape 2"/>
          <p:cNvSpPr/>
          <p:nvPr/>
        </p:nvSpPr>
        <p:spPr>
          <a:xfrm>
            <a:off x="54864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5" name="Image 0" descr="preencoded.png">    </p:cNvPr>
          <p:cNvPicPr>
            <a:picLocks noChangeAspect="1"/>
          </p:cNvPicPr>
          <p:nvPr/>
        </p:nvPicPr>
        <p:blipFill>
          <a:blip r:embed="rId1"/>
          <a:stretch>
            <a:fillRect/>
          </a:stretch>
        </p:blipFill>
        <p:spPr>
          <a:xfrm>
            <a:off x="713232" y="3566160"/>
            <a:ext cx="365760" cy="365760"/>
          </a:xfrm>
          <a:prstGeom prst="rect">
            <a:avLst/>
          </a:prstGeom>
        </p:spPr>
      </p:pic>
      <p:sp>
        <p:nvSpPr>
          <p:cNvPr id="6" name="Text 3"/>
          <p:cNvSpPr txBox="1"/>
          <p:nvPr/>
        </p:nvSpPr>
        <p:spPr>
          <a:xfrm>
            <a:off x="118872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Konsepsiya</a:t>
            </a:r>
            <a:endParaRPr lang="en-US" sz="1500" dirty="0"/>
          </a:p>
          <a:p>
            <a:pPr indent="0" marL="0">
              <a:spcAft>
                <a:spcPts val="200"/>
              </a:spcAft>
              <a:buNone/>
            </a:pPr>
            <a:r>
              <a:rPr lang="en-US" sz="1300" dirty="0">
                <a:solidFill>
                  <a:srgbClr val="FFFFFF"/>
                </a:solidFill>
              </a:rPr>
              <a:t>kelajak avlodlarga zarar yetkazmasdan rivojlanish; 17 ta BRM</a:t>
            </a:r>
            <a:endParaRPr lang="en-US" sz="1500" dirty="0"/>
          </a:p>
        </p:txBody>
      </p:sp>
      <p:sp>
        <p:nvSpPr>
          <p:cNvPr id="7" name="Shape 4"/>
          <p:cNvSpPr/>
          <p:nvPr/>
        </p:nvSpPr>
        <p:spPr>
          <a:xfrm>
            <a:off x="4023360" y="3383280"/>
            <a:ext cx="3291840" cy="1298448"/>
          </a:xfrm>
          <a:prstGeom prst="roundRect">
            <a:avLst>
              <a:gd name="adj" fmla="val 8451"/>
            </a:avLst>
          </a:prstGeom>
          <a:solidFill>
            <a:srgbClr val="FFFFFF">
              <a:alpha val="12000"/>
            </a:srgbClr>
          </a:solidFill>
          <a:ln w="9525">
            <a:solidFill>
              <a:srgbClr val="5FD3C9"/>
            </a:solidFill>
            <a:prstDash val="solid"/>
          </a:ln>
        </p:spPr>
      </p:sp>
      <p:pic>
        <p:nvPicPr>
          <p:cNvPr id="8" name="Image 1" descr="preencoded.png">    </p:cNvPr>
          <p:cNvPicPr>
            <a:picLocks noChangeAspect="1"/>
          </p:cNvPicPr>
          <p:nvPr/>
        </p:nvPicPr>
        <p:blipFill>
          <a:blip r:embed="rId2"/>
          <a:stretch>
            <a:fillRect/>
          </a:stretch>
        </p:blipFill>
        <p:spPr>
          <a:xfrm>
            <a:off x="4187952" y="3566160"/>
            <a:ext cx="365760" cy="365760"/>
          </a:xfrm>
          <a:prstGeom prst="rect">
            <a:avLst/>
          </a:prstGeom>
        </p:spPr>
      </p:pic>
      <p:sp>
        <p:nvSpPr>
          <p:cNvPr id="9" name="Text 5"/>
          <p:cNvSpPr txBox="1"/>
          <p:nvPr/>
        </p:nvSpPr>
        <p:spPr>
          <a:xfrm>
            <a:off x="4663440" y="349300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Strategiya</a:t>
            </a:r>
            <a:endParaRPr lang="en-US" sz="1500" dirty="0"/>
          </a:p>
          <a:p>
            <a:pPr indent="0" marL="0">
              <a:spcAft>
                <a:spcPts val="200"/>
              </a:spcAft>
              <a:buNone/>
            </a:pPr>
            <a:r>
              <a:rPr lang="en-US" sz="1300" dirty="0">
                <a:solidFill>
                  <a:srgbClr val="FFFFFF"/>
                </a:solidFill>
              </a:rPr>
              <a:t>uch tayanch va ESG mezonlari asosida</a:t>
            </a:r>
            <a:endParaRPr lang="en-US" sz="1500" dirty="0"/>
          </a:p>
        </p:txBody>
      </p:sp>
      <p:sp>
        <p:nvSpPr>
          <p:cNvPr id="10" name="Shape 6"/>
          <p:cNvSpPr/>
          <p:nvPr/>
        </p:nvSpPr>
        <p:spPr>
          <a:xfrm>
            <a:off x="54864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1" name="Image 2" descr="preencoded.png">    </p:cNvPr>
          <p:cNvPicPr>
            <a:picLocks noChangeAspect="1"/>
          </p:cNvPicPr>
          <p:nvPr/>
        </p:nvPicPr>
        <p:blipFill>
          <a:blip r:embed="rId3"/>
          <a:stretch>
            <a:fillRect/>
          </a:stretch>
        </p:blipFill>
        <p:spPr>
          <a:xfrm>
            <a:off x="713232" y="5029200"/>
            <a:ext cx="365760" cy="365760"/>
          </a:xfrm>
          <a:prstGeom prst="rect">
            <a:avLst/>
          </a:prstGeom>
        </p:spPr>
      </p:pic>
      <p:sp>
        <p:nvSpPr>
          <p:cNvPr id="12" name="Text 7"/>
          <p:cNvSpPr txBox="1"/>
          <p:nvPr/>
        </p:nvSpPr>
        <p:spPr>
          <a:xfrm>
            <a:off x="118872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Tizim</a:t>
            </a:r>
            <a:endParaRPr lang="en-US" sz="1500" dirty="0"/>
          </a:p>
          <a:p>
            <a:pPr indent="0" marL="0">
              <a:spcAft>
                <a:spcPts val="200"/>
              </a:spcAft>
              <a:buNone/>
            </a:pPr>
            <a:r>
              <a:rPr lang="en-US" sz="1300" dirty="0">
                <a:solidFill>
                  <a:srgbClr val="FFFFFF"/>
                </a:solidFill>
              </a:rPr>
              <a:t>ISO 14001: siyosat → reja → joriy etish → monitoring → tahlil</a:t>
            </a:r>
            <a:endParaRPr lang="en-US" sz="1500" dirty="0"/>
          </a:p>
        </p:txBody>
      </p:sp>
      <p:sp>
        <p:nvSpPr>
          <p:cNvPr id="13" name="Shape 8"/>
          <p:cNvSpPr/>
          <p:nvPr/>
        </p:nvSpPr>
        <p:spPr>
          <a:xfrm>
            <a:off x="4023360" y="4846320"/>
            <a:ext cx="3291840" cy="1298448"/>
          </a:xfrm>
          <a:prstGeom prst="roundRect">
            <a:avLst>
              <a:gd name="adj" fmla="val 8451"/>
            </a:avLst>
          </a:prstGeom>
          <a:solidFill>
            <a:srgbClr val="FFFFFF">
              <a:alpha val="12000"/>
            </a:srgbClr>
          </a:solidFill>
          <a:ln w="9525">
            <a:solidFill>
              <a:srgbClr val="5FD3C9"/>
            </a:solidFill>
            <a:prstDash val="solid"/>
          </a:ln>
        </p:spPr>
      </p:sp>
      <p:pic>
        <p:nvPicPr>
          <p:cNvPr id="14" name="Image 3" descr="preencoded.png">    </p:cNvPr>
          <p:cNvPicPr>
            <a:picLocks noChangeAspect="1"/>
          </p:cNvPicPr>
          <p:nvPr/>
        </p:nvPicPr>
        <p:blipFill>
          <a:blip r:embed="rId4"/>
          <a:stretch>
            <a:fillRect/>
          </a:stretch>
        </p:blipFill>
        <p:spPr>
          <a:xfrm>
            <a:off x="4187952" y="5029200"/>
            <a:ext cx="365760" cy="365760"/>
          </a:xfrm>
          <a:prstGeom prst="rect">
            <a:avLst/>
          </a:prstGeom>
        </p:spPr>
      </p:pic>
      <p:sp>
        <p:nvSpPr>
          <p:cNvPr id="15" name="Text 9"/>
          <p:cNvSpPr txBox="1"/>
          <p:nvPr/>
        </p:nvSpPr>
        <p:spPr>
          <a:xfrm>
            <a:off x="4663440" y="4956048"/>
            <a:ext cx="2514600" cy="1097280"/>
          </a:xfrm>
          <a:prstGeom prst="rect">
            <a:avLst/>
          </a:prstGeom>
          <a:noFill/>
          <a:ln/>
        </p:spPr>
        <p:txBody>
          <a:bodyPr wrap="square" lIns="0" tIns="0" rIns="0" bIns="0" rtlCol="0" anchor="t"/>
          <a:lstStyle/>
          <a:p>
            <a:pPr indent="0" marL="0">
              <a:spcAft>
                <a:spcPts val="200"/>
              </a:spcAft>
              <a:buNone/>
            </a:pPr>
            <a:r>
              <a:rPr lang="en-US" sz="1500" b="1" dirty="0">
                <a:solidFill>
                  <a:srgbClr val="F2A541"/>
                </a:solidFill>
              </a:rPr>
              <a:t>Natija</a:t>
            </a:r>
            <a:endParaRPr lang="en-US" sz="1500" dirty="0"/>
          </a:p>
          <a:p>
            <a:pPr indent="0" marL="0">
              <a:spcAft>
                <a:spcPts val="200"/>
              </a:spcAft>
              <a:buNone/>
            </a:pPr>
            <a:r>
              <a:rPr lang="en-US" sz="1300" dirty="0">
                <a:solidFill>
                  <a:srgbClr val="FFFFFF"/>
                </a:solidFill>
              </a:rPr>
              <a:t>tejamkorlik, obro‘, “yashil” moliya va yangi bozorlar</a:t>
            </a:r>
            <a:endParaRPr lang="en-US" sz="1500" dirty="0"/>
          </a:p>
        </p:txBody>
      </p:sp>
      <p:pic>
        <p:nvPicPr>
          <p:cNvPr id="16" name="Image 4" descr="img13/conclusion.png">    </p:cNvPr>
          <p:cNvPicPr>
            <a:picLocks noChangeAspect="1"/>
          </p:cNvPicPr>
          <p:nvPr/>
        </p:nvPicPr>
        <p:blipFill>
          <a:blip r:embed="rId5"/>
          <a:stretch>
            <a:fillRect/>
          </a:stretch>
        </p:blipFill>
        <p:spPr>
          <a:xfrm>
            <a:off x="7772400" y="1325880"/>
            <a:ext cx="3840480" cy="2990088"/>
          </a:xfrm>
          <a:prstGeom prst="rect">
            <a:avLst/>
          </a:prstGeom>
        </p:spPr>
      </p:pic>
      <p:sp>
        <p:nvSpPr>
          <p:cNvPr id="17" name="Text 10"/>
          <p:cNvSpPr txBox="1"/>
          <p:nvPr/>
        </p:nvSpPr>
        <p:spPr>
          <a:xfrm>
            <a:off x="7772400" y="4526280"/>
            <a:ext cx="3840480" cy="1463040"/>
          </a:xfrm>
          <a:prstGeom prst="rect">
            <a:avLst/>
          </a:prstGeom>
          <a:noFill/>
          <a:ln/>
        </p:spPr>
        <p:txBody>
          <a:bodyPr wrap="square" lIns="0" tIns="0" rIns="0" bIns="0" rtlCol="0" anchor="t"/>
          <a:lstStyle/>
          <a:p>
            <a:pPr indent="0" marL="0">
              <a:buNone/>
            </a:pPr>
            <a:r>
              <a:rPr lang="en-US" sz="1700" i="1" dirty="0">
                <a:solidFill>
                  <a:srgbClr val="F2A541"/>
                </a:solidFill>
                <a:latin typeface="Cambria" pitchFamily="34" charset="0"/>
                <a:ea typeface="Cambria" pitchFamily="34" charset="-122"/>
                <a:cs typeface="Cambria" pitchFamily="34" charset="-120"/>
              </a:rPr>
              <a:t>Biz Yerni ota-bobolarimizdan meros olmadik – uni farzandlarimizdan qarzga oldik.</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13/thanks.png">    </p:cNvPr>
          <p:cNvPicPr>
            <a:picLocks noChangeAspect="1"/>
          </p:cNvPicPr>
          <p:nvPr/>
        </p:nvPicPr>
        <p:blipFill>
          <a:blip r:embed="rId1"/>
          <a:stretch>
            <a:fillRect/>
          </a:stretch>
        </p:blipFill>
        <p:spPr>
          <a:xfrm>
            <a:off x="6766560" y="1280160"/>
            <a:ext cx="4846320" cy="3767328"/>
          </a:xfrm>
          <a:prstGeom prst="rect">
            <a:avLst/>
          </a:prstGeom>
        </p:spPr>
      </p:pic>
      <p:sp>
        <p:nvSpPr>
          <p:cNvPr id="3" name="Text 0"/>
          <p:cNvSpPr txBox="1"/>
          <p:nvPr/>
        </p:nvSpPr>
        <p:spPr>
          <a:xfrm>
            <a:off x="548640" y="2011680"/>
            <a:ext cx="5943600" cy="1828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E’TIBORINGIZ UCHUN RAHMAT!</a:t>
            </a:r>
            <a:endParaRPr lang="en-US" sz="4000" dirty="0"/>
          </a:p>
        </p:txBody>
      </p:sp>
      <p:sp>
        <p:nvSpPr>
          <p:cNvPr id="4" name="Text 1"/>
          <p:cNvSpPr txBox="1"/>
          <p:nvPr/>
        </p:nvSpPr>
        <p:spPr>
          <a:xfrm>
            <a:off x="548640" y="3931920"/>
            <a:ext cx="5943600" cy="457200"/>
          </a:xfrm>
          <a:prstGeom prst="rect">
            <a:avLst/>
          </a:prstGeom>
          <a:noFill/>
          <a:ln/>
        </p:spPr>
        <p:txBody>
          <a:bodyPr wrap="square" lIns="0" tIns="0" rIns="0" bIns="0" rtlCol="0" anchor="ctr"/>
          <a:lstStyle/>
          <a:p>
            <a:pPr indent="0" marL="0">
              <a:buNone/>
            </a:pPr>
            <a:r>
              <a:rPr lang="en-US" sz="1800" i="1" dirty="0">
                <a:solidFill>
                  <a:srgbClr val="F2A541"/>
                </a:solidFill>
              </a:rPr>
              <a:t>Savollaringiz bo‘lsa, marhamat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D9E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Strategiya">
  <a:themeElements>
    <a:clrScheme name="Strategiya">
      <a:dk1>
        <a:srgbClr val="1B2A3A"/>
      </a:dk1>
      <a:lt1>
        <a:srgbClr val="FFFFFF"/>
      </a:lt1>
      <a:dk2>
        <a:srgbClr val="0D2F4F"/>
      </a:dk2>
      <a:lt2>
        <a:srgbClr val="E8F3F6"/>
      </a:lt2>
      <a:accent1>
        <a:srgbClr val="0E9F9A"/>
      </a:accent1>
      <a:accent2>
        <a:srgbClr val="F2A541"/>
      </a:accent2>
      <a:accent3>
        <a:srgbClr val="0D2F4F"/>
      </a:accent3>
      <a:accent4>
        <a:srgbClr val="3B6EA5"/>
      </a:accent4>
      <a:accent5>
        <a:srgbClr val="5FD3C9"/>
      </a:accent5>
      <a:accent6>
        <a:srgbClr val="B5651D"/>
      </a:accent6>
      <a:hlink>
        <a:srgbClr val="0E9F9A"/>
      </a:hlink>
      <a:folHlink>
        <a:srgbClr val="3B6EA5"/>
      </a:folHlink>
    </a:clrScheme>
    <a:fontScheme name="Strategi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Barqaror rivojlanish strategiyasi va ekologik menejment</dc:title>
  <dc:subject>PptxGenJS Presentation</dc:subject>
  <dc:creator>PptxGenJS</dc:creator>
  <cp:lastModifiedBy>PptxGenJS</cp:lastModifiedBy>
  <cp:revision>1</cp:revision>
  <dcterms:created xsi:type="dcterms:W3CDTF">2026-10-12T12:34:41Z</dcterms:created>
  <dcterms:modified xsi:type="dcterms:W3CDTF">2026-10-12T12:34:41Z</dcterms:modified>
</cp:coreProperties>
</file>