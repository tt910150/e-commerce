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marker"/>
        <c:varyColors val="0"/>
        <c:ser>
          <c:idx val="0"/>
          <c:order val="0"/>
          <c:tx>
            <c:strRef>
              <c:f>Sheet1!$B$1</c:f>
              <c:strCache>
                <c:ptCount val="1"/>
                <c:pt idx="0">
                  <c:v>Hozirgi holat</c:v>
                </c:pt>
              </c:strCache>
            </c:strRef>
          </c:tx>
          <c:spPr>
            <a:solidFill>
              <a:srgbClr val="0E9F9A"/>
            </a:solidFill>
            <a:ln w="31750" cap="flat">
              <a:solidFill>
                <a:srgbClr val="0E9F9A"/>
              </a:solidFill>
              <a:prstDash val="solid"/>
              <a:round/>
            </a:ln>
            <a:effectLst/>
          </c:spPr>
          <c:invertIfNegative val="0"/>
          <c:marker>
            <c:symbol val="circle"/>
            <c:size val="7"/>
            <c:spPr>
              <a:solidFill>
                <a:srgbClr val="0E9F9A"/>
              </a:solidFill>
              <a:ln w="9525" cap="flat">
                <a:solidFill>
                  <a:srgbClr val="0E9F9A"/>
                </a:solidFill>
                <a:prstDash val="solid"/>
                <a:round/>
              </a:ln>
              <a:effectLst/>
            </c:spPr>
          </c:marker>
          <c:cat>
            <c:multiLvlStrRef>
              <c:f>Sheet1!$A$2:$A$7</c:f>
              <c:multiLvlStrCache>
                <c:ptCount val="6"/>
                <c:lvl>
                  <c:pt idx="0">
                    <c:v>Strategiya</c:v>
                  </c:pt>
                  <c:pt idx="1">
                    <c:v>Mijozlar</c:v>
                  </c:pt>
                  <c:pt idx="2">
                    <c:v>Jarayonlar</c:v>
                  </c:pt>
                  <c:pt idx="3">
                    <c:v>Texnologiya</c:v>
                  </c:pt>
                  <c:pt idx="4">
                    <c:v>Ma’lumotlar</c:v>
                  </c:pt>
                  <c:pt idx="5">
                    <c:v>Kadrlar</c:v>
                  </c:pt>
                </c:lvl>
              </c:multiLvlStrCache>
            </c:multiLvlStrRef>
          </c:cat>
          <c:val>
            <c:numRef>
              <c:f>Sheet1!$B$2:$B$7</c:f>
              <c:numCache>
                <c:formatCode>General</c:formatCode>
                <c:ptCount val="6"/>
                <c:pt idx="0">
                  <c:v>2</c:v>
                </c:pt>
                <c:pt idx="1">
                  <c:v>3</c:v>
                </c:pt>
                <c:pt idx="2">
                  <c:v>2</c:v>
                </c:pt>
                <c:pt idx="3">
                  <c:v>3</c:v>
                </c:pt>
                <c:pt idx="4">
                  <c:v>1</c:v>
                </c:pt>
                <c:pt idx="5">
                  <c:v>2</c:v>
                </c:pt>
              </c:numCache>
            </c:numRef>
          </c:val>
        </c:ser>
        <c:ser>
          <c:idx val="1"/>
          <c:order val="1"/>
          <c:tx>
            <c:strRef>
              <c:f>Sheet1!$C$1</c:f>
              <c:strCache>
                <c:ptCount val="1"/>
                <c:pt idx="0">
                  <c:v>3 yildan keyingi maqsad</c:v>
                </c:pt>
              </c:strCache>
            </c:strRef>
          </c:tx>
          <c:spPr>
            <a:solidFill>
              <a:srgbClr val="B5651D"/>
            </a:solidFill>
            <a:ln w="31750" cap="flat">
              <a:solidFill>
                <a:srgbClr val="B5651D"/>
              </a:solidFill>
              <a:prstDash val="solid"/>
              <a:round/>
            </a:ln>
            <a:effectLst/>
          </c:spPr>
          <c:invertIfNegative val="0"/>
          <c:marker>
            <c:symbol val="circle"/>
            <c:size val="7"/>
            <c:spPr>
              <a:solidFill>
                <a:srgbClr val="B5651D"/>
              </a:solidFill>
              <a:ln w="9525" cap="flat">
                <a:solidFill>
                  <a:srgbClr val="B5651D"/>
                </a:solidFill>
                <a:prstDash val="solid"/>
                <a:round/>
              </a:ln>
              <a:effectLst/>
            </c:spPr>
          </c:marker>
          <c:cat>
            <c:multiLvlStrRef>
              <c:f>Sheet1!$A$2:$A$7</c:f>
              <c:multiLvlStrCache>
                <c:ptCount val="6"/>
                <c:lvl>
                  <c:pt idx="0">
                    <c:v>Strategiya</c:v>
                  </c:pt>
                  <c:pt idx="1">
                    <c:v>Mijozlar</c:v>
                  </c:pt>
                  <c:pt idx="2">
                    <c:v>Jarayonlar</c:v>
                  </c:pt>
                  <c:pt idx="3">
                    <c:v>Texnologiya</c:v>
                  </c:pt>
                  <c:pt idx="4">
                    <c:v>Ma’lumotlar</c:v>
                  </c:pt>
                  <c:pt idx="5">
                    <c:v>Kadrlar</c:v>
                  </c:pt>
                </c:lvl>
              </c:multiLvlStrCache>
            </c:multiLvlStrRef>
          </c:cat>
          <c:val>
            <c:numRef>
              <c:f>Sheet1!$C$2:$C$7</c:f>
              <c:numCache>
                <c:formatCode>General</c:formatCode>
                <c:ptCount val="6"/>
                <c:pt idx="0">
                  <c:v>4</c:v>
                </c:pt>
                <c:pt idx="1">
                  <c:v>5</c:v>
                </c:pt>
                <c:pt idx="2">
                  <c:v>4</c:v>
                </c:pt>
                <c:pt idx="3">
                  <c:v>4</c:v>
                </c:pt>
                <c:pt idx="4">
                  <c:v>4</c:v>
                </c:pt>
                <c:pt idx="5">
                  <c:v>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A"/>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C9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B6C"/>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1B2A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7/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0584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463040"/>
            <a:ext cx="5029200" cy="3108960"/>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KORXONA FAOLIYATIDA RAQAMLI TRANSFORMATSIYA VA RAQAMLI RIVOJLANISH STRATEGIYASI</a:t>
            </a:r>
            <a:endParaRPr lang="en-US" sz="27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Raqamli transformatsiya tushunchasi va mohiyati</a:t>
            </a:r>
            <a:endParaRPr lang="en-US" sz="16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Raqamli texnologiyalar va ularning korxonadagi o‘rni</a:t>
            </a:r>
            <a:endParaRPr lang="en-US" sz="16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Raqamli rivojlanish strategiyasini ishlab chiqish</a:t>
            </a:r>
            <a:endParaRPr lang="en-US" sz="16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Korxonaning raqamli yetukligini baholash</a:t>
            </a:r>
            <a:endParaRPr lang="en-US" sz="16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Raqamli transformatsiya to‘siqlari va muvaffaqiyat omillari</a:t>
            </a:r>
            <a:endParaRPr lang="en-US" sz="1600" dirty="0"/>
          </a:p>
        </p:txBody>
      </p:sp>
      <p:pic>
        <p:nvPicPr>
          <p:cNvPr id="28" name="Image 5" descr="img7/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Sanoat inqiloblari va raqamli iqtisodiyot</a:t>
            </a:r>
            <a:endParaRPr lang="en-US" sz="3000" dirty="0"/>
          </a:p>
        </p:txBody>
      </p:sp>
      <p:sp>
        <p:nvSpPr>
          <p:cNvPr id="3" name="Text 1"/>
          <p:cNvSpPr txBox="1"/>
          <p:nvPr/>
        </p:nvSpPr>
        <p:spPr>
          <a:xfrm>
            <a:off x="548640" y="1371600"/>
            <a:ext cx="6766560" cy="178308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Raqamli transformatsiya</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raqamli texnologiyalarni korxona faoliyatining barcha jabhalariga joriy etish orqali biznes-modellar, jarayonlar, mahsulotlar va mijozlar bilan munosabatlarni tubdan o‘zgartirish jarayoni. U to‘rtinchi sanoat inqilobining asosiy mazmunini tashkil etadi.</a:t>
            </a:r>
            <a:endParaRPr lang="en-US" sz="1400" dirty="0"/>
          </a:p>
        </p:txBody>
      </p:sp>
      <p:sp>
        <p:nvSpPr>
          <p:cNvPr id="4" name="Shape 2"/>
          <p:cNvSpPr/>
          <p:nvPr/>
        </p:nvSpPr>
        <p:spPr>
          <a:xfrm>
            <a:off x="548640" y="3246120"/>
            <a:ext cx="1143000" cy="548640"/>
          </a:xfrm>
          <a:prstGeom prst="roundRect">
            <a:avLst>
              <a:gd name="adj" fmla="val 16667"/>
            </a:avLst>
          </a:prstGeom>
          <a:solidFill>
            <a:srgbClr val="0E9F9A"/>
          </a:solidFill>
          <a:ln w="12700">
            <a:solidFill>
              <a:srgbClr val="0E9F9A"/>
            </a:solidFill>
            <a:prstDash val="solid"/>
          </a:ln>
        </p:spPr>
      </p:sp>
      <p:sp>
        <p:nvSpPr>
          <p:cNvPr id="5" name="Text 3"/>
          <p:cNvSpPr txBox="1"/>
          <p:nvPr/>
        </p:nvSpPr>
        <p:spPr>
          <a:xfrm>
            <a:off x="548640" y="324612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XVIII asr</a:t>
            </a:r>
            <a:endParaRPr lang="en-US" sz="1500" dirty="0"/>
          </a:p>
        </p:txBody>
      </p:sp>
      <p:sp>
        <p:nvSpPr>
          <p:cNvPr id="6" name="Text 4"/>
          <p:cNvSpPr txBox="1"/>
          <p:nvPr/>
        </p:nvSpPr>
        <p:spPr>
          <a:xfrm>
            <a:off x="1874520" y="320954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Sanoat 1.0 – </a:t>
            </a:r>
            <a:pPr indent="0" marL="0">
              <a:buNone/>
            </a:pPr>
            <a:r>
              <a:rPr lang="en-US" sz="1400" dirty="0">
                <a:solidFill>
                  <a:srgbClr val="1B2A3A"/>
                </a:solidFill>
                <a:latin typeface="Calibri" pitchFamily="34" charset="0"/>
                <a:ea typeface="Calibri" pitchFamily="34" charset="-122"/>
                <a:cs typeface="Calibri" pitchFamily="34" charset="-120"/>
              </a:rPr>
              <a:t>bug‘ mashinasi va mexanik ishlab chiqarish</a:t>
            </a:r>
            <a:endParaRPr lang="en-US" sz="1400" dirty="0"/>
          </a:p>
        </p:txBody>
      </p:sp>
      <p:sp>
        <p:nvSpPr>
          <p:cNvPr id="7" name="Shape 5"/>
          <p:cNvSpPr/>
          <p:nvPr/>
        </p:nvSpPr>
        <p:spPr>
          <a:xfrm>
            <a:off x="548640" y="3977640"/>
            <a:ext cx="1143000" cy="548640"/>
          </a:xfrm>
          <a:prstGeom prst="roundRect">
            <a:avLst>
              <a:gd name="adj" fmla="val 16667"/>
            </a:avLst>
          </a:prstGeom>
          <a:solidFill>
            <a:srgbClr val="0D2F4F"/>
          </a:solidFill>
          <a:ln w="12700">
            <a:solidFill>
              <a:srgbClr val="0D2F4F"/>
            </a:solidFill>
            <a:prstDash val="solid"/>
          </a:ln>
        </p:spPr>
      </p:sp>
      <p:sp>
        <p:nvSpPr>
          <p:cNvPr id="8" name="Text 6"/>
          <p:cNvSpPr txBox="1"/>
          <p:nvPr/>
        </p:nvSpPr>
        <p:spPr>
          <a:xfrm>
            <a:off x="548640" y="397764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XIX asr</a:t>
            </a:r>
            <a:endParaRPr lang="en-US" sz="1500" dirty="0"/>
          </a:p>
        </p:txBody>
      </p:sp>
      <p:sp>
        <p:nvSpPr>
          <p:cNvPr id="9" name="Text 7"/>
          <p:cNvSpPr txBox="1"/>
          <p:nvPr/>
        </p:nvSpPr>
        <p:spPr>
          <a:xfrm>
            <a:off x="1874520" y="394106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Sanoat 2.0 – </a:t>
            </a:r>
            <a:pPr indent="0" marL="0">
              <a:buNone/>
            </a:pPr>
            <a:r>
              <a:rPr lang="en-US" sz="1400" dirty="0">
                <a:solidFill>
                  <a:srgbClr val="1B2A3A"/>
                </a:solidFill>
                <a:latin typeface="Calibri" pitchFamily="34" charset="0"/>
                <a:ea typeface="Calibri" pitchFamily="34" charset="-122"/>
                <a:cs typeface="Calibri" pitchFamily="34" charset="-120"/>
              </a:rPr>
              <a:t>elektr energiyasi, konveyer va ommaviy ishlab chiqarish</a:t>
            </a:r>
            <a:endParaRPr lang="en-US" sz="1400" dirty="0"/>
          </a:p>
        </p:txBody>
      </p:sp>
      <p:sp>
        <p:nvSpPr>
          <p:cNvPr id="10" name="Shape 8"/>
          <p:cNvSpPr/>
          <p:nvPr/>
        </p:nvSpPr>
        <p:spPr>
          <a:xfrm>
            <a:off x="548640" y="4709160"/>
            <a:ext cx="1143000" cy="548640"/>
          </a:xfrm>
          <a:prstGeom prst="roundRect">
            <a:avLst>
              <a:gd name="adj" fmla="val 16667"/>
            </a:avLst>
          </a:prstGeom>
          <a:solidFill>
            <a:srgbClr val="0E9F9A"/>
          </a:solidFill>
          <a:ln w="12700">
            <a:solidFill>
              <a:srgbClr val="0E9F9A"/>
            </a:solidFill>
            <a:prstDash val="solid"/>
          </a:ln>
        </p:spPr>
      </p:sp>
      <p:sp>
        <p:nvSpPr>
          <p:cNvPr id="11" name="Text 9"/>
          <p:cNvSpPr txBox="1"/>
          <p:nvPr/>
        </p:nvSpPr>
        <p:spPr>
          <a:xfrm>
            <a:off x="548640" y="470916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1970-y.</a:t>
            </a:r>
            <a:endParaRPr lang="en-US" sz="1500" dirty="0"/>
          </a:p>
        </p:txBody>
      </p:sp>
      <p:sp>
        <p:nvSpPr>
          <p:cNvPr id="12" name="Text 10"/>
          <p:cNvSpPr txBox="1"/>
          <p:nvPr/>
        </p:nvSpPr>
        <p:spPr>
          <a:xfrm>
            <a:off x="1874520" y="467258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Sanoat 3.0 – </a:t>
            </a:r>
            <a:pPr indent="0" marL="0">
              <a:buNone/>
            </a:pPr>
            <a:r>
              <a:rPr lang="en-US" sz="1400" dirty="0">
                <a:solidFill>
                  <a:srgbClr val="1B2A3A"/>
                </a:solidFill>
                <a:latin typeface="Calibri" pitchFamily="34" charset="0"/>
                <a:ea typeface="Calibri" pitchFamily="34" charset="-122"/>
                <a:cs typeface="Calibri" pitchFamily="34" charset="-120"/>
              </a:rPr>
              <a:t>kompyuterlar, elektronika va ishlab chiqarishni avtomatlashtirish</a:t>
            </a:r>
            <a:endParaRPr lang="en-US" sz="1400" dirty="0"/>
          </a:p>
        </p:txBody>
      </p:sp>
      <p:sp>
        <p:nvSpPr>
          <p:cNvPr id="13" name="Shape 11"/>
          <p:cNvSpPr/>
          <p:nvPr/>
        </p:nvSpPr>
        <p:spPr>
          <a:xfrm>
            <a:off x="548640" y="5440680"/>
            <a:ext cx="1143000" cy="548640"/>
          </a:xfrm>
          <a:prstGeom prst="roundRect">
            <a:avLst>
              <a:gd name="adj" fmla="val 16667"/>
            </a:avLst>
          </a:prstGeom>
          <a:solidFill>
            <a:srgbClr val="0D2F4F"/>
          </a:solidFill>
          <a:ln w="12700">
            <a:solidFill>
              <a:srgbClr val="0D2F4F"/>
            </a:solidFill>
            <a:prstDash val="solid"/>
          </a:ln>
        </p:spPr>
      </p:sp>
      <p:sp>
        <p:nvSpPr>
          <p:cNvPr id="14" name="Text 12"/>
          <p:cNvSpPr txBox="1"/>
          <p:nvPr/>
        </p:nvSpPr>
        <p:spPr>
          <a:xfrm>
            <a:off x="548640" y="544068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2011-y.</a:t>
            </a:r>
            <a:endParaRPr lang="en-US" sz="1500" dirty="0"/>
          </a:p>
        </p:txBody>
      </p:sp>
      <p:sp>
        <p:nvSpPr>
          <p:cNvPr id="15" name="Text 13"/>
          <p:cNvSpPr txBox="1"/>
          <p:nvPr/>
        </p:nvSpPr>
        <p:spPr>
          <a:xfrm>
            <a:off x="1874520" y="540410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Sanoat 4.0 – </a:t>
            </a:r>
            <a:pPr indent="0" marL="0">
              <a:buNone/>
            </a:pPr>
            <a:r>
              <a:rPr lang="en-US" sz="1400" dirty="0">
                <a:solidFill>
                  <a:srgbClr val="1B2A3A"/>
                </a:solidFill>
                <a:latin typeface="Calibri" pitchFamily="34" charset="0"/>
                <a:ea typeface="Calibri" pitchFamily="34" charset="-122"/>
                <a:cs typeface="Calibri" pitchFamily="34" charset="-120"/>
              </a:rPr>
              <a:t>kiber-fizik tizimlar, “aqlli” zavodlar, internet va sun’iy intellekt</a:t>
            </a:r>
            <a:endParaRPr lang="en-US" sz="1400" dirty="0"/>
          </a:p>
        </p:txBody>
      </p:sp>
      <p:pic>
        <p:nvPicPr>
          <p:cNvPr id="16" name="Image 0" descr="img7/history.png">    </p:cNvPr>
          <p:cNvPicPr>
            <a:picLocks noChangeAspect="1"/>
          </p:cNvPicPr>
          <p:nvPr/>
        </p:nvPicPr>
        <p:blipFill>
          <a:blip r:embed="rId1"/>
          <a:stretch>
            <a:fillRect/>
          </a:stretch>
        </p:blipFill>
        <p:spPr>
          <a:xfrm>
            <a:off x="7680960" y="1371600"/>
            <a:ext cx="3931920" cy="3054096"/>
          </a:xfrm>
          <a:prstGeom prst="rect">
            <a:avLst/>
          </a:prstGeom>
        </p:spPr>
      </p:pic>
      <p:sp>
        <p:nvSpPr>
          <p:cNvPr id="17" name="Shape 14"/>
          <p:cNvSpPr/>
          <p:nvPr/>
        </p:nvSpPr>
        <p:spPr>
          <a:xfrm>
            <a:off x="7680960" y="4617720"/>
            <a:ext cx="3931920" cy="1554480"/>
          </a:xfrm>
          <a:prstGeom prst="roundRect">
            <a:avLst>
              <a:gd name="adj" fmla="val 7059"/>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8" name="Text 15"/>
          <p:cNvSpPr txBox="1"/>
          <p:nvPr/>
        </p:nvSpPr>
        <p:spPr>
          <a:xfrm>
            <a:off x="7863840" y="4663440"/>
            <a:ext cx="3566160" cy="14630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“Sanoat 4.0”</a:t>
            </a:r>
            <a:pPr indent="0" marL="0">
              <a:buNone/>
            </a:pPr>
            <a:r>
              <a:rPr lang="en-US" sz="1400" dirty="0">
                <a:solidFill>
                  <a:srgbClr val="1B2A3A"/>
                </a:solidFill>
                <a:latin typeface="Calibri" pitchFamily="34" charset="0"/>
                <a:ea typeface="Calibri" pitchFamily="34" charset="-122"/>
                <a:cs typeface="Calibri" pitchFamily="34" charset="-120"/>
              </a:rPr>
              <a:t> atamasi birinchi marta 2011-yilda Germaniyadagi Gannover sanoat yarmarkasida qo‘llanilgan.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Raqamli transformatsiyaning mohiyati va darajalari</a:t>
            </a:r>
            <a:endParaRPr lang="en-US" sz="3000" dirty="0"/>
          </a:p>
        </p:txBody>
      </p:sp>
      <p:pic>
        <p:nvPicPr>
          <p:cNvPr id="3" name="Image 0" descr="img7/essence.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Raqamli transformatsiya – bu shunchaki kompyuter sotib olish emas, balki </a:t>
            </a:r>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texnologiya, jarayonlar va odamlar</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ni birgalikda o‘zgartirib, mijozga yangi qiymat yaratishdir.</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ctr"/>
          <a:lstStyle/>
          <a:p>
            <a:pPr indent="0" marL="0">
              <a:buNone/>
            </a:pPr>
            <a:r>
              <a:rPr lang="en-US" sz="1600" b="1" dirty="0">
                <a:solidFill>
                  <a:srgbClr val="0D2F4F"/>
                </a:solidFill>
              </a:rPr>
              <a:t>Raqamli rivojlanishning uch darajasi va xususiyatlari:</a:t>
            </a:r>
            <a:endParaRPr lang="en-US" sz="1600" dirty="0"/>
          </a:p>
        </p:txBody>
      </p:sp>
      <p:sp>
        <p:nvSpPr>
          <p:cNvPr id="6" name="Shape 3"/>
          <p:cNvSpPr/>
          <p:nvPr/>
        </p:nvSpPr>
        <p:spPr>
          <a:xfrm>
            <a:off x="5120640" y="1920240"/>
            <a:ext cx="566928" cy="566928"/>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5268041" y="2067641"/>
            <a:ext cx="272125" cy="272125"/>
          </a:xfrm>
          <a:prstGeom prst="rect">
            <a:avLst/>
          </a:prstGeom>
        </p:spPr>
      </p:pic>
      <p:sp>
        <p:nvSpPr>
          <p:cNvPr id="8" name="Text 4"/>
          <p:cNvSpPr txBox="1"/>
          <p:nvPr/>
        </p:nvSpPr>
        <p:spPr>
          <a:xfrm>
            <a:off x="5852160" y="187452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Raqamlashtirish (digitization)</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qog‘oz hujjatlar va analog ma’lumotlarni raqamli shaklga o‘tkazish.</a:t>
            </a:r>
            <a:endParaRPr lang="en-US" sz="1400" dirty="0"/>
          </a:p>
        </p:txBody>
      </p:sp>
      <p:sp>
        <p:nvSpPr>
          <p:cNvPr id="9" name="Shape 5"/>
          <p:cNvSpPr/>
          <p:nvPr/>
        </p:nvSpPr>
        <p:spPr>
          <a:xfrm>
            <a:off x="5120640" y="2788920"/>
            <a:ext cx="566928" cy="566928"/>
          </a:xfrm>
          <a:prstGeom prst="ellipse">
            <a:avLst/>
          </a:prstGeom>
          <a:solidFill>
            <a:srgbClr val="0D2F4F"/>
          </a:solidFill>
          <a:ln w="12700">
            <a:solidFill>
              <a:srgbClr val="0D2F4F"/>
            </a:solidFill>
            <a:prstDash val="solid"/>
          </a:ln>
        </p:spPr>
      </p:sp>
      <p:pic>
        <p:nvPicPr>
          <p:cNvPr id="10" name="Image 2" descr="preencoded.png">    </p:cNvPr>
          <p:cNvPicPr>
            <a:picLocks noChangeAspect="1"/>
          </p:cNvPicPr>
          <p:nvPr/>
        </p:nvPicPr>
        <p:blipFill>
          <a:blip r:embed="rId3"/>
          <a:stretch>
            <a:fillRect/>
          </a:stretch>
        </p:blipFill>
        <p:spPr>
          <a:xfrm>
            <a:off x="5268041" y="2936321"/>
            <a:ext cx="272125" cy="272125"/>
          </a:xfrm>
          <a:prstGeom prst="rect">
            <a:avLst/>
          </a:prstGeom>
        </p:spPr>
      </p:pic>
      <p:sp>
        <p:nvSpPr>
          <p:cNvPr id="11" name="Text 6"/>
          <p:cNvSpPr txBox="1"/>
          <p:nvPr/>
        </p:nvSpPr>
        <p:spPr>
          <a:xfrm>
            <a:off x="5852160" y="274320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Jarayonlarni raqamlashtirish (digitalization)</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mavjud biznes-jarayonlarni dasturiy tizimlar orqali avtomatlashtirish.</a:t>
            </a:r>
            <a:endParaRPr lang="en-US" sz="1400" dirty="0"/>
          </a:p>
        </p:txBody>
      </p:sp>
      <p:sp>
        <p:nvSpPr>
          <p:cNvPr id="12" name="Shape 7"/>
          <p:cNvSpPr/>
          <p:nvPr/>
        </p:nvSpPr>
        <p:spPr>
          <a:xfrm>
            <a:off x="5120640" y="3657600"/>
            <a:ext cx="566928" cy="566928"/>
          </a:xfrm>
          <a:prstGeom prst="ellipse">
            <a:avLst/>
          </a:prstGeom>
          <a:solidFill>
            <a:srgbClr val="0E9F9A"/>
          </a:solidFill>
          <a:ln w="12700">
            <a:solidFill>
              <a:srgbClr val="0E9F9A"/>
            </a:solidFill>
            <a:prstDash val="solid"/>
          </a:ln>
        </p:spPr>
      </p:sp>
      <p:pic>
        <p:nvPicPr>
          <p:cNvPr id="13" name="Image 3" descr="preencoded.png">    </p:cNvPr>
          <p:cNvPicPr>
            <a:picLocks noChangeAspect="1"/>
          </p:cNvPicPr>
          <p:nvPr/>
        </p:nvPicPr>
        <p:blipFill>
          <a:blip r:embed="rId4"/>
          <a:stretch>
            <a:fillRect/>
          </a:stretch>
        </p:blipFill>
        <p:spPr>
          <a:xfrm>
            <a:off x="5268041" y="3805001"/>
            <a:ext cx="272125" cy="272125"/>
          </a:xfrm>
          <a:prstGeom prst="rect">
            <a:avLst/>
          </a:prstGeom>
        </p:spPr>
      </p:pic>
      <p:sp>
        <p:nvSpPr>
          <p:cNvPr id="14" name="Text 8"/>
          <p:cNvSpPr txBox="1"/>
          <p:nvPr/>
        </p:nvSpPr>
        <p:spPr>
          <a:xfrm>
            <a:off x="5852160" y="361188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Raqamli transformatsiya</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yangi raqamli biznes-modellar, mahsulotlar va xizmatlar yaratish.</a:t>
            </a:r>
            <a:endParaRPr lang="en-US" sz="1400" dirty="0"/>
          </a:p>
        </p:txBody>
      </p:sp>
      <p:sp>
        <p:nvSpPr>
          <p:cNvPr id="15" name="Shape 9"/>
          <p:cNvSpPr/>
          <p:nvPr/>
        </p:nvSpPr>
        <p:spPr>
          <a:xfrm>
            <a:off x="5120640" y="4526280"/>
            <a:ext cx="566928" cy="566928"/>
          </a:xfrm>
          <a:prstGeom prst="ellipse">
            <a:avLst/>
          </a:prstGeom>
          <a:solidFill>
            <a:srgbClr val="0D2F4F"/>
          </a:solidFill>
          <a:ln w="12700">
            <a:solidFill>
              <a:srgbClr val="0D2F4F"/>
            </a:solidFill>
            <a:prstDash val="solid"/>
          </a:ln>
        </p:spPr>
      </p:sp>
      <p:pic>
        <p:nvPicPr>
          <p:cNvPr id="16" name="Image 4" descr="preencoded.png">    </p:cNvPr>
          <p:cNvPicPr>
            <a:picLocks noChangeAspect="1"/>
          </p:cNvPicPr>
          <p:nvPr/>
        </p:nvPicPr>
        <p:blipFill>
          <a:blip r:embed="rId5"/>
          <a:stretch>
            <a:fillRect/>
          </a:stretch>
        </p:blipFill>
        <p:spPr>
          <a:xfrm>
            <a:off x="5268041" y="4673681"/>
            <a:ext cx="272125" cy="272125"/>
          </a:xfrm>
          <a:prstGeom prst="rect">
            <a:avLst/>
          </a:prstGeom>
        </p:spPr>
      </p:pic>
      <p:sp>
        <p:nvSpPr>
          <p:cNvPr id="17" name="Text 10"/>
          <p:cNvSpPr txBox="1"/>
          <p:nvPr/>
        </p:nvSpPr>
        <p:spPr>
          <a:xfrm>
            <a:off x="5852160" y="448056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Mijozga yo‘naltirilganlik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barcha o‘zgarishlar mijoz tajribasini yaxshilashga qaratiladi.</a:t>
            </a:r>
            <a:endParaRPr lang="en-US" sz="1400" dirty="0"/>
          </a:p>
        </p:txBody>
      </p:sp>
      <p:sp>
        <p:nvSpPr>
          <p:cNvPr id="18" name="Shape 11"/>
          <p:cNvSpPr/>
          <p:nvPr/>
        </p:nvSpPr>
        <p:spPr>
          <a:xfrm>
            <a:off x="5120640" y="5394960"/>
            <a:ext cx="566928" cy="566928"/>
          </a:xfrm>
          <a:prstGeom prst="ellipse">
            <a:avLst/>
          </a:prstGeom>
          <a:solidFill>
            <a:srgbClr val="0E9F9A"/>
          </a:solidFill>
          <a:ln w="12700">
            <a:solidFill>
              <a:srgbClr val="0E9F9A"/>
            </a:solidFill>
            <a:prstDash val="solid"/>
          </a:ln>
        </p:spPr>
      </p:sp>
      <p:pic>
        <p:nvPicPr>
          <p:cNvPr id="19" name="Image 5" descr="preencoded.png">    </p:cNvPr>
          <p:cNvPicPr>
            <a:picLocks noChangeAspect="1"/>
          </p:cNvPicPr>
          <p:nvPr/>
        </p:nvPicPr>
        <p:blipFill>
          <a:blip r:embed="rId6"/>
          <a:stretch>
            <a:fillRect/>
          </a:stretch>
        </p:blipFill>
        <p:spPr>
          <a:xfrm>
            <a:off x="5268041" y="5542361"/>
            <a:ext cx="272125" cy="272125"/>
          </a:xfrm>
          <a:prstGeom prst="rect">
            <a:avLst/>
          </a:prstGeom>
        </p:spPr>
      </p:pic>
      <p:sp>
        <p:nvSpPr>
          <p:cNvPr id="20" name="Text 12"/>
          <p:cNvSpPr txBox="1"/>
          <p:nvPr/>
        </p:nvSpPr>
        <p:spPr>
          <a:xfrm>
            <a:off x="5852160" y="534924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Ma’lumotlarga asoslangan boshqaruv</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qarorlar sezgi emas, real vaqt ma’lumotlari tahlili asosida qabul qilinadi.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Raqamli transformatsiyaning asosiy texnologiyalari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Korxona raqamli rivojlanishining texnologik asosini quyidagi yechimlar tashkil etadi:</a:t>
            </a:r>
            <a:endParaRPr lang="en-US" sz="1400" dirty="0"/>
          </a:p>
        </p:txBody>
      </p:sp>
      <p:sp>
        <p:nvSpPr>
          <p:cNvPr id="4" name="Shape 2"/>
          <p:cNvSpPr/>
          <p:nvPr/>
        </p:nvSpPr>
        <p:spPr>
          <a:xfrm>
            <a:off x="54864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731520" y="2286000"/>
            <a:ext cx="594360" cy="594360"/>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886054" y="2440534"/>
            <a:ext cx="285293" cy="285293"/>
          </a:xfrm>
          <a:prstGeom prst="rect">
            <a:avLst/>
          </a:prstGeom>
        </p:spPr>
      </p:pic>
      <p:sp>
        <p:nvSpPr>
          <p:cNvPr id="7" name="Text 4"/>
          <p:cNvSpPr txBox="1"/>
          <p:nvPr/>
        </p:nvSpPr>
        <p:spPr>
          <a:xfrm>
            <a:off x="333756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01</a:t>
            </a:r>
            <a:endParaRPr lang="en-US" sz="2000" dirty="0"/>
          </a:p>
        </p:txBody>
      </p:sp>
      <p:sp>
        <p:nvSpPr>
          <p:cNvPr id="8" name="Text 5"/>
          <p:cNvSpPr txBox="1"/>
          <p:nvPr/>
        </p:nvSpPr>
        <p:spPr>
          <a:xfrm>
            <a:off x="146304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Bulutli texnologiyalar</a:t>
            </a:r>
            <a:endParaRPr lang="en-US" sz="1550" dirty="0"/>
          </a:p>
        </p:txBody>
      </p:sp>
      <p:sp>
        <p:nvSpPr>
          <p:cNvPr id="9" name="Text 6"/>
          <p:cNvSpPr txBox="1"/>
          <p:nvPr/>
        </p:nvSpPr>
        <p:spPr>
          <a:xfrm>
            <a:off x="73152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server va dasturlarni ijaraga olish; xarajatlarni kamaytiradi, istalgan joydan ishlash imkonini beradi.</a:t>
            </a:r>
            <a:endParaRPr lang="en-US" sz="1350" dirty="0"/>
          </a:p>
        </p:txBody>
      </p:sp>
      <p:sp>
        <p:nvSpPr>
          <p:cNvPr id="10" name="Shape 7"/>
          <p:cNvSpPr/>
          <p:nvPr/>
        </p:nvSpPr>
        <p:spPr>
          <a:xfrm>
            <a:off x="434340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1" name="Shape 8"/>
          <p:cNvSpPr/>
          <p:nvPr/>
        </p:nvSpPr>
        <p:spPr>
          <a:xfrm>
            <a:off x="4526280" y="2286000"/>
            <a:ext cx="594360" cy="594360"/>
          </a:xfrm>
          <a:prstGeom prst="ellipse">
            <a:avLst/>
          </a:prstGeom>
          <a:solidFill>
            <a:srgbClr val="0D2F4F"/>
          </a:solidFill>
          <a:ln w="12700">
            <a:solidFill>
              <a:srgbClr val="0D2F4F"/>
            </a:solidFill>
            <a:prstDash val="solid"/>
          </a:ln>
        </p:spPr>
      </p:sp>
      <p:pic>
        <p:nvPicPr>
          <p:cNvPr id="12" name="Image 1" descr="preencoded.png">    </p:cNvPr>
          <p:cNvPicPr>
            <a:picLocks noChangeAspect="1"/>
          </p:cNvPicPr>
          <p:nvPr/>
        </p:nvPicPr>
        <p:blipFill>
          <a:blip r:embed="rId2"/>
          <a:stretch>
            <a:fillRect/>
          </a:stretch>
        </p:blipFill>
        <p:spPr>
          <a:xfrm>
            <a:off x="4680814" y="2440534"/>
            <a:ext cx="285293" cy="285293"/>
          </a:xfrm>
          <a:prstGeom prst="rect">
            <a:avLst/>
          </a:prstGeom>
        </p:spPr>
      </p:pic>
      <p:sp>
        <p:nvSpPr>
          <p:cNvPr id="13" name="Text 9"/>
          <p:cNvSpPr txBox="1"/>
          <p:nvPr/>
        </p:nvSpPr>
        <p:spPr>
          <a:xfrm>
            <a:off x="713232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02</a:t>
            </a:r>
            <a:endParaRPr lang="en-US" sz="2000" dirty="0"/>
          </a:p>
        </p:txBody>
      </p:sp>
      <p:sp>
        <p:nvSpPr>
          <p:cNvPr id="14" name="Text 10"/>
          <p:cNvSpPr txBox="1"/>
          <p:nvPr/>
        </p:nvSpPr>
        <p:spPr>
          <a:xfrm>
            <a:off x="525780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Katta ma’lumotlar (Big Data)</a:t>
            </a:r>
            <a:endParaRPr lang="en-US" sz="1550" dirty="0"/>
          </a:p>
        </p:txBody>
      </p:sp>
      <p:sp>
        <p:nvSpPr>
          <p:cNvPr id="15" name="Text 11"/>
          <p:cNvSpPr txBox="1"/>
          <p:nvPr/>
        </p:nvSpPr>
        <p:spPr>
          <a:xfrm>
            <a:off x="452628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katta hajmdagi ma’lumotlarni tahlil qilib, talab va mijoz xulqini prognozlash.</a:t>
            </a:r>
            <a:endParaRPr lang="en-US" sz="1350" dirty="0"/>
          </a:p>
        </p:txBody>
      </p:sp>
      <p:sp>
        <p:nvSpPr>
          <p:cNvPr id="16" name="Shape 12"/>
          <p:cNvSpPr/>
          <p:nvPr/>
        </p:nvSpPr>
        <p:spPr>
          <a:xfrm>
            <a:off x="8138160" y="210312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7" name="Shape 13"/>
          <p:cNvSpPr/>
          <p:nvPr/>
        </p:nvSpPr>
        <p:spPr>
          <a:xfrm>
            <a:off x="8321040" y="2286000"/>
            <a:ext cx="594360" cy="594360"/>
          </a:xfrm>
          <a:prstGeom prst="ellipse">
            <a:avLst/>
          </a:prstGeom>
          <a:solidFill>
            <a:srgbClr val="0E9F9A"/>
          </a:solidFill>
          <a:ln w="12700">
            <a:solidFill>
              <a:srgbClr val="0E9F9A"/>
            </a:solidFill>
            <a:prstDash val="solid"/>
          </a:ln>
        </p:spPr>
      </p:sp>
      <p:pic>
        <p:nvPicPr>
          <p:cNvPr id="18" name="Image 2" descr="preencoded.png">    </p:cNvPr>
          <p:cNvPicPr>
            <a:picLocks noChangeAspect="1"/>
          </p:cNvPicPr>
          <p:nvPr/>
        </p:nvPicPr>
        <p:blipFill>
          <a:blip r:embed="rId3"/>
          <a:stretch>
            <a:fillRect/>
          </a:stretch>
        </p:blipFill>
        <p:spPr>
          <a:xfrm>
            <a:off x="8475574" y="2440534"/>
            <a:ext cx="285293" cy="285293"/>
          </a:xfrm>
          <a:prstGeom prst="rect">
            <a:avLst/>
          </a:prstGeom>
        </p:spPr>
      </p:pic>
      <p:sp>
        <p:nvSpPr>
          <p:cNvPr id="19" name="Text 14"/>
          <p:cNvSpPr txBox="1"/>
          <p:nvPr/>
        </p:nvSpPr>
        <p:spPr>
          <a:xfrm>
            <a:off x="10927080" y="224028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03</a:t>
            </a:r>
            <a:endParaRPr lang="en-US" sz="2000" dirty="0"/>
          </a:p>
        </p:txBody>
      </p:sp>
      <p:sp>
        <p:nvSpPr>
          <p:cNvPr id="20" name="Text 15"/>
          <p:cNvSpPr txBox="1"/>
          <p:nvPr/>
        </p:nvSpPr>
        <p:spPr>
          <a:xfrm>
            <a:off x="9052560" y="228600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Sun’iy intellekt</a:t>
            </a:r>
            <a:endParaRPr lang="en-US" sz="1550" dirty="0"/>
          </a:p>
        </p:txBody>
      </p:sp>
      <p:sp>
        <p:nvSpPr>
          <p:cNvPr id="21" name="Text 16"/>
          <p:cNvSpPr txBox="1"/>
          <p:nvPr/>
        </p:nvSpPr>
        <p:spPr>
          <a:xfrm>
            <a:off x="8321040" y="297180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chat-botlar, avtomatik prognozlash, sifat nazorati, shaxsiylashtirilgan takliflar.</a:t>
            </a:r>
            <a:endParaRPr lang="en-US" sz="1350" dirty="0"/>
          </a:p>
        </p:txBody>
      </p:sp>
      <p:sp>
        <p:nvSpPr>
          <p:cNvPr id="22" name="Shape 17"/>
          <p:cNvSpPr/>
          <p:nvPr/>
        </p:nvSpPr>
        <p:spPr>
          <a:xfrm>
            <a:off x="54864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3" name="Shape 18"/>
          <p:cNvSpPr/>
          <p:nvPr/>
        </p:nvSpPr>
        <p:spPr>
          <a:xfrm>
            <a:off x="731520" y="4023360"/>
            <a:ext cx="594360" cy="594360"/>
          </a:xfrm>
          <a:prstGeom prst="ellipse">
            <a:avLst/>
          </a:prstGeom>
          <a:solidFill>
            <a:srgbClr val="0D2F4F"/>
          </a:solidFill>
          <a:ln w="12700">
            <a:solidFill>
              <a:srgbClr val="0D2F4F"/>
            </a:solidFill>
            <a:prstDash val="solid"/>
          </a:ln>
        </p:spPr>
      </p:sp>
      <p:pic>
        <p:nvPicPr>
          <p:cNvPr id="24" name="Image 3" descr="preencoded.png">    </p:cNvPr>
          <p:cNvPicPr>
            <a:picLocks noChangeAspect="1"/>
          </p:cNvPicPr>
          <p:nvPr/>
        </p:nvPicPr>
        <p:blipFill>
          <a:blip r:embed="rId4"/>
          <a:stretch>
            <a:fillRect/>
          </a:stretch>
        </p:blipFill>
        <p:spPr>
          <a:xfrm>
            <a:off x="886054" y="4177894"/>
            <a:ext cx="285293" cy="285293"/>
          </a:xfrm>
          <a:prstGeom prst="rect">
            <a:avLst/>
          </a:prstGeom>
        </p:spPr>
      </p:pic>
      <p:sp>
        <p:nvSpPr>
          <p:cNvPr id="25" name="Text 19"/>
          <p:cNvSpPr txBox="1"/>
          <p:nvPr/>
        </p:nvSpPr>
        <p:spPr>
          <a:xfrm>
            <a:off x="333756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04</a:t>
            </a:r>
            <a:endParaRPr lang="en-US" sz="2000" dirty="0"/>
          </a:p>
        </p:txBody>
      </p:sp>
      <p:sp>
        <p:nvSpPr>
          <p:cNvPr id="26" name="Text 20"/>
          <p:cNvSpPr txBox="1"/>
          <p:nvPr/>
        </p:nvSpPr>
        <p:spPr>
          <a:xfrm>
            <a:off x="146304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Narsalar interneti (IoT)</a:t>
            </a:r>
            <a:endParaRPr lang="en-US" sz="1550" dirty="0"/>
          </a:p>
        </p:txBody>
      </p:sp>
      <p:sp>
        <p:nvSpPr>
          <p:cNvPr id="27" name="Text 21"/>
          <p:cNvSpPr txBox="1"/>
          <p:nvPr/>
        </p:nvSpPr>
        <p:spPr>
          <a:xfrm>
            <a:off x="73152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uskunalarga o‘rnatilgan datchiklar orqali ishlab chiqarishni masofadan kuzatish.</a:t>
            </a:r>
            <a:endParaRPr lang="en-US" sz="1350" dirty="0"/>
          </a:p>
        </p:txBody>
      </p:sp>
      <p:sp>
        <p:nvSpPr>
          <p:cNvPr id="28" name="Shape 22"/>
          <p:cNvSpPr/>
          <p:nvPr/>
        </p:nvSpPr>
        <p:spPr>
          <a:xfrm>
            <a:off x="434340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9" name="Shape 23"/>
          <p:cNvSpPr/>
          <p:nvPr/>
        </p:nvSpPr>
        <p:spPr>
          <a:xfrm>
            <a:off x="4526280" y="4023360"/>
            <a:ext cx="594360" cy="594360"/>
          </a:xfrm>
          <a:prstGeom prst="ellipse">
            <a:avLst/>
          </a:prstGeom>
          <a:solidFill>
            <a:srgbClr val="0E9F9A"/>
          </a:solidFill>
          <a:ln w="12700">
            <a:solidFill>
              <a:srgbClr val="0E9F9A"/>
            </a:solidFill>
            <a:prstDash val="solid"/>
          </a:ln>
        </p:spPr>
      </p:sp>
      <p:pic>
        <p:nvPicPr>
          <p:cNvPr id="30" name="Image 4" descr="preencoded.png">    </p:cNvPr>
          <p:cNvPicPr>
            <a:picLocks noChangeAspect="1"/>
          </p:cNvPicPr>
          <p:nvPr/>
        </p:nvPicPr>
        <p:blipFill>
          <a:blip r:embed="rId5"/>
          <a:stretch>
            <a:fillRect/>
          </a:stretch>
        </p:blipFill>
        <p:spPr>
          <a:xfrm>
            <a:off x="4680814" y="4177894"/>
            <a:ext cx="285293" cy="285293"/>
          </a:xfrm>
          <a:prstGeom prst="rect">
            <a:avLst/>
          </a:prstGeom>
        </p:spPr>
      </p:pic>
      <p:sp>
        <p:nvSpPr>
          <p:cNvPr id="31" name="Text 24"/>
          <p:cNvSpPr txBox="1"/>
          <p:nvPr/>
        </p:nvSpPr>
        <p:spPr>
          <a:xfrm>
            <a:off x="713232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05</a:t>
            </a:r>
            <a:endParaRPr lang="en-US" sz="2000" dirty="0"/>
          </a:p>
        </p:txBody>
      </p:sp>
      <p:sp>
        <p:nvSpPr>
          <p:cNvPr id="32" name="Text 25"/>
          <p:cNvSpPr txBox="1"/>
          <p:nvPr/>
        </p:nvSpPr>
        <p:spPr>
          <a:xfrm>
            <a:off x="525780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Blokcheyn</a:t>
            </a:r>
            <a:endParaRPr lang="en-US" sz="1550" dirty="0"/>
          </a:p>
        </p:txBody>
      </p:sp>
      <p:sp>
        <p:nvSpPr>
          <p:cNvPr id="33" name="Text 26"/>
          <p:cNvSpPr txBox="1"/>
          <p:nvPr/>
        </p:nvSpPr>
        <p:spPr>
          <a:xfrm>
            <a:off x="452628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shartnomalar, to‘lovlar va yetkazib berish zanjirini shaffof va xavfsiz yuritish.</a:t>
            </a:r>
            <a:endParaRPr lang="en-US" sz="1350" dirty="0"/>
          </a:p>
        </p:txBody>
      </p:sp>
      <p:sp>
        <p:nvSpPr>
          <p:cNvPr id="34" name="Shape 27"/>
          <p:cNvSpPr/>
          <p:nvPr/>
        </p:nvSpPr>
        <p:spPr>
          <a:xfrm>
            <a:off x="8138160" y="3840480"/>
            <a:ext cx="3520440" cy="1600200"/>
          </a:xfrm>
          <a:prstGeom prst="roundRect">
            <a:avLst>
              <a:gd name="adj" fmla="val 685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5" name="Shape 28"/>
          <p:cNvSpPr/>
          <p:nvPr/>
        </p:nvSpPr>
        <p:spPr>
          <a:xfrm>
            <a:off x="8321040" y="4023360"/>
            <a:ext cx="594360" cy="594360"/>
          </a:xfrm>
          <a:prstGeom prst="ellipse">
            <a:avLst/>
          </a:prstGeom>
          <a:solidFill>
            <a:srgbClr val="0D2F4F"/>
          </a:solidFill>
          <a:ln w="12700">
            <a:solidFill>
              <a:srgbClr val="0D2F4F"/>
            </a:solidFill>
            <a:prstDash val="solid"/>
          </a:ln>
        </p:spPr>
      </p:sp>
      <p:pic>
        <p:nvPicPr>
          <p:cNvPr id="36" name="Image 5" descr="preencoded.png">    </p:cNvPr>
          <p:cNvPicPr>
            <a:picLocks noChangeAspect="1"/>
          </p:cNvPicPr>
          <p:nvPr/>
        </p:nvPicPr>
        <p:blipFill>
          <a:blip r:embed="rId6"/>
          <a:stretch>
            <a:fillRect/>
          </a:stretch>
        </p:blipFill>
        <p:spPr>
          <a:xfrm>
            <a:off x="8475574" y="4177894"/>
            <a:ext cx="285293" cy="285293"/>
          </a:xfrm>
          <a:prstGeom prst="rect">
            <a:avLst/>
          </a:prstGeom>
        </p:spPr>
      </p:pic>
      <p:sp>
        <p:nvSpPr>
          <p:cNvPr id="37" name="Text 29"/>
          <p:cNvSpPr txBox="1"/>
          <p:nvPr/>
        </p:nvSpPr>
        <p:spPr>
          <a:xfrm>
            <a:off x="10927080" y="3977640"/>
            <a:ext cx="548640" cy="457200"/>
          </a:xfrm>
          <a:prstGeom prst="rect">
            <a:avLst/>
          </a:prstGeom>
          <a:noFill/>
          <a:ln/>
        </p:spPr>
        <p:txBody>
          <a:bodyPr wrap="square" lIns="0" tIns="0" rIns="0" bIns="0" rtlCol="0" anchor="ctr"/>
          <a:lstStyle/>
          <a:p>
            <a:pPr algn="r" indent="0" marL="0">
              <a:buNone/>
            </a:pPr>
            <a:r>
              <a:rPr lang="en-US" sz="2000" b="1" dirty="0">
                <a:solidFill>
                  <a:srgbClr val="F2A541"/>
                </a:solidFill>
                <a:latin typeface="Cambria" pitchFamily="34" charset="0"/>
                <a:ea typeface="Cambria" pitchFamily="34" charset="-122"/>
                <a:cs typeface="Cambria" pitchFamily="34" charset="-120"/>
              </a:rPr>
              <a:t>06</a:t>
            </a:r>
            <a:endParaRPr lang="en-US" sz="2000" dirty="0"/>
          </a:p>
        </p:txBody>
      </p:sp>
      <p:sp>
        <p:nvSpPr>
          <p:cNvPr id="38" name="Text 30"/>
          <p:cNvSpPr txBox="1"/>
          <p:nvPr/>
        </p:nvSpPr>
        <p:spPr>
          <a:xfrm>
            <a:off x="9052560" y="4023360"/>
            <a:ext cx="1828800" cy="594360"/>
          </a:xfrm>
          <a:prstGeom prst="rect">
            <a:avLst/>
          </a:prstGeom>
          <a:noFill/>
          <a:ln/>
        </p:spPr>
        <p:txBody>
          <a:bodyPr wrap="square" lIns="0" tIns="0" rIns="0" bIns="0" rtlCol="0" anchor="ctr"/>
          <a:lstStyle/>
          <a:p>
            <a:pPr indent="0" marL="0">
              <a:buNone/>
            </a:pPr>
            <a:r>
              <a:rPr lang="en-US" sz="1550" b="1" dirty="0">
                <a:solidFill>
                  <a:srgbClr val="0D2F4F"/>
                </a:solidFill>
              </a:rPr>
              <a:t>Robototexnika va RPA</a:t>
            </a:r>
            <a:endParaRPr lang="en-US" sz="1550" dirty="0"/>
          </a:p>
        </p:txBody>
      </p:sp>
      <p:sp>
        <p:nvSpPr>
          <p:cNvPr id="39" name="Text 31"/>
          <p:cNvSpPr txBox="1"/>
          <p:nvPr/>
        </p:nvSpPr>
        <p:spPr>
          <a:xfrm>
            <a:off x="8321040" y="4709160"/>
            <a:ext cx="3154680" cy="68580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takrorlanuvchi jismoniy va ofis operatsiyalarini robotlar yordamida bajarish.</a:t>
            </a:r>
            <a:endParaRPr lang="en-US" sz="1350" dirty="0"/>
          </a:p>
        </p:txBody>
      </p:sp>
      <p:sp>
        <p:nvSpPr>
          <p:cNvPr id="40" name="Shape 32"/>
          <p:cNvSpPr/>
          <p:nvPr/>
        </p:nvSpPr>
        <p:spPr>
          <a:xfrm>
            <a:off x="548640" y="5623560"/>
            <a:ext cx="11064240" cy="594360"/>
          </a:xfrm>
          <a:prstGeom prst="roundRect">
            <a:avLst>
              <a:gd name="adj" fmla="val 18462"/>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1" name="Text 33"/>
          <p:cNvSpPr txBox="1"/>
          <p:nvPr/>
        </p:nvSpPr>
        <p:spPr>
          <a:xfrm>
            <a:off x="731520" y="5669280"/>
            <a:ext cx="10698480" cy="502920"/>
          </a:xfrm>
          <a:prstGeom prst="rect">
            <a:avLst/>
          </a:prstGeom>
          <a:noFill/>
          <a:ln/>
        </p:spPr>
        <p:txBody>
          <a:bodyPr wrap="square" lIns="0" tIns="0" rIns="0" bIns="0" rtlCol="0" anchor="ctr"/>
          <a:lstStyle/>
          <a:p>
            <a:pPr indent="0" marL="0">
              <a:buNone/>
            </a:pPr>
            <a:r>
              <a:rPr lang="en-US" sz="1350" b="1" dirty="0">
                <a:solidFill>
                  <a:srgbClr val="0D2F4F"/>
                </a:solidFill>
                <a:latin typeface="Calibri" pitchFamily="34" charset="0"/>
                <a:ea typeface="Calibri" pitchFamily="34" charset="-122"/>
                <a:cs typeface="Calibri" pitchFamily="34" charset="-120"/>
              </a:rPr>
              <a:t>Tanlov qoidasi:</a:t>
            </a:r>
            <a:pPr indent="0" marL="0">
              <a:buNone/>
            </a:pPr>
            <a:r>
              <a:rPr lang="en-US" sz="1350" dirty="0">
                <a:solidFill>
                  <a:srgbClr val="1B2A3A"/>
                </a:solidFill>
                <a:latin typeface="Calibri" pitchFamily="34" charset="0"/>
                <a:ea typeface="Calibri" pitchFamily="34" charset="-122"/>
                <a:cs typeface="Calibri" pitchFamily="34" charset="-120"/>
              </a:rPr>
              <a:t> texnologiya moda uchun emas, aniq biznes-muammoni hal qilish uchun joriy etiladi.</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Korxona funksiyalarida raqamli yechimlar</a:t>
            </a:r>
            <a:endParaRPr lang="en-US" sz="3000" dirty="0"/>
          </a:p>
        </p:txBody>
      </p:sp>
      <p:pic>
        <p:nvPicPr>
          <p:cNvPr id="3" name="Image 0" descr="img7/funcs.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Raqamli texnologiyalar korxonaning barcha bo‘g‘inlarini qamrab oladi</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0" y="1371600"/>
          <a:ext cx="7498080" cy="914400"/>
        </p:xfrm>
        <a:graphic>
          <a:graphicData uri="http://schemas.openxmlformats.org/drawingml/2006/table">
            <a:tbl>
              <a:tblPr/>
              <a:tblGrid>
                <a:gridCol w="1737360"/>
                <a:gridCol w="2834640"/>
                <a:gridCol w="2926080"/>
              </a:tblGrid>
              <a:tr h="548640">
                <a:tc>
                  <a:txBody>
                    <a:bodyPr/>
                    <a:lstStyle/>
                    <a:p>
                      <a:pPr algn="l" indent="0" marL="0">
                        <a:buNone/>
                      </a:pPr>
                      <a:r>
                        <a:rPr lang="en-US" sz="1300" b="1" dirty="0">
                          <a:solidFill>
                            <a:srgbClr val="FFFFFF"/>
                          </a:solidFill>
                        </a:rPr>
                        <a:t>Faoliyat sohasi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Raqamli vosita</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Natija</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r>
              <a:tr h="548640">
                <a:tc>
                  <a:txBody>
                    <a:bodyPr/>
                    <a:lstStyle/>
                    <a:p>
                      <a:pPr algn="l" indent="0" marL="0">
                        <a:buNone/>
                      </a:pPr>
                      <a:r>
                        <a:rPr lang="en-US" sz="1250" b="1" dirty="0">
                          <a:solidFill>
                            <a:srgbClr val="0D2F4F"/>
                          </a:solidFill>
                        </a:rPr>
                        <a:t>Boshqaruv</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ERP tizimlari, elektron hujjat aylanishi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yagona ma’lumotlar bazasi, tezkor qarorlar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Sotuv va marketing</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CRM, e-tijorat, SMM, marketpleyslar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mijozlar bazasi va sotuv hajmining o‘sishi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Ishlab chiqarish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IoT datchiklar, MES, robotlar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unumdorlik oshishi, nuqsonlar kamayishi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Moliya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onlayn bank, elektron hisob-faktura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shaffoflik, hisob-kitob tezligi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Kadrlar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HRM tizimlari, masofaviy o‘qitish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malaka oshishi, xodimlar samaradorligi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Logistika</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WMS, GPS-monitoring, elektron navbat</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yetkazib berish muddati va xarajatlar qisqarishi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0" y="5486400"/>
            <a:ext cx="7498080" cy="731520"/>
          </a:xfrm>
          <a:prstGeom prst="roundRect">
            <a:avLst>
              <a:gd name="adj" fmla="val 15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Text 3"/>
          <p:cNvSpPr txBox="1"/>
          <p:nvPr/>
        </p:nvSpPr>
        <p:spPr>
          <a:xfrm>
            <a:off x="4297680" y="5532120"/>
            <a:ext cx="7132320" cy="640080"/>
          </a:xfrm>
          <a:prstGeom prst="rect">
            <a:avLst/>
          </a:prstGeom>
          <a:noFill/>
          <a:ln/>
        </p:spPr>
        <p:txBody>
          <a:bodyPr wrap="square" lIns="0" tIns="0" rIns="0" bIns="0" rtlCol="0" anchor="ctr"/>
          <a:lstStyle/>
          <a:p>
            <a:pPr indent="0" marL="0">
              <a:buNone/>
            </a:pPr>
            <a:r>
              <a:rPr lang="en-US" sz="1400" dirty="0">
                <a:solidFill>
                  <a:srgbClr val="1B2A3A"/>
                </a:solidFill>
                <a:latin typeface="Calibri" pitchFamily="34" charset="0"/>
                <a:ea typeface="Calibri" pitchFamily="34" charset="-122"/>
                <a:cs typeface="Calibri" pitchFamily="34" charset="-120"/>
              </a:rPr>
              <a:t>Eng katta samara alohida dasturlardan emas, ularning </a:t>
            </a:r>
            <a:pPr indent="0" marL="0">
              <a:buNone/>
            </a:pPr>
            <a:r>
              <a:rPr lang="en-US" sz="1400" b="1" dirty="0">
                <a:solidFill>
                  <a:srgbClr val="0D2F4F"/>
                </a:solidFill>
                <a:latin typeface="Calibri" pitchFamily="34" charset="0"/>
                <a:ea typeface="Calibri" pitchFamily="34" charset="-122"/>
                <a:cs typeface="Calibri" pitchFamily="34" charset="-120"/>
              </a:rPr>
              <a:t>yagona tizimga integratsiyasi</a:t>
            </a:r>
            <a:pPr indent="0" marL="0">
              <a:buNone/>
            </a:pPr>
            <a:r>
              <a:rPr lang="en-US" sz="1400" dirty="0">
                <a:solidFill>
                  <a:srgbClr val="1B2A3A"/>
                </a:solidFill>
                <a:latin typeface="Calibri" pitchFamily="34" charset="0"/>
                <a:ea typeface="Calibri" pitchFamily="34" charset="-122"/>
                <a:cs typeface="Calibri" pitchFamily="34" charset="-120"/>
              </a:rPr>
              <a:t>dan olinadi.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Raqamli rivojlanish strategiyasini ishlab chiqish bosqichlari</a:t>
            </a:r>
            <a:endParaRPr lang="en-US" sz="3000" dirty="0"/>
          </a:p>
        </p:txBody>
      </p:sp>
      <p:sp>
        <p:nvSpPr>
          <p:cNvPr id="3" name="Shape 1"/>
          <p:cNvSpPr/>
          <p:nvPr/>
        </p:nvSpPr>
        <p:spPr>
          <a:xfrm>
            <a:off x="548640" y="1371600"/>
            <a:ext cx="2212848" cy="685800"/>
          </a:xfrm>
          <a:prstGeom prst="homePlate">
            <a:avLst/>
          </a:prstGeom>
          <a:solidFill>
            <a:srgbClr val="0E9F9A"/>
          </a:solidFill>
          <a:ln w="12700">
            <a:solidFill>
              <a:srgbClr val="FFFFFF"/>
            </a:solidFill>
            <a:prstDash val="solid"/>
          </a:ln>
        </p:spPr>
      </p:sp>
      <p:sp>
        <p:nvSpPr>
          <p:cNvPr id="4" name="Text 2"/>
          <p:cNvSpPr txBox="1"/>
          <p:nvPr/>
        </p:nvSpPr>
        <p:spPr>
          <a:xfrm>
            <a:off x="731520"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1-bosqich</a:t>
            </a:r>
            <a:endParaRPr lang="en-US" sz="1400" dirty="0"/>
          </a:p>
        </p:txBody>
      </p:sp>
      <p:sp>
        <p:nvSpPr>
          <p:cNvPr id="5" name="Shape 3"/>
          <p:cNvSpPr/>
          <p:nvPr/>
        </p:nvSpPr>
        <p:spPr>
          <a:xfrm>
            <a:off x="594360"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4"/>
          <p:cNvSpPr/>
          <p:nvPr/>
        </p:nvSpPr>
        <p:spPr>
          <a:xfrm>
            <a:off x="731520" y="2377440"/>
            <a:ext cx="457200" cy="45720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50392" y="2496312"/>
            <a:ext cx="219456" cy="219456"/>
          </a:xfrm>
          <a:prstGeom prst="rect">
            <a:avLst/>
          </a:prstGeom>
        </p:spPr>
      </p:pic>
      <p:sp>
        <p:nvSpPr>
          <p:cNvPr id="8" name="Text 5"/>
          <p:cNvSpPr txBox="1"/>
          <p:nvPr/>
        </p:nvSpPr>
        <p:spPr>
          <a:xfrm>
            <a:off x="1280160"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Joriy holat auditi</a:t>
            </a:r>
            <a:endParaRPr lang="en-US" sz="1350" dirty="0"/>
          </a:p>
        </p:txBody>
      </p:sp>
      <p:sp>
        <p:nvSpPr>
          <p:cNvPr id="9" name="Text 6"/>
          <p:cNvSpPr txBox="1"/>
          <p:nvPr/>
        </p:nvSpPr>
        <p:spPr>
          <a:xfrm>
            <a:off x="731520"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jarayonlar, IT infratuzilma va xodimlar ko‘nikmalarini baholash</a:t>
            </a:r>
            <a:endParaRPr lang="en-US" sz="1300" dirty="0"/>
          </a:p>
        </p:txBody>
      </p:sp>
      <p:sp>
        <p:nvSpPr>
          <p:cNvPr id="10" name="Shape 7"/>
          <p:cNvSpPr/>
          <p:nvPr/>
        </p:nvSpPr>
        <p:spPr>
          <a:xfrm>
            <a:off x="2761488" y="1371600"/>
            <a:ext cx="2212848" cy="685800"/>
          </a:xfrm>
          <a:prstGeom prst="chevron">
            <a:avLst/>
          </a:prstGeom>
          <a:solidFill>
            <a:srgbClr val="0D2F4F"/>
          </a:solidFill>
          <a:ln w="12700">
            <a:solidFill>
              <a:srgbClr val="FFFFFF"/>
            </a:solidFill>
            <a:prstDash val="solid"/>
          </a:ln>
        </p:spPr>
      </p:sp>
      <p:sp>
        <p:nvSpPr>
          <p:cNvPr id="11" name="Text 8"/>
          <p:cNvSpPr txBox="1"/>
          <p:nvPr/>
        </p:nvSpPr>
        <p:spPr>
          <a:xfrm>
            <a:off x="3218688"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2-bosqich</a:t>
            </a:r>
            <a:endParaRPr lang="en-US" sz="1400" dirty="0"/>
          </a:p>
        </p:txBody>
      </p:sp>
      <p:sp>
        <p:nvSpPr>
          <p:cNvPr id="12" name="Shape 9"/>
          <p:cNvSpPr/>
          <p:nvPr/>
        </p:nvSpPr>
        <p:spPr>
          <a:xfrm>
            <a:off x="2807208"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2944368" y="2377440"/>
            <a:ext cx="457200" cy="457200"/>
          </a:xfrm>
          <a:prstGeom prst="ellipse">
            <a:avLst/>
          </a:prstGeom>
          <a:solidFill>
            <a:srgbClr val="F2A541"/>
          </a:solidFill>
          <a:ln w="12700">
            <a:solidFill>
              <a:srgbClr val="F2A541"/>
            </a:solidFill>
            <a:prstDash val="solid"/>
          </a:ln>
        </p:spPr>
      </p:sp>
      <p:pic>
        <p:nvPicPr>
          <p:cNvPr id="14" name="Image 1" descr="preencoded.png">    </p:cNvPr>
          <p:cNvPicPr>
            <a:picLocks noChangeAspect="1"/>
          </p:cNvPicPr>
          <p:nvPr/>
        </p:nvPicPr>
        <p:blipFill>
          <a:blip r:embed="rId2"/>
          <a:stretch>
            <a:fillRect/>
          </a:stretch>
        </p:blipFill>
        <p:spPr>
          <a:xfrm>
            <a:off x="3063240" y="2496312"/>
            <a:ext cx="219456" cy="219456"/>
          </a:xfrm>
          <a:prstGeom prst="rect">
            <a:avLst/>
          </a:prstGeom>
        </p:spPr>
      </p:pic>
      <p:sp>
        <p:nvSpPr>
          <p:cNvPr id="15" name="Text 11"/>
          <p:cNvSpPr txBox="1"/>
          <p:nvPr/>
        </p:nvSpPr>
        <p:spPr>
          <a:xfrm>
            <a:off x="3493008"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Raqamli vizyon</a:t>
            </a:r>
            <a:endParaRPr lang="en-US" sz="1350" dirty="0"/>
          </a:p>
        </p:txBody>
      </p:sp>
      <p:sp>
        <p:nvSpPr>
          <p:cNvPr id="16" name="Text 12"/>
          <p:cNvSpPr txBox="1"/>
          <p:nvPr/>
        </p:nvSpPr>
        <p:spPr>
          <a:xfrm>
            <a:off x="2944368"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korxona 3–5 yildan keyin qanday raqamli korxona bo‘lishini belgilash</a:t>
            </a:r>
            <a:endParaRPr lang="en-US" sz="1300" dirty="0"/>
          </a:p>
        </p:txBody>
      </p:sp>
      <p:sp>
        <p:nvSpPr>
          <p:cNvPr id="17" name="Shape 13"/>
          <p:cNvSpPr/>
          <p:nvPr/>
        </p:nvSpPr>
        <p:spPr>
          <a:xfrm>
            <a:off x="4974336" y="1371600"/>
            <a:ext cx="2212848" cy="685800"/>
          </a:xfrm>
          <a:prstGeom prst="chevron">
            <a:avLst/>
          </a:prstGeom>
          <a:solidFill>
            <a:srgbClr val="0E9F9A"/>
          </a:solidFill>
          <a:ln w="12700">
            <a:solidFill>
              <a:srgbClr val="FFFFFF"/>
            </a:solidFill>
            <a:prstDash val="solid"/>
          </a:ln>
        </p:spPr>
      </p:sp>
      <p:sp>
        <p:nvSpPr>
          <p:cNvPr id="18" name="Text 14"/>
          <p:cNvSpPr txBox="1"/>
          <p:nvPr/>
        </p:nvSpPr>
        <p:spPr>
          <a:xfrm>
            <a:off x="5431536"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3-bosqich</a:t>
            </a:r>
            <a:endParaRPr lang="en-US" sz="1400" dirty="0"/>
          </a:p>
        </p:txBody>
      </p:sp>
      <p:sp>
        <p:nvSpPr>
          <p:cNvPr id="19" name="Shape 15"/>
          <p:cNvSpPr/>
          <p:nvPr/>
        </p:nvSpPr>
        <p:spPr>
          <a:xfrm>
            <a:off x="5020056"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0" name="Shape 16"/>
          <p:cNvSpPr/>
          <p:nvPr/>
        </p:nvSpPr>
        <p:spPr>
          <a:xfrm>
            <a:off x="5157216" y="2377440"/>
            <a:ext cx="457200" cy="457200"/>
          </a:xfrm>
          <a:prstGeom prst="ellipse">
            <a:avLst/>
          </a:prstGeom>
          <a:solidFill>
            <a:srgbClr val="F2A541"/>
          </a:solidFill>
          <a:ln w="12700">
            <a:solidFill>
              <a:srgbClr val="F2A541"/>
            </a:solidFill>
            <a:prstDash val="solid"/>
          </a:ln>
        </p:spPr>
      </p:sp>
      <p:pic>
        <p:nvPicPr>
          <p:cNvPr id="21" name="Image 2" descr="preencoded.png">    </p:cNvPr>
          <p:cNvPicPr>
            <a:picLocks noChangeAspect="1"/>
          </p:cNvPicPr>
          <p:nvPr/>
        </p:nvPicPr>
        <p:blipFill>
          <a:blip r:embed="rId3"/>
          <a:stretch>
            <a:fillRect/>
          </a:stretch>
        </p:blipFill>
        <p:spPr>
          <a:xfrm>
            <a:off x="5276088" y="2496312"/>
            <a:ext cx="219456" cy="219456"/>
          </a:xfrm>
          <a:prstGeom prst="rect">
            <a:avLst/>
          </a:prstGeom>
        </p:spPr>
      </p:pic>
      <p:sp>
        <p:nvSpPr>
          <p:cNvPr id="22" name="Text 17"/>
          <p:cNvSpPr txBox="1"/>
          <p:nvPr/>
        </p:nvSpPr>
        <p:spPr>
          <a:xfrm>
            <a:off x="5705856"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Yo‘l xaritasi</a:t>
            </a:r>
            <a:endParaRPr lang="en-US" sz="1350" dirty="0"/>
          </a:p>
        </p:txBody>
      </p:sp>
      <p:sp>
        <p:nvSpPr>
          <p:cNvPr id="23" name="Text 18"/>
          <p:cNvSpPr txBox="1"/>
          <p:nvPr/>
        </p:nvSpPr>
        <p:spPr>
          <a:xfrm>
            <a:off x="5157216"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ustuvor loyihalar, byudjet, muddat va mas’ullarni aniqlash</a:t>
            </a:r>
            <a:endParaRPr lang="en-US" sz="1300" dirty="0"/>
          </a:p>
        </p:txBody>
      </p:sp>
      <p:sp>
        <p:nvSpPr>
          <p:cNvPr id="24" name="Shape 19"/>
          <p:cNvSpPr/>
          <p:nvPr/>
        </p:nvSpPr>
        <p:spPr>
          <a:xfrm>
            <a:off x="7187184" y="1371600"/>
            <a:ext cx="2212848" cy="685800"/>
          </a:xfrm>
          <a:prstGeom prst="chevron">
            <a:avLst/>
          </a:prstGeom>
          <a:solidFill>
            <a:srgbClr val="0D2F4F"/>
          </a:solidFill>
          <a:ln w="12700">
            <a:solidFill>
              <a:srgbClr val="FFFFFF"/>
            </a:solidFill>
            <a:prstDash val="solid"/>
          </a:ln>
        </p:spPr>
      </p:sp>
      <p:sp>
        <p:nvSpPr>
          <p:cNvPr id="25" name="Text 20"/>
          <p:cNvSpPr txBox="1"/>
          <p:nvPr/>
        </p:nvSpPr>
        <p:spPr>
          <a:xfrm>
            <a:off x="7644384"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4-bosqich</a:t>
            </a:r>
            <a:endParaRPr lang="en-US" sz="1400" dirty="0"/>
          </a:p>
        </p:txBody>
      </p:sp>
      <p:sp>
        <p:nvSpPr>
          <p:cNvPr id="26" name="Shape 21"/>
          <p:cNvSpPr/>
          <p:nvPr/>
        </p:nvSpPr>
        <p:spPr>
          <a:xfrm>
            <a:off x="7232904"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7" name="Shape 22"/>
          <p:cNvSpPr/>
          <p:nvPr/>
        </p:nvSpPr>
        <p:spPr>
          <a:xfrm>
            <a:off x="7370064" y="2377440"/>
            <a:ext cx="457200" cy="457200"/>
          </a:xfrm>
          <a:prstGeom prst="ellipse">
            <a:avLst/>
          </a:prstGeom>
          <a:solidFill>
            <a:srgbClr val="F2A541"/>
          </a:solidFill>
          <a:ln w="12700">
            <a:solidFill>
              <a:srgbClr val="F2A541"/>
            </a:solidFill>
            <a:prstDash val="solid"/>
          </a:ln>
        </p:spPr>
      </p:sp>
      <p:pic>
        <p:nvPicPr>
          <p:cNvPr id="28" name="Image 3" descr="preencoded.png">    </p:cNvPr>
          <p:cNvPicPr>
            <a:picLocks noChangeAspect="1"/>
          </p:cNvPicPr>
          <p:nvPr/>
        </p:nvPicPr>
        <p:blipFill>
          <a:blip r:embed="rId4"/>
          <a:stretch>
            <a:fillRect/>
          </a:stretch>
        </p:blipFill>
        <p:spPr>
          <a:xfrm>
            <a:off x="7488936" y="2496312"/>
            <a:ext cx="219456" cy="219456"/>
          </a:xfrm>
          <a:prstGeom prst="rect">
            <a:avLst/>
          </a:prstGeom>
        </p:spPr>
      </p:pic>
      <p:sp>
        <p:nvSpPr>
          <p:cNvPr id="29" name="Text 23"/>
          <p:cNvSpPr txBox="1"/>
          <p:nvPr/>
        </p:nvSpPr>
        <p:spPr>
          <a:xfrm>
            <a:off x="7918704"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Joriy etish</a:t>
            </a:r>
            <a:endParaRPr lang="en-US" sz="1350" dirty="0"/>
          </a:p>
        </p:txBody>
      </p:sp>
      <p:sp>
        <p:nvSpPr>
          <p:cNvPr id="30" name="Text 24"/>
          <p:cNvSpPr txBox="1"/>
          <p:nvPr/>
        </p:nvSpPr>
        <p:spPr>
          <a:xfrm>
            <a:off x="7370064"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pilot loyiha, natijani tekshirish va keyin masshtablash</a:t>
            </a:r>
            <a:endParaRPr lang="en-US" sz="1300" dirty="0"/>
          </a:p>
        </p:txBody>
      </p:sp>
      <p:sp>
        <p:nvSpPr>
          <p:cNvPr id="31" name="Shape 25"/>
          <p:cNvSpPr/>
          <p:nvPr/>
        </p:nvSpPr>
        <p:spPr>
          <a:xfrm>
            <a:off x="9400032" y="1371600"/>
            <a:ext cx="2212848" cy="685800"/>
          </a:xfrm>
          <a:prstGeom prst="chevron">
            <a:avLst/>
          </a:prstGeom>
          <a:solidFill>
            <a:srgbClr val="0E9F9A"/>
          </a:solidFill>
          <a:ln w="12700">
            <a:solidFill>
              <a:srgbClr val="FFFFFF"/>
            </a:solidFill>
            <a:prstDash val="solid"/>
          </a:ln>
        </p:spPr>
      </p:sp>
      <p:sp>
        <p:nvSpPr>
          <p:cNvPr id="32" name="Text 26"/>
          <p:cNvSpPr txBox="1"/>
          <p:nvPr/>
        </p:nvSpPr>
        <p:spPr>
          <a:xfrm>
            <a:off x="9857232"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5-bosqich</a:t>
            </a:r>
            <a:endParaRPr lang="en-US" sz="1400" dirty="0"/>
          </a:p>
        </p:txBody>
      </p:sp>
      <p:sp>
        <p:nvSpPr>
          <p:cNvPr id="33" name="Shape 27"/>
          <p:cNvSpPr/>
          <p:nvPr/>
        </p:nvSpPr>
        <p:spPr>
          <a:xfrm>
            <a:off x="9445752"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8"/>
          <p:cNvSpPr/>
          <p:nvPr/>
        </p:nvSpPr>
        <p:spPr>
          <a:xfrm>
            <a:off x="9582912" y="2377440"/>
            <a:ext cx="457200" cy="457200"/>
          </a:xfrm>
          <a:prstGeom prst="ellipse">
            <a:avLst/>
          </a:prstGeom>
          <a:solidFill>
            <a:srgbClr val="F2A541"/>
          </a:solidFill>
          <a:ln w="12700">
            <a:solidFill>
              <a:srgbClr val="F2A541"/>
            </a:solidFill>
            <a:prstDash val="solid"/>
          </a:ln>
        </p:spPr>
      </p:sp>
      <p:pic>
        <p:nvPicPr>
          <p:cNvPr id="35" name="Image 4" descr="preencoded.png">    </p:cNvPr>
          <p:cNvPicPr>
            <a:picLocks noChangeAspect="1"/>
          </p:cNvPicPr>
          <p:nvPr/>
        </p:nvPicPr>
        <p:blipFill>
          <a:blip r:embed="rId5"/>
          <a:stretch>
            <a:fillRect/>
          </a:stretch>
        </p:blipFill>
        <p:spPr>
          <a:xfrm>
            <a:off x="9701784" y="2496312"/>
            <a:ext cx="219456" cy="219456"/>
          </a:xfrm>
          <a:prstGeom prst="rect">
            <a:avLst/>
          </a:prstGeom>
        </p:spPr>
      </p:pic>
      <p:sp>
        <p:nvSpPr>
          <p:cNvPr id="36" name="Text 29"/>
          <p:cNvSpPr txBox="1"/>
          <p:nvPr/>
        </p:nvSpPr>
        <p:spPr>
          <a:xfrm>
            <a:off x="10131552"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Monitoring</a:t>
            </a:r>
            <a:endParaRPr lang="en-US" sz="1350" dirty="0"/>
          </a:p>
        </p:txBody>
      </p:sp>
      <p:sp>
        <p:nvSpPr>
          <p:cNvPr id="37" name="Text 30"/>
          <p:cNvSpPr txBox="1"/>
          <p:nvPr/>
        </p:nvSpPr>
        <p:spPr>
          <a:xfrm>
            <a:off x="9582912"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raqamli KPI: avtomatlashtirish darajasi, onlayn sotuv ulushi</a:t>
            </a:r>
            <a:endParaRPr lang="en-US" sz="1300" dirty="0"/>
          </a:p>
        </p:txBody>
      </p:sp>
      <p:pic>
        <p:nvPicPr>
          <p:cNvPr id="38" name="Image 5" descr="img7/steps.png">    </p:cNvPr>
          <p:cNvPicPr>
            <a:picLocks noChangeAspect="1"/>
          </p:cNvPicPr>
          <p:nvPr/>
        </p:nvPicPr>
        <p:blipFill>
          <a:blip r:embed="rId6"/>
          <a:stretch>
            <a:fillRect/>
          </a:stretch>
        </p:blipFill>
        <p:spPr>
          <a:xfrm>
            <a:off x="548640" y="4526280"/>
            <a:ext cx="2194560" cy="1709928"/>
          </a:xfrm>
          <a:prstGeom prst="rect">
            <a:avLst/>
          </a:prstGeom>
        </p:spPr>
      </p:pic>
      <p:sp>
        <p:nvSpPr>
          <p:cNvPr id="39" name="Text 31"/>
          <p:cNvSpPr txBox="1"/>
          <p:nvPr/>
        </p:nvSpPr>
        <p:spPr>
          <a:xfrm>
            <a:off x="3017520" y="4526280"/>
            <a:ext cx="8595360" cy="17373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Strategiyani amalga oshirishga odatda </a:t>
            </a:r>
            <a:pPr indent="0" marL="0">
              <a:buNone/>
            </a:pPr>
            <a:r>
              <a:rPr lang="en-US" sz="1400" b="1" dirty="0">
                <a:solidFill>
                  <a:srgbClr val="0E9F9A"/>
                </a:solidFill>
                <a:latin typeface="Calibri" pitchFamily="34" charset="0"/>
                <a:ea typeface="Calibri" pitchFamily="34" charset="-122"/>
                <a:cs typeface="Calibri" pitchFamily="34" charset="-120"/>
              </a:rPr>
              <a:t>raqamli transformatsiya rahbari (CDO)</a:t>
            </a:r>
            <a:pPr indent="0" marL="0">
              <a:buNone/>
            </a:pPr>
            <a:r>
              <a:rPr lang="en-US" sz="1400" dirty="0">
                <a:solidFill>
                  <a:srgbClr val="1B2A3A"/>
                </a:solidFill>
                <a:latin typeface="Calibri" pitchFamily="34" charset="0"/>
                <a:ea typeface="Calibri" pitchFamily="34" charset="-122"/>
                <a:cs typeface="Calibri" pitchFamily="34" charset="-120"/>
              </a:rPr>
              <a:t> mas’ul bo‘ladi. O‘zbekistonda bu jarayon “</a:t>
            </a:r>
            <a:pPr indent="0" marL="0">
              <a:buNone/>
            </a:pPr>
            <a:r>
              <a:rPr lang="en-US" sz="1400" b="1" dirty="0">
                <a:solidFill>
                  <a:srgbClr val="0E9F9A"/>
                </a:solidFill>
                <a:latin typeface="Calibri" pitchFamily="34" charset="0"/>
                <a:ea typeface="Calibri" pitchFamily="34" charset="-122"/>
                <a:cs typeface="Calibri" pitchFamily="34" charset="-120"/>
              </a:rPr>
              <a:t>Raqamli O‘zbekiston – 2030</a:t>
            </a:r>
            <a:pPr indent="0" marL="0">
              <a:buNone/>
            </a:pPr>
            <a:r>
              <a:rPr lang="en-US" sz="1400" dirty="0">
                <a:solidFill>
                  <a:srgbClr val="1B2A3A"/>
                </a:solidFill>
                <a:latin typeface="Calibri" pitchFamily="34" charset="0"/>
                <a:ea typeface="Calibri" pitchFamily="34" charset="-122"/>
                <a:cs typeface="Calibri" pitchFamily="34" charset="-120"/>
              </a:rPr>
              <a:t>” strategiyasi (2020) bilan qo‘llab-quvvatlanadi: u raqamli infratuzilma, elektron hukumat, raqamli iqtisodiyot va IT ta’limini rivojlantirishni nazarda tutadi.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Raqamli strategiyaning uch tayanchi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Raqamli transformatsiya faqat texnologiya bilan cheklansa, muvaffaqiyatsizlikka uchraydi. U uchta yo‘nalishni birga o‘zgartirishni talab qiladi:</a:t>
            </a:r>
            <a:endParaRPr lang="en-US" sz="1400" dirty="0"/>
          </a:p>
        </p:txBody>
      </p:sp>
      <p:sp>
        <p:nvSpPr>
          <p:cNvPr id="4" name="Shape 2"/>
          <p:cNvSpPr/>
          <p:nvPr/>
        </p:nvSpPr>
        <p:spPr>
          <a:xfrm>
            <a:off x="548640" y="5532120"/>
            <a:ext cx="11064240" cy="685800"/>
          </a:xfrm>
          <a:prstGeom prst="roundRect">
            <a:avLst>
              <a:gd name="adj" fmla="val 16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5577840"/>
            <a:ext cx="10698480" cy="5943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Qoida:</a:t>
            </a:r>
            <a:pPr indent="0" marL="0">
              <a:buNone/>
            </a:pPr>
            <a:r>
              <a:rPr lang="en-US" sz="1400" dirty="0">
                <a:solidFill>
                  <a:srgbClr val="1B2A3A"/>
                </a:solidFill>
                <a:latin typeface="Calibri" pitchFamily="34" charset="0"/>
                <a:ea typeface="Calibri" pitchFamily="34" charset="-122"/>
                <a:cs typeface="Calibri" pitchFamily="34" charset="-120"/>
              </a:rPr>
              <a:t> avval jarayonni soddalashtiring, keyin raqamlashtiring – yomon jarayonni raqamlashtirish uni faqat tezlashtiradi.</a:t>
            </a:r>
            <a:endParaRPr lang="en-US" sz="1400" dirty="0"/>
          </a:p>
        </p:txBody>
      </p:sp>
      <p:sp>
        <p:nvSpPr>
          <p:cNvPr id="6" name="Shape 4"/>
          <p:cNvSpPr/>
          <p:nvPr/>
        </p:nvSpPr>
        <p:spPr>
          <a:xfrm>
            <a:off x="54864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Shape 5"/>
          <p:cNvSpPr/>
          <p:nvPr/>
        </p:nvSpPr>
        <p:spPr>
          <a:xfrm>
            <a:off x="822960" y="2468880"/>
            <a:ext cx="731520" cy="731520"/>
          </a:xfrm>
          <a:prstGeom prst="ellipse">
            <a:avLst/>
          </a:prstGeom>
          <a:solidFill>
            <a:srgbClr val="0E9F9A"/>
          </a:solidFill>
          <a:ln w="12700">
            <a:solidFill>
              <a:srgbClr val="0E9F9A"/>
            </a:solidFill>
            <a:prstDash val="solid"/>
          </a:ln>
        </p:spPr>
      </p:sp>
      <p:pic>
        <p:nvPicPr>
          <p:cNvPr id="8" name="Image 0" descr="preencoded.png">    </p:cNvPr>
          <p:cNvPicPr>
            <a:picLocks noChangeAspect="1"/>
          </p:cNvPicPr>
          <p:nvPr/>
        </p:nvPicPr>
        <p:blipFill>
          <a:blip r:embed="rId1"/>
          <a:stretch>
            <a:fillRect/>
          </a:stretch>
        </p:blipFill>
        <p:spPr>
          <a:xfrm>
            <a:off x="1013155" y="2659075"/>
            <a:ext cx="351130" cy="351130"/>
          </a:xfrm>
          <a:prstGeom prst="rect">
            <a:avLst/>
          </a:prstGeom>
        </p:spPr>
      </p:pic>
      <p:sp>
        <p:nvSpPr>
          <p:cNvPr id="9" name="Text 6"/>
          <p:cNvSpPr txBox="1"/>
          <p:nvPr/>
        </p:nvSpPr>
        <p:spPr>
          <a:xfrm>
            <a:off x="169164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Texnologiyalar</a:t>
            </a:r>
            <a:endParaRPr lang="en-US" sz="1700" dirty="0"/>
          </a:p>
        </p:txBody>
      </p:sp>
      <p:sp>
        <p:nvSpPr>
          <p:cNvPr id="10" name="Text 7"/>
          <p:cNvSpPr txBox="1"/>
          <p:nvPr/>
        </p:nvSpPr>
        <p:spPr>
          <a:xfrm>
            <a:off x="169164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infratuzilma va dasturlar</a:t>
            </a:r>
            <a:endParaRPr lang="en-US" sz="1200" dirty="0"/>
          </a:p>
        </p:txBody>
      </p:sp>
      <p:sp>
        <p:nvSpPr>
          <p:cNvPr id="11" name="Text 8"/>
          <p:cNvSpPr txBox="1"/>
          <p:nvPr/>
        </p:nvSpPr>
        <p:spPr>
          <a:xfrm>
            <a:off x="82296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ishonchli internet va server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bulutli xizmatlar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integratsiyalashgan tizimlar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kiberxavfsizlik vositalari</a:t>
            </a:r>
            <a:endParaRPr lang="en-US" sz="1400" dirty="0"/>
          </a:p>
        </p:txBody>
      </p:sp>
      <p:sp>
        <p:nvSpPr>
          <p:cNvPr id="12" name="Shape 9"/>
          <p:cNvSpPr/>
          <p:nvPr/>
        </p:nvSpPr>
        <p:spPr>
          <a:xfrm>
            <a:off x="434340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4617720" y="2468880"/>
            <a:ext cx="731520" cy="731520"/>
          </a:xfrm>
          <a:prstGeom prst="ellipse">
            <a:avLst/>
          </a:prstGeom>
          <a:solidFill>
            <a:srgbClr val="0D2F4F"/>
          </a:solidFill>
          <a:ln w="12700">
            <a:solidFill>
              <a:srgbClr val="0D2F4F"/>
            </a:solidFill>
            <a:prstDash val="solid"/>
          </a:ln>
        </p:spPr>
      </p:sp>
      <p:pic>
        <p:nvPicPr>
          <p:cNvPr id="14" name="Image 1" descr="preencoded.png">    </p:cNvPr>
          <p:cNvPicPr>
            <a:picLocks noChangeAspect="1"/>
          </p:cNvPicPr>
          <p:nvPr/>
        </p:nvPicPr>
        <p:blipFill>
          <a:blip r:embed="rId2"/>
          <a:stretch>
            <a:fillRect/>
          </a:stretch>
        </p:blipFill>
        <p:spPr>
          <a:xfrm>
            <a:off x="4807915" y="2659075"/>
            <a:ext cx="351130" cy="351130"/>
          </a:xfrm>
          <a:prstGeom prst="rect">
            <a:avLst/>
          </a:prstGeom>
        </p:spPr>
      </p:pic>
      <p:sp>
        <p:nvSpPr>
          <p:cNvPr id="15" name="Text 11"/>
          <p:cNvSpPr txBox="1"/>
          <p:nvPr/>
        </p:nvSpPr>
        <p:spPr>
          <a:xfrm>
            <a:off x="548640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Jarayonlar</a:t>
            </a:r>
            <a:endParaRPr lang="en-US" sz="1700" dirty="0"/>
          </a:p>
        </p:txBody>
      </p:sp>
      <p:sp>
        <p:nvSpPr>
          <p:cNvPr id="16" name="Text 12"/>
          <p:cNvSpPr txBox="1"/>
          <p:nvPr/>
        </p:nvSpPr>
        <p:spPr>
          <a:xfrm>
            <a:off x="548640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biznes-jarayonlarni qayta loyihalash</a:t>
            </a:r>
            <a:endParaRPr lang="en-US" sz="1200" dirty="0"/>
          </a:p>
        </p:txBody>
      </p:sp>
      <p:sp>
        <p:nvSpPr>
          <p:cNvPr id="17" name="Text 13"/>
          <p:cNvSpPr txBox="1"/>
          <p:nvPr/>
        </p:nvSpPr>
        <p:spPr>
          <a:xfrm>
            <a:off x="461772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ortiqcha bosqichlarni olib tashlash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qog‘ozsiz ish yuritish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real vaqtda nazorat</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mijoz yo‘lini soddalashtirish</a:t>
            </a:r>
            <a:endParaRPr lang="en-US" sz="1400" dirty="0"/>
          </a:p>
        </p:txBody>
      </p:sp>
      <p:sp>
        <p:nvSpPr>
          <p:cNvPr id="18" name="Shape 14"/>
          <p:cNvSpPr/>
          <p:nvPr/>
        </p:nvSpPr>
        <p:spPr>
          <a:xfrm>
            <a:off x="813816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5"/>
          <p:cNvSpPr/>
          <p:nvPr/>
        </p:nvSpPr>
        <p:spPr>
          <a:xfrm>
            <a:off x="8412480" y="2468880"/>
            <a:ext cx="731520" cy="731520"/>
          </a:xfrm>
          <a:prstGeom prst="ellipse">
            <a:avLst/>
          </a:prstGeom>
          <a:solidFill>
            <a:srgbClr val="3B6EA5"/>
          </a:solidFill>
          <a:ln w="12700">
            <a:solidFill>
              <a:srgbClr val="3B6EA5"/>
            </a:solidFill>
            <a:prstDash val="solid"/>
          </a:ln>
        </p:spPr>
      </p:sp>
      <p:pic>
        <p:nvPicPr>
          <p:cNvPr id="20" name="Image 2" descr="preencoded.png">    </p:cNvPr>
          <p:cNvPicPr>
            <a:picLocks noChangeAspect="1"/>
          </p:cNvPicPr>
          <p:nvPr/>
        </p:nvPicPr>
        <p:blipFill>
          <a:blip r:embed="rId3"/>
          <a:stretch>
            <a:fillRect/>
          </a:stretch>
        </p:blipFill>
        <p:spPr>
          <a:xfrm>
            <a:off x="8602675" y="2659075"/>
            <a:ext cx="351130" cy="351130"/>
          </a:xfrm>
          <a:prstGeom prst="rect">
            <a:avLst/>
          </a:prstGeom>
        </p:spPr>
      </p:pic>
      <p:sp>
        <p:nvSpPr>
          <p:cNvPr id="21" name="Text 16"/>
          <p:cNvSpPr txBox="1"/>
          <p:nvPr/>
        </p:nvSpPr>
        <p:spPr>
          <a:xfrm>
            <a:off x="928116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Odamlar va madaniyat</a:t>
            </a:r>
            <a:endParaRPr lang="en-US" sz="1700" dirty="0"/>
          </a:p>
        </p:txBody>
      </p:sp>
      <p:sp>
        <p:nvSpPr>
          <p:cNvPr id="22" name="Text 17"/>
          <p:cNvSpPr txBox="1"/>
          <p:nvPr/>
        </p:nvSpPr>
        <p:spPr>
          <a:xfrm>
            <a:off x="928116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eng murakkab tayanch</a:t>
            </a:r>
            <a:endParaRPr lang="en-US" sz="1200" dirty="0"/>
          </a:p>
        </p:txBody>
      </p:sp>
      <p:sp>
        <p:nvSpPr>
          <p:cNvPr id="23" name="Text 18"/>
          <p:cNvSpPr txBox="1"/>
          <p:nvPr/>
        </p:nvSpPr>
        <p:spPr>
          <a:xfrm>
            <a:off x="841248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raqamli ko‘nikmalarni o‘qitish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o‘zgarishga qarshilikni yengish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rahbariyatning shaxsiy ibrati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tajriba va tashabbusni rag‘batlantirish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Korxonaning raqamli yetukligini baholash</a:t>
            </a:r>
            <a:endParaRPr lang="en-US" sz="3000" dirty="0"/>
          </a:p>
        </p:txBody>
      </p:sp>
      <p:sp>
        <p:nvSpPr>
          <p:cNvPr id="3" name="Text 1"/>
          <p:cNvSpPr txBox="1"/>
          <p:nvPr/>
        </p:nvSpPr>
        <p:spPr>
          <a:xfrm>
            <a:off x="548640" y="1371600"/>
            <a:ext cx="5120640" cy="320040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1-daraja – boshlang‘ich:</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alohida kompyuter va dasturlar, qog‘oz hujjatlar ustun.</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2-daraja – rivojlanayotgan:</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asosiy jarayonlar avtomatlashtirilgan, lekin tizimlar bog‘lanmagan.</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3-daraja – integratsiyalashgan:</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yagona ERP/CRM, ma’lumotlar almashinuvi yo‘lga qo‘yilgan.</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4-daraja – raqamli yetakchi: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ma’lumotlar va sun’iy intellekt asosida yangi biznes-modellar.</a:t>
            </a:r>
            <a:endParaRPr lang="en-US" sz="1400" dirty="0"/>
          </a:p>
        </p:txBody>
      </p:sp>
      <p:sp>
        <p:nvSpPr>
          <p:cNvPr id="4" name="Shape 2"/>
          <p:cNvSpPr/>
          <p:nvPr/>
        </p:nvSpPr>
        <p:spPr>
          <a:xfrm>
            <a:off x="548640" y="4297680"/>
            <a:ext cx="5120640" cy="1371600"/>
          </a:xfrm>
          <a:prstGeom prst="roundRect">
            <a:avLst>
              <a:gd name="adj" fmla="val 8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4343400"/>
            <a:ext cx="4754880" cy="12801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Raqamli yetuklik</a:t>
            </a:r>
            <a:pPr indent="0" marL="0">
              <a:buNone/>
            </a:pPr>
            <a:r>
              <a:rPr lang="en-US" sz="1400" dirty="0">
                <a:solidFill>
                  <a:srgbClr val="1B2A3A"/>
                </a:solidFill>
                <a:latin typeface="Calibri" pitchFamily="34" charset="0"/>
                <a:ea typeface="Calibri" pitchFamily="34" charset="-122"/>
                <a:cs typeface="Calibri" pitchFamily="34" charset="-120"/>
              </a:rPr>
              <a:t> turli yo‘nalishlar bo‘yicha baholanadi va strategiya “hozirgi” va “maqsadli” holat orasidagi farqni yopishga qaratiladi.</a:t>
            </a:r>
            <a:endParaRPr lang="en-US" sz="1400" dirty="0"/>
          </a:p>
        </p:txBody>
      </p:sp>
      <p:sp>
        <p:nvSpPr>
          <p:cNvPr id="6" name="Text 4"/>
          <p:cNvSpPr txBox="1"/>
          <p:nvPr/>
        </p:nvSpPr>
        <p:spPr>
          <a:xfrm>
            <a:off x="6035040" y="1325880"/>
            <a:ext cx="5577840" cy="365760"/>
          </a:xfrm>
          <a:prstGeom prst="rect">
            <a:avLst/>
          </a:prstGeom>
          <a:noFill/>
          <a:ln/>
        </p:spPr>
        <p:txBody>
          <a:bodyPr wrap="square" lIns="0" tIns="0" rIns="0" bIns="0" rtlCol="0" anchor="ctr"/>
          <a:lstStyle/>
          <a:p>
            <a:pPr indent="0" marL="0">
              <a:buNone/>
            </a:pPr>
            <a:r>
              <a:rPr lang="en-US" sz="1500" b="1" dirty="0">
                <a:solidFill>
                  <a:srgbClr val="0D2F4F"/>
                </a:solidFill>
              </a:rPr>
              <a:t>Raqamli yetuklik profili (shartli misol, 5 ballik)</a:t>
            </a:r>
            <a:endParaRPr lang="en-US" sz="1500" dirty="0"/>
          </a:p>
        </p:txBody>
      </p:sp>
      <p:graphicFrame>
        <p:nvGraphicFramePr>
          <p:cNvPr id="7" name="Chart 0" descr=""/>
          <p:cNvGraphicFramePr/>
          <p:nvPr/>
        </p:nvGraphicFramePr>
        <p:xfrm>
          <a:off x="6035040" y="1737360"/>
          <a:ext cx="557784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To‘siqlar va muvaffaqiyat omillari</a:t>
            </a:r>
            <a:endParaRPr lang="en-US" sz="3000" dirty="0"/>
          </a:p>
        </p:txBody>
      </p:sp>
      <p:sp>
        <p:nvSpPr>
          <p:cNvPr id="3" name="Shape 1"/>
          <p:cNvSpPr/>
          <p:nvPr/>
        </p:nvSpPr>
        <p:spPr>
          <a:xfrm>
            <a:off x="548640" y="1371600"/>
            <a:ext cx="5440680" cy="4023360"/>
          </a:xfrm>
          <a:prstGeom prst="roundRect">
            <a:avLst>
              <a:gd name="adj" fmla="val 272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Shape 2"/>
          <p:cNvSpPr/>
          <p:nvPr/>
        </p:nvSpPr>
        <p:spPr>
          <a:xfrm>
            <a:off x="777240" y="1554480"/>
            <a:ext cx="594360" cy="594360"/>
          </a:xfrm>
          <a:prstGeom prst="ellipse">
            <a:avLst/>
          </a:prstGeom>
          <a:solidFill>
            <a:srgbClr val="B5651D"/>
          </a:solidFill>
          <a:ln w="12700">
            <a:solidFill>
              <a:srgbClr val="B5651D"/>
            </a:solidFill>
            <a:prstDash val="solid"/>
          </a:ln>
        </p:spPr>
      </p:sp>
      <p:pic>
        <p:nvPicPr>
          <p:cNvPr id="5" name="Image 0" descr="preencoded.png">    </p:cNvPr>
          <p:cNvPicPr>
            <a:picLocks noChangeAspect="1"/>
          </p:cNvPicPr>
          <p:nvPr/>
        </p:nvPicPr>
        <p:blipFill>
          <a:blip r:embed="rId1"/>
          <a:stretch>
            <a:fillRect/>
          </a:stretch>
        </p:blipFill>
        <p:spPr>
          <a:xfrm>
            <a:off x="931774" y="1709014"/>
            <a:ext cx="285293" cy="285293"/>
          </a:xfrm>
          <a:prstGeom prst="rect">
            <a:avLst/>
          </a:prstGeom>
        </p:spPr>
      </p:pic>
      <p:sp>
        <p:nvSpPr>
          <p:cNvPr id="6" name="Text 3"/>
          <p:cNvSpPr txBox="1"/>
          <p:nvPr/>
        </p:nvSpPr>
        <p:spPr>
          <a:xfrm>
            <a:off x="1508760" y="1554480"/>
            <a:ext cx="4297680" cy="594360"/>
          </a:xfrm>
          <a:prstGeom prst="rect">
            <a:avLst/>
          </a:prstGeom>
          <a:noFill/>
          <a:ln/>
        </p:spPr>
        <p:txBody>
          <a:bodyPr wrap="square" lIns="0" tIns="0" rIns="0" bIns="0" rtlCol="0" anchor="ctr"/>
          <a:lstStyle/>
          <a:p>
            <a:pPr indent="0" marL="0">
              <a:buNone/>
            </a:pPr>
            <a:r>
              <a:rPr lang="en-US" sz="1700" b="1" dirty="0">
                <a:solidFill>
                  <a:srgbClr val="0D2F4F"/>
                </a:solidFill>
              </a:rPr>
              <a:t>Asosiy to‘siqlar</a:t>
            </a:r>
            <a:endParaRPr lang="en-US" sz="1700" dirty="0"/>
          </a:p>
        </p:txBody>
      </p:sp>
      <p:sp>
        <p:nvSpPr>
          <p:cNvPr id="7" name="Text 4"/>
          <p:cNvSpPr txBox="1"/>
          <p:nvPr/>
        </p:nvSpPr>
        <p:spPr>
          <a:xfrm>
            <a:off x="822960" y="2331720"/>
            <a:ext cx="4937760" cy="2971800"/>
          </a:xfrm>
          <a:prstGeom prst="rect">
            <a:avLst/>
          </a:prstGeom>
          <a:noFill/>
          <a:ln/>
        </p:spPr>
        <p:txBody>
          <a:bodyPr wrap="square" lIns="0" tIns="0" rIns="0" bIns="0" rtlCol="0" anchor="t"/>
          <a:lstStyle/>
          <a:p>
            <a:pPr marL="177800" indent="-177800">
              <a:spcAft>
                <a:spcPts val="700"/>
              </a:spcAft>
              <a:buSzPct val="100000"/>
              <a:buChar char="•"/>
            </a:pPr>
            <a:r>
              <a:rPr lang="en-US" sz="1400" b="1" dirty="0">
                <a:solidFill>
                  <a:srgbClr val="B5651D"/>
                </a:solidFill>
                <a:latin typeface="Calibri" pitchFamily="34" charset="0"/>
                <a:ea typeface="Calibri" pitchFamily="34" charset="-122"/>
                <a:cs typeface="Calibri" pitchFamily="34" charset="-120"/>
              </a:rPr>
              <a:t>Moliyaviy cheklovlar</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dastlabki investitsiya katta, samara esa keyinroq keladi.</a:t>
            </a:r>
            <a:endParaRPr lang="en-US" sz="1400" dirty="0"/>
          </a:p>
          <a:p>
            <a:pPr marL="177800" indent="-177800">
              <a:spcAft>
                <a:spcPts val="700"/>
              </a:spcAft>
              <a:buSzPct val="100000"/>
              <a:buChar char="•"/>
            </a:pPr>
            <a:r>
              <a:rPr lang="en-US" sz="1400" b="1" dirty="0">
                <a:solidFill>
                  <a:srgbClr val="B5651D"/>
                </a:solidFill>
                <a:latin typeface="Calibri" pitchFamily="34" charset="0"/>
                <a:ea typeface="Calibri" pitchFamily="34" charset="-122"/>
                <a:cs typeface="Calibri" pitchFamily="34" charset="-120"/>
              </a:rPr>
              <a:t>Malakali kadrlar yetishmasligi</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IT va raqamli ko‘nikmalarga ega mutaxassislar kam.</a:t>
            </a:r>
            <a:endParaRPr lang="en-US" sz="1400" dirty="0"/>
          </a:p>
          <a:p>
            <a:pPr marL="177800" indent="-177800">
              <a:spcAft>
                <a:spcPts val="700"/>
              </a:spcAft>
              <a:buSzPct val="100000"/>
              <a:buChar char="•"/>
            </a:pPr>
            <a:r>
              <a:rPr lang="en-US" sz="1400" b="1" dirty="0">
                <a:solidFill>
                  <a:srgbClr val="B5651D"/>
                </a:solidFill>
                <a:latin typeface="Calibri" pitchFamily="34" charset="0"/>
                <a:ea typeface="Calibri" pitchFamily="34" charset="-122"/>
                <a:cs typeface="Calibri" pitchFamily="34" charset="-120"/>
              </a:rPr>
              <a:t>O‘zgarishga qarshilik</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xodimlar odatiy ish uslubidan voz kechishni istamaydi.</a:t>
            </a:r>
            <a:endParaRPr lang="en-US" sz="1400" dirty="0"/>
          </a:p>
          <a:p>
            <a:pPr marL="177800" indent="-177800">
              <a:spcAft>
                <a:spcPts val="700"/>
              </a:spcAft>
              <a:buSzPct val="100000"/>
              <a:buChar char="•"/>
            </a:pPr>
            <a:r>
              <a:rPr lang="en-US" sz="1400" b="1" dirty="0">
                <a:solidFill>
                  <a:srgbClr val="B5651D"/>
                </a:solidFill>
                <a:latin typeface="Calibri" pitchFamily="34" charset="0"/>
                <a:ea typeface="Calibri" pitchFamily="34" charset="-122"/>
                <a:cs typeface="Calibri" pitchFamily="34" charset="-120"/>
              </a:rPr>
              <a:t>Eskirgan infratuzilma</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eski tizimlarni yangilari bilan bog‘lash qiyin.</a:t>
            </a:r>
            <a:endParaRPr lang="en-US" sz="1400" dirty="0"/>
          </a:p>
          <a:p>
            <a:pPr marL="177800" indent="-177800">
              <a:spcAft>
                <a:spcPts val="700"/>
              </a:spcAft>
              <a:buSzPct val="100000"/>
              <a:buChar char="•"/>
            </a:pPr>
            <a:r>
              <a:rPr lang="en-US" sz="1400" b="1" dirty="0">
                <a:solidFill>
                  <a:srgbClr val="B5651D"/>
                </a:solidFill>
                <a:latin typeface="Calibri" pitchFamily="34" charset="0"/>
                <a:ea typeface="Calibri" pitchFamily="34" charset="-122"/>
                <a:cs typeface="Calibri" pitchFamily="34" charset="-120"/>
              </a:rPr>
              <a:t>Kiberxavfsizlik xatarlari</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ma’lumotlar sizishi va hujumlar ehtimoli ortadi.</a:t>
            </a:r>
            <a:endParaRPr lang="en-US" sz="1400" dirty="0"/>
          </a:p>
        </p:txBody>
      </p:sp>
      <p:sp>
        <p:nvSpPr>
          <p:cNvPr id="8" name="Shape 5"/>
          <p:cNvSpPr/>
          <p:nvPr/>
        </p:nvSpPr>
        <p:spPr>
          <a:xfrm>
            <a:off x="6172200" y="1371600"/>
            <a:ext cx="5440680" cy="4023360"/>
          </a:xfrm>
          <a:prstGeom prst="roundRect">
            <a:avLst>
              <a:gd name="adj" fmla="val 272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Shape 6"/>
          <p:cNvSpPr/>
          <p:nvPr/>
        </p:nvSpPr>
        <p:spPr>
          <a:xfrm>
            <a:off x="6400800" y="1554480"/>
            <a:ext cx="594360" cy="594360"/>
          </a:xfrm>
          <a:prstGeom prst="ellipse">
            <a:avLst/>
          </a:prstGeom>
          <a:solidFill>
            <a:srgbClr val="0E9F9A"/>
          </a:solidFill>
          <a:ln w="12700">
            <a:solidFill>
              <a:srgbClr val="0E9F9A"/>
            </a:solidFill>
            <a:prstDash val="solid"/>
          </a:ln>
        </p:spPr>
      </p:sp>
      <p:pic>
        <p:nvPicPr>
          <p:cNvPr id="10" name="Image 1" descr="preencoded.png">    </p:cNvPr>
          <p:cNvPicPr>
            <a:picLocks noChangeAspect="1"/>
          </p:cNvPicPr>
          <p:nvPr/>
        </p:nvPicPr>
        <p:blipFill>
          <a:blip r:embed="rId2"/>
          <a:stretch>
            <a:fillRect/>
          </a:stretch>
        </p:blipFill>
        <p:spPr>
          <a:xfrm>
            <a:off x="6555334" y="1709014"/>
            <a:ext cx="285293" cy="285293"/>
          </a:xfrm>
          <a:prstGeom prst="rect">
            <a:avLst/>
          </a:prstGeom>
        </p:spPr>
      </p:pic>
      <p:sp>
        <p:nvSpPr>
          <p:cNvPr id="11" name="Text 7"/>
          <p:cNvSpPr txBox="1"/>
          <p:nvPr/>
        </p:nvSpPr>
        <p:spPr>
          <a:xfrm>
            <a:off x="7132320" y="1554480"/>
            <a:ext cx="4297680" cy="594360"/>
          </a:xfrm>
          <a:prstGeom prst="rect">
            <a:avLst/>
          </a:prstGeom>
          <a:noFill/>
          <a:ln/>
        </p:spPr>
        <p:txBody>
          <a:bodyPr wrap="square" lIns="0" tIns="0" rIns="0" bIns="0" rtlCol="0" anchor="ctr"/>
          <a:lstStyle/>
          <a:p>
            <a:pPr indent="0" marL="0">
              <a:buNone/>
            </a:pPr>
            <a:r>
              <a:rPr lang="en-US" sz="1700" b="1" dirty="0">
                <a:solidFill>
                  <a:srgbClr val="0D2F4F"/>
                </a:solidFill>
              </a:rPr>
              <a:t>Muvaffaqiyat omillari</a:t>
            </a:r>
            <a:endParaRPr lang="en-US" sz="1700" dirty="0"/>
          </a:p>
        </p:txBody>
      </p:sp>
      <p:sp>
        <p:nvSpPr>
          <p:cNvPr id="12" name="Text 8"/>
          <p:cNvSpPr txBox="1"/>
          <p:nvPr/>
        </p:nvSpPr>
        <p:spPr>
          <a:xfrm>
            <a:off x="6446520" y="2331720"/>
            <a:ext cx="4937760" cy="2971800"/>
          </a:xfrm>
          <a:prstGeom prst="rect">
            <a:avLst/>
          </a:prstGeom>
          <a:noFill/>
          <a:ln/>
        </p:spPr>
        <p:txBody>
          <a:bodyPr wrap="square" lIns="0" tIns="0" rIns="0" bIns="0" rtlCol="0" anchor="t"/>
          <a:lstStyle/>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Rahbariyat yetakchiligi</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transformatsiya yuqoridan boshqariladi va qo‘llab-quvvatlanadi.</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Aniq strategiya va KPI</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har bir loyihaning maqsadi va natijasi o‘lchanadi.</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Bosqichma-bosqich yondashuv</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kichik pilot loyihalardan boshlab tez natija ko‘rsatish.</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Xodimlarni o‘qitish</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raqamli savodxonlik va yangi kasblarga tayyorlash.</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Hamkorlik</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IT kompaniyalar, startaplar va davlat dasturlaridan foydalanish.</a:t>
            </a:r>
            <a:endParaRPr lang="en-US" sz="1400" dirty="0"/>
          </a:p>
        </p:txBody>
      </p:sp>
      <p:sp>
        <p:nvSpPr>
          <p:cNvPr id="13" name="Shape 9"/>
          <p:cNvSpPr/>
          <p:nvPr/>
        </p:nvSpPr>
        <p:spPr>
          <a:xfrm>
            <a:off x="548640" y="5577840"/>
            <a:ext cx="11064240" cy="640080"/>
          </a:xfrm>
          <a:prstGeom prst="roundRect">
            <a:avLst>
              <a:gd name="adj" fmla="val 17143"/>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5623560"/>
            <a:ext cx="10698480" cy="5486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Tajriba ko‘rsatadiki:</a:t>
            </a:r>
            <a:pPr indent="0" marL="0">
              <a:buNone/>
            </a:pPr>
            <a:r>
              <a:rPr lang="en-US" sz="1400" dirty="0">
                <a:solidFill>
                  <a:srgbClr val="1B2A3A"/>
                </a:solidFill>
                <a:latin typeface="Calibri" pitchFamily="34" charset="0"/>
                <a:ea typeface="Calibri" pitchFamily="34" charset="-122"/>
                <a:cs typeface="Calibri" pitchFamily="34" charset="-120"/>
              </a:rPr>
              <a:t> transformatsiya muvaffaqiyati texnologiyadan ko‘ra ko‘proq odamlar va boshqaruvga bog‘liq.</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65960"/>
          </a:xfrm>
          <a:prstGeom prst="rect">
            <a:avLst/>
          </a:prstGeom>
          <a:noFill/>
          <a:ln/>
        </p:spPr>
        <p:txBody>
          <a:bodyPr wrap="square" lIns="0" tIns="0" rIns="0" bIns="0" rtlCol="0" anchor="t"/>
          <a:lstStyle/>
          <a:p>
            <a:pPr indent="0" marL="0">
              <a:spcAft>
                <a:spcPts val="600"/>
              </a:spcAft>
              <a:buNone/>
            </a:pPr>
            <a:r>
              <a:rPr lang="en-US" sz="1400" dirty="0">
                <a:solidFill>
                  <a:srgbClr val="E6F2F4"/>
                </a:solidFill>
                <a:latin typeface="Calibri" pitchFamily="34" charset="0"/>
                <a:ea typeface="Calibri" pitchFamily="34" charset="-122"/>
                <a:cs typeface="Calibri" pitchFamily="34" charset="-120"/>
              </a:rPr>
              <a:t>Raqamli transformatsiya – zamonaviy korxona uchun tanlov emas, balki raqobatda qolishning zaruriy shartidir. Raqamli rivojlanish strategiyasi joriy holatni baholash, aniq raqamli vizyon, ustuvor loyihalar yo‘l xaritasi va natijalarni KPI orqali nazorat qilishni o‘z ichiga oladi. Muvaffaqiyat texnologiyalar, jarayonlar va odamlarni birgalikda o‘zgartirishga bog‘liq.</a:t>
            </a:r>
            <a:endParaRPr lang="en-US" sz="1400" dirty="0"/>
          </a:p>
        </p:txBody>
      </p:sp>
      <p:sp>
        <p:nvSpPr>
          <p:cNvPr id="4" name="Shape 2"/>
          <p:cNvSpPr/>
          <p:nvPr/>
        </p:nvSpPr>
        <p:spPr>
          <a:xfrm>
            <a:off x="54864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66160"/>
            <a:ext cx="365760" cy="365760"/>
          </a:xfrm>
          <a:prstGeom prst="rect">
            <a:avLst/>
          </a:prstGeom>
        </p:spPr>
      </p:pic>
      <p:sp>
        <p:nvSpPr>
          <p:cNvPr id="6" name="Text 3"/>
          <p:cNvSpPr txBox="1"/>
          <p:nvPr/>
        </p:nvSpPr>
        <p:spPr>
          <a:xfrm>
            <a:off x="118872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Mohiyat</a:t>
            </a:r>
            <a:endParaRPr lang="en-US" sz="1500" dirty="0"/>
          </a:p>
          <a:p>
            <a:pPr indent="0" marL="0">
              <a:spcAft>
                <a:spcPts val="200"/>
              </a:spcAft>
              <a:buNone/>
            </a:pPr>
            <a:r>
              <a:rPr lang="en-US" sz="1300" dirty="0">
                <a:solidFill>
                  <a:srgbClr val="FFFFFF"/>
                </a:solidFill>
              </a:rPr>
              <a:t>biznes-model va jarayonlarni raqamli texnologiyalar asosida qayta qurish</a:t>
            </a:r>
            <a:endParaRPr lang="en-US" sz="1500" dirty="0"/>
          </a:p>
        </p:txBody>
      </p:sp>
      <p:sp>
        <p:nvSpPr>
          <p:cNvPr id="7" name="Shape 4"/>
          <p:cNvSpPr/>
          <p:nvPr/>
        </p:nvSpPr>
        <p:spPr>
          <a:xfrm>
            <a:off x="402336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66160"/>
            <a:ext cx="365760" cy="365760"/>
          </a:xfrm>
          <a:prstGeom prst="rect">
            <a:avLst/>
          </a:prstGeom>
        </p:spPr>
      </p:pic>
      <p:sp>
        <p:nvSpPr>
          <p:cNvPr id="9" name="Text 5"/>
          <p:cNvSpPr txBox="1"/>
          <p:nvPr/>
        </p:nvSpPr>
        <p:spPr>
          <a:xfrm>
            <a:off x="466344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Texnologiyalar</a:t>
            </a:r>
            <a:endParaRPr lang="en-US" sz="1500" dirty="0"/>
          </a:p>
          <a:p>
            <a:pPr indent="0" marL="0">
              <a:spcAft>
                <a:spcPts val="200"/>
              </a:spcAft>
              <a:buNone/>
            </a:pPr>
            <a:r>
              <a:rPr lang="en-US" sz="1300" dirty="0">
                <a:solidFill>
                  <a:srgbClr val="FFFFFF"/>
                </a:solidFill>
              </a:rPr>
              <a:t>bulut, Big Data, sun’iy intellekt, IoT, blokcheyn, RPA</a:t>
            </a:r>
            <a:endParaRPr lang="en-US" sz="1500" dirty="0"/>
          </a:p>
        </p:txBody>
      </p:sp>
      <p:sp>
        <p:nvSpPr>
          <p:cNvPr id="10" name="Shape 6"/>
          <p:cNvSpPr/>
          <p:nvPr/>
        </p:nvSpPr>
        <p:spPr>
          <a:xfrm>
            <a:off x="54864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5029200"/>
            <a:ext cx="365760" cy="365760"/>
          </a:xfrm>
          <a:prstGeom prst="rect">
            <a:avLst/>
          </a:prstGeom>
        </p:spPr>
      </p:pic>
      <p:sp>
        <p:nvSpPr>
          <p:cNvPr id="12" name="Text 7"/>
          <p:cNvSpPr txBox="1"/>
          <p:nvPr/>
        </p:nvSpPr>
        <p:spPr>
          <a:xfrm>
            <a:off x="118872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Strategiya</a:t>
            </a:r>
            <a:endParaRPr lang="en-US" sz="1500" dirty="0"/>
          </a:p>
          <a:p>
            <a:pPr indent="0" marL="0">
              <a:spcAft>
                <a:spcPts val="200"/>
              </a:spcAft>
              <a:buNone/>
            </a:pPr>
            <a:r>
              <a:rPr lang="en-US" sz="1300" dirty="0">
                <a:solidFill>
                  <a:srgbClr val="FFFFFF"/>
                </a:solidFill>
              </a:rPr>
              <a:t>audit → vizyon → yo‘l xaritasi → joriy etish → monitoring</a:t>
            </a:r>
            <a:endParaRPr lang="en-US" sz="1500" dirty="0"/>
          </a:p>
        </p:txBody>
      </p:sp>
      <p:sp>
        <p:nvSpPr>
          <p:cNvPr id="13" name="Shape 8"/>
          <p:cNvSpPr/>
          <p:nvPr/>
        </p:nvSpPr>
        <p:spPr>
          <a:xfrm>
            <a:off x="402336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5029200"/>
            <a:ext cx="365760" cy="365760"/>
          </a:xfrm>
          <a:prstGeom prst="rect">
            <a:avLst/>
          </a:prstGeom>
        </p:spPr>
      </p:pic>
      <p:sp>
        <p:nvSpPr>
          <p:cNvPr id="15" name="Text 9"/>
          <p:cNvSpPr txBox="1"/>
          <p:nvPr/>
        </p:nvSpPr>
        <p:spPr>
          <a:xfrm>
            <a:off x="466344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Kalit</a:t>
            </a:r>
            <a:endParaRPr lang="en-US" sz="1500" dirty="0"/>
          </a:p>
          <a:p>
            <a:pPr indent="0" marL="0">
              <a:spcAft>
                <a:spcPts val="200"/>
              </a:spcAft>
              <a:buNone/>
            </a:pPr>
            <a:r>
              <a:rPr lang="en-US" sz="1300" dirty="0">
                <a:solidFill>
                  <a:srgbClr val="FFFFFF"/>
                </a:solidFill>
              </a:rPr>
              <a:t>rahbariyat yetakchiligi, kadrlar va bosqichma-bosqich yondashuv</a:t>
            </a:r>
            <a:endParaRPr lang="en-US" sz="1500" dirty="0"/>
          </a:p>
        </p:txBody>
      </p:sp>
      <p:pic>
        <p:nvPicPr>
          <p:cNvPr id="16" name="Image 4" descr="img7/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Raqamli davrda kattalar kichiklarni emas, tezlar sekinlarni yengadi.</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7/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Raqamli transformatsiya strategiyasi</dc:title>
  <dc:subject>PptxGenJS Presentation</dc:subject>
  <dc:creator>PptxGenJS</dc:creator>
  <cp:lastModifiedBy>PptxGenJS</cp:lastModifiedBy>
  <cp:revision>1</cp:revision>
  <dcterms:created xsi:type="dcterms:W3CDTF">2026-10-12T12:20:33Z</dcterms:created>
  <dcterms:modified xsi:type="dcterms:W3CDTF">2026-10-12T12:20:33Z</dcterms:modified>
</cp:coreProperties>
</file>