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marker"/>
        <c:varyColors val="0"/>
        <c:ser>
          <c:idx val="0"/>
          <c:order val="0"/>
          <c:tx>
            <c:strRef>
              <c:f>Sheet1!$B$1</c:f>
              <c:strCache>
                <c:ptCount val="1"/>
                <c:pt idx="0">
                  <c:v>Bizning korxona</c:v>
                </c:pt>
              </c:strCache>
            </c:strRef>
          </c:tx>
          <c:spPr>
            <a:solidFill>
              <a:srgbClr val="0E9F9A"/>
            </a:solidFill>
            <a:ln w="31750" cap="flat">
              <a:solidFill>
                <a:srgbClr val="0E9F9A"/>
              </a:solidFill>
              <a:prstDash val="solid"/>
              <a:round/>
            </a:ln>
            <a:effectLst/>
          </c:spPr>
          <c:invertIfNegative val="0"/>
          <c:marker>
            <c:symbol val="circle"/>
            <c:size val="7"/>
            <c:spPr>
              <a:solidFill>
                <a:srgbClr val="0E9F9A"/>
              </a:solidFill>
              <a:ln w="9525" cap="flat">
                <a:solidFill>
                  <a:srgbClr val="0E9F9A"/>
                </a:solidFill>
                <a:prstDash val="solid"/>
                <a:round/>
              </a:ln>
              <a:effectLst/>
            </c:spPr>
          </c:marker>
          <c:cat>
            <c:multiLvlStrRef>
              <c:f>Sheet1!$A$2:$A$7</c:f>
              <c:multiLvlStrCache>
                <c:ptCount val="6"/>
                <c:lvl>
                  <c:pt idx="0">
                    <c:v>Kadrlar</c:v>
                  </c:pt>
                  <c:pt idx="1">
                    <c:v>Moliya</c:v>
                  </c:pt>
                  <c:pt idx="2">
                    <c:v>Texnologiya</c:v>
                  </c:pt>
                  <c:pt idx="3">
                    <c:v>ITR</c:v>
                  </c:pt>
                  <c:pt idx="4">
                    <c:v>Tashkiliy madaniyat</c:v>
                  </c:pt>
                  <c:pt idx="5">
                    <c:v>Hamkorlik</c:v>
                  </c:pt>
                </c:lvl>
              </c:multiLvlStrCache>
            </c:multiLvlStrRef>
          </c:cat>
          <c:val>
            <c:numRef>
              <c:f>Sheet1!$B$2:$B$7</c:f>
              <c:numCache>
                <c:formatCode>General</c:formatCode>
                <c:ptCount val="6"/>
                <c:pt idx="0">
                  <c:v>7</c:v>
                </c:pt>
                <c:pt idx="1">
                  <c:v>5</c:v>
                </c:pt>
                <c:pt idx="2">
                  <c:v>6</c:v>
                </c:pt>
                <c:pt idx="3">
                  <c:v>4</c:v>
                </c:pt>
                <c:pt idx="4">
                  <c:v>6</c:v>
                </c:pt>
                <c:pt idx="5">
                  <c:v>5</c:v>
                </c:pt>
              </c:numCache>
            </c:numRef>
          </c:val>
        </c:ser>
        <c:ser>
          <c:idx val="1"/>
          <c:order val="1"/>
          <c:tx>
            <c:strRef>
              <c:f>Sheet1!$C$1</c:f>
              <c:strCache>
                <c:ptCount val="1"/>
                <c:pt idx="0">
                  <c:v>Soha yetakchisi</c:v>
                </c:pt>
              </c:strCache>
            </c:strRef>
          </c:tx>
          <c:spPr>
            <a:solidFill>
              <a:srgbClr val="B5651D"/>
            </a:solidFill>
            <a:ln w="31750" cap="flat">
              <a:solidFill>
                <a:srgbClr val="B5651D"/>
              </a:solidFill>
              <a:prstDash val="solid"/>
              <a:round/>
            </a:ln>
            <a:effectLst/>
          </c:spPr>
          <c:invertIfNegative val="0"/>
          <c:marker>
            <c:symbol val="circle"/>
            <c:size val="7"/>
            <c:spPr>
              <a:solidFill>
                <a:srgbClr val="B5651D"/>
              </a:solidFill>
              <a:ln w="9525" cap="flat">
                <a:solidFill>
                  <a:srgbClr val="B5651D"/>
                </a:solidFill>
                <a:prstDash val="solid"/>
                <a:round/>
              </a:ln>
              <a:effectLst/>
            </c:spPr>
          </c:marker>
          <c:cat>
            <c:multiLvlStrRef>
              <c:f>Sheet1!$A$2:$A$7</c:f>
              <c:multiLvlStrCache>
                <c:ptCount val="6"/>
                <c:lvl>
                  <c:pt idx="0">
                    <c:v>Kadrlar</c:v>
                  </c:pt>
                  <c:pt idx="1">
                    <c:v>Moliya</c:v>
                  </c:pt>
                  <c:pt idx="2">
                    <c:v>Texnologiya</c:v>
                  </c:pt>
                  <c:pt idx="3">
                    <c:v>ITR</c:v>
                  </c:pt>
                  <c:pt idx="4">
                    <c:v>Tashkiliy madaniyat</c:v>
                  </c:pt>
                  <c:pt idx="5">
                    <c:v>Hamkorlik</c:v>
                  </c:pt>
                </c:lvl>
              </c:multiLvlStrCache>
            </c:multiLvlStrRef>
          </c:cat>
          <c:val>
            <c:numRef>
              <c:f>Sheet1!$C$2:$C$7</c:f>
              <c:numCache>
                <c:formatCode>General</c:formatCode>
                <c:ptCount val="6"/>
                <c:pt idx="0">
                  <c:v>8</c:v>
                </c:pt>
                <c:pt idx="1">
                  <c:v>8</c:v>
                </c:pt>
                <c:pt idx="2">
                  <c:v>8</c:v>
                </c:pt>
                <c:pt idx="3">
                  <c:v>8</c:v>
                </c:pt>
                <c:pt idx="4">
                  <c:v>7</c:v>
                </c:pt>
                <c:pt idx="5">
                  <c:v>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A"/>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C9DD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B6C"/>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200">
              <a:solidFill>
                <a:srgbClr val="1B2A3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BFD9E0"/>
                </a:solidFill>
              </a:rPr>
              <a:t>12.10.2026</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4A5B6C"/>
                </a:solidFill>
              </a:rPr>
              <a:t>12.10.2026</a:t>
            </a:r>
            <a:endParaRPr lang="en-US" sz="1000" dirty="0"/>
          </a:p>
        </p:txBody>
      </p:sp>
      <p:sp>
        <p:nvSpPr>
          <p:cNvPr id="3" name="Text 1"/>
          <p:cNvSpPr/>
          <p:nvPr>
            <p:ph idx="101" type="title" hasCustomPrompt="1"/>
          </p:nvPr>
        </p:nvSpPr>
        <p:spPr>
          <a:xfrm>
            <a:off x="548640" y="320040"/>
            <a:ext cx="11064240" cy="86868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3.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6/title.png">    </p:cNvPr>
          <p:cNvPicPr>
            <a:picLocks noChangeAspect="1"/>
          </p:cNvPicPr>
          <p:nvPr/>
        </p:nvPicPr>
        <p:blipFill>
          <a:blip r:embed="rId1"/>
          <a:stretch>
            <a:fillRect/>
          </a:stretch>
        </p:blipFill>
        <p:spPr>
          <a:xfrm>
            <a:off x="0" y="0"/>
            <a:ext cx="6236208" cy="6858000"/>
          </a:xfrm>
          <a:prstGeom prst="rect">
            <a:avLst/>
          </a:prstGeom>
        </p:spPr>
      </p:pic>
      <p:sp>
        <p:nvSpPr>
          <p:cNvPr id="3" name="Text 0"/>
          <p:cNvSpPr txBox="1"/>
          <p:nvPr/>
        </p:nvSpPr>
        <p:spPr>
          <a:xfrm>
            <a:off x="6675120" y="1005840"/>
            <a:ext cx="4937760" cy="365760"/>
          </a:xfrm>
          <a:prstGeom prst="rect">
            <a:avLst/>
          </a:prstGeom>
          <a:noFill/>
          <a:ln/>
        </p:spPr>
        <p:txBody>
          <a:bodyPr wrap="square" lIns="0" tIns="0" rIns="0" bIns="0" rtlCol="0" anchor="ctr"/>
          <a:lstStyle/>
          <a:p>
            <a:pPr indent="0" marL="0">
              <a:buNone/>
            </a:pPr>
            <a:r>
              <a:rPr lang="en-US" sz="1400" b="1" spc="600" kern="0" dirty="0">
                <a:solidFill>
                  <a:srgbClr val="F2A541"/>
                </a:solidFill>
              </a:rPr>
              <a:t>MAVZU</a:t>
            </a:r>
            <a:endParaRPr lang="en-US" sz="1400" dirty="0"/>
          </a:p>
        </p:txBody>
      </p:sp>
      <p:sp>
        <p:nvSpPr>
          <p:cNvPr id="4" name="Text 1"/>
          <p:cNvSpPr txBox="1"/>
          <p:nvPr/>
        </p:nvSpPr>
        <p:spPr>
          <a:xfrm>
            <a:off x="6675120" y="1463040"/>
            <a:ext cx="5029200" cy="31089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KORXONADA INNOVATSION RIVOJLANISH STRATEGIYASINI ISHLAB CHIQISH</a:t>
            </a:r>
            <a:endParaRPr lang="en-US" sz="3000" dirty="0"/>
          </a:p>
        </p:txBody>
      </p:sp>
      <p:sp>
        <p:nvSpPr>
          <p:cNvPr id="5" name="Text 2"/>
          <p:cNvSpPr txBox="1"/>
          <p:nvPr/>
        </p:nvSpPr>
        <p:spPr>
          <a:xfrm>
            <a:off x="6675120" y="4663440"/>
            <a:ext cx="4937760" cy="365760"/>
          </a:xfrm>
          <a:prstGeom prst="rect">
            <a:avLst/>
          </a:prstGeom>
          <a:noFill/>
          <a:ln/>
        </p:spPr>
        <p:txBody>
          <a:bodyPr wrap="square" lIns="0" tIns="0" rIns="0" bIns="0" rtlCol="0" anchor="ctr"/>
          <a:lstStyle/>
          <a:p>
            <a:pPr indent="0" marL="0">
              <a:buNone/>
            </a:pPr>
            <a:r>
              <a:rPr lang="en-US" sz="1600" i="1" dirty="0">
                <a:solidFill>
                  <a:srgbClr val="BFE9E4"/>
                </a:solidFill>
              </a:rPr>
              <a:t>Strategik menejment fanidan taqdimot</a:t>
            </a:r>
            <a:endParaRPr lang="en-US" sz="1600" dirty="0"/>
          </a:p>
        </p:txBody>
      </p:sp>
      <p:sp>
        <p:nvSpPr>
          <p:cNvPr id="6" name="Text 3"/>
          <p:cNvSpPr txBox="1"/>
          <p:nvPr/>
        </p:nvSpPr>
        <p:spPr>
          <a:xfrm>
            <a:off x="6675120" y="5212080"/>
            <a:ext cx="4937760" cy="731520"/>
          </a:xfrm>
          <a:prstGeom prst="rect">
            <a:avLst/>
          </a:prstGeom>
          <a:noFill/>
          <a:ln/>
        </p:spPr>
        <p:txBody>
          <a:bodyPr wrap="square" lIns="0" tIns="0" rIns="0" bIns="0" rtlCol="0" anchor="ctr"/>
          <a:lstStyle/>
          <a:p>
            <a:pPr indent="0" marL="0">
              <a:spcAft>
                <a:spcPts val="400"/>
              </a:spcAft>
              <a:buNone/>
            </a:pPr>
            <a:r>
              <a:rPr lang="en-US" sz="1400" dirty="0">
                <a:solidFill>
                  <a:srgbClr val="DCEBEF"/>
                </a:solidFill>
              </a:rPr>
              <a:t>Bajardi: ______________________</a:t>
            </a:r>
            <a:endParaRPr lang="en-US" sz="1400" dirty="0"/>
          </a:p>
          <a:p>
            <a:pPr indent="0" marL="0">
              <a:spcAft>
                <a:spcPts val="400"/>
              </a:spcAft>
              <a:buNone/>
            </a:pPr>
            <a:r>
              <a:rPr lang="en-US" sz="1400" dirty="0">
                <a:solidFill>
                  <a:srgbClr val="DCEBEF"/>
                </a:solidFill>
              </a:rPr>
              <a:t>Tekshirdi: ____________________</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Reja</a:t>
            </a:r>
            <a:endParaRPr lang="en-US" sz="3000" dirty="0"/>
          </a:p>
        </p:txBody>
      </p:sp>
      <p:sp>
        <p:nvSpPr>
          <p:cNvPr id="3" name="Shape 1"/>
          <p:cNvSpPr/>
          <p:nvPr/>
        </p:nvSpPr>
        <p:spPr>
          <a:xfrm>
            <a:off x="548640" y="14630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 name="Text 2"/>
          <p:cNvSpPr txBox="1"/>
          <p:nvPr/>
        </p:nvSpPr>
        <p:spPr>
          <a:xfrm>
            <a:off x="731520" y="14630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01</a:t>
            </a:r>
            <a:endParaRPr lang="en-US" sz="2400" dirty="0"/>
          </a:p>
        </p:txBody>
      </p:sp>
      <p:sp>
        <p:nvSpPr>
          <p:cNvPr id="5" name="Shape 3"/>
          <p:cNvSpPr/>
          <p:nvPr/>
        </p:nvSpPr>
        <p:spPr>
          <a:xfrm>
            <a:off x="1371600" y="1572768"/>
            <a:ext cx="512064" cy="512064"/>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1504737" y="1705905"/>
            <a:ext cx="245791" cy="245791"/>
          </a:xfrm>
          <a:prstGeom prst="rect">
            <a:avLst/>
          </a:prstGeom>
        </p:spPr>
      </p:pic>
      <p:sp>
        <p:nvSpPr>
          <p:cNvPr id="7" name="Text 4"/>
          <p:cNvSpPr txBox="1"/>
          <p:nvPr/>
        </p:nvSpPr>
        <p:spPr>
          <a:xfrm>
            <a:off x="2057400" y="14630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Innovatsiya va innovatsion strategiya tushunchasi</a:t>
            </a:r>
            <a:endParaRPr lang="en-US" sz="1600" dirty="0"/>
          </a:p>
        </p:txBody>
      </p:sp>
      <p:sp>
        <p:nvSpPr>
          <p:cNvPr id="8" name="Shape 5"/>
          <p:cNvSpPr/>
          <p:nvPr/>
        </p:nvSpPr>
        <p:spPr>
          <a:xfrm>
            <a:off x="548640" y="23774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Text 6"/>
          <p:cNvSpPr txBox="1"/>
          <p:nvPr/>
        </p:nvSpPr>
        <p:spPr>
          <a:xfrm>
            <a:off x="731520" y="23774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02</a:t>
            </a:r>
            <a:endParaRPr lang="en-US" sz="2400" dirty="0"/>
          </a:p>
        </p:txBody>
      </p:sp>
      <p:sp>
        <p:nvSpPr>
          <p:cNvPr id="10" name="Shape 7"/>
          <p:cNvSpPr/>
          <p:nvPr/>
        </p:nvSpPr>
        <p:spPr>
          <a:xfrm>
            <a:off x="1371600" y="2487168"/>
            <a:ext cx="512064" cy="512064"/>
          </a:xfrm>
          <a:prstGeom prst="ellipse">
            <a:avLst/>
          </a:prstGeom>
          <a:solidFill>
            <a:srgbClr val="0D2F4F"/>
          </a:solidFill>
          <a:ln w="12700">
            <a:solidFill>
              <a:srgbClr val="0D2F4F"/>
            </a:solidFill>
            <a:prstDash val="solid"/>
          </a:ln>
        </p:spPr>
      </p:sp>
      <p:pic>
        <p:nvPicPr>
          <p:cNvPr id="11" name="Image 1" descr="preencoded.png">    </p:cNvPr>
          <p:cNvPicPr>
            <a:picLocks noChangeAspect="1"/>
          </p:cNvPicPr>
          <p:nvPr/>
        </p:nvPicPr>
        <p:blipFill>
          <a:blip r:embed="rId2"/>
          <a:stretch>
            <a:fillRect/>
          </a:stretch>
        </p:blipFill>
        <p:spPr>
          <a:xfrm>
            <a:off x="1504737" y="2620305"/>
            <a:ext cx="245791" cy="245791"/>
          </a:xfrm>
          <a:prstGeom prst="rect">
            <a:avLst/>
          </a:prstGeom>
        </p:spPr>
      </p:pic>
      <p:sp>
        <p:nvSpPr>
          <p:cNvPr id="12" name="Text 8"/>
          <p:cNvSpPr txBox="1"/>
          <p:nvPr/>
        </p:nvSpPr>
        <p:spPr>
          <a:xfrm>
            <a:off x="2057400" y="23774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Innovatsiyalar turlari va innovatsion strategiyalar tasnifi</a:t>
            </a:r>
            <a:endParaRPr lang="en-US" sz="1600" dirty="0"/>
          </a:p>
        </p:txBody>
      </p:sp>
      <p:sp>
        <p:nvSpPr>
          <p:cNvPr id="13" name="Shape 9"/>
          <p:cNvSpPr/>
          <p:nvPr/>
        </p:nvSpPr>
        <p:spPr>
          <a:xfrm>
            <a:off x="548640" y="32918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4" name="Text 10"/>
          <p:cNvSpPr txBox="1"/>
          <p:nvPr/>
        </p:nvSpPr>
        <p:spPr>
          <a:xfrm>
            <a:off x="731520" y="32918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03</a:t>
            </a:r>
            <a:endParaRPr lang="en-US" sz="2400" dirty="0"/>
          </a:p>
        </p:txBody>
      </p:sp>
      <p:sp>
        <p:nvSpPr>
          <p:cNvPr id="15" name="Shape 11"/>
          <p:cNvSpPr/>
          <p:nvPr/>
        </p:nvSpPr>
        <p:spPr>
          <a:xfrm>
            <a:off x="1371600" y="3401568"/>
            <a:ext cx="512064" cy="512064"/>
          </a:xfrm>
          <a:prstGeom prst="ellipse">
            <a:avLst/>
          </a:prstGeom>
          <a:solidFill>
            <a:srgbClr val="0E9F9A"/>
          </a:solidFill>
          <a:ln w="12700">
            <a:solidFill>
              <a:srgbClr val="0E9F9A"/>
            </a:solidFill>
            <a:prstDash val="solid"/>
          </a:ln>
        </p:spPr>
      </p:sp>
      <p:pic>
        <p:nvPicPr>
          <p:cNvPr id="16" name="Image 2" descr="preencoded.png">    </p:cNvPr>
          <p:cNvPicPr>
            <a:picLocks noChangeAspect="1"/>
          </p:cNvPicPr>
          <p:nvPr/>
        </p:nvPicPr>
        <p:blipFill>
          <a:blip r:embed="rId3"/>
          <a:stretch>
            <a:fillRect/>
          </a:stretch>
        </p:blipFill>
        <p:spPr>
          <a:xfrm>
            <a:off x="1504737" y="3534705"/>
            <a:ext cx="245791" cy="245791"/>
          </a:xfrm>
          <a:prstGeom prst="rect">
            <a:avLst/>
          </a:prstGeom>
        </p:spPr>
      </p:pic>
      <p:sp>
        <p:nvSpPr>
          <p:cNvPr id="17" name="Text 12"/>
          <p:cNvSpPr txBox="1"/>
          <p:nvPr/>
        </p:nvSpPr>
        <p:spPr>
          <a:xfrm>
            <a:off x="2057400" y="32918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Innovatsion strategiyani ishlab chiqish bosqichlari</a:t>
            </a:r>
            <a:endParaRPr lang="en-US" sz="1600" dirty="0"/>
          </a:p>
        </p:txBody>
      </p:sp>
      <p:sp>
        <p:nvSpPr>
          <p:cNvPr id="18" name="Shape 13"/>
          <p:cNvSpPr/>
          <p:nvPr/>
        </p:nvSpPr>
        <p:spPr>
          <a:xfrm>
            <a:off x="548640" y="42062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Text 14"/>
          <p:cNvSpPr txBox="1"/>
          <p:nvPr/>
        </p:nvSpPr>
        <p:spPr>
          <a:xfrm>
            <a:off x="731520" y="42062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04</a:t>
            </a:r>
            <a:endParaRPr lang="en-US" sz="2400" dirty="0"/>
          </a:p>
        </p:txBody>
      </p:sp>
      <p:sp>
        <p:nvSpPr>
          <p:cNvPr id="20" name="Shape 15"/>
          <p:cNvSpPr/>
          <p:nvPr/>
        </p:nvSpPr>
        <p:spPr>
          <a:xfrm>
            <a:off x="1371600" y="4315968"/>
            <a:ext cx="512064" cy="512064"/>
          </a:xfrm>
          <a:prstGeom prst="ellipse">
            <a:avLst/>
          </a:prstGeom>
          <a:solidFill>
            <a:srgbClr val="0D2F4F"/>
          </a:solidFill>
          <a:ln w="12700">
            <a:solidFill>
              <a:srgbClr val="0D2F4F"/>
            </a:solidFill>
            <a:prstDash val="solid"/>
          </a:ln>
        </p:spPr>
      </p:sp>
      <p:pic>
        <p:nvPicPr>
          <p:cNvPr id="21" name="Image 3" descr="preencoded.png">    </p:cNvPr>
          <p:cNvPicPr>
            <a:picLocks noChangeAspect="1"/>
          </p:cNvPicPr>
          <p:nvPr/>
        </p:nvPicPr>
        <p:blipFill>
          <a:blip r:embed="rId4"/>
          <a:stretch>
            <a:fillRect/>
          </a:stretch>
        </p:blipFill>
        <p:spPr>
          <a:xfrm>
            <a:off x="1504737" y="4449105"/>
            <a:ext cx="245791" cy="245791"/>
          </a:xfrm>
          <a:prstGeom prst="rect">
            <a:avLst/>
          </a:prstGeom>
        </p:spPr>
      </p:pic>
      <p:sp>
        <p:nvSpPr>
          <p:cNvPr id="22" name="Text 16"/>
          <p:cNvSpPr txBox="1"/>
          <p:nvPr/>
        </p:nvSpPr>
        <p:spPr>
          <a:xfrm>
            <a:off x="2057400" y="42062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Korxonaning innovatsion salohiyati va uni baholash</a:t>
            </a:r>
            <a:endParaRPr lang="en-US" sz="1600" dirty="0"/>
          </a:p>
        </p:txBody>
      </p:sp>
      <p:sp>
        <p:nvSpPr>
          <p:cNvPr id="23" name="Shape 17"/>
          <p:cNvSpPr/>
          <p:nvPr/>
        </p:nvSpPr>
        <p:spPr>
          <a:xfrm>
            <a:off x="548640" y="51206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4" name="Text 18"/>
          <p:cNvSpPr txBox="1"/>
          <p:nvPr/>
        </p:nvSpPr>
        <p:spPr>
          <a:xfrm>
            <a:off x="731520" y="51206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05</a:t>
            </a:r>
            <a:endParaRPr lang="en-US" sz="2400" dirty="0"/>
          </a:p>
        </p:txBody>
      </p:sp>
      <p:sp>
        <p:nvSpPr>
          <p:cNvPr id="25" name="Shape 19"/>
          <p:cNvSpPr/>
          <p:nvPr/>
        </p:nvSpPr>
        <p:spPr>
          <a:xfrm>
            <a:off x="1371600" y="5230368"/>
            <a:ext cx="512064" cy="512064"/>
          </a:xfrm>
          <a:prstGeom prst="ellipse">
            <a:avLst/>
          </a:prstGeom>
          <a:solidFill>
            <a:srgbClr val="0E9F9A"/>
          </a:solidFill>
          <a:ln w="12700">
            <a:solidFill>
              <a:srgbClr val="0E9F9A"/>
            </a:solidFill>
            <a:prstDash val="solid"/>
          </a:ln>
        </p:spPr>
      </p:sp>
      <p:pic>
        <p:nvPicPr>
          <p:cNvPr id="26" name="Image 4" descr="preencoded.png">    </p:cNvPr>
          <p:cNvPicPr>
            <a:picLocks noChangeAspect="1"/>
          </p:cNvPicPr>
          <p:nvPr/>
        </p:nvPicPr>
        <p:blipFill>
          <a:blip r:embed="rId5"/>
          <a:stretch>
            <a:fillRect/>
          </a:stretch>
        </p:blipFill>
        <p:spPr>
          <a:xfrm>
            <a:off x="1504737" y="5363505"/>
            <a:ext cx="245791" cy="245791"/>
          </a:xfrm>
          <a:prstGeom prst="rect">
            <a:avLst/>
          </a:prstGeom>
        </p:spPr>
      </p:pic>
      <p:sp>
        <p:nvSpPr>
          <p:cNvPr id="27" name="Text 20"/>
          <p:cNvSpPr txBox="1"/>
          <p:nvPr/>
        </p:nvSpPr>
        <p:spPr>
          <a:xfrm>
            <a:off x="2057400" y="51206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Innovatsion strategiyani amalga oshirish va samaradorligini oshirish</a:t>
            </a:r>
            <a:endParaRPr lang="en-US" sz="1600" dirty="0"/>
          </a:p>
        </p:txBody>
      </p:sp>
      <p:pic>
        <p:nvPicPr>
          <p:cNvPr id="28" name="Image 5" descr="img6/plan.png">    </p:cNvPr>
          <p:cNvPicPr>
            <a:picLocks noChangeAspect="1"/>
          </p:cNvPicPr>
          <p:nvPr/>
        </p:nvPicPr>
        <p:blipFill>
          <a:blip r:embed="rId6"/>
          <a:stretch>
            <a:fillRect/>
          </a:stretch>
        </p:blipFill>
        <p:spPr>
          <a:xfrm>
            <a:off x="7680960" y="1463040"/>
            <a:ext cx="3931920" cy="3054096"/>
          </a:xfrm>
          <a:prstGeom prst="rect">
            <a:avLst/>
          </a:prstGeom>
        </p:spPr>
      </p:pic>
      <p:sp>
        <p:nvSpPr>
          <p:cNvPr id="29" name="Text 21"/>
          <p:cNvSpPr txBox="1"/>
          <p:nvPr/>
        </p:nvSpPr>
        <p:spPr>
          <a:xfrm>
            <a:off x="7680960" y="4663440"/>
            <a:ext cx="3931920" cy="731520"/>
          </a:xfrm>
          <a:prstGeom prst="rect">
            <a:avLst/>
          </a:prstGeom>
          <a:noFill/>
          <a:ln/>
        </p:spPr>
        <p:txBody>
          <a:bodyPr wrap="square" lIns="0" tIns="0" rIns="0" bIns="0" rtlCol="0" anchor="ctr"/>
          <a:lstStyle/>
          <a:p>
            <a:pPr indent="0" marL="0">
              <a:buNone/>
            </a:pPr>
            <a:r>
              <a:rPr lang="en-US" sz="1400" i="1" dirty="0">
                <a:solidFill>
                  <a:srgbClr val="4A5B6C"/>
                </a:solidFill>
              </a:rPr>
              <a:t>Xulosa va asosiy xulosalar taqdimot so‘ngida beriladi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Innovatsiya tushunchasi va nazariyalar rivoji</a:t>
            </a:r>
            <a:endParaRPr lang="en-US" sz="3000" dirty="0"/>
          </a:p>
        </p:txBody>
      </p:sp>
      <p:sp>
        <p:nvSpPr>
          <p:cNvPr id="3" name="Text 1"/>
          <p:cNvSpPr txBox="1"/>
          <p:nvPr/>
        </p:nvSpPr>
        <p:spPr>
          <a:xfrm>
            <a:off x="548640" y="1371600"/>
            <a:ext cx="6766560" cy="1783080"/>
          </a:xfrm>
          <a:prstGeom prst="rect">
            <a:avLst/>
          </a:prstGeom>
          <a:noFill/>
          <a:ln/>
        </p:spPr>
        <p:txBody>
          <a:bodyPr wrap="square" lIns="0" tIns="0" rIns="0" bIns="0" rtlCol="0" anchor="t"/>
          <a:lstStyle/>
          <a:p>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Innovatsiya</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(lot. “innovatio” – yangilanish) – amaliyotga joriy etilgan va iqtisodiy yoki ijtimoiy samara beradigan yangi yoki sezilarli darajada takomillashtirilgan mahsulot, texnologiya, usul yoki boshqaruv shakli. Ixtiro faqat g‘oya bo‘lsa, innovatsiya – bozorda o‘zini oqlagan, tijoratlashtirilgan yangilikdir.</a:t>
            </a:r>
            <a:endParaRPr lang="en-US" sz="1400" dirty="0"/>
          </a:p>
        </p:txBody>
      </p:sp>
      <p:sp>
        <p:nvSpPr>
          <p:cNvPr id="4" name="Shape 2"/>
          <p:cNvSpPr/>
          <p:nvPr/>
        </p:nvSpPr>
        <p:spPr>
          <a:xfrm>
            <a:off x="548640" y="3246120"/>
            <a:ext cx="1143000" cy="548640"/>
          </a:xfrm>
          <a:prstGeom prst="roundRect">
            <a:avLst>
              <a:gd name="adj" fmla="val 16667"/>
            </a:avLst>
          </a:prstGeom>
          <a:solidFill>
            <a:srgbClr val="0E9F9A"/>
          </a:solidFill>
          <a:ln w="12700">
            <a:solidFill>
              <a:srgbClr val="0E9F9A"/>
            </a:solidFill>
            <a:prstDash val="solid"/>
          </a:ln>
        </p:spPr>
      </p:sp>
      <p:sp>
        <p:nvSpPr>
          <p:cNvPr id="5" name="Text 3"/>
          <p:cNvSpPr txBox="1"/>
          <p:nvPr/>
        </p:nvSpPr>
        <p:spPr>
          <a:xfrm>
            <a:off x="548640" y="324612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1911</a:t>
            </a:r>
            <a:endParaRPr lang="en-US" sz="1500" dirty="0"/>
          </a:p>
        </p:txBody>
      </p:sp>
      <p:sp>
        <p:nvSpPr>
          <p:cNvPr id="6" name="Text 4"/>
          <p:cNvSpPr txBox="1"/>
          <p:nvPr/>
        </p:nvSpPr>
        <p:spPr>
          <a:xfrm>
            <a:off x="1874520" y="320954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J. Shumpeter – </a:t>
            </a:r>
            <a:pPr indent="0" marL="0">
              <a:buNone/>
            </a:pPr>
            <a:r>
              <a:rPr lang="en-US" sz="1400" dirty="0">
                <a:solidFill>
                  <a:srgbClr val="1B2A3A"/>
                </a:solidFill>
                <a:latin typeface="Calibri" pitchFamily="34" charset="0"/>
                <a:ea typeface="Calibri" pitchFamily="34" charset="-122"/>
                <a:cs typeface="Calibri" pitchFamily="34" charset="-120"/>
              </a:rPr>
              <a:t>“Iqtisodiy rivojlanish nazariyasi”da innovatsiyani iqtisodiy o‘sishning asosiy omili deb ko‘rsatdi</a:t>
            </a:r>
            <a:endParaRPr lang="en-US" sz="1400" dirty="0"/>
          </a:p>
        </p:txBody>
      </p:sp>
      <p:sp>
        <p:nvSpPr>
          <p:cNvPr id="7" name="Shape 5"/>
          <p:cNvSpPr/>
          <p:nvPr/>
        </p:nvSpPr>
        <p:spPr>
          <a:xfrm>
            <a:off x="548640" y="3977640"/>
            <a:ext cx="1143000" cy="548640"/>
          </a:xfrm>
          <a:prstGeom prst="roundRect">
            <a:avLst>
              <a:gd name="adj" fmla="val 16667"/>
            </a:avLst>
          </a:prstGeom>
          <a:solidFill>
            <a:srgbClr val="0D2F4F"/>
          </a:solidFill>
          <a:ln w="12700">
            <a:solidFill>
              <a:srgbClr val="0D2F4F"/>
            </a:solidFill>
            <a:prstDash val="solid"/>
          </a:ln>
        </p:spPr>
      </p:sp>
      <p:sp>
        <p:nvSpPr>
          <p:cNvPr id="8" name="Text 6"/>
          <p:cNvSpPr txBox="1"/>
          <p:nvPr/>
        </p:nvSpPr>
        <p:spPr>
          <a:xfrm>
            <a:off x="548640" y="397764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1992</a:t>
            </a:r>
            <a:endParaRPr lang="en-US" sz="1500" dirty="0"/>
          </a:p>
        </p:txBody>
      </p:sp>
      <p:sp>
        <p:nvSpPr>
          <p:cNvPr id="9" name="Text 7"/>
          <p:cNvSpPr txBox="1"/>
          <p:nvPr/>
        </p:nvSpPr>
        <p:spPr>
          <a:xfrm>
            <a:off x="1874520" y="394106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OECD “Oslo qo‘llanmasi” – </a:t>
            </a:r>
            <a:pPr indent="0" marL="0">
              <a:buNone/>
            </a:pPr>
            <a:r>
              <a:rPr lang="en-US" sz="1400" dirty="0">
                <a:solidFill>
                  <a:srgbClr val="1B2A3A"/>
                </a:solidFill>
                <a:latin typeface="Calibri" pitchFamily="34" charset="0"/>
                <a:ea typeface="Calibri" pitchFamily="34" charset="-122"/>
                <a:cs typeface="Calibri" pitchFamily="34" charset="-120"/>
              </a:rPr>
              <a:t>innovatsiyalarni o‘lchash va tasniflashning xalqaro standartini yaratdi</a:t>
            </a:r>
            <a:endParaRPr lang="en-US" sz="1400" dirty="0"/>
          </a:p>
        </p:txBody>
      </p:sp>
      <p:sp>
        <p:nvSpPr>
          <p:cNvPr id="10" name="Shape 8"/>
          <p:cNvSpPr/>
          <p:nvPr/>
        </p:nvSpPr>
        <p:spPr>
          <a:xfrm>
            <a:off x="548640" y="4709160"/>
            <a:ext cx="1143000" cy="548640"/>
          </a:xfrm>
          <a:prstGeom prst="roundRect">
            <a:avLst>
              <a:gd name="adj" fmla="val 16667"/>
            </a:avLst>
          </a:prstGeom>
          <a:solidFill>
            <a:srgbClr val="0E9F9A"/>
          </a:solidFill>
          <a:ln w="12700">
            <a:solidFill>
              <a:srgbClr val="0E9F9A"/>
            </a:solidFill>
            <a:prstDash val="solid"/>
          </a:ln>
        </p:spPr>
      </p:sp>
      <p:sp>
        <p:nvSpPr>
          <p:cNvPr id="11" name="Text 9"/>
          <p:cNvSpPr txBox="1"/>
          <p:nvPr/>
        </p:nvSpPr>
        <p:spPr>
          <a:xfrm>
            <a:off x="548640" y="470916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1997</a:t>
            </a:r>
            <a:endParaRPr lang="en-US" sz="1500" dirty="0"/>
          </a:p>
        </p:txBody>
      </p:sp>
      <p:sp>
        <p:nvSpPr>
          <p:cNvPr id="12" name="Text 10"/>
          <p:cNvSpPr txBox="1"/>
          <p:nvPr/>
        </p:nvSpPr>
        <p:spPr>
          <a:xfrm>
            <a:off x="1874520" y="467258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K. Kristensen – </a:t>
            </a:r>
            <a:pPr indent="0" marL="0">
              <a:buNone/>
            </a:pPr>
            <a:r>
              <a:rPr lang="en-US" sz="1400" dirty="0">
                <a:solidFill>
                  <a:srgbClr val="1B2A3A"/>
                </a:solidFill>
                <a:latin typeface="Calibri" pitchFamily="34" charset="0"/>
                <a:ea typeface="Calibri" pitchFamily="34" charset="-122"/>
                <a:cs typeface="Calibri" pitchFamily="34" charset="-120"/>
              </a:rPr>
              <a:t>bozorni tubdan o‘zgartiruvchi “buzuvchi innovatsiyalar” nazariyasini taklif etdi</a:t>
            </a:r>
            <a:endParaRPr lang="en-US" sz="1400" dirty="0"/>
          </a:p>
        </p:txBody>
      </p:sp>
      <p:sp>
        <p:nvSpPr>
          <p:cNvPr id="13" name="Shape 11"/>
          <p:cNvSpPr/>
          <p:nvPr/>
        </p:nvSpPr>
        <p:spPr>
          <a:xfrm>
            <a:off x="548640" y="5440680"/>
            <a:ext cx="1143000" cy="548640"/>
          </a:xfrm>
          <a:prstGeom prst="roundRect">
            <a:avLst>
              <a:gd name="adj" fmla="val 16667"/>
            </a:avLst>
          </a:prstGeom>
          <a:solidFill>
            <a:srgbClr val="0D2F4F"/>
          </a:solidFill>
          <a:ln w="12700">
            <a:solidFill>
              <a:srgbClr val="0D2F4F"/>
            </a:solidFill>
            <a:prstDash val="solid"/>
          </a:ln>
        </p:spPr>
      </p:sp>
      <p:sp>
        <p:nvSpPr>
          <p:cNvPr id="14" name="Text 12"/>
          <p:cNvSpPr txBox="1"/>
          <p:nvPr/>
        </p:nvSpPr>
        <p:spPr>
          <a:xfrm>
            <a:off x="548640" y="544068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2003</a:t>
            </a:r>
            <a:endParaRPr lang="en-US" sz="1500" dirty="0"/>
          </a:p>
        </p:txBody>
      </p:sp>
      <p:sp>
        <p:nvSpPr>
          <p:cNvPr id="15" name="Text 13"/>
          <p:cNvSpPr txBox="1"/>
          <p:nvPr/>
        </p:nvSpPr>
        <p:spPr>
          <a:xfrm>
            <a:off x="1874520" y="540410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H. Chesbro – </a:t>
            </a:r>
            <a:pPr indent="0" marL="0">
              <a:buNone/>
            </a:pPr>
            <a:r>
              <a:rPr lang="en-US" sz="1400" dirty="0">
                <a:solidFill>
                  <a:srgbClr val="1B2A3A"/>
                </a:solidFill>
                <a:latin typeface="Calibri" pitchFamily="34" charset="0"/>
                <a:ea typeface="Calibri" pitchFamily="34" charset="-122"/>
                <a:cs typeface="Calibri" pitchFamily="34" charset="-120"/>
              </a:rPr>
              <a:t>tashqi g‘oya va hamkorlardan foydalanuvchi “ochiq innovatsiyalar” modelini asosladi</a:t>
            </a:r>
            <a:endParaRPr lang="en-US" sz="1400" dirty="0"/>
          </a:p>
        </p:txBody>
      </p:sp>
      <p:pic>
        <p:nvPicPr>
          <p:cNvPr id="16" name="Image 0" descr="img6/history.png">    </p:cNvPr>
          <p:cNvPicPr>
            <a:picLocks noChangeAspect="1"/>
          </p:cNvPicPr>
          <p:nvPr/>
        </p:nvPicPr>
        <p:blipFill>
          <a:blip r:embed="rId1"/>
          <a:stretch>
            <a:fillRect/>
          </a:stretch>
        </p:blipFill>
        <p:spPr>
          <a:xfrm>
            <a:off x="7680960" y="1371600"/>
            <a:ext cx="3931920" cy="3054096"/>
          </a:xfrm>
          <a:prstGeom prst="rect">
            <a:avLst/>
          </a:prstGeom>
        </p:spPr>
      </p:pic>
      <p:sp>
        <p:nvSpPr>
          <p:cNvPr id="17" name="Shape 14"/>
          <p:cNvSpPr/>
          <p:nvPr/>
        </p:nvSpPr>
        <p:spPr>
          <a:xfrm>
            <a:off x="7680960" y="4617720"/>
            <a:ext cx="3931920" cy="1554480"/>
          </a:xfrm>
          <a:prstGeom prst="roundRect">
            <a:avLst>
              <a:gd name="adj" fmla="val 7059"/>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8" name="Text 15"/>
          <p:cNvSpPr txBox="1"/>
          <p:nvPr/>
        </p:nvSpPr>
        <p:spPr>
          <a:xfrm>
            <a:off x="7863840" y="4663440"/>
            <a:ext cx="3566160" cy="146304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Shumpeter g‘oyasi:</a:t>
            </a:r>
            <a:pPr indent="0" marL="0">
              <a:buNone/>
            </a:pPr>
            <a:r>
              <a:rPr lang="en-US" sz="1400" dirty="0">
                <a:solidFill>
                  <a:srgbClr val="1B2A3A"/>
                </a:solidFill>
                <a:latin typeface="Calibri" pitchFamily="34" charset="0"/>
                <a:ea typeface="Calibri" pitchFamily="34" charset="-122"/>
                <a:cs typeface="Calibri" pitchFamily="34" charset="-120"/>
              </a:rPr>
              <a:t> iqtisodiyot “ijodiy buzilish” orqali rivojlanadi – yangi texnologiyalar eskilarini siqib chiqaradi.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Innovatsion strategiyaning mohiyati</a:t>
            </a:r>
            <a:endParaRPr lang="en-US" sz="3000" dirty="0"/>
          </a:p>
        </p:txBody>
      </p:sp>
      <p:pic>
        <p:nvPicPr>
          <p:cNvPr id="3" name="Image 0" descr="img6/essence.png">    </p:cNvPr>
          <p:cNvPicPr>
            <a:picLocks noChangeAspect="1"/>
          </p:cNvPicPr>
          <p:nvPr/>
        </p:nvPicPr>
        <p:blipFill>
          <a:blip r:embed="rId1"/>
          <a:stretch>
            <a:fillRect/>
          </a:stretch>
        </p:blipFill>
        <p:spPr>
          <a:xfrm>
            <a:off x="548640" y="1371600"/>
            <a:ext cx="4206240" cy="3273552"/>
          </a:xfrm>
          <a:prstGeom prst="rect">
            <a:avLst/>
          </a:prstGeom>
        </p:spPr>
      </p:pic>
      <p:sp>
        <p:nvSpPr>
          <p:cNvPr id="4" name="Text 1"/>
          <p:cNvSpPr txBox="1"/>
          <p:nvPr/>
        </p:nvSpPr>
        <p:spPr>
          <a:xfrm>
            <a:off x="548640" y="4800600"/>
            <a:ext cx="4206240" cy="1463040"/>
          </a:xfrm>
          <a:prstGeom prst="rect">
            <a:avLst/>
          </a:prstGeom>
          <a:noFill/>
          <a:ln/>
        </p:spPr>
        <p:txBody>
          <a:bodyPr wrap="square" lIns="0" tIns="0" rIns="0" bIns="0" rtlCol="0" anchor="t"/>
          <a:lstStyle/>
          <a:p>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Innovatsion strategiya</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 korxonaning yangi mahsulot, texnologiya va boshqaruv usullarini yaratish va joriy etish orqali uzoq muddatli raqobat ustunligiga erishishga qaratilgan maqsad va harakatlar tizimi.</a:t>
            </a:r>
            <a:endParaRPr lang="en-US" sz="1400" dirty="0"/>
          </a:p>
        </p:txBody>
      </p:sp>
      <p:sp>
        <p:nvSpPr>
          <p:cNvPr id="5" name="Text 2"/>
          <p:cNvSpPr txBox="1"/>
          <p:nvPr/>
        </p:nvSpPr>
        <p:spPr>
          <a:xfrm>
            <a:off x="5120640" y="1371600"/>
            <a:ext cx="6492240" cy="365760"/>
          </a:xfrm>
          <a:prstGeom prst="rect">
            <a:avLst/>
          </a:prstGeom>
          <a:noFill/>
          <a:ln/>
        </p:spPr>
        <p:txBody>
          <a:bodyPr wrap="square" lIns="0" tIns="0" rIns="0" bIns="0" rtlCol="0" anchor="ctr"/>
          <a:lstStyle/>
          <a:p>
            <a:pPr indent="0" marL="0">
              <a:buNone/>
            </a:pPr>
            <a:r>
              <a:rPr lang="en-US" sz="1600" b="1" dirty="0">
                <a:solidFill>
                  <a:srgbClr val="0D2F4F"/>
                </a:solidFill>
              </a:rPr>
              <a:t>Innovatsion strategiyaning asosiy xususiyatlari:</a:t>
            </a:r>
            <a:endParaRPr lang="en-US" sz="1600" dirty="0"/>
          </a:p>
        </p:txBody>
      </p:sp>
      <p:sp>
        <p:nvSpPr>
          <p:cNvPr id="6" name="Shape 3"/>
          <p:cNvSpPr/>
          <p:nvPr/>
        </p:nvSpPr>
        <p:spPr>
          <a:xfrm>
            <a:off x="5120640" y="1920240"/>
            <a:ext cx="566928" cy="566928"/>
          </a:xfrm>
          <a:prstGeom prst="ellipse">
            <a:avLst/>
          </a:prstGeom>
          <a:solidFill>
            <a:srgbClr val="0E9F9A"/>
          </a:solidFill>
          <a:ln w="12700">
            <a:solidFill>
              <a:srgbClr val="0E9F9A"/>
            </a:solidFill>
            <a:prstDash val="solid"/>
          </a:ln>
        </p:spPr>
      </p:sp>
      <p:pic>
        <p:nvPicPr>
          <p:cNvPr id="7" name="Image 1" descr="preencoded.png">    </p:cNvPr>
          <p:cNvPicPr>
            <a:picLocks noChangeAspect="1"/>
          </p:cNvPicPr>
          <p:nvPr/>
        </p:nvPicPr>
        <p:blipFill>
          <a:blip r:embed="rId2"/>
          <a:stretch>
            <a:fillRect/>
          </a:stretch>
        </p:blipFill>
        <p:spPr>
          <a:xfrm>
            <a:off x="5268041" y="2067641"/>
            <a:ext cx="272125" cy="272125"/>
          </a:xfrm>
          <a:prstGeom prst="rect">
            <a:avLst/>
          </a:prstGeom>
        </p:spPr>
      </p:pic>
      <p:sp>
        <p:nvSpPr>
          <p:cNvPr id="8" name="Text 4"/>
          <p:cNvSpPr txBox="1"/>
          <p:nvPr/>
        </p:nvSpPr>
        <p:spPr>
          <a:xfrm>
            <a:off x="5852160" y="187452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Yangilikka yo‘naltirilganlik</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korxona o‘sishi mavjud mahsulotlarni emas, yangi yechimlarni yaratishga asoslanadi.</a:t>
            </a:r>
            <a:endParaRPr lang="en-US" sz="1400" dirty="0"/>
          </a:p>
        </p:txBody>
      </p:sp>
      <p:sp>
        <p:nvSpPr>
          <p:cNvPr id="9" name="Shape 5"/>
          <p:cNvSpPr/>
          <p:nvPr/>
        </p:nvSpPr>
        <p:spPr>
          <a:xfrm>
            <a:off x="5120640" y="2788920"/>
            <a:ext cx="566928" cy="566928"/>
          </a:xfrm>
          <a:prstGeom prst="ellipse">
            <a:avLst/>
          </a:prstGeom>
          <a:solidFill>
            <a:srgbClr val="0D2F4F"/>
          </a:solidFill>
          <a:ln w="12700">
            <a:solidFill>
              <a:srgbClr val="0D2F4F"/>
            </a:solidFill>
            <a:prstDash val="solid"/>
          </a:ln>
        </p:spPr>
      </p:sp>
      <p:pic>
        <p:nvPicPr>
          <p:cNvPr id="10" name="Image 2" descr="preencoded.png">    </p:cNvPr>
          <p:cNvPicPr>
            <a:picLocks noChangeAspect="1"/>
          </p:cNvPicPr>
          <p:nvPr/>
        </p:nvPicPr>
        <p:blipFill>
          <a:blip r:embed="rId3"/>
          <a:stretch>
            <a:fillRect/>
          </a:stretch>
        </p:blipFill>
        <p:spPr>
          <a:xfrm>
            <a:off x="5268041" y="2936321"/>
            <a:ext cx="272125" cy="272125"/>
          </a:xfrm>
          <a:prstGeom prst="rect">
            <a:avLst/>
          </a:prstGeom>
        </p:spPr>
      </p:pic>
      <p:sp>
        <p:nvSpPr>
          <p:cNvPr id="11" name="Text 6"/>
          <p:cNvSpPr txBox="1"/>
          <p:nvPr/>
        </p:nvSpPr>
        <p:spPr>
          <a:xfrm>
            <a:off x="5852160" y="274320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Yuqori xatar va noaniqlik</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har bir loyiha ham muvaffaqiyatli bo‘lmaydi, shuning uchun loyihalar portfeli shakllantiriladi.</a:t>
            </a:r>
            <a:endParaRPr lang="en-US" sz="1400" dirty="0"/>
          </a:p>
        </p:txBody>
      </p:sp>
      <p:sp>
        <p:nvSpPr>
          <p:cNvPr id="12" name="Shape 7"/>
          <p:cNvSpPr/>
          <p:nvPr/>
        </p:nvSpPr>
        <p:spPr>
          <a:xfrm>
            <a:off x="5120640" y="3657600"/>
            <a:ext cx="566928" cy="566928"/>
          </a:xfrm>
          <a:prstGeom prst="ellipse">
            <a:avLst/>
          </a:prstGeom>
          <a:solidFill>
            <a:srgbClr val="0E9F9A"/>
          </a:solidFill>
          <a:ln w="12700">
            <a:solidFill>
              <a:srgbClr val="0E9F9A"/>
            </a:solidFill>
            <a:prstDash val="solid"/>
          </a:ln>
        </p:spPr>
      </p:sp>
      <p:pic>
        <p:nvPicPr>
          <p:cNvPr id="13" name="Image 3" descr="preencoded.png">    </p:cNvPr>
          <p:cNvPicPr>
            <a:picLocks noChangeAspect="1"/>
          </p:cNvPicPr>
          <p:nvPr/>
        </p:nvPicPr>
        <p:blipFill>
          <a:blip r:embed="rId4"/>
          <a:stretch>
            <a:fillRect/>
          </a:stretch>
        </p:blipFill>
        <p:spPr>
          <a:xfrm>
            <a:off x="5268041" y="3805001"/>
            <a:ext cx="272125" cy="272125"/>
          </a:xfrm>
          <a:prstGeom prst="rect">
            <a:avLst/>
          </a:prstGeom>
        </p:spPr>
      </p:pic>
      <p:sp>
        <p:nvSpPr>
          <p:cNvPr id="14" name="Text 8"/>
          <p:cNvSpPr txBox="1"/>
          <p:nvPr/>
        </p:nvSpPr>
        <p:spPr>
          <a:xfrm>
            <a:off x="5852160" y="361188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Uzoq muddatlilik</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ITR natijalari odatda bir necha yildan keyin samara beradi.</a:t>
            </a:r>
            <a:endParaRPr lang="en-US" sz="1400" dirty="0"/>
          </a:p>
        </p:txBody>
      </p:sp>
      <p:sp>
        <p:nvSpPr>
          <p:cNvPr id="15" name="Shape 9"/>
          <p:cNvSpPr/>
          <p:nvPr/>
        </p:nvSpPr>
        <p:spPr>
          <a:xfrm>
            <a:off x="5120640" y="4526280"/>
            <a:ext cx="566928" cy="566928"/>
          </a:xfrm>
          <a:prstGeom prst="ellipse">
            <a:avLst/>
          </a:prstGeom>
          <a:solidFill>
            <a:srgbClr val="0D2F4F"/>
          </a:solidFill>
          <a:ln w="12700">
            <a:solidFill>
              <a:srgbClr val="0D2F4F"/>
            </a:solidFill>
            <a:prstDash val="solid"/>
          </a:ln>
        </p:spPr>
      </p:sp>
      <p:pic>
        <p:nvPicPr>
          <p:cNvPr id="16" name="Image 4" descr="preencoded.png">    </p:cNvPr>
          <p:cNvPicPr>
            <a:picLocks noChangeAspect="1"/>
          </p:cNvPicPr>
          <p:nvPr/>
        </p:nvPicPr>
        <p:blipFill>
          <a:blip r:embed="rId5"/>
          <a:stretch>
            <a:fillRect/>
          </a:stretch>
        </p:blipFill>
        <p:spPr>
          <a:xfrm>
            <a:off x="5268041" y="4673681"/>
            <a:ext cx="272125" cy="272125"/>
          </a:xfrm>
          <a:prstGeom prst="rect">
            <a:avLst/>
          </a:prstGeom>
        </p:spPr>
      </p:pic>
      <p:sp>
        <p:nvSpPr>
          <p:cNvPr id="17" name="Text 10"/>
          <p:cNvSpPr txBox="1"/>
          <p:nvPr/>
        </p:nvSpPr>
        <p:spPr>
          <a:xfrm>
            <a:off x="5852160" y="448056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Bilim va inson kapitaliga tayanish</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olimlar, muhandislar va ijodkor xodimlar asosiy resurs hisoblanadi.</a:t>
            </a:r>
            <a:endParaRPr lang="en-US" sz="1400" dirty="0"/>
          </a:p>
        </p:txBody>
      </p:sp>
      <p:sp>
        <p:nvSpPr>
          <p:cNvPr id="18" name="Shape 11"/>
          <p:cNvSpPr/>
          <p:nvPr/>
        </p:nvSpPr>
        <p:spPr>
          <a:xfrm>
            <a:off x="5120640" y="5394960"/>
            <a:ext cx="566928" cy="566928"/>
          </a:xfrm>
          <a:prstGeom prst="ellipse">
            <a:avLst/>
          </a:prstGeom>
          <a:solidFill>
            <a:srgbClr val="0E9F9A"/>
          </a:solidFill>
          <a:ln w="12700">
            <a:solidFill>
              <a:srgbClr val="0E9F9A"/>
            </a:solidFill>
            <a:prstDash val="solid"/>
          </a:ln>
        </p:spPr>
      </p:sp>
      <p:pic>
        <p:nvPicPr>
          <p:cNvPr id="19" name="Image 5" descr="preencoded.png">    </p:cNvPr>
          <p:cNvPicPr>
            <a:picLocks noChangeAspect="1"/>
          </p:cNvPicPr>
          <p:nvPr/>
        </p:nvPicPr>
        <p:blipFill>
          <a:blip r:embed="rId6"/>
          <a:stretch>
            <a:fillRect/>
          </a:stretch>
        </p:blipFill>
        <p:spPr>
          <a:xfrm>
            <a:off x="5268041" y="5542361"/>
            <a:ext cx="272125" cy="272125"/>
          </a:xfrm>
          <a:prstGeom prst="rect">
            <a:avLst/>
          </a:prstGeom>
        </p:spPr>
      </p:pic>
      <p:sp>
        <p:nvSpPr>
          <p:cNvPr id="20" name="Text 12"/>
          <p:cNvSpPr txBox="1"/>
          <p:nvPr/>
        </p:nvSpPr>
        <p:spPr>
          <a:xfrm>
            <a:off x="5852160" y="534924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Korxonaning umumiy strategiyasi bilan uyg‘unlik</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innovatsiyalar korporativ maqsadlarga xizmat qilishi kerak.</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Innovatsiyalar turlari</a:t>
            </a:r>
            <a:endParaRPr lang="en-US" sz="30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“Oslo qo‘llanmasi” bo‘yicha innovatsiyalar ob’ektiga ko‘ra, shuningdek yangilik darajasiga ko‘ra tasniflanadi:</a:t>
            </a:r>
            <a:endParaRPr lang="en-US" sz="1400" dirty="0"/>
          </a:p>
        </p:txBody>
      </p:sp>
      <p:sp>
        <p:nvSpPr>
          <p:cNvPr id="4" name="Shape 2"/>
          <p:cNvSpPr/>
          <p:nvPr/>
        </p:nvSpPr>
        <p:spPr>
          <a:xfrm>
            <a:off x="548640" y="210312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Shape 3"/>
          <p:cNvSpPr/>
          <p:nvPr/>
        </p:nvSpPr>
        <p:spPr>
          <a:xfrm>
            <a:off x="731520" y="2286000"/>
            <a:ext cx="594360" cy="594360"/>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886054" y="2440534"/>
            <a:ext cx="285293" cy="285293"/>
          </a:xfrm>
          <a:prstGeom prst="rect">
            <a:avLst/>
          </a:prstGeom>
        </p:spPr>
      </p:pic>
      <p:sp>
        <p:nvSpPr>
          <p:cNvPr id="7" name="Text 4"/>
          <p:cNvSpPr txBox="1"/>
          <p:nvPr/>
        </p:nvSpPr>
        <p:spPr>
          <a:xfrm>
            <a:off x="3337560" y="224028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01</a:t>
            </a:r>
            <a:endParaRPr lang="en-US" sz="2000" dirty="0"/>
          </a:p>
        </p:txBody>
      </p:sp>
      <p:sp>
        <p:nvSpPr>
          <p:cNvPr id="8" name="Text 5"/>
          <p:cNvSpPr txBox="1"/>
          <p:nvPr/>
        </p:nvSpPr>
        <p:spPr>
          <a:xfrm>
            <a:off x="1463040" y="228600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Mahsulot innovatsiyasi</a:t>
            </a:r>
            <a:endParaRPr lang="en-US" sz="1550" dirty="0"/>
          </a:p>
        </p:txBody>
      </p:sp>
      <p:sp>
        <p:nvSpPr>
          <p:cNvPr id="9" name="Text 6"/>
          <p:cNvSpPr txBox="1"/>
          <p:nvPr/>
        </p:nvSpPr>
        <p:spPr>
          <a:xfrm>
            <a:off x="731520" y="297180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yangi yoki sezilarli takomillashtirilgan tovar va xizmatlar: yangi model, funksiya, material.</a:t>
            </a:r>
            <a:endParaRPr lang="en-US" sz="1350" dirty="0"/>
          </a:p>
        </p:txBody>
      </p:sp>
      <p:sp>
        <p:nvSpPr>
          <p:cNvPr id="10" name="Shape 7"/>
          <p:cNvSpPr/>
          <p:nvPr/>
        </p:nvSpPr>
        <p:spPr>
          <a:xfrm>
            <a:off x="4343400" y="210312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1" name="Shape 8"/>
          <p:cNvSpPr/>
          <p:nvPr/>
        </p:nvSpPr>
        <p:spPr>
          <a:xfrm>
            <a:off x="4526280" y="2286000"/>
            <a:ext cx="594360" cy="594360"/>
          </a:xfrm>
          <a:prstGeom prst="ellipse">
            <a:avLst/>
          </a:prstGeom>
          <a:solidFill>
            <a:srgbClr val="0D2F4F"/>
          </a:solidFill>
          <a:ln w="12700">
            <a:solidFill>
              <a:srgbClr val="0D2F4F"/>
            </a:solidFill>
            <a:prstDash val="solid"/>
          </a:ln>
        </p:spPr>
      </p:sp>
      <p:pic>
        <p:nvPicPr>
          <p:cNvPr id="12" name="Image 1" descr="preencoded.png">    </p:cNvPr>
          <p:cNvPicPr>
            <a:picLocks noChangeAspect="1"/>
          </p:cNvPicPr>
          <p:nvPr/>
        </p:nvPicPr>
        <p:blipFill>
          <a:blip r:embed="rId2"/>
          <a:stretch>
            <a:fillRect/>
          </a:stretch>
        </p:blipFill>
        <p:spPr>
          <a:xfrm>
            <a:off x="4680814" y="2440534"/>
            <a:ext cx="285293" cy="285293"/>
          </a:xfrm>
          <a:prstGeom prst="rect">
            <a:avLst/>
          </a:prstGeom>
        </p:spPr>
      </p:pic>
      <p:sp>
        <p:nvSpPr>
          <p:cNvPr id="13" name="Text 9"/>
          <p:cNvSpPr txBox="1"/>
          <p:nvPr/>
        </p:nvSpPr>
        <p:spPr>
          <a:xfrm>
            <a:off x="7132320" y="224028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02</a:t>
            </a:r>
            <a:endParaRPr lang="en-US" sz="2000" dirty="0"/>
          </a:p>
        </p:txBody>
      </p:sp>
      <p:sp>
        <p:nvSpPr>
          <p:cNvPr id="14" name="Text 10"/>
          <p:cNvSpPr txBox="1"/>
          <p:nvPr/>
        </p:nvSpPr>
        <p:spPr>
          <a:xfrm>
            <a:off x="5257800" y="228600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Jarayon innovatsiyasi</a:t>
            </a:r>
            <a:endParaRPr lang="en-US" sz="1550" dirty="0"/>
          </a:p>
        </p:txBody>
      </p:sp>
      <p:sp>
        <p:nvSpPr>
          <p:cNvPr id="15" name="Text 11"/>
          <p:cNvSpPr txBox="1"/>
          <p:nvPr/>
        </p:nvSpPr>
        <p:spPr>
          <a:xfrm>
            <a:off x="4526280" y="297180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yangi ishlab chiqarish texnologiyasi, avtomatlashtirish, yetkazib berish usullari.</a:t>
            </a:r>
            <a:endParaRPr lang="en-US" sz="1350" dirty="0"/>
          </a:p>
        </p:txBody>
      </p:sp>
      <p:sp>
        <p:nvSpPr>
          <p:cNvPr id="16" name="Shape 12"/>
          <p:cNvSpPr/>
          <p:nvPr/>
        </p:nvSpPr>
        <p:spPr>
          <a:xfrm>
            <a:off x="8138160" y="210312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7" name="Shape 13"/>
          <p:cNvSpPr/>
          <p:nvPr/>
        </p:nvSpPr>
        <p:spPr>
          <a:xfrm>
            <a:off x="8321040" y="2286000"/>
            <a:ext cx="594360" cy="594360"/>
          </a:xfrm>
          <a:prstGeom prst="ellipse">
            <a:avLst/>
          </a:prstGeom>
          <a:solidFill>
            <a:srgbClr val="0E9F9A"/>
          </a:solidFill>
          <a:ln w="12700">
            <a:solidFill>
              <a:srgbClr val="0E9F9A"/>
            </a:solidFill>
            <a:prstDash val="solid"/>
          </a:ln>
        </p:spPr>
      </p:sp>
      <p:pic>
        <p:nvPicPr>
          <p:cNvPr id="18" name="Image 2" descr="preencoded.png">    </p:cNvPr>
          <p:cNvPicPr>
            <a:picLocks noChangeAspect="1"/>
          </p:cNvPicPr>
          <p:nvPr/>
        </p:nvPicPr>
        <p:blipFill>
          <a:blip r:embed="rId3"/>
          <a:stretch>
            <a:fillRect/>
          </a:stretch>
        </p:blipFill>
        <p:spPr>
          <a:xfrm>
            <a:off x="8475574" y="2440534"/>
            <a:ext cx="285293" cy="285293"/>
          </a:xfrm>
          <a:prstGeom prst="rect">
            <a:avLst/>
          </a:prstGeom>
        </p:spPr>
      </p:pic>
      <p:sp>
        <p:nvSpPr>
          <p:cNvPr id="19" name="Text 14"/>
          <p:cNvSpPr txBox="1"/>
          <p:nvPr/>
        </p:nvSpPr>
        <p:spPr>
          <a:xfrm>
            <a:off x="10927080" y="224028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03</a:t>
            </a:r>
            <a:endParaRPr lang="en-US" sz="2000" dirty="0"/>
          </a:p>
        </p:txBody>
      </p:sp>
      <p:sp>
        <p:nvSpPr>
          <p:cNvPr id="20" name="Text 15"/>
          <p:cNvSpPr txBox="1"/>
          <p:nvPr/>
        </p:nvSpPr>
        <p:spPr>
          <a:xfrm>
            <a:off x="9052560" y="228600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Marketing innovatsiyasi</a:t>
            </a:r>
            <a:endParaRPr lang="en-US" sz="1550" dirty="0"/>
          </a:p>
        </p:txBody>
      </p:sp>
      <p:sp>
        <p:nvSpPr>
          <p:cNvPr id="21" name="Text 16"/>
          <p:cNvSpPr txBox="1"/>
          <p:nvPr/>
        </p:nvSpPr>
        <p:spPr>
          <a:xfrm>
            <a:off x="8321040" y="297180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yangi dizayn, qadoqlash, sotish kanallari, narx belgilash va reklama usullari.</a:t>
            </a:r>
            <a:endParaRPr lang="en-US" sz="1350" dirty="0"/>
          </a:p>
        </p:txBody>
      </p:sp>
      <p:sp>
        <p:nvSpPr>
          <p:cNvPr id="22" name="Shape 17"/>
          <p:cNvSpPr/>
          <p:nvPr/>
        </p:nvSpPr>
        <p:spPr>
          <a:xfrm>
            <a:off x="548640" y="384048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3" name="Shape 18"/>
          <p:cNvSpPr/>
          <p:nvPr/>
        </p:nvSpPr>
        <p:spPr>
          <a:xfrm>
            <a:off x="731520" y="4023360"/>
            <a:ext cx="594360" cy="594360"/>
          </a:xfrm>
          <a:prstGeom prst="ellipse">
            <a:avLst/>
          </a:prstGeom>
          <a:solidFill>
            <a:srgbClr val="0D2F4F"/>
          </a:solidFill>
          <a:ln w="12700">
            <a:solidFill>
              <a:srgbClr val="0D2F4F"/>
            </a:solidFill>
            <a:prstDash val="solid"/>
          </a:ln>
        </p:spPr>
      </p:sp>
      <p:pic>
        <p:nvPicPr>
          <p:cNvPr id="24" name="Image 3" descr="preencoded.png">    </p:cNvPr>
          <p:cNvPicPr>
            <a:picLocks noChangeAspect="1"/>
          </p:cNvPicPr>
          <p:nvPr/>
        </p:nvPicPr>
        <p:blipFill>
          <a:blip r:embed="rId4"/>
          <a:stretch>
            <a:fillRect/>
          </a:stretch>
        </p:blipFill>
        <p:spPr>
          <a:xfrm>
            <a:off x="886054" y="4177894"/>
            <a:ext cx="285293" cy="285293"/>
          </a:xfrm>
          <a:prstGeom prst="rect">
            <a:avLst/>
          </a:prstGeom>
        </p:spPr>
      </p:pic>
      <p:sp>
        <p:nvSpPr>
          <p:cNvPr id="25" name="Text 19"/>
          <p:cNvSpPr txBox="1"/>
          <p:nvPr/>
        </p:nvSpPr>
        <p:spPr>
          <a:xfrm>
            <a:off x="3337560" y="397764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04</a:t>
            </a:r>
            <a:endParaRPr lang="en-US" sz="2000" dirty="0"/>
          </a:p>
        </p:txBody>
      </p:sp>
      <p:sp>
        <p:nvSpPr>
          <p:cNvPr id="26" name="Text 20"/>
          <p:cNvSpPr txBox="1"/>
          <p:nvPr/>
        </p:nvSpPr>
        <p:spPr>
          <a:xfrm>
            <a:off x="1463040" y="402336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Tashkiliy innovatsiya</a:t>
            </a:r>
            <a:endParaRPr lang="en-US" sz="1550" dirty="0"/>
          </a:p>
        </p:txBody>
      </p:sp>
      <p:sp>
        <p:nvSpPr>
          <p:cNvPr id="27" name="Text 21"/>
          <p:cNvSpPr txBox="1"/>
          <p:nvPr/>
        </p:nvSpPr>
        <p:spPr>
          <a:xfrm>
            <a:off x="731520" y="470916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yangi boshqaruv tuzilmasi, ish o‘rnini tashkil etish, tashqi hamkorlik shakllari.</a:t>
            </a:r>
            <a:endParaRPr lang="en-US" sz="1350" dirty="0"/>
          </a:p>
        </p:txBody>
      </p:sp>
      <p:sp>
        <p:nvSpPr>
          <p:cNvPr id="28" name="Shape 22"/>
          <p:cNvSpPr/>
          <p:nvPr/>
        </p:nvSpPr>
        <p:spPr>
          <a:xfrm>
            <a:off x="4343400" y="384048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9" name="Shape 23"/>
          <p:cNvSpPr/>
          <p:nvPr/>
        </p:nvSpPr>
        <p:spPr>
          <a:xfrm>
            <a:off x="4526280" y="4023360"/>
            <a:ext cx="594360" cy="594360"/>
          </a:xfrm>
          <a:prstGeom prst="ellipse">
            <a:avLst/>
          </a:prstGeom>
          <a:solidFill>
            <a:srgbClr val="0E9F9A"/>
          </a:solidFill>
          <a:ln w="12700">
            <a:solidFill>
              <a:srgbClr val="0E9F9A"/>
            </a:solidFill>
            <a:prstDash val="solid"/>
          </a:ln>
        </p:spPr>
      </p:sp>
      <p:pic>
        <p:nvPicPr>
          <p:cNvPr id="30" name="Image 4" descr="preencoded.png">    </p:cNvPr>
          <p:cNvPicPr>
            <a:picLocks noChangeAspect="1"/>
          </p:cNvPicPr>
          <p:nvPr/>
        </p:nvPicPr>
        <p:blipFill>
          <a:blip r:embed="rId5"/>
          <a:stretch>
            <a:fillRect/>
          </a:stretch>
        </p:blipFill>
        <p:spPr>
          <a:xfrm>
            <a:off x="4680814" y="4177894"/>
            <a:ext cx="285293" cy="285293"/>
          </a:xfrm>
          <a:prstGeom prst="rect">
            <a:avLst/>
          </a:prstGeom>
        </p:spPr>
      </p:pic>
      <p:sp>
        <p:nvSpPr>
          <p:cNvPr id="31" name="Text 24"/>
          <p:cNvSpPr txBox="1"/>
          <p:nvPr/>
        </p:nvSpPr>
        <p:spPr>
          <a:xfrm>
            <a:off x="7132320" y="397764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05</a:t>
            </a:r>
            <a:endParaRPr lang="en-US" sz="2000" dirty="0"/>
          </a:p>
        </p:txBody>
      </p:sp>
      <p:sp>
        <p:nvSpPr>
          <p:cNvPr id="32" name="Text 25"/>
          <p:cNvSpPr txBox="1"/>
          <p:nvPr/>
        </p:nvSpPr>
        <p:spPr>
          <a:xfrm>
            <a:off x="5257800" y="402336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Radikal (tubdan yangi)</a:t>
            </a:r>
            <a:endParaRPr lang="en-US" sz="1550" dirty="0"/>
          </a:p>
        </p:txBody>
      </p:sp>
      <p:sp>
        <p:nvSpPr>
          <p:cNvPr id="33" name="Text 26"/>
          <p:cNvSpPr txBox="1"/>
          <p:nvPr/>
        </p:nvSpPr>
        <p:spPr>
          <a:xfrm>
            <a:off x="4526280" y="470916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bozorni o‘zgartiruvchi, avval mavjud bo‘lmagan yechimlar; xatari va samarasi yuqori.</a:t>
            </a:r>
            <a:endParaRPr lang="en-US" sz="1350" dirty="0"/>
          </a:p>
        </p:txBody>
      </p:sp>
      <p:sp>
        <p:nvSpPr>
          <p:cNvPr id="34" name="Shape 27"/>
          <p:cNvSpPr/>
          <p:nvPr/>
        </p:nvSpPr>
        <p:spPr>
          <a:xfrm>
            <a:off x="8138160" y="384048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5" name="Shape 28"/>
          <p:cNvSpPr/>
          <p:nvPr/>
        </p:nvSpPr>
        <p:spPr>
          <a:xfrm>
            <a:off x="8321040" y="4023360"/>
            <a:ext cx="594360" cy="594360"/>
          </a:xfrm>
          <a:prstGeom prst="ellipse">
            <a:avLst/>
          </a:prstGeom>
          <a:solidFill>
            <a:srgbClr val="0D2F4F"/>
          </a:solidFill>
          <a:ln w="12700">
            <a:solidFill>
              <a:srgbClr val="0D2F4F"/>
            </a:solidFill>
            <a:prstDash val="solid"/>
          </a:ln>
        </p:spPr>
      </p:sp>
      <p:pic>
        <p:nvPicPr>
          <p:cNvPr id="36" name="Image 5" descr="preencoded.png">    </p:cNvPr>
          <p:cNvPicPr>
            <a:picLocks noChangeAspect="1"/>
          </p:cNvPicPr>
          <p:nvPr/>
        </p:nvPicPr>
        <p:blipFill>
          <a:blip r:embed="rId6"/>
          <a:stretch>
            <a:fillRect/>
          </a:stretch>
        </p:blipFill>
        <p:spPr>
          <a:xfrm>
            <a:off x="8475574" y="4177894"/>
            <a:ext cx="285293" cy="285293"/>
          </a:xfrm>
          <a:prstGeom prst="rect">
            <a:avLst/>
          </a:prstGeom>
        </p:spPr>
      </p:pic>
      <p:sp>
        <p:nvSpPr>
          <p:cNvPr id="37" name="Text 29"/>
          <p:cNvSpPr txBox="1"/>
          <p:nvPr/>
        </p:nvSpPr>
        <p:spPr>
          <a:xfrm>
            <a:off x="10927080" y="397764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06</a:t>
            </a:r>
            <a:endParaRPr lang="en-US" sz="2000" dirty="0"/>
          </a:p>
        </p:txBody>
      </p:sp>
      <p:sp>
        <p:nvSpPr>
          <p:cNvPr id="38" name="Text 30"/>
          <p:cNvSpPr txBox="1"/>
          <p:nvPr/>
        </p:nvSpPr>
        <p:spPr>
          <a:xfrm>
            <a:off x="9052560" y="402336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Inkremental (takomillashtiruvchi)</a:t>
            </a:r>
            <a:endParaRPr lang="en-US" sz="1550" dirty="0"/>
          </a:p>
        </p:txBody>
      </p:sp>
      <p:sp>
        <p:nvSpPr>
          <p:cNvPr id="39" name="Text 31"/>
          <p:cNvSpPr txBox="1"/>
          <p:nvPr/>
        </p:nvSpPr>
        <p:spPr>
          <a:xfrm>
            <a:off x="8321040" y="470916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mavjud mahsulot va jarayonlarni bosqichma-bosqich yaxshilash; xatari past.</a:t>
            </a:r>
            <a:endParaRPr lang="en-US" sz="1350" dirty="0"/>
          </a:p>
        </p:txBody>
      </p:sp>
      <p:sp>
        <p:nvSpPr>
          <p:cNvPr id="40" name="Shape 32"/>
          <p:cNvSpPr/>
          <p:nvPr/>
        </p:nvSpPr>
        <p:spPr>
          <a:xfrm>
            <a:off x="548640" y="5623560"/>
            <a:ext cx="11064240" cy="594360"/>
          </a:xfrm>
          <a:prstGeom prst="roundRect">
            <a:avLst>
              <a:gd name="adj" fmla="val 18462"/>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1" name="Text 33"/>
          <p:cNvSpPr txBox="1"/>
          <p:nvPr/>
        </p:nvSpPr>
        <p:spPr>
          <a:xfrm>
            <a:off x="731520" y="5669280"/>
            <a:ext cx="10698480" cy="502920"/>
          </a:xfrm>
          <a:prstGeom prst="rect">
            <a:avLst/>
          </a:prstGeom>
          <a:noFill/>
          <a:ln/>
        </p:spPr>
        <p:txBody>
          <a:bodyPr wrap="square" lIns="0" tIns="0" rIns="0" bIns="0" rtlCol="0" anchor="ctr"/>
          <a:lstStyle/>
          <a:p>
            <a:pPr indent="0" marL="0">
              <a:buNone/>
            </a:pPr>
            <a:r>
              <a:rPr lang="en-US" sz="1350" b="1" dirty="0">
                <a:solidFill>
                  <a:srgbClr val="0D2F4F"/>
                </a:solidFill>
                <a:latin typeface="Calibri" pitchFamily="34" charset="0"/>
                <a:ea typeface="Calibri" pitchFamily="34" charset="-122"/>
                <a:cs typeface="Calibri" pitchFamily="34" charset="-120"/>
              </a:rPr>
              <a:t>Amaliyotda:</a:t>
            </a:r>
            <a:pPr indent="0" marL="0">
              <a:buNone/>
            </a:pPr>
            <a:r>
              <a:rPr lang="en-US" sz="1350" dirty="0">
                <a:solidFill>
                  <a:srgbClr val="1B2A3A"/>
                </a:solidFill>
                <a:latin typeface="Calibri" pitchFamily="34" charset="0"/>
                <a:ea typeface="Calibri" pitchFamily="34" charset="-122"/>
                <a:cs typeface="Calibri" pitchFamily="34" charset="-120"/>
              </a:rPr>
              <a:t> muvaffaqiyatli korxonalar radikal va takomillashtiruvchi innovatsiyalarni muvozanatda olib boradi.</a:t>
            </a:r>
            <a:endParaRPr lang="en-US" sz="13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Innovatsion strategiyalar tasnifi (K. Frimen)</a:t>
            </a:r>
            <a:endParaRPr lang="en-US" sz="3000" dirty="0"/>
          </a:p>
        </p:txBody>
      </p:sp>
      <p:pic>
        <p:nvPicPr>
          <p:cNvPr id="3" name="Image 0" descr="img6/types.png">    </p:cNvPr>
          <p:cNvPicPr>
            <a:picLocks noChangeAspect="1"/>
          </p:cNvPicPr>
          <p:nvPr/>
        </p:nvPicPr>
        <p:blipFill>
          <a:blip r:embed="rId1"/>
          <a:stretch>
            <a:fillRect/>
          </a:stretch>
        </p:blipFill>
        <p:spPr>
          <a:xfrm>
            <a:off x="548640" y="1371600"/>
            <a:ext cx="3200400" cy="4114800"/>
          </a:xfrm>
          <a:prstGeom prst="rect">
            <a:avLst/>
          </a:prstGeom>
        </p:spPr>
      </p:pic>
      <p:sp>
        <p:nvSpPr>
          <p:cNvPr id="4" name="Text 1"/>
          <p:cNvSpPr txBox="1"/>
          <p:nvPr/>
        </p:nvSpPr>
        <p:spPr>
          <a:xfrm>
            <a:off x="548640" y="5577840"/>
            <a:ext cx="3200400" cy="594360"/>
          </a:xfrm>
          <a:prstGeom prst="rect">
            <a:avLst/>
          </a:prstGeom>
          <a:noFill/>
          <a:ln/>
        </p:spPr>
        <p:txBody>
          <a:bodyPr wrap="square" lIns="0" tIns="0" rIns="0" bIns="0" rtlCol="0" anchor="ctr"/>
          <a:lstStyle/>
          <a:p>
            <a:pPr indent="0" marL="0">
              <a:buNone/>
            </a:pPr>
            <a:r>
              <a:rPr lang="en-US" sz="1200" i="1" dirty="0">
                <a:solidFill>
                  <a:srgbClr val="4A5B6C"/>
                </a:solidFill>
              </a:rPr>
              <a:t>K. Frimen (1974) tasnifi – korxonaning yangilikka munosabati bo‘yicha</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0" y="1371600"/>
          <a:ext cx="7498080" cy="914400"/>
        </p:xfrm>
        <a:graphic>
          <a:graphicData uri="http://schemas.openxmlformats.org/drawingml/2006/table">
            <a:tbl>
              <a:tblPr/>
              <a:tblGrid>
                <a:gridCol w="1691640"/>
                <a:gridCol w="3566160"/>
                <a:gridCol w="2240280"/>
              </a:tblGrid>
              <a:tr h="548640">
                <a:tc>
                  <a:txBody>
                    <a:bodyPr/>
                    <a:lstStyle/>
                    <a:p>
                      <a:pPr algn="l" indent="0" marL="0">
                        <a:buNone/>
                      </a:pPr>
                      <a:r>
                        <a:rPr lang="en-US" sz="1300" b="1" dirty="0">
                          <a:solidFill>
                            <a:srgbClr val="FFFFFF"/>
                          </a:solidFill>
                        </a:rPr>
                        <a:t>Strategiya</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Mohiyati</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Kimlar uchun mos</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r>
              <a:tr h="548640">
                <a:tc>
                  <a:txBody>
                    <a:bodyPr/>
                    <a:lstStyle/>
                    <a:p>
                      <a:pPr algn="l" indent="0" marL="0">
                        <a:buNone/>
                      </a:pPr>
                      <a:r>
                        <a:rPr lang="en-US" sz="1250" b="1" dirty="0">
                          <a:solidFill>
                            <a:srgbClr val="0D2F4F"/>
                          </a:solidFill>
                        </a:rPr>
                        <a:t>Hujumkor (ofensiv)</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bozorga birinchi bo‘lib tubdan yangi mahsulot olib chiqish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kuchli ITR salohiyatli yirik korxonalar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Himoyaviy (defensiv)</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yetakchidan biroz keyin, xatolarini hisobga olib takomillashgan mahsulot chiqarish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barqaror bozor ulushiga ega korxonalar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0D2F4F"/>
                          </a:solidFill>
                        </a:rPr>
                        <a:t>Taqlidiy (imitatsion)</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litsenziya yoki nusxa asosida arzonroq analog ishlab chiqarish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xarajat ustunligiga ega korxonalar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Qaram (bog‘liq)</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yirik buyurtmachi talabi bo‘yicha innovatsiyalarni joriy etish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ta’minotchi va subpudratchilar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0D2F4F"/>
                          </a:solidFill>
                        </a:rPr>
                        <a:t>An’anaviy</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mavjud mahsulotni saqlab, minimal o‘zgarishlar kiritish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barqaror, kam o‘zgaruvchan bozorlar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Imkoniyatchi (nisha)</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yiriklar e’tiborsiz qoldirgan bo‘shliqni yangi mahsulot bilan egallash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kichik va o‘rta korxonalar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bl>
          </a:graphicData>
        </a:graphic>
      </p:graphicFrame>
      <p:sp>
        <p:nvSpPr>
          <p:cNvPr id="6" name="Shape 2"/>
          <p:cNvSpPr/>
          <p:nvPr/>
        </p:nvSpPr>
        <p:spPr>
          <a:xfrm>
            <a:off x="4114800" y="5486400"/>
            <a:ext cx="7498080" cy="731520"/>
          </a:xfrm>
          <a:prstGeom prst="roundRect">
            <a:avLst>
              <a:gd name="adj" fmla="val 15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7" name="Text 3"/>
          <p:cNvSpPr txBox="1"/>
          <p:nvPr/>
        </p:nvSpPr>
        <p:spPr>
          <a:xfrm>
            <a:off x="4297680" y="5532120"/>
            <a:ext cx="7132320" cy="640080"/>
          </a:xfrm>
          <a:prstGeom prst="rect">
            <a:avLst/>
          </a:prstGeom>
          <a:noFill/>
          <a:ln/>
        </p:spPr>
        <p:txBody>
          <a:bodyPr wrap="square" lIns="0" tIns="0" rIns="0" bIns="0" rtlCol="0" anchor="ctr"/>
          <a:lstStyle/>
          <a:p>
            <a:pPr indent="0" marL="0">
              <a:buNone/>
            </a:pPr>
            <a:r>
              <a:rPr lang="en-US" sz="1400" dirty="0">
                <a:solidFill>
                  <a:srgbClr val="1B2A3A"/>
                </a:solidFill>
                <a:latin typeface="Calibri" pitchFamily="34" charset="0"/>
                <a:ea typeface="Calibri" pitchFamily="34" charset="-122"/>
                <a:cs typeface="Calibri" pitchFamily="34" charset="-120"/>
              </a:rPr>
              <a:t>Strategiya tanlovi korxonaning </a:t>
            </a:r>
            <a:pPr indent="0" marL="0">
              <a:buNone/>
            </a:pPr>
            <a:r>
              <a:rPr lang="en-US" sz="1400" b="1" dirty="0">
                <a:solidFill>
                  <a:srgbClr val="0D2F4F"/>
                </a:solidFill>
                <a:latin typeface="Calibri" pitchFamily="34" charset="0"/>
                <a:ea typeface="Calibri" pitchFamily="34" charset="-122"/>
                <a:cs typeface="Calibri" pitchFamily="34" charset="-120"/>
              </a:rPr>
              <a:t>resurslari, bozordagi o‘rni va xatarga tayyorligiga</a:t>
            </a:r>
            <a:pPr indent="0" marL="0">
              <a:buNone/>
            </a:pPr>
            <a:r>
              <a:rPr lang="en-US" sz="1400" dirty="0">
                <a:solidFill>
                  <a:srgbClr val="1B2A3A"/>
                </a:solidFill>
                <a:latin typeface="Calibri" pitchFamily="34" charset="0"/>
                <a:ea typeface="Calibri" pitchFamily="34" charset="-122"/>
                <a:cs typeface="Calibri" pitchFamily="34" charset="-120"/>
              </a:rPr>
              <a:t> bog‘liq.</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Innovatsion strategiyani ishlab chiqish bosqichlari</a:t>
            </a:r>
            <a:endParaRPr lang="en-US" sz="3000" dirty="0"/>
          </a:p>
        </p:txBody>
      </p:sp>
      <p:sp>
        <p:nvSpPr>
          <p:cNvPr id="3" name="Shape 1"/>
          <p:cNvSpPr/>
          <p:nvPr/>
        </p:nvSpPr>
        <p:spPr>
          <a:xfrm>
            <a:off x="548640" y="1371600"/>
            <a:ext cx="2212848" cy="685800"/>
          </a:xfrm>
          <a:prstGeom prst="homePlate">
            <a:avLst/>
          </a:prstGeom>
          <a:solidFill>
            <a:srgbClr val="0E9F9A"/>
          </a:solidFill>
          <a:ln w="12700">
            <a:solidFill>
              <a:srgbClr val="FFFFFF"/>
            </a:solidFill>
            <a:prstDash val="solid"/>
          </a:ln>
        </p:spPr>
      </p:sp>
      <p:sp>
        <p:nvSpPr>
          <p:cNvPr id="4" name="Text 2"/>
          <p:cNvSpPr txBox="1"/>
          <p:nvPr/>
        </p:nvSpPr>
        <p:spPr>
          <a:xfrm>
            <a:off x="731520"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1-bosqich</a:t>
            </a:r>
            <a:endParaRPr lang="en-US" sz="1400" dirty="0"/>
          </a:p>
        </p:txBody>
      </p:sp>
      <p:sp>
        <p:nvSpPr>
          <p:cNvPr id="5" name="Shape 3"/>
          <p:cNvSpPr/>
          <p:nvPr/>
        </p:nvSpPr>
        <p:spPr>
          <a:xfrm>
            <a:off x="594360"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6" name="Shape 4"/>
          <p:cNvSpPr/>
          <p:nvPr/>
        </p:nvSpPr>
        <p:spPr>
          <a:xfrm>
            <a:off x="731520" y="2377440"/>
            <a:ext cx="457200" cy="45720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850392" y="2496312"/>
            <a:ext cx="219456" cy="219456"/>
          </a:xfrm>
          <a:prstGeom prst="rect">
            <a:avLst/>
          </a:prstGeom>
        </p:spPr>
      </p:pic>
      <p:sp>
        <p:nvSpPr>
          <p:cNvPr id="8" name="Text 5"/>
          <p:cNvSpPr txBox="1"/>
          <p:nvPr/>
        </p:nvSpPr>
        <p:spPr>
          <a:xfrm>
            <a:off x="1280160"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Innovatsion audit</a:t>
            </a:r>
            <a:endParaRPr lang="en-US" sz="1350" dirty="0"/>
          </a:p>
        </p:txBody>
      </p:sp>
      <p:sp>
        <p:nvSpPr>
          <p:cNvPr id="9" name="Text 6"/>
          <p:cNvSpPr txBox="1"/>
          <p:nvPr/>
        </p:nvSpPr>
        <p:spPr>
          <a:xfrm>
            <a:off x="731520"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bozor, texnologiya trendlari va korxona salohiyatini tahlil qilish</a:t>
            </a:r>
            <a:endParaRPr lang="en-US" sz="1300" dirty="0"/>
          </a:p>
        </p:txBody>
      </p:sp>
      <p:sp>
        <p:nvSpPr>
          <p:cNvPr id="10" name="Shape 7"/>
          <p:cNvSpPr/>
          <p:nvPr/>
        </p:nvSpPr>
        <p:spPr>
          <a:xfrm>
            <a:off x="2761488" y="1371600"/>
            <a:ext cx="2212848" cy="685800"/>
          </a:xfrm>
          <a:prstGeom prst="chevron">
            <a:avLst/>
          </a:prstGeom>
          <a:solidFill>
            <a:srgbClr val="0D2F4F"/>
          </a:solidFill>
          <a:ln w="12700">
            <a:solidFill>
              <a:srgbClr val="FFFFFF"/>
            </a:solidFill>
            <a:prstDash val="solid"/>
          </a:ln>
        </p:spPr>
      </p:sp>
      <p:sp>
        <p:nvSpPr>
          <p:cNvPr id="11" name="Text 8"/>
          <p:cNvSpPr txBox="1"/>
          <p:nvPr/>
        </p:nvSpPr>
        <p:spPr>
          <a:xfrm>
            <a:off x="3218688"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2-bosqich</a:t>
            </a:r>
            <a:endParaRPr lang="en-US" sz="1400" dirty="0"/>
          </a:p>
        </p:txBody>
      </p:sp>
      <p:sp>
        <p:nvSpPr>
          <p:cNvPr id="12" name="Shape 9"/>
          <p:cNvSpPr/>
          <p:nvPr/>
        </p:nvSpPr>
        <p:spPr>
          <a:xfrm>
            <a:off x="2807208"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10"/>
          <p:cNvSpPr/>
          <p:nvPr/>
        </p:nvSpPr>
        <p:spPr>
          <a:xfrm>
            <a:off x="2944368" y="2377440"/>
            <a:ext cx="457200" cy="457200"/>
          </a:xfrm>
          <a:prstGeom prst="ellipse">
            <a:avLst/>
          </a:prstGeom>
          <a:solidFill>
            <a:srgbClr val="F2A541"/>
          </a:solidFill>
          <a:ln w="12700">
            <a:solidFill>
              <a:srgbClr val="F2A541"/>
            </a:solidFill>
            <a:prstDash val="solid"/>
          </a:ln>
        </p:spPr>
      </p:sp>
      <p:pic>
        <p:nvPicPr>
          <p:cNvPr id="14" name="Image 1" descr="preencoded.png">    </p:cNvPr>
          <p:cNvPicPr>
            <a:picLocks noChangeAspect="1"/>
          </p:cNvPicPr>
          <p:nvPr/>
        </p:nvPicPr>
        <p:blipFill>
          <a:blip r:embed="rId2"/>
          <a:stretch>
            <a:fillRect/>
          </a:stretch>
        </p:blipFill>
        <p:spPr>
          <a:xfrm>
            <a:off x="3063240" y="2496312"/>
            <a:ext cx="219456" cy="219456"/>
          </a:xfrm>
          <a:prstGeom prst="rect">
            <a:avLst/>
          </a:prstGeom>
        </p:spPr>
      </p:pic>
      <p:sp>
        <p:nvSpPr>
          <p:cNvPr id="15" name="Text 11"/>
          <p:cNvSpPr txBox="1"/>
          <p:nvPr/>
        </p:nvSpPr>
        <p:spPr>
          <a:xfrm>
            <a:off x="3493008"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Maqsadlarni belgilash</a:t>
            </a:r>
            <a:endParaRPr lang="en-US" sz="1350" dirty="0"/>
          </a:p>
        </p:txBody>
      </p:sp>
      <p:sp>
        <p:nvSpPr>
          <p:cNvPr id="16" name="Text 12"/>
          <p:cNvSpPr txBox="1"/>
          <p:nvPr/>
        </p:nvSpPr>
        <p:spPr>
          <a:xfrm>
            <a:off x="2944368"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yangi mahsulotlar ulushi, ITR xarajatlari kabi o‘lchanadigan maqsadlar</a:t>
            </a:r>
            <a:endParaRPr lang="en-US" sz="1300" dirty="0"/>
          </a:p>
        </p:txBody>
      </p:sp>
      <p:sp>
        <p:nvSpPr>
          <p:cNvPr id="17" name="Shape 13"/>
          <p:cNvSpPr/>
          <p:nvPr/>
        </p:nvSpPr>
        <p:spPr>
          <a:xfrm>
            <a:off x="4974336" y="1371600"/>
            <a:ext cx="2212848" cy="685800"/>
          </a:xfrm>
          <a:prstGeom prst="chevron">
            <a:avLst/>
          </a:prstGeom>
          <a:solidFill>
            <a:srgbClr val="0E9F9A"/>
          </a:solidFill>
          <a:ln w="12700">
            <a:solidFill>
              <a:srgbClr val="FFFFFF"/>
            </a:solidFill>
            <a:prstDash val="solid"/>
          </a:ln>
        </p:spPr>
      </p:sp>
      <p:sp>
        <p:nvSpPr>
          <p:cNvPr id="18" name="Text 14"/>
          <p:cNvSpPr txBox="1"/>
          <p:nvPr/>
        </p:nvSpPr>
        <p:spPr>
          <a:xfrm>
            <a:off x="5431536"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3-bosqich</a:t>
            </a:r>
            <a:endParaRPr lang="en-US" sz="1400" dirty="0"/>
          </a:p>
        </p:txBody>
      </p:sp>
      <p:sp>
        <p:nvSpPr>
          <p:cNvPr id="19" name="Shape 15"/>
          <p:cNvSpPr/>
          <p:nvPr/>
        </p:nvSpPr>
        <p:spPr>
          <a:xfrm>
            <a:off x="5020056"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0" name="Shape 16"/>
          <p:cNvSpPr/>
          <p:nvPr/>
        </p:nvSpPr>
        <p:spPr>
          <a:xfrm>
            <a:off x="5157216" y="2377440"/>
            <a:ext cx="457200" cy="457200"/>
          </a:xfrm>
          <a:prstGeom prst="ellipse">
            <a:avLst/>
          </a:prstGeom>
          <a:solidFill>
            <a:srgbClr val="F2A541"/>
          </a:solidFill>
          <a:ln w="12700">
            <a:solidFill>
              <a:srgbClr val="F2A541"/>
            </a:solidFill>
            <a:prstDash val="solid"/>
          </a:ln>
        </p:spPr>
      </p:sp>
      <p:pic>
        <p:nvPicPr>
          <p:cNvPr id="21" name="Image 2" descr="preencoded.png">    </p:cNvPr>
          <p:cNvPicPr>
            <a:picLocks noChangeAspect="1"/>
          </p:cNvPicPr>
          <p:nvPr/>
        </p:nvPicPr>
        <p:blipFill>
          <a:blip r:embed="rId3"/>
          <a:stretch>
            <a:fillRect/>
          </a:stretch>
        </p:blipFill>
        <p:spPr>
          <a:xfrm>
            <a:off x="5276088" y="2496312"/>
            <a:ext cx="219456" cy="219456"/>
          </a:xfrm>
          <a:prstGeom prst="rect">
            <a:avLst/>
          </a:prstGeom>
        </p:spPr>
      </p:pic>
      <p:sp>
        <p:nvSpPr>
          <p:cNvPr id="22" name="Text 17"/>
          <p:cNvSpPr txBox="1"/>
          <p:nvPr/>
        </p:nvSpPr>
        <p:spPr>
          <a:xfrm>
            <a:off x="5705856"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G‘oyalar portfeli</a:t>
            </a:r>
            <a:endParaRPr lang="en-US" sz="1350" dirty="0"/>
          </a:p>
        </p:txBody>
      </p:sp>
      <p:sp>
        <p:nvSpPr>
          <p:cNvPr id="23" name="Text 18"/>
          <p:cNvSpPr txBox="1"/>
          <p:nvPr/>
        </p:nvSpPr>
        <p:spPr>
          <a:xfrm>
            <a:off x="5157216"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g‘oyalarni yig‘ish, saralash va istiqbollilarini tanlash</a:t>
            </a:r>
            <a:endParaRPr lang="en-US" sz="1300" dirty="0"/>
          </a:p>
        </p:txBody>
      </p:sp>
      <p:sp>
        <p:nvSpPr>
          <p:cNvPr id="24" name="Shape 19"/>
          <p:cNvSpPr/>
          <p:nvPr/>
        </p:nvSpPr>
        <p:spPr>
          <a:xfrm>
            <a:off x="7187184" y="1371600"/>
            <a:ext cx="2212848" cy="685800"/>
          </a:xfrm>
          <a:prstGeom prst="chevron">
            <a:avLst/>
          </a:prstGeom>
          <a:solidFill>
            <a:srgbClr val="0D2F4F"/>
          </a:solidFill>
          <a:ln w="12700">
            <a:solidFill>
              <a:srgbClr val="FFFFFF"/>
            </a:solidFill>
            <a:prstDash val="solid"/>
          </a:ln>
        </p:spPr>
      </p:sp>
      <p:sp>
        <p:nvSpPr>
          <p:cNvPr id="25" name="Text 20"/>
          <p:cNvSpPr txBox="1"/>
          <p:nvPr/>
        </p:nvSpPr>
        <p:spPr>
          <a:xfrm>
            <a:off x="7644384"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4-bosqich</a:t>
            </a:r>
            <a:endParaRPr lang="en-US" sz="1400" dirty="0"/>
          </a:p>
        </p:txBody>
      </p:sp>
      <p:sp>
        <p:nvSpPr>
          <p:cNvPr id="26" name="Shape 21"/>
          <p:cNvSpPr/>
          <p:nvPr/>
        </p:nvSpPr>
        <p:spPr>
          <a:xfrm>
            <a:off x="7232904"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7" name="Shape 22"/>
          <p:cNvSpPr/>
          <p:nvPr/>
        </p:nvSpPr>
        <p:spPr>
          <a:xfrm>
            <a:off x="7370064" y="2377440"/>
            <a:ext cx="457200" cy="457200"/>
          </a:xfrm>
          <a:prstGeom prst="ellipse">
            <a:avLst/>
          </a:prstGeom>
          <a:solidFill>
            <a:srgbClr val="F2A541"/>
          </a:solidFill>
          <a:ln w="12700">
            <a:solidFill>
              <a:srgbClr val="F2A541"/>
            </a:solidFill>
            <a:prstDash val="solid"/>
          </a:ln>
        </p:spPr>
      </p:sp>
      <p:pic>
        <p:nvPicPr>
          <p:cNvPr id="28" name="Image 3" descr="preencoded.png">    </p:cNvPr>
          <p:cNvPicPr>
            <a:picLocks noChangeAspect="1"/>
          </p:cNvPicPr>
          <p:nvPr/>
        </p:nvPicPr>
        <p:blipFill>
          <a:blip r:embed="rId4"/>
          <a:stretch>
            <a:fillRect/>
          </a:stretch>
        </p:blipFill>
        <p:spPr>
          <a:xfrm>
            <a:off x="7488936" y="2496312"/>
            <a:ext cx="219456" cy="219456"/>
          </a:xfrm>
          <a:prstGeom prst="rect">
            <a:avLst/>
          </a:prstGeom>
        </p:spPr>
      </p:pic>
      <p:sp>
        <p:nvSpPr>
          <p:cNvPr id="29" name="Text 23"/>
          <p:cNvSpPr txBox="1"/>
          <p:nvPr/>
        </p:nvSpPr>
        <p:spPr>
          <a:xfrm>
            <a:off x="7918704"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Resurslar va loyihalar</a:t>
            </a:r>
            <a:endParaRPr lang="en-US" sz="1350" dirty="0"/>
          </a:p>
        </p:txBody>
      </p:sp>
      <p:sp>
        <p:nvSpPr>
          <p:cNvPr id="30" name="Text 24"/>
          <p:cNvSpPr txBox="1"/>
          <p:nvPr/>
        </p:nvSpPr>
        <p:spPr>
          <a:xfrm>
            <a:off x="7370064"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moliyalashtirish, jamoa, muddat va mas’ullarni belgilash</a:t>
            </a:r>
            <a:endParaRPr lang="en-US" sz="1300" dirty="0"/>
          </a:p>
        </p:txBody>
      </p:sp>
      <p:sp>
        <p:nvSpPr>
          <p:cNvPr id="31" name="Shape 25"/>
          <p:cNvSpPr/>
          <p:nvPr/>
        </p:nvSpPr>
        <p:spPr>
          <a:xfrm>
            <a:off x="9400032" y="1371600"/>
            <a:ext cx="2212848" cy="685800"/>
          </a:xfrm>
          <a:prstGeom prst="chevron">
            <a:avLst/>
          </a:prstGeom>
          <a:solidFill>
            <a:srgbClr val="0E9F9A"/>
          </a:solidFill>
          <a:ln w="12700">
            <a:solidFill>
              <a:srgbClr val="FFFFFF"/>
            </a:solidFill>
            <a:prstDash val="solid"/>
          </a:ln>
        </p:spPr>
      </p:sp>
      <p:sp>
        <p:nvSpPr>
          <p:cNvPr id="32" name="Text 26"/>
          <p:cNvSpPr txBox="1"/>
          <p:nvPr/>
        </p:nvSpPr>
        <p:spPr>
          <a:xfrm>
            <a:off x="9857232"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5-bosqich</a:t>
            </a:r>
            <a:endParaRPr lang="en-US" sz="1400" dirty="0"/>
          </a:p>
        </p:txBody>
      </p:sp>
      <p:sp>
        <p:nvSpPr>
          <p:cNvPr id="33" name="Shape 27"/>
          <p:cNvSpPr/>
          <p:nvPr/>
        </p:nvSpPr>
        <p:spPr>
          <a:xfrm>
            <a:off x="9445752"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4" name="Shape 28"/>
          <p:cNvSpPr/>
          <p:nvPr/>
        </p:nvSpPr>
        <p:spPr>
          <a:xfrm>
            <a:off x="9582912" y="2377440"/>
            <a:ext cx="457200" cy="457200"/>
          </a:xfrm>
          <a:prstGeom prst="ellipse">
            <a:avLst/>
          </a:prstGeom>
          <a:solidFill>
            <a:srgbClr val="F2A541"/>
          </a:solidFill>
          <a:ln w="12700">
            <a:solidFill>
              <a:srgbClr val="F2A541"/>
            </a:solidFill>
            <a:prstDash val="solid"/>
          </a:ln>
        </p:spPr>
      </p:sp>
      <p:pic>
        <p:nvPicPr>
          <p:cNvPr id="35" name="Image 4" descr="preencoded.png">    </p:cNvPr>
          <p:cNvPicPr>
            <a:picLocks noChangeAspect="1"/>
          </p:cNvPicPr>
          <p:nvPr/>
        </p:nvPicPr>
        <p:blipFill>
          <a:blip r:embed="rId5"/>
          <a:stretch>
            <a:fillRect/>
          </a:stretch>
        </p:blipFill>
        <p:spPr>
          <a:xfrm>
            <a:off x="9701784" y="2496312"/>
            <a:ext cx="219456" cy="219456"/>
          </a:xfrm>
          <a:prstGeom prst="rect">
            <a:avLst/>
          </a:prstGeom>
        </p:spPr>
      </p:pic>
      <p:sp>
        <p:nvSpPr>
          <p:cNvPr id="36" name="Text 29"/>
          <p:cNvSpPr txBox="1"/>
          <p:nvPr/>
        </p:nvSpPr>
        <p:spPr>
          <a:xfrm>
            <a:off x="10131552"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Joriy etish va nazorat</a:t>
            </a:r>
            <a:endParaRPr lang="en-US" sz="1350" dirty="0"/>
          </a:p>
        </p:txBody>
      </p:sp>
      <p:sp>
        <p:nvSpPr>
          <p:cNvPr id="37" name="Text 30"/>
          <p:cNvSpPr txBox="1"/>
          <p:nvPr/>
        </p:nvSpPr>
        <p:spPr>
          <a:xfrm>
            <a:off x="9582912"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pilot loyiha, masshtablash, natijalarni KPI orqali baholash</a:t>
            </a:r>
            <a:endParaRPr lang="en-US" sz="1300" dirty="0"/>
          </a:p>
        </p:txBody>
      </p:sp>
      <p:pic>
        <p:nvPicPr>
          <p:cNvPr id="38" name="Image 5" descr="img6/steps.png">    </p:cNvPr>
          <p:cNvPicPr>
            <a:picLocks noChangeAspect="1"/>
          </p:cNvPicPr>
          <p:nvPr/>
        </p:nvPicPr>
        <p:blipFill>
          <a:blip r:embed="rId6"/>
          <a:stretch>
            <a:fillRect/>
          </a:stretch>
        </p:blipFill>
        <p:spPr>
          <a:xfrm>
            <a:off x="548640" y="4526280"/>
            <a:ext cx="2194560" cy="1709928"/>
          </a:xfrm>
          <a:prstGeom prst="rect">
            <a:avLst/>
          </a:prstGeom>
        </p:spPr>
      </p:pic>
      <p:sp>
        <p:nvSpPr>
          <p:cNvPr id="39" name="Text 31"/>
          <p:cNvSpPr txBox="1"/>
          <p:nvPr/>
        </p:nvSpPr>
        <p:spPr>
          <a:xfrm>
            <a:off x="3017520" y="4526280"/>
            <a:ext cx="8595360" cy="1737360"/>
          </a:xfrm>
          <a:prstGeom prst="rect">
            <a:avLst/>
          </a:prstGeom>
          <a:noFill/>
          <a:ln/>
        </p:spPr>
        <p:txBody>
          <a:bodyPr wrap="square" lIns="0" tIns="0" rIns="0" bIns="0" rtlCol="0" anchor="t"/>
          <a:lstStyle/>
          <a:p>
            <a:pPr indent="0" marL="0">
              <a:buNone/>
            </a:pPr>
            <a:r>
              <a:rPr lang="en-US" sz="1400" b="1" dirty="0">
                <a:solidFill>
                  <a:srgbClr val="0E9F9A"/>
                </a:solidFill>
                <a:latin typeface="Calibri" pitchFamily="34" charset="0"/>
                <a:ea typeface="Calibri" pitchFamily="34" charset="-122"/>
                <a:cs typeface="Calibri" pitchFamily="34" charset="-120"/>
              </a:rPr>
              <a:t>Stage-Gate modeli (R. Kuper):</a:t>
            </a:r>
            <a:pPr indent="0" marL="0">
              <a:buNone/>
            </a:pPr>
            <a:r>
              <a:rPr lang="en-US" sz="1400" dirty="0">
                <a:solidFill>
                  <a:srgbClr val="1B2A3A"/>
                </a:solidFill>
                <a:latin typeface="Calibri" pitchFamily="34" charset="0"/>
                <a:ea typeface="Calibri" pitchFamily="34" charset="-122"/>
                <a:cs typeface="Calibri" pitchFamily="34" charset="-120"/>
              </a:rPr>
              <a:t> har bir innovatsion loyiha bosqichlarga bo‘linadi, har bosqich oxirida “darvoza”da loyiha davom ettirilishi, qayta ishlanishi yoki to‘xtatilishi haqida qaror qabul qilinadi. Bu cheklangan resurslarni eng istiqbolli g‘oyalarga yo‘naltirish va muvaffaqiyatsiz loyihalarni erta to‘xtatib, yo‘qotishlarni kamaytirish imkonini beradi.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Innovatsion g‘oyalar manbalari va ularni tanlash</a:t>
            </a:r>
            <a:endParaRPr lang="en-US" sz="30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Strategiyaning samaradorligi g‘oyalar oqimining kengligi va ularni to‘g‘ri saralashga bog‘liq:</a:t>
            </a:r>
            <a:endParaRPr lang="en-US" sz="1400" dirty="0"/>
          </a:p>
        </p:txBody>
      </p:sp>
      <p:sp>
        <p:nvSpPr>
          <p:cNvPr id="4" name="Shape 2"/>
          <p:cNvSpPr/>
          <p:nvPr/>
        </p:nvSpPr>
        <p:spPr>
          <a:xfrm>
            <a:off x="548640" y="5532120"/>
            <a:ext cx="11064240" cy="685800"/>
          </a:xfrm>
          <a:prstGeom prst="roundRect">
            <a:avLst>
              <a:gd name="adj" fmla="val 16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Text 3"/>
          <p:cNvSpPr txBox="1"/>
          <p:nvPr/>
        </p:nvSpPr>
        <p:spPr>
          <a:xfrm>
            <a:off x="731520" y="5577840"/>
            <a:ext cx="10698480" cy="59436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Statistik qonuniyat:</a:t>
            </a:r>
            <a:pPr indent="0" marL="0">
              <a:buNone/>
            </a:pPr>
            <a:r>
              <a:rPr lang="en-US" sz="1400" dirty="0">
                <a:solidFill>
                  <a:srgbClr val="1B2A3A"/>
                </a:solidFill>
                <a:latin typeface="Calibri" pitchFamily="34" charset="0"/>
                <a:ea typeface="Calibri" pitchFamily="34" charset="-122"/>
                <a:cs typeface="Calibri" pitchFamily="34" charset="-120"/>
              </a:rPr>
              <a:t> ko‘plab g‘oyalardan faqat ozchiligi bozorda muvaffaqiyat qozonadi – shuning uchun g‘oyalar “voronkasi” keng bo‘lishi kerak.</a:t>
            </a:r>
            <a:endParaRPr lang="en-US" sz="1400" dirty="0"/>
          </a:p>
        </p:txBody>
      </p:sp>
      <p:sp>
        <p:nvSpPr>
          <p:cNvPr id="6" name="Shape 4"/>
          <p:cNvSpPr/>
          <p:nvPr/>
        </p:nvSpPr>
        <p:spPr>
          <a:xfrm>
            <a:off x="54864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7" name="Shape 5"/>
          <p:cNvSpPr/>
          <p:nvPr/>
        </p:nvSpPr>
        <p:spPr>
          <a:xfrm>
            <a:off x="822960" y="2468880"/>
            <a:ext cx="731520" cy="731520"/>
          </a:xfrm>
          <a:prstGeom prst="ellipse">
            <a:avLst/>
          </a:prstGeom>
          <a:solidFill>
            <a:srgbClr val="0E9F9A"/>
          </a:solidFill>
          <a:ln w="12700">
            <a:solidFill>
              <a:srgbClr val="0E9F9A"/>
            </a:solidFill>
            <a:prstDash val="solid"/>
          </a:ln>
        </p:spPr>
      </p:sp>
      <p:pic>
        <p:nvPicPr>
          <p:cNvPr id="8" name="Image 0" descr="preencoded.png">    </p:cNvPr>
          <p:cNvPicPr>
            <a:picLocks noChangeAspect="1"/>
          </p:cNvPicPr>
          <p:nvPr/>
        </p:nvPicPr>
        <p:blipFill>
          <a:blip r:embed="rId1"/>
          <a:stretch>
            <a:fillRect/>
          </a:stretch>
        </p:blipFill>
        <p:spPr>
          <a:xfrm>
            <a:off x="1013155" y="2659075"/>
            <a:ext cx="351130" cy="351130"/>
          </a:xfrm>
          <a:prstGeom prst="rect">
            <a:avLst/>
          </a:prstGeom>
        </p:spPr>
      </p:pic>
      <p:sp>
        <p:nvSpPr>
          <p:cNvPr id="9" name="Text 6"/>
          <p:cNvSpPr txBox="1"/>
          <p:nvPr/>
        </p:nvSpPr>
        <p:spPr>
          <a:xfrm>
            <a:off x="169164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Ichki manbalar</a:t>
            </a:r>
            <a:endParaRPr lang="en-US" sz="1700" dirty="0"/>
          </a:p>
        </p:txBody>
      </p:sp>
      <p:sp>
        <p:nvSpPr>
          <p:cNvPr id="10" name="Text 7"/>
          <p:cNvSpPr txBox="1"/>
          <p:nvPr/>
        </p:nvSpPr>
        <p:spPr>
          <a:xfrm>
            <a:off x="169164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korxona ichidagi bilim va tajriba</a:t>
            </a:r>
            <a:endParaRPr lang="en-US" sz="1200" dirty="0"/>
          </a:p>
        </p:txBody>
      </p:sp>
      <p:sp>
        <p:nvSpPr>
          <p:cNvPr id="11" name="Text 8"/>
          <p:cNvSpPr txBox="1"/>
          <p:nvPr/>
        </p:nvSpPr>
        <p:spPr>
          <a:xfrm>
            <a:off x="82296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ITR bo‘limi va muhandislar</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xodimlar takliflari tizimi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ishlab chiqarish muammolari tahlili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ichki “xakaton”lar va tanlovlar</a:t>
            </a:r>
            <a:endParaRPr lang="en-US" sz="1400" dirty="0"/>
          </a:p>
        </p:txBody>
      </p:sp>
      <p:sp>
        <p:nvSpPr>
          <p:cNvPr id="12" name="Shape 9"/>
          <p:cNvSpPr/>
          <p:nvPr/>
        </p:nvSpPr>
        <p:spPr>
          <a:xfrm>
            <a:off x="434340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10"/>
          <p:cNvSpPr/>
          <p:nvPr/>
        </p:nvSpPr>
        <p:spPr>
          <a:xfrm>
            <a:off x="4617720" y="2468880"/>
            <a:ext cx="731520" cy="731520"/>
          </a:xfrm>
          <a:prstGeom prst="ellipse">
            <a:avLst/>
          </a:prstGeom>
          <a:solidFill>
            <a:srgbClr val="0D2F4F"/>
          </a:solidFill>
          <a:ln w="12700">
            <a:solidFill>
              <a:srgbClr val="0D2F4F"/>
            </a:solidFill>
            <a:prstDash val="solid"/>
          </a:ln>
        </p:spPr>
      </p:sp>
      <p:pic>
        <p:nvPicPr>
          <p:cNvPr id="14" name="Image 1" descr="preencoded.png">    </p:cNvPr>
          <p:cNvPicPr>
            <a:picLocks noChangeAspect="1"/>
          </p:cNvPicPr>
          <p:nvPr/>
        </p:nvPicPr>
        <p:blipFill>
          <a:blip r:embed="rId2"/>
          <a:stretch>
            <a:fillRect/>
          </a:stretch>
        </p:blipFill>
        <p:spPr>
          <a:xfrm>
            <a:off x="4807915" y="2659075"/>
            <a:ext cx="351130" cy="351130"/>
          </a:xfrm>
          <a:prstGeom prst="rect">
            <a:avLst/>
          </a:prstGeom>
        </p:spPr>
      </p:pic>
      <p:sp>
        <p:nvSpPr>
          <p:cNvPr id="15" name="Text 11"/>
          <p:cNvSpPr txBox="1"/>
          <p:nvPr/>
        </p:nvSpPr>
        <p:spPr>
          <a:xfrm>
            <a:off x="548640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Tashqi manbalar</a:t>
            </a:r>
            <a:endParaRPr lang="en-US" sz="1700" dirty="0"/>
          </a:p>
        </p:txBody>
      </p:sp>
      <p:sp>
        <p:nvSpPr>
          <p:cNvPr id="16" name="Text 12"/>
          <p:cNvSpPr txBox="1"/>
          <p:nvPr/>
        </p:nvSpPr>
        <p:spPr>
          <a:xfrm>
            <a:off x="548640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“ochiq innovatsiyalar” yondashuvi</a:t>
            </a:r>
            <a:endParaRPr lang="en-US" sz="1200" dirty="0"/>
          </a:p>
        </p:txBody>
      </p:sp>
      <p:sp>
        <p:nvSpPr>
          <p:cNvPr id="17" name="Text 13"/>
          <p:cNvSpPr txBox="1"/>
          <p:nvPr/>
        </p:nvSpPr>
        <p:spPr>
          <a:xfrm>
            <a:off x="461772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mijozlar fikri va shikoyatlari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universitet va ilmiy markazlar</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startaplar va texnoparklar</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raqobatchilar va xalqaro ko‘rgazmalar</a:t>
            </a:r>
            <a:endParaRPr lang="en-US" sz="1400" dirty="0"/>
          </a:p>
        </p:txBody>
      </p:sp>
      <p:sp>
        <p:nvSpPr>
          <p:cNvPr id="18" name="Shape 14"/>
          <p:cNvSpPr/>
          <p:nvPr/>
        </p:nvSpPr>
        <p:spPr>
          <a:xfrm>
            <a:off x="813816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Shape 15"/>
          <p:cNvSpPr/>
          <p:nvPr/>
        </p:nvSpPr>
        <p:spPr>
          <a:xfrm>
            <a:off x="8412480" y="2468880"/>
            <a:ext cx="731520" cy="731520"/>
          </a:xfrm>
          <a:prstGeom prst="ellipse">
            <a:avLst/>
          </a:prstGeom>
          <a:solidFill>
            <a:srgbClr val="3B6EA5"/>
          </a:solidFill>
          <a:ln w="12700">
            <a:solidFill>
              <a:srgbClr val="3B6EA5"/>
            </a:solidFill>
            <a:prstDash val="solid"/>
          </a:ln>
        </p:spPr>
      </p:sp>
      <p:pic>
        <p:nvPicPr>
          <p:cNvPr id="20" name="Image 2" descr="preencoded.png">    </p:cNvPr>
          <p:cNvPicPr>
            <a:picLocks noChangeAspect="1"/>
          </p:cNvPicPr>
          <p:nvPr/>
        </p:nvPicPr>
        <p:blipFill>
          <a:blip r:embed="rId3"/>
          <a:stretch>
            <a:fillRect/>
          </a:stretch>
        </p:blipFill>
        <p:spPr>
          <a:xfrm>
            <a:off x="8602675" y="2659075"/>
            <a:ext cx="351130" cy="351130"/>
          </a:xfrm>
          <a:prstGeom prst="rect">
            <a:avLst/>
          </a:prstGeom>
        </p:spPr>
      </p:pic>
      <p:sp>
        <p:nvSpPr>
          <p:cNvPr id="21" name="Text 16"/>
          <p:cNvSpPr txBox="1"/>
          <p:nvPr/>
        </p:nvSpPr>
        <p:spPr>
          <a:xfrm>
            <a:off x="928116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Tanlash mezonlari</a:t>
            </a:r>
            <a:endParaRPr lang="en-US" sz="1700" dirty="0"/>
          </a:p>
        </p:txBody>
      </p:sp>
      <p:sp>
        <p:nvSpPr>
          <p:cNvPr id="22" name="Text 17"/>
          <p:cNvSpPr txBox="1"/>
          <p:nvPr/>
        </p:nvSpPr>
        <p:spPr>
          <a:xfrm>
            <a:off x="928116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g‘oyani loyihaga aylantirishdan oldin</a:t>
            </a:r>
            <a:endParaRPr lang="en-US" sz="1200" dirty="0"/>
          </a:p>
        </p:txBody>
      </p:sp>
      <p:sp>
        <p:nvSpPr>
          <p:cNvPr id="23" name="Text 18"/>
          <p:cNvSpPr txBox="1"/>
          <p:nvPr/>
        </p:nvSpPr>
        <p:spPr>
          <a:xfrm>
            <a:off x="841248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strategik maqsadlarga mosligi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bozor talabi va sig‘imi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texnik amalga oshirish imkoni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kutilayotgan foyda va xatar darajasi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Korxonaning innovatsion salohiyatini baholash</a:t>
            </a:r>
            <a:endParaRPr lang="en-US" sz="3000" dirty="0"/>
          </a:p>
        </p:txBody>
      </p:sp>
      <p:sp>
        <p:nvSpPr>
          <p:cNvPr id="3" name="Text 1"/>
          <p:cNvSpPr txBox="1"/>
          <p:nvPr/>
        </p:nvSpPr>
        <p:spPr>
          <a:xfrm>
            <a:off x="548640" y="1371600"/>
            <a:ext cx="5120640" cy="3200400"/>
          </a:xfrm>
          <a:prstGeom prst="rect">
            <a:avLst/>
          </a:prstGeom>
          <a:noFill/>
          <a:ln/>
        </p:spPr>
        <p:txBody>
          <a:bodyPr wrap="square" lIns="0" tIns="0" rIns="0" bIns="0" rtlCol="0" anchor="t"/>
          <a:lstStyle/>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Kadrlar salohiyati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olim, muhandis va IT mutaxassislar ulushi, malaka darajasi.</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Moliyaviy salohiyat</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ITRga ajratiladigan mablag‘ (sotuvga nisbatan %), investitsiya imkoniyati.</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Texnik-texnologik</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uskunalar yangiligi, laboratoriyalar, raqamli infratuzilma.</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Natijaviy ko‘rsatkichlar</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patentlar soni, yangi mahsulotlarning sotuvdagi ulushi.</a:t>
            </a:r>
            <a:endParaRPr lang="en-US" sz="1400" dirty="0"/>
          </a:p>
        </p:txBody>
      </p:sp>
      <p:sp>
        <p:nvSpPr>
          <p:cNvPr id="4" name="Shape 2"/>
          <p:cNvSpPr/>
          <p:nvPr/>
        </p:nvSpPr>
        <p:spPr>
          <a:xfrm>
            <a:off x="548640" y="4297680"/>
            <a:ext cx="5120640" cy="1371600"/>
          </a:xfrm>
          <a:prstGeom prst="roundRect">
            <a:avLst>
              <a:gd name="adj" fmla="val 8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Text 3"/>
          <p:cNvSpPr txBox="1"/>
          <p:nvPr/>
        </p:nvSpPr>
        <p:spPr>
          <a:xfrm>
            <a:off x="731520" y="4343400"/>
            <a:ext cx="4754880" cy="128016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Innovatsion salohiyat</a:t>
            </a:r>
            <a:pPr indent="0" marL="0">
              <a:buNone/>
            </a:pPr>
            <a:r>
              <a:rPr lang="en-US" sz="1400" dirty="0">
                <a:solidFill>
                  <a:srgbClr val="1B2A3A"/>
                </a:solidFill>
                <a:latin typeface="Calibri" pitchFamily="34" charset="0"/>
                <a:ea typeface="Calibri" pitchFamily="34" charset="-122"/>
                <a:cs typeface="Calibri" pitchFamily="34" charset="-120"/>
              </a:rPr>
              <a:t> – korxonaning innovatsiyalarni yaratish va joriy etish uchun mavjud resurslari va qobiliyatlari majmui.</a:t>
            </a:r>
            <a:endParaRPr lang="en-US" sz="1400" dirty="0"/>
          </a:p>
        </p:txBody>
      </p:sp>
      <p:sp>
        <p:nvSpPr>
          <p:cNvPr id="6" name="Text 4"/>
          <p:cNvSpPr txBox="1"/>
          <p:nvPr/>
        </p:nvSpPr>
        <p:spPr>
          <a:xfrm>
            <a:off x="6035040" y="1325880"/>
            <a:ext cx="5577840" cy="365760"/>
          </a:xfrm>
          <a:prstGeom prst="rect">
            <a:avLst/>
          </a:prstGeom>
          <a:noFill/>
          <a:ln/>
        </p:spPr>
        <p:txBody>
          <a:bodyPr wrap="square" lIns="0" tIns="0" rIns="0" bIns="0" rtlCol="0" anchor="ctr"/>
          <a:lstStyle/>
          <a:p>
            <a:pPr indent="0" marL="0">
              <a:buNone/>
            </a:pPr>
            <a:r>
              <a:rPr lang="en-US" sz="1500" b="1" dirty="0">
                <a:solidFill>
                  <a:srgbClr val="0D2F4F"/>
                </a:solidFill>
              </a:rPr>
              <a:t>Innovatsion salohiyat profili (shartli misol, 10 ballik)</a:t>
            </a:r>
            <a:endParaRPr lang="en-US" sz="1500" dirty="0"/>
          </a:p>
        </p:txBody>
      </p:sp>
      <p:graphicFrame>
        <p:nvGraphicFramePr>
          <p:cNvPr id="7" name="Chart 0" descr=""/>
          <p:cNvGraphicFramePr/>
          <p:nvPr/>
        </p:nvGraphicFramePr>
        <p:xfrm>
          <a:off x="6035040" y="1737360"/>
          <a:ext cx="5577840" cy="4434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Innovatsion strategiyani amalga oshirish yo‘llari</a:t>
            </a:r>
            <a:endParaRPr lang="en-US" sz="3000" dirty="0"/>
          </a:p>
        </p:txBody>
      </p:sp>
      <p:sp>
        <p:nvSpPr>
          <p:cNvPr id="3" name="Shape 1"/>
          <p:cNvSpPr/>
          <p:nvPr/>
        </p:nvSpPr>
        <p:spPr>
          <a:xfrm>
            <a:off x="548640" y="137160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 name="Shape 2"/>
          <p:cNvSpPr/>
          <p:nvPr/>
        </p:nvSpPr>
        <p:spPr>
          <a:xfrm>
            <a:off x="713232" y="1536192"/>
            <a:ext cx="566928" cy="566928"/>
          </a:xfrm>
          <a:prstGeom prst="ellipse">
            <a:avLst/>
          </a:prstGeom>
          <a:solidFill>
            <a:srgbClr val="0E9F9A"/>
          </a:solidFill>
          <a:ln w="12700">
            <a:solidFill>
              <a:srgbClr val="0E9F9A"/>
            </a:solidFill>
            <a:prstDash val="solid"/>
          </a:ln>
        </p:spPr>
      </p:sp>
      <p:pic>
        <p:nvPicPr>
          <p:cNvPr id="5" name="Image 0" descr="preencoded.png">    </p:cNvPr>
          <p:cNvPicPr>
            <a:picLocks noChangeAspect="1"/>
          </p:cNvPicPr>
          <p:nvPr/>
        </p:nvPicPr>
        <p:blipFill>
          <a:blip r:embed="rId1"/>
          <a:stretch>
            <a:fillRect/>
          </a:stretch>
        </p:blipFill>
        <p:spPr>
          <a:xfrm>
            <a:off x="860633" y="1683593"/>
            <a:ext cx="272125" cy="272125"/>
          </a:xfrm>
          <a:prstGeom prst="rect">
            <a:avLst/>
          </a:prstGeom>
        </p:spPr>
      </p:pic>
      <p:sp>
        <p:nvSpPr>
          <p:cNvPr id="6" name="Text 3"/>
          <p:cNvSpPr txBox="1"/>
          <p:nvPr/>
        </p:nvSpPr>
        <p:spPr>
          <a:xfrm>
            <a:off x="1371600" y="150876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ITRni moliyalashtirish</a:t>
            </a:r>
            <a:endParaRPr lang="en-US" sz="1450" dirty="0"/>
          </a:p>
        </p:txBody>
      </p:sp>
      <p:sp>
        <p:nvSpPr>
          <p:cNvPr id="7" name="Text 4"/>
          <p:cNvSpPr txBox="1"/>
          <p:nvPr/>
        </p:nvSpPr>
        <p:spPr>
          <a:xfrm>
            <a:off x="713232" y="224028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sotuv tushumining muayyan ulushini doimiy ravishda tadqiqotlarga yo‘naltirish</a:t>
            </a:r>
            <a:endParaRPr lang="en-US" sz="1350" dirty="0"/>
          </a:p>
        </p:txBody>
      </p:sp>
      <p:sp>
        <p:nvSpPr>
          <p:cNvPr id="8" name="Shape 5"/>
          <p:cNvSpPr/>
          <p:nvPr/>
        </p:nvSpPr>
        <p:spPr>
          <a:xfrm>
            <a:off x="3337560" y="137160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Shape 6"/>
          <p:cNvSpPr/>
          <p:nvPr/>
        </p:nvSpPr>
        <p:spPr>
          <a:xfrm>
            <a:off x="3502152" y="1536192"/>
            <a:ext cx="566928" cy="566928"/>
          </a:xfrm>
          <a:prstGeom prst="ellipse">
            <a:avLst/>
          </a:prstGeom>
          <a:solidFill>
            <a:srgbClr val="0D2F4F"/>
          </a:solidFill>
          <a:ln w="12700">
            <a:solidFill>
              <a:srgbClr val="0D2F4F"/>
            </a:solidFill>
            <a:prstDash val="solid"/>
          </a:ln>
        </p:spPr>
      </p:sp>
      <p:pic>
        <p:nvPicPr>
          <p:cNvPr id="10" name="Image 1" descr="preencoded.png">    </p:cNvPr>
          <p:cNvPicPr>
            <a:picLocks noChangeAspect="1"/>
          </p:cNvPicPr>
          <p:nvPr/>
        </p:nvPicPr>
        <p:blipFill>
          <a:blip r:embed="rId2"/>
          <a:stretch>
            <a:fillRect/>
          </a:stretch>
        </p:blipFill>
        <p:spPr>
          <a:xfrm>
            <a:off x="3649553" y="1683593"/>
            <a:ext cx="272125" cy="272125"/>
          </a:xfrm>
          <a:prstGeom prst="rect">
            <a:avLst/>
          </a:prstGeom>
        </p:spPr>
      </p:pic>
      <p:sp>
        <p:nvSpPr>
          <p:cNvPr id="11" name="Text 7"/>
          <p:cNvSpPr txBox="1"/>
          <p:nvPr/>
        </p:nvSpPr>
        <p:spPr>
          <a:xfrm>
            <a:off x="4160520" y="150876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Venchur moliyalashtirish</a:t>
            </a:r>
            <a:endParaRPr lang="en-US" sz="1450" dirty="0"/>
          </a:p>
        </p:txBody>
      </p:sp>
      <p:sp>
        <p:nvSpPr>
          <p:cNvPr id="12" name="Text 8"/>
          <p:cNvSpPr txBox="1"/>
          <p:nvPr/>
        </p:nvSpPr>
        <p:spPr>
          <a:xfrm>
            <a:off x="3502152" y="224028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xatarli loyihalar uchun venchur fondlar va biznes-farishtalarni jalb qilish</a:t>
            </a:r>
            <a:endParaRPr lang="en-US" sz="1350" dirty="0"/>
          </a:p>
        </p:txBody>
      </p:sp>
      <p:sp>
        <p:nvSpPr>
          <p:cNvPr id="13" name="Shape 9"/>
          <p:cNvSpPr/>
          <p:nvPr/>
        </p:nvSpPr>
        <p:spPr>
          <a:xfrm>
            <a:off x="6126480" y="137160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4" name="Shape 10"/>
          <p:cNvSpPr/>
          <p:nvPr/>
        </p:nvSpPr>
        <p:spPr>
          <a:xfrm>
            <a:off x="6291072" y="1536192"/>
            <a:ext cx="566928" cy="566928"/>
          </a:xfrm>
          <a:prstGeom prst="ellipse">
            <a:avLst/>
          </a:prstGeom>
          <a:solidFill>
            <a:srgbClr val="0E9F9A"/>
          </a:solidFill>
          <a:ln w="12700">
            <a:solidFill>
              <a:srgbClr val="0E9F9A"/>
            </a:solidFill>
            <a:prstDash val="solid"/>
          </a:ln>
        </p:spPr>
      </p:sp>
      <p:pic>
        <p:nvPicPr>
          <p:cNvPr id="15" name="Image 2" descr="preencoded.png">    </p:cNvPr>
          <p:cNvPicPr>
            <a:picLocks noChangeAspect="1"/>
          </p:cNvPicPr>
          <p:nvPr/>
        </p:nvPicPr>
        <p:blipFill>
          <a:blip r:embed="rId3"/>
          <a:stretch>
            <a:fillRect/>
          </a:stretch>
        </p:blipFill>
        <p:spPr>
          <a:xfrm>
            <a:off x="6438473" y="1683593"/>
            <a:ext cx="272125" cy="272125"/>
          </a:xfrm>
          <a:prstGeom prst="rect">
            <a:avLst/>
          </a:prstGeom>
        </p:spPr>
      </p:pic>
      <p:sp>
        <p:nvSpPr>
          <p:cNvPr id="16" name="Text 11"/>
          <p:cNvSpPr txBox="1"/>
          <p:nvPr/>
        </p:nvSpPr>
        <p:spPr>
          <a:xfrm>
            <a:off x="6949440" y="150876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Fan bilan hamkorlik</a:t>
            </a:r>
            <a:endParaRPr lang="en-US" sz="1450" dirty="0"/>
          </a:p>
        </p:txBody>
      </p:sp>
      <p:sp>
        <p:nvSpPr>
          <p:cNvPr id="17" name="Text 12"/>
          <p:cNvSpPr txBox="1"/>
          <p:nvPr/>
        </p:nvSpPr>
        <p:spPr>
          <a:xfrm>
            <a:off x="6291072" y="224028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universitetlar va ilmiy institutlar bilan qo‘shma laboratoriyalar</a:t>
            </a:r>
            <a:endParaRPr lang="en-US" sz="1350" dirty="0"/>
          </a:p>
        </p:txBody>
      </p:sp>
      <p:sp>
        <p:nvSpPr>
          <p:cNvPr id="18" name="Shape 13"/>
          <p:cNvSpPr/>
          <p:nvPr/>
        </p:nvSpPr>
        <p:spPr>
          <a:xfrm>
            <a:off x="8915400" y="137160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Shape 14"/>
          <p:cNvSpPr/>
          <p:nvPr/>
        </p:nvSpPr>
        <p:spPr>
          <a:xfrm>
            <a:off x="9079992" y="1536192"/>
            <a:ext cx="566928" cy="566928"/>
          </a:xfrm>
          <a:prstGeom prst="ellipse">
            <a:avLst/>
          </a:prstGeom>
          <a:solidFill>
            <a:srgbClr val="0D2F4F"/>
          </a:solidFill>
          <a:ln w="12700">
            <a:solidFill>
              <a:srgbClr val="0D2F4F"/>
            </a:solidFill>
            <a:prstDash val="solid"/>
          </a:ln>
        </p:spPr>
      </p:sp>
      <p:pic>
        <p:nvPicPr>
          <p:cNvPr id="20" name="Image 3" descr="preencoded.png">    </p:cNvPr>
          <p:cNvPicPr>
            <a:picLocks noChangeAspect="1"/>
          </p:cNvPicPr>
          <p:nvPr/>
        </p:nvPicPr>
        <p:blipFill>
          <a:blip r:embed="rId4"/>
          <a:stretch>
            <a:fillRect/>
          </a:stretch>
        </p:blipFill>
        <p:spPr>
          <a:xfrm>
            <a:off x="9227393" y="1683593"/>
            <a:ext cx="272125" cy="272125"/>
          </a:xfrm>
          <a:prstGeom prst="rect">
            <a:avLst/>
          </a:prstGeom>
        </p:spPr>
      </p:pic>
      <p:sp>
        <p:nvSpPr>
          <p:cNvPr id="21" name="Text 15"/>
          <p:cNvSpPr txBox="1"/>
          <p:nvPr/>
        </p:nvSpPr>
        <p:spPr>
          <a:xfrm>
            <a:off x="9738360" y="150876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Texnoparklar</a:t>
            </a:r>
            <a:endParaRPr lang="en-US" sz="1450" dirty="0"/>
          </a:p>
        </p:txBody>
      </p:sp>
      <p:sp>
        <p:nvSpPr>
          <p:cNvPr id="22" name="Text 16"/>
          <p:cNvSpPr txBox="1"/>
          <p:nvPr/>
        </p:nvSpPr>
        <p:spPr>
          <a:xfrm>
            <a:off x="9079992" y="224028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texnopark va innovatsion klasterlar imtiyozlaridan foydalanish</a:t>
            </a:r>
            <a:endParaRPr lang="en-US" sz="1350" dirty="0"/>
          </a:p>
        </p:txBody>
      </p:sp>
      <p:sp>
        <p:nvSpPr>
          <p:cNvPr id="23" name="Shape 17"/>
          <p:cNvSpPr/>
          <p:nvPr/>
        </p:nvSpPr>
        <p:spPr>
          <a:xfrm>
            <a:off x="548640" y="347472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4" name="Shape 18"/>
          <p:cNvSpPr/>
          <p:nvPr/>
        </p:nvSpPr>
        <p:spPr>
          <a:xfrm>
            <a:off x="713232" y="3639312"/>
            <a:ext cx="566928" cy="566928"/>
          </a:xfrm>
          <a:prstGeom prst="ellipse">
            <a:avLst/>
          </a:prstGeom>
          <a:solidFill>
            <a:srgbClr val="0E9F9A"/>
          </a:solidFill>
          <a:ln w="12700">
            <a:solidFill>
              <a:srgbClr val="0E9F9A"/>
            </a:solidFill>
            <a:prstDash val="solid"/>
          </a:ln>
        </p:spPr>
      </p:sp>
      <p:pic>
        <p:nvPicPr>
          <p:cNvPr id="25" name="Image 4" descr="preencoded.png">    </p:cNvPr>
          <p:cNvPicPr>
            <a:picLocks noChangeAspect="1"/>
          </p:cNvPicPr>
          <p:nvPr/>
        </p:nvPicPr>
        <p:blipFill>
          <a:blip r:embed="rId5"/>
          <a:stretch>
            <a:fillRect/>
          </a:stretch>
        </p:blipFill>
        <p:spPr>
          <a:xfrm>
            <a:off x="860633" y="3786713"/>
            <a:ext cx="272125" cy="272125"/>
          </a:xfrm>
          <a:prstGeom prst="rect">
            <a:avLst/>
          </a:prstGeom>
        </p:spPr>
      </p:pic>
      <p:sp>
        <p:nvSpPr>
          <p:cNvPr id="26" name="Text 19"/>
          <p:cNvSpPr txBox="1"/>
          <p:nvPr/>
        </p:nvSpPr>
        <p:spPr>
          <a:xfrm>
            <a:off x="1371600" y="361188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Intellektual mulk</a:t>
            </a:r>
            <a:endParaRPr lang="en-US" sz="1450" dirty="0"/>
          </a:p>
        </p:txBody>
      </p:sp>
      <p:sp>
        <p:nvSpPr>
          <p:cNvPr id="27" name="Text 20"/>
          <p:cNvSpPr txBox="1"/>
          <p:nvPr/>
        </p:nvSpPr>
        <p:spPr>
          <a:xfrm>
            <a:off x="713232" y="434340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patentlash va ixtirolarni huquqiy himoya qilish</a:t>
            </a:r>
            <a:endParaRPr lang="en-US" sz="1350" dirty="0"/>
          </a:p>
        </p:txBody>
      </p:sp>
      <p:sp>
        <p:nvSpPr>
          <p:cNvPr id="28" name="Shape 21"/>
          <p:cNvSpPr/>
          <p:nvPr/>
        </p:nvSpPr>
        <p:spPr>
          <a:xfrm>
            <a:off x="3337560" y="347472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9" name="Shape 22"/>
          <p:cNvSpPr/>
          <p:nvPr/>
        </p:nvSpPr>
        <p:spPr>
          <a:xfrm>
            <a:off x="3502152" y="3639312"/>
            <a:ext cx="566928" cy="566928"/>
          </a:xfrm>
          <a:prstGeom prst="ellipse">
            <a:avLst/>
          </a:prstGeom>
          <a:solidFill>
            <a:srgbClr val="0D2F4F"/>
          </a:solidFill>
          <a:ln w="12700">
            <a:solidFill>
              <a:srgbClr val="0D2F4F"/>
            </a:solidFill>
            <a:prstDash val="solid"/>
          </a:ln>
        </p:spPr>
      </p:sp>
      <p:pic>
        <p:nvPicPr>
          <p:cNvPr id="30" name="Image 5" descr="preencoded.png">    </p:cNvPr>
          <p:cNvPicPr>
            <a:picLocks noChangeAspect="1"/>
          </p:cNvPicPr>
          <p:nvPr/>
        </p:nvPicPr>
        <p:blipFill>
          <a:blip r:embed="rId6"/>
          <a:stretch>
            <a:fillRect/>
          </a:stretch>
        </p:blipFill>
        <p:spPr>
          <a:xfrm>
            <a:off x="3649553" y="3786713"/>
            <a:ext cx="272125" cy="272125"/>
          </a:xfrm>
          <a:prstGeom prst="rect">
            <a:avLst/>
          </a:prstGeom>
        </p:spPr>
      </p:pic>
      <p:sp>
        <p:nvSpPr>
          <p:cNvPr id="31" name="Text 23"/>
          <p:cNvSpPr txBox="1"/>
          <p:nvPr/>
        </p:nvSpPr>
        <p:spPr>
          <a:xfrm>
            <a:off x="4160520" y="361188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Innovatsion madaniyat</a:t>
            </a:r>
            <a:endParaRPr lang="en-US" sz="1450" dirty="0"/>
          </a:p>
        </p:txBody>
      </p:sp>
      <p:sp>
        <p:nvSpPr>
          <p:cNvPr id="32" name="Text 24"/>
          <p:cNvSpPr txBox="1"/>
          <p:nvPr/>
        </p:nvSpPr>
        <p:spPr>
          <a:xfrm>
            <a:off x="3502152" y="434340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tashabbusni rag‘batlantirish, xatolardan qo‘rqmaslik muhiti</a:t>
            </a:r>
            <a:endParaRPr lang="en-US" sz="1350" dirty="0"/>
          </a:p>
        </p:txBody>
      </p:sp>
      <p:sp>
        <p:nvSpPr>
          <p:cNvPr id="33" name="Shape 25"/>
          <p:cNvSpPr/>
          <p:nvPr/>
        </p:nvSpPr>
        <p:spPr>
          <a:xfrm>
            <a:off x="6126480" y="347472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4" name="Shape 26"/>
          <p:cNvSpPr/>
          <p:nvPr/>
        </p:nvSpPr>
        <p:spPr>
          <a:xfrm>
            <a:off x="6291072" y="3639312"/>
            <a:ext cx="566928" cy="566928"/>
          </a:xfrm>
          <a:prstGeom prst="ellipse">
            <a:avLst/>
          </a:prstGeom>
          <a:solidFill>
            <a:srgbClr val="0E9F9A"/>
          </a:solidFill>
          <a:ln w="12700">
            <a:solidFill>
              <a:srgbClr val="0E9F9A"/>
            </a:solidFill>
            <a:prstDash val="solid"/>
          </a:ln>
        </p:spPr>
      </p:sp>
      <p:pic>
        <p:nvPicPr>
          <p:cNvPr id="35" name="Image 6" descr="preencoded.png">    </p:cNvPr>
          <p:cNvPicPr>
            <a:picLocks noChangeAspect="1"/>
          </p:cNvPicPr>
          <p:nvPr/>
        </p:nvPicPr>
        <p:blipFill>
          <a:blip r:embed="rId7"/>
          <a:stretch>
            <a:fillRect/>
          </a:stretch>
        </p:blipFill>
        <p:spPr>
          <a:xfrm>
            <a:off x="6438473" y="3786713"/>
            <a:ext cx="272125" cy="272125"/>
          </a:xfrm>
          <a:prstGeom prst="rect">
            <a:avLst/>
          </a:prstGeom>
        </p:spPr>
      </p:pic>
      <p:sp>
        <p:nvSpPr>
          <p:cNvPr id="36" name="Text 27"/>
          <p:cNvSpPr txBox="1"/>
          <p:nvPr/>
        </p:nvSpPr>
        <p:spPr>
          <a:xfrm>
            <a:off x="6949440" y="361188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Ochiq innovatsiyalar</a:t>
            </a:r>
            <a:endParaRPr lang="en-US" sz="1450" dirty="0"/>
          </a:p>
        </p:txBody>
      </p:sp>
      <p:sp>
        <p:nvSpPr>
          <p:cNvPr id="37" name="Text 28"/>
          <p:cNvSpPr txBox="1"/>
          <p:nvPr/>
        </p:nvSpPr>
        <p:spPr>
          <a:xfrm>
            <a:off x="6291072" y="434340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startaplar, mijozlar va hamkorlar bilan birgalikda yaratish</a:t>
            </a:r>
            <a:endParaRPr lang="en-US" sz="1350" dirty="0"/>
          </a:p>
        </p:txBody>
      </p:sp>
      <p:sp>
        <p:nvSpPr>
          <p:cNvPr id="38" name="Shape 29"/>
          <p:cNvSpPr/>
          <p:nvPr/>
        </p:nvSpPr>
        <p:spPr>
          <a:xfrm>
            <a:off x="8915400" y="347472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9" name="Shape 30"/>
          <p:cNvSpPr/>
          <p:nvPr/>
        </p:nvSpPr>
        <p:spPr>
          <a:xfrm>
            <a:off x="9079992" y="3639312"/>
            <a:ext cx="566928" cy="566928"/>
          </a:xfrm>
          <a:prstGeom prst="ellipse">
            <a:avLst/>
          </a:prstGeom>
          <a:solidFill>
            <a:srgbClr val="0D2F4F"/>
          </a:solidFill>
          <a:ln w="12700">
            <a:solidFill>
              <a:srgbClr val="0D2F4F"/>
            </a:solidFill>
            <a:prstDash val="solid"/>
          </a:ln>
        </p:spPr>
      </p:sp>
      <p:pic>
        <p:nvPicPr>
          <p:cNvPr id="40" name="Image 7" descr="preencoded.png">    </p:cNvPr>
          <p:cNvPicPr>
            <a:picLocks noChangeAspect="1"/>
          </p:cNvPicPr>
          <p:nvPr/>
        </p:nvPicPr>
        <p:blipFill>
          <a:blip r:embed="rId8"/>
          <a:stretch>
            <a:fillRect/>
          </a:stretch>
        </p:blipFill>
        <p:spPr>
          <a:xfrm>
            <a:off x="9227393" y="3786713"/>
            <a:ext cx="272125" cy="272125"/>
          </a:xfrm>
          <a:prstGeom prst="rect">
            <a:avLst/>
          </a:prstGeom>
        </p:spPr>
      </p:pic>
      <p:sp>
        <p:nvSpPr>
          <p:cNvPr id="41" name="Text 31"/>
          <p:cNvSpPr txBox="1"/>
          <p:nvPr/>
        </p:nvSpPr>
        <p:spPr>
          <a:xfrm>
            <a:off x="9738360" y="361188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Davlat ko‘magi</a:t>
            </a:r>
            <a:endParaRPr lang="en-US" sz="1450" dirty="0"/>
          </a:p>
        </p:txBody>
      </p:sp>
      <p:sp>
        <p:nvSpPr>
          <p:cNvPr id="42" name="Text 32"/>
          <p:cNvSpPr txBox="1"/>
          <p:nvPr/>
        </p:nvSpPr>
        <p:spPr>
          <a:xfrm>
            <a:off x="9079992" y="434340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innovatsion grantlar, soliq imtiyozlari va davlat dasturlari</a:t>
            </a:r>
            <a:endParaRPr lang="en-US" sz="1350" dirty="0"/>
          </a:p>
        </p:txBody>
      </p:sp>
      <p:sp>
        <p:nvSpPr>
          <p:cNvPr id="43" name="Shape 33"/>
          <p:cNvSpPr/>
          <p:nvPr/>
        </p:nvSpPr>
        <p:spPr>
          <a:xfrm>
            <a:off x="548640" y="5623560"/>
            <a:ext cx="11064240" cy="594360"/>
          </a:xfrm>
          <a:prstGeom prst="roundRect">
            <a:avLst>
              <a:gd name="adj" fmla="val 18462"/>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4" name="Text 34"/>
          <p:cNvSpPr txBox="1"/>
          <p:nvPr/>
        </p:nvSpPr>
        <p:spPr>
          <a:xfrm>
            <a:off x="731520" y="5669280"/>
            <a:ext cx="10698480" cy="502920"/>
          </a:xfrm>
          <a:prstGeom prst="rect">
            <a:avLst/>
          </a:prstGeom>
          <a:noFill/>
          <a:ln/>
        </p:spPr>
        <p:txBody>
          <a:bodyPr wrap="square" lIns="0" tIns="0" rIns="0" bIns="0" rtlCol="0" anchor="ctr"/>
          <a:lstStyle/>
          <a:p>
            <a:pPr indent="0" marL="0">
              <a:buNone/>
            </a:pPr>
            <a:r>
              <a:rPr lang="en-US" sz="1350" b="1" dirty="0">
                <a:solidFill>
                  <a:srgbClr val="0D2F4F"/>
                </a:solidFill>
                <a:latin typeface="Calibri" pitchFamily="34" charset="0"/>
                <a:ea typeface="Calibri" pitchFamily="34" charset="-122"/>
                <a:cs typeface="Calibri" pitchFamily="34" charset="-120"/>
              </a:rPr>
              <a:t>O‘zbekistonda</a:t>
            </a:r>
            <a:pPr indent="0" marL="0">
              <a:buNone/>
            </a:pPr>
            <a:r>
              <a:rPr lang="en-US" sz="1350" dirty="0">
                <a:solidFill>
                  <a:srgbClr val="1B2A3A"/>
                </a:solidFill>
                <a:latin typeface="Calibri" pitchFamily="34" charset="0"/>
                <a:ea typeface="Calibri" pitchFamily="34" charset="-122"/>
                <a:cs typeface="Calibri" pitchFamily="34" charset="-120"/>
              </a:rPr>
              <a:t> innovatsion faoliyat “Innovatsion faoliyat to‘g‘risida”gi Qonun (2020) bilan tartibga solinadi va davlat grantlari orqali qo‘llab-quvvatlanadi.</a:t>
            </a:r>
            <a:endParaRPr lang="en-US" sz="13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Xulosa</a:t>
            </a:r>
            <a:endParaRPr lang="en-US" sz="3400" dirty="0"/>
          </a:p>
        </p:txBody>
      </p:sp>
      <p:sp>
        <p:nvSpPr>
          <p:cNvPr id="3" name="Text 1"/>
          <p:cNvSpPr txBox="1"/>
          <p:nvPr/>
        </p:nvSpPr>
        <p:spPr>
          <a:xfrm>
            <a:off x="548640" y="1280160"/>
            <a:ext cx="6858000" cy="1965960"/>
          </a:xfrm>
          <a:prstGeom prst="rect">
            <a:avLst/>
          </a:prstGeom>
          <a:noFill/>
          <a:ln/>
        </p:spPr>
        <p:txBody>
          <a:bodyPr wrap="square" lIns="0" tIns="0" rIns="0" bIns="0" rtlCol="0" anchor="t"/>
          <a:lstStyle/>
          <a:p>
            <a:pPr indent="0" marL="0">
              <a:spcAft>
                <a:spcPts val="600"/>
              </a:spcAft>
              <a:buNone/>
            </a:pPr>
            <a:r>
              <a:rPr lang="en-US" sz="1400" dirty="0">
                <a:solidFill>
                  <a:srgbClr val="E6F2F4"/>
                </a:solidFill>
                <a:latin typeface="Calibri" pitchFamily="34" charset="0"/>
                <a:ea typeface="Calibri" pitchFamily="34" charset="-122"/>
                <a:cs typeface="Calibri" pitchFamily="34" charset="-120"/>
              </a:rPr>
              <a:t>Innovatsion rivojlanish strategiyasi bugungi tez o‘zgaruvchan bozorda korxonaning omon qolishi va o‘sishining asosiy shartidir. U innovatsion audit, aniq maqsadlar, g‘oyalar portfeli, resurslarni taqsimlash va bosqichma-bosqich nazoratni o‘z ichiga oladi. Korxona o‘z salohiyati va bozordagi o‘rniga mos strategiyani tanlab, fan, startaplar va davlat bilan hamkorlikda innovatsiyalarni tizimli joriy etishi zarur.</a:t>
            </a:r>
            <a:endParaRPr lang="en-US" sz="1400" dirty="0"/>
          </a:p>
        </p:txBody>
      </p:sp>
      <p:sp>
        <p:nvSpPr>
          <p:cNvPr id="4" name="Shape 2"/>
          <p:cNvSpPr/>
          <p:nvPr/>
        </p:nvSpPr>
        <p:spPr>
          <a:xfrm>
            <a:off x="548640" y="3383280"/>
            <a:ext cx="3291840" cy="1298448"/>
          </a:xfrm>
          <a:prstGeom prst="roundRect">
            <a:avLst>
              <a:gd name="adj" fmla="val 8451"/>
            </a:avLst>
          </a:prstGeom>
          <a:solidFill>
            <a:srgbClr val="FFFFFF">
              <a:alpha val="12000"/>
            </a:srgbClr>
          </a:solidFill>
          <a:ln w="9525">
            <a:solidFill>
              <a:srgbClr val="5FD3C9"/>
            </a:solidFill>
            <a:prstDash val="solid"/>
          </a:ln>
        </p:spPr>
      </p:sp>
      <p:pic>
        <p:nvPicPr>
          <p:cNvPr id="5" name="Image 0" descr="preencoded.png">    </p:cNvPr>
          <p:cNvPicPr>
            <a:picLocks noChangeAspect="1"/>
          </p:cNvPicPr>
          <p:nvPr/>
        </p:nvPicPr>
        <p:blipFill>
          <a:blip r:embed="rId1"/>
          <a:stretch>
            <a:fillRect/>
          </a:stretch>
        </p:blipFill>
        <p:spPr>
          <a:xfrm>
            <a:off x="713232" y="3566160"/>
            <a:ext cx="365760" cy="365760"/>
          </a:xfrm>
          <a:prstGeom prst="rect">
            <a:avLst/>
          </a:prstGeom>
        </p:spPr>
      </p:pic>
      <p:sp>
        <p:nvSpPr>
          <p:cNvPr id="6" name="Text 3"/>
          <p:cNvSpPr txBox="1"/>
          <p:nvPr/>
        </p:nvSpPr>
        <p:spPr>
          <a:xfrm>
            <a:off x="1188720" y="349300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Mohiyat</a:t>
            </a:r>
            <a:endParaRPr lang="en-US" sz="1500" dirty="0"/>
          </a:p>
          <a:p>
            <a:pPr indent="0" marL="0">
              <a:spcAft>
                <a:spcPts val="200"/>
              </a:spcAft>
              <a:buNone/>
            </a:pPr>
            <a:r>
              <a:rPr lang="en-US" sz="1300" dirty="0">
                <a:solidFill>
                  <a:srgbClr val="FFFFFF"/>
                </a:solidFill>
              </a:rPr>
              <a:t>yangilik orqali uzoq muddatli raqobat ustunligi</a:t>
            </a:r>
            <a:endParaRPr lang="en-US" sz="1500" dirty="0"/>
          </a:p>
        </p:txBody>
      </p:sp>
      <p:sp>
        <p:nvSpPr>
          <p:cNvPr id="7" name="Shape 4"/>
          <p:cNvSpPr/>
          <p:nvPr/>
        </p:nvSpPr>
        <p:spPr>
          <a:xfrm>
            <a:off x="4023360" y="3383280"/>
            <a:ext cx="3291840" cy="1298448"/>
          </a:xfrm>
          <a:prstGeom prst="roundRect">
            <a:avLst>
              <a:gd name="adj" fmla="val 8451"/>
            </a:avLst>
          </a:prstGeom>
          <a:solidFill>
            <a:srgbClr val="FFFFFF">
              <a:alpha val="12000"/>
            </a:srgbClr>
          </a:solidFill>
          <a:ln w="9525">
            <a:solidFill>
              <a:srgbClr val="5FD3C9"/>
            </a:solidFill>
            <a:prstDash val="solid"/>
          </a:ln>
        </p:spPr>
      </p:sp>
      <p:pic>
        <p:nvPicPr>
          <p:cNvPr id="8" name="Image 1" descr="preencoded.png">    </p:cNvPr>
          <p:cNvPicPr>
            <a:picLocks noChangeAspect="1"/>
          </p:cNvPicPr>
          <p:nvPr/>
        </p:nvPicPr>
        <p:blipFill>
          <a:blip r:embed="rId2"/>
          <a:stretch>
            <a:fillRect/>
          </a:stretch>
        </p:blipFill>
        <p:spPr>
          <a:xfrm>
            <a:off x="4187952" y="3566160"/>
            <a:ext cx="365760" cy="365760"/>
          </a:xfrm>
          <a:prstGeom prst="rect">
            <a:avLst/>
          </a:prstGeom>
        </p:spPr>
      </p:pic>
      <p:sp>
        <p:nvSpPr>
          <p:cNvPr id="9" name="Text 5"/>
          <p:cNvSpPr txBox="1"/>
          <p:nvPr/>
        </p:nvSpPr>
        <p:spPr>
          <a:xfrm>
            <a:off x="4663440" y="349300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Turlar</a:t>
            </a:r>
            <a:endParaRPr lang="en-US" sz="1500" dirty="0"/>
          </a:p>
          <a:p>
            <a:pPr indent="0" marL="0">
              <a:spcAft>
                <a:spcPts val="200"/>
              </a:spcAft>
              <a:buNone/>
            </a:pPr>
            <a:r>
              <a:rPr lang="en-US" sz="1300" dirty="0">
                <a:solidFill>
                  <a:srgbClr val="FFFFFF"/>
                </a:solidFill>
              </a:rPr>
              <a:t>mahsulot, jarayon, marketing, tashkiliy; radikal va inkremental</a:t>
            </a:r>
            <a:endParaRPr lang="en-US" sz="1500" dirty="0"/>
          </a:p>
        </p:txBody>
      </p:sp>
      <p:sp>
        <p:nvSpPr>
          <p:cNvPr id="10" name="Shape 6"/>
          <p:cNvSpPr/>
          <p:nvPr/>
        </p:nvSpPr>
        <p:spPr>
          <a:xfrm>
            <a:off x="548640" y="484632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1" name="Image 2" descr="preencoded.png">    </p:cNvPr>
          <p:cNvPicPr>
            <a:picLocks noChangeAspect="1"/>
          </p:cNvPicPr>
          <p:nvPr/>
        </p:nvPicPr>
        <p:blipFill>
          <a:blip r:embed="rId3"/>
          <a:stretch>
            <a:fillRect/>
          </a:stretch>
        </p:blipFill>
        <p:spPr>
          <a:xfrm>
            <a:off x="713232" y="5029200"/>
            <a:ext cx="365760" cy="365760"/>
          </a:xfrm>
          <a:prstGeom prst="rect">
            <a:avLst/>
          </a:prstGeom>
        </p:spPr>
      </p:pic>
      <p:sp>
        <p:nvSpPr>
          <p:cNvPr id="12" name="Text 7"/>
          <p:cNvSpPr txBox="1"/>
          <p:nvPr/>
        </p:nvSpPr>
        <p:spPr>
          <a:xfrm>
            <a:off x="1188720" y="495604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Jarayon</a:t>
            </a:r>
            <a:endParaRPr lang="en-US" sz="1500" dirty="0"/>
          </a:p>
          <a:p>
            <a:pPr indent="0" marL="0">
              <a:spcAft>
                <a:spcPts val="200"/>
              </a:spcAft>
              <a:buNone/>
            </a:pPr>
            <a:r>
              <a:rPr lang="en-US" sz="1300" dirty="0">
                <a:solidFill>
                  <a:srgbClr val="FFFFFF"/>
                </a:solidFill>
              </a:rPr>
              <a:t>audit → maqsad → g‘oyalar → loyihalar → nazorat</a:t>
            </a:r>
            <a:endParaRPr lang="en-US" sz="1500" dirty="0"/>
          </a:p>
        </p:txBody>
      </p:sp>
      <p:sp>
        <p:nvSpPr>
          <p:cNvPr id="13" name="Shape 8"/>
          <p:cNvSpPr/>
          <p:nvPr/>
        </p:nvSpPr>
        <p:spPr>
          <a:xfrm>
            <a:off x="4023360" y="484632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4" name="Image 3" descr="preencoded.png">    </p:cNvPr>
          <p:cNvPicPr>
            <a:picLocks noChangeAspect="1"/>
          </p:cNvPicPr>
          <p:nvPr/>
        </p:nvPicPr>
        <p:blipFill>
          <a:blip r:embed="rId4"/>
          <a:stretch>
            <a:fillRect/>
          </a:stretch>
        </p:blipFill>
        <p:spPr>
          <a:xfrm>
            <a:off x="4187952" y="5029200"/>
            <a:ext cx="365760" cy="365760"/>
          </a:xfrm>
          <a:prstGeom prst="rect">
            <a:avLst/>
          </a:prstGeom>
        </p:spPr>
      </p:pic>
      <p:sp>
        <p:nvSpPr>
          <p:cNvPr id="15" name="Text 9"/>
          <p:cNvSpPr txBox="1"/>
          <p:nvPr/>
        </p:nvSpPr>
        <p:spPr>
          <a:xfrm>
            <a:off x="4663440" y="495604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Shart</a:t>
            </a:r>
            <a:endParaRPr lang="en-US" sz="1500" dirty="0"/>
          </a:p>
          <a:p>
            <a:pPr indent="0" marL="0">
              <a:spcAft>
                <a:spcPts val="200"/>
              </a:spcAft>
              <a:buNone/>
            </a:pPr>
            <a:r>
              <a:rPr lang="en-US" sz="1300" dirty="0">
                <a:solidFill>
                  <a:srgbClr val="FFFFFF"/>
                </a:solidFill>
              </a:rPr>
              <a:t>salohiyatni baholash, moliyalashtirish va innovatsion madaniyat</a:t>
            </a:r>
            <a:endParaRPr lang="en-US" sz="1500" dirty="0"/>
          </a:p>
        </p:txBody>
      </p:sp>
      <p:pic>
        <p:nvPicPr>
          <p:cNvPr id="16" name="Image 4" descr="img6/conclusion.png">    </p:cNvPr>
          <p:cNvPicPr>
            <a:picLocks noChangeAspect="1"/>
          </p:cNvPicPr>
          <p:nvPr/>
        </p:nvPicPr>
        <p:blipFill>
          <a:blip r:embed="rId5"/>
          <a:stretch>
            <a:fillRect/>
          </a:stretch>
        </p:blipFill>
        <p:spPr>
          <a:xfrm>
            <a:off x="7772400" y="1325880"/>
            <a:ext cx="3840480" cy="2990088"/>
          </a:xfrm>
          <a:prstGeom prst="rect">
            <a:avLst/>
          </a:prstGeom>
        </p:spPr>
      </p:pic>
      <p:sp>
        <p:nvSpPr>
          <p:cNvPr id="17" name="Text 10"/>
          <p:cNvSpPr txBox="1"/>
          <p:nvPr/>
        </p:nvSpPr>
        <p:spPr>
          <a:xfrm>
            <a:off x="7772400" y="4526280"/>
            <a:ext cx="3840480" cy="1463040"/>
          </a:xfrm>
          <a:prstGeom prst="rect">
            <a:avLst/>
          </a:prstGeom>
          <a:noFill/>
          <a:ln/>
        </p:spPr>
        <p:txBody>
          <a:bodyPr wrap="square" lIns="0" tIns="0" rIns="0" bIns="0" rtlCol="0" anchor="t"/>
          <a:lstStyle/>
          <a:p>
            <a:pPr indent="0" marL="0">
              <a:buNone/>
            </a:pPr>
            <a:r>
              <a:rPr lang="en-US" sz="1700" i="1" dirty="0">
                <a:solidFill>
                  <a:srgbClr val="F2A541"/>
                </a:solidFill>
                <a:latin typeface="Cambria" pitchFamily="34" charset="0"/>
                <a:ea typeface="Cambria" pitchFamily="34" charset="-122"/>
                <a:cs typeface="Cambria" pitchFamily="34" charset="-120"/>
              </a:rPr>
              <a:t>Innovatsiya yetakchini ergashuvchidan ajratib turadi. (S. Jobs)</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img6/thanks.png">    </p:cNvPr>
          <p:cNvPicPr>
            <a:picLocks noChangeAspect="1"/>
          </p:cNvPicPr>
          <p:nvPr/>
        </p:nvPicPr>
        <p:blipFill>
          <a:blip r:embed="rId1"/>
          <a:stretch>
            <a:fillRect/>
          </a:stretch>
        </p:blipFill>
        <p:spPr>
          <a:xfrm>
            <a:off x="6766560" y="1280160"/>
            <a:ext cx="4846320" cy="3767328"/>
          </a:xfrm>
          <a:prstGeom prst="rect">
            <a:avLst/>
          </a:prstGeom>
        </p:spPr>
      </p:pic>
      <p:sp>
        <p:nvSpPr>
          <p:cNvPr id="3" name="Text 0"/>
          <p:cNvSpPr txBox="1"/>
          <p:nvPr/>
        </p:nvSpPr>
        <p:spPr>
          <a:xfrm>
            <a:off x="548640" y="2011680"/>
            <a:ext cx="5943600" cy="1828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E’TIBORINGIZ UCHUN RAHMAT!</a:t>
            </a:r>
            <a:endParaRPr lang="en-US" sz="4000" dirty="0"/>
          </a:p>
        </p:txBody>
      </p:sp>
      <p:sp>
        <p:nvSpPr>
          <p:cNvPr id="4" name="Text 1"/>
          <p:cNvSpPr txBox="1"/>
          <p:nvPr/>
        </p:nvSpPr>
        <p:spPr>
          <a:xfrm>
            <a:off x="548640" y="3931920"/>
            <a:ext cx="5943600" cy="457200"/>
          </a:xfrm>
          <a:prstGeom prst="rect">
            <a:avLst/>
          </a:prstGeom>
          <a:noFill/>
          <a:ln/>
        </p:spPr>
        <p:txBody>
          <a:bodyPr wrap="square" lIns="0" tIns="0" rIns="0" bIns="0" rtlCol="0" anchor="ctr"/>
          <a:lstStyle/>
          <a:p>
            <a:pPr indent="0" marL="0">
              <a:buNone/>
            </a:pPr>
            <a:r>
              <a:rPr lang="en-US" sz="1800" i="1" dirty="0">
                <a:solidFill>
                  <a:srgbClr val="F2A541"/>
                </a:solidFill>
              </a:rPr>
              <a:t>Savollaringiz bo‘lsa, marhamat</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trategiya">
  <a:themeElements>
    <a:clrScheme name="Strategiya">
      <a:dk1>
        <a:srgbClr val="1B2A3A"/>
      </a:dk1>
      <a:lt1>
        <a:srgbClr val="FFFFFF"/>
      </a:lt1>
      <a:dk2>
        <a:srgbClr val="0D2F4F"/>
      </a:dk2>
      <a:lt2>
        <a:srgbClr val="E8F3F6"/>
      </a:lt2>
      <a:accent1>
        <a:srgbClr val="0E9F9A"/>
      </a:accent1>
      <a:accent2>
        <a:srgbClr val="F2A541"/>
      </a:accent2>
      <a:accent3>
        <a:srgbClr val="0D2F4F"/>
      </a:accent3>
      <a:accent4>
        <a:srgbClr val="3B6EA5"/>
      </a:accent4>
      <a:accent5>
        <a:srgbClr val="5FD3C9"/>
      </a:accent5>
      <a:accent6>
        <a:srgbClr val="B5651D"/>
      </a:accent6>
      <a:hlink>
        <a:srgbClr val="0E9F9A"/>
      </a:hlink>
      <a:folHlink>
        <a:srgbClr val="3B6EA5"/>
      </a:folHlink>
    </a:clrScheme>
    <a:fontScheme name="Strategiy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Innovatsion rivojlanish strategiyasi</dc:title>
  <dc:subject>PptxGenJS Presentation</dc:subject>
  <dc:creator>PptxGenJS</dc:creator>
  <cp:lastModifiedBy>PptxGenJS</cp:lastModifiedBy>
  <cp:revision>1</cp:revision>
  <dcterms:created xsi:type="dcterms:W3CDTF">2026-10-12T12:19:05Z</dcterms:created>
  <dcterms:modified xsi:type="dcterms:W3CDTF">2026-10-12T12:19:05Z</dcterms:modified>
</cp:coreProperties>
</file>