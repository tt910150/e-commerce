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Eksport</c:v>
                </c:pt>
              </c:strCache>
            </c:strRef>
          </c:tx>
          <c:spPr>
            <a:solidFill>
              <a:srgbClr val="0E9F9A"/>
            </a:solidFill>
            <a:effectLst/>
          </c:spPr>
          <c:invertIfNegative val="0"/>
          <c:dLbls>
            <c:numFmt formatCode="0.0" sourceLinked="0"/>
            <c:txPr>
              <a:bodyPr/>
              <a:lstStyle/>
              <a:p>
                <a:pPr>
                  <a:defRPr b="0" i="0" strike="noStrike" sz="1100" u="none">
                    <a:solidFill>
                      <a:srgbClr val="1B2A3A"/>
                    </a:solidFill>
                    <a:latin typeface="+mn-lt"/>
                  </a:defRPr>
                </a:pPr>
              </a:p>
            </c:txPr>
            <c:showLegendKey val="0"/>
            <c:showVal val="1"/>
            <c:showCatName val="0"/>
            <c:showSerName val="0"/>
            <c:showPercent val="0"/>
            <c:showBubbleSize val="0"/>
            <c:showLeaderLines val="0"/>
          </c:dLbls>
          <c:cat>
            <c:multiLvlStrRef>
              <c:f>Sheet1!$A$2:$A$5</c:f>
              <c:multiLvlStrCache>
                <c:ptCount val="4"/>
                <c:lvl>
                  <c:pt idx="0">
                    <c:v>1-yil</c:v>
                  </c:pt>
                  <c:pt idx="1">
                    <c:v>2-yil</c:v>
                  </c:pt>
                  <c:pt idx="2">
                    <c:v>3-yil</c:v>
                  </c:pt>
                  <c:pt idx="3">
                    <c:v>4-yil (reja)</c:v>
                  </c:pt>
                </c:lvl>
              </c:multiLvlStrCache>
            </c:multiLvlStrRef>
          </c:cat>
          <c:val>
            <c:numRef>
              <c:f>Sheet1!$B$2:$B$5</c:f>
              <c:numCache>
                <c:formatCode>General</c:formatCode>
                <c:ptCount val="4"/>
                <c:pt idx="0">
                  <c:v>1.2</c:v>
                </c:pt>
                <c:pt idx="1">
                  <c:v>1.8</c:v>
                </c:pt>
                <c:pt idx="2">
                  <c:v>2.6</c:v>
                </c:pt>
                <c:pt idx="3">
                  <c:v>3.5</c:v>
                </c:pt>
              </c:numCache>
            </c:numRef>
          </c:val>
        </c:ser>
        <c:dLbls>
          <c:numFmt formatCode="0.0" sourceLinked="0"/>
          <c:txPr>
            <a:bodyPr/>
            <a:lstStyle/>
            <a:p>
              <a:pPr>
                <a:defRPr b="0" i="0" strike="noStrike" sz="1100" u="none">
                  <a:solidFill>
                    <a:srgbClr val="1B2A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A"/>
                </a:solidFill>
                <a:latin typeface="+mn-lt"/>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9525" cap="flat">
              <a:solidFill>
                <a:srgbClr val="C9DDE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B6C"/>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BFD9E0"/>
                </a:solidFill>
              </a:rPr>
              <a:t>12.10.2026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4A5B6C"/>
                </a:solidFill>
              </a:rPr>
              <a:t>12.10.2026</a:t>
            </a:r>
            <a:endParaRPr lang="en-US" sz="1000" dirty="0"/>
          </a:p>
        </p:txBody>
      </p:sp>
      <p:sp>
        <p:nvSpPr>
          <p:cNvPr id="3" name="Text 1"/>
          <p:cNvSpPr/>
          <p:nvPr>
            <p:ph idx="101"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14/title.png">    </p:cNvPr>
          <p:cNvPicPr>
            <a:picLocks noChangeAspect="1"/>
          </p:cNvPicPr>
          <p:nvPr/>
        </p:nvPicPr>
        <p:blipFill>
          <a:blip r:embed="rId1"/>
          <a:stretch>
            <a:fillRect/>
          </a:stretch>
        </p:blipFill>
        <p:spPr>
          <a:xfrm>
            <a:off x="0" y="0"/>
            <a:ext cx="6236208" cy="6858000"/>
          </a:xfrm>
          <a:prstGeom prst="rect">
            <a:avLst/>
          </a:prstGeom>
        </p:spPr>
      </p:pic>
      <p:sp>
        <p:nvSpPr>
          <p:cNvPr id="3" name="Text 0"/>
          <p:cNvSpPr txBox="1"/>
          <p:nvPr/>
        </p:nvSpPr>
        <p:spPr>
          <a:xfrm>
            <a:off x="6675120" y="1005840"/>
            <a:ext cx="4937760" cy="365760"/>
          </a:xfrm>
          <a:prstGeom prst="rect">
            <a:avLst/>
          </a:prstGeom>
          <a:noFill/>
          <a:ln/>
        </p:spPr>
        <p:txBody>
          <a:bodyPr wrap="square" lIns="0" tIns="0" rIns="0" bIns="0" rtlCol="0" anchor="ctr"/>
          <a:lstStyle/>
          <a:p>
            <a:pPr indent="0" marL="0">
              <a:buNone/>
            </a:pPr>
            <a:r>
              <a:rPr lang="en-US" sz="1400" b="1" spc="600" kern="0" dirty="0">
                <a:solidFill>
                  <a:srgbClr val="F2A541"/>
                </a:solidFill>
              </a:rPr>
              <a:t>MAVZU</a:t>
            </a:r>
            <a:endParaRPr lang="en-US" sz="1400" dirty="0"/>
          </a:p>
        </p:txBody>
      </p:sp>
      <p:sp>
        <p:nvSpPr>
          <p:cNvPr id="4" name="Text 1"/>
          <p:cNvSpPr txBox="1"/>
          <p:nvPr/>
        </p:nvSpPr>
        <p:spPr>
          <a:xfrm>
            <a:off x="6675120" y="1463040"/>
            <a:ext cx="5029200" cy="310896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KORXONANING XALQARO BOZORLARGA CHIQISH STRATEGIYASI VA EKSPORT FAOLIYATINI RIVOJLANTIRISH</a:t>
            </a:r>
            <a:endParaRPr lang="en-US" sz="2600" dirty="0"/>
          </a:p>
        </p:txBody>
      </p:sp>
      <p:sp>
        <p:nvSpPr>
          <p:cNvPr id="5" name="Text 2"/>
          <p:cNvSpPr txBox="1"/>
          <p:nvPr/>
        </p:nvSpPr>
        <p:spPr>
          <a:xfrm>
            <a:off x="6675120" y="4663440"/>
            <a:ext cx="4937760" cy="365760"/>
          </a:xfrm>
          <a:prstGeom prst="rect">
            <a:avLst/>
          </a:prstGeom>
          <a:noFill/>
          <a:ln/>
        </p:spPr>
        <p:txBody>
          <a:bodyPr wrap="square" lIns="0" tIns="0" rIns="0" bIns="0" rtlCol="0" anchor="ctr"/>
          <a:lstStyle/>
          <a:p>
            <a:pPr indent="0" marL="0">
              <a:buNone/>
            </a:pPr>
            <a:r>
              <a:rPr lang="en-US" sz="1600" i="1" dirty="0">
                <a:solidFill>
                  <a:srgbClr val="BFE9E4"/>
                </a:solidFill>
              </a:rPr>
              <a:t>Strategik menejment fanidan taqdimot</a:t>
            </a:r>
            <a:endParaRPr lang="en-US" sz="1600" dirty="0"/>
          </a:p>
        </p:txBody>
      </p:sp>
      <p:sp>
        <p:nvSpPr>
          <p:cNvPr id="6" name="Text 3"/>
          <p:cNvSpPr txBox="1"/>
          <p:nvPr/>
        </p:nvSpPr>
        <p:spPr>
          <a:xfrm>
            <a:off x="6675120" y="5212080"/>
            <a:ext cx="4937760" cy="731520"/>
          </a:xfrm>
          <a:prstGeom prst="rect">
            <a:avLst/>
          </a:prstGeom>
          <a:noFill/>
          <a:ln/>
        </p:spPr>
        <p:txBody>
          <a:bodyPr wrap="square" lIns="0" tIns="0" rIns="0" bIns="0" rtlCol="0" anchor="ctr"/>
          <a:lstStyle/>
          <a:p>
            <a:pPr indent="0" marL="0">
              <a:spcAft>
                <a:spcPts val="400"/>
              </a:spcAft>
              <a:buNone/>
            </a:pPr>
            <a:r>
              <a:rPr lang="en-US" sz="1400" dirty="0">
                <a:solidFill>
                  <a:srgbClr val="DCEBEF"/>
                </a:solidFill>
              </a:rPr>
              <a:t>Bajardi: ______________________</a:t>
            </a:r>
            <a:endParaRPr lang="en-US" sz="1400" dirty="0"/>
          </a:p>
          <a:p>
            <a:pPr indent="0" marL="0">
              <a:spcAft>
                <a:spcPts val="400"/>
              </a:spcAft>
              <a:buNone/>
            </a:pPr>
            <a:r>
              <a:rPr lang="en-US" sz="1400" dirty="0">
                <a:solidFill>
                  <a:srgbClr val="DCEBEF"/>
                </a:solidFill>
              </a:rPr>
              <a:t>Tekshirdi: ____________________</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Reja</a:t>
            </a:r>
            <a:endParaRPr lang="en-US" sz="3000" dirty="0"/>
          </a:p>
        </p:txBody>
      </p:sp>
      <p:sp>
        <p:nvSpPr>
          <p:cNvPr id="3" name="Shape 1"/>
          <p:cNvSpPr/>
          <p:nvPr/>
        </p:nvSpPr>
        <p:spPr>
          <a:xfrm>
            <a:off x="548640" y="14630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Text 2"/>
          <p:cNvSpPr txBox="1"/>
          <p:nvPr/>
        </p:nvSpPr>
        <p:spPr>
          <a:xfrm>
            <a:off x="731520" y="14630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01</a:t>
            </a:r>
            <a:endParaRPr lang="en-US" sz="2400" dirty="0"/>
          </a:p>
        </p:txBody>
      </p:sp>
      <p:sp>
        <p:nvSpPr>
          <p:cNvPr id="5" name="Shape 3"/>
          <p:cNvSpPr/>
          <p:nvPr/>
        </p:nvSpPr>
        <p:spPr>
          <a:xfrm>
            <a:off x="1371600" y="1572768"/>
            <a:ext cx="512064" cy="512064"/>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1504737" y="1705905"/>
            <a:ext cx="245791" cy="245791"/>
          </a:xfrm>
          <a:prstGeom prst="rect">
            <a:avLst/>
          </a:prstGeom>
        </p:spPr>
      </p:pic>
      <p:sp>
        <p:nvSpPr>
          <p:cNvPr id="7" name="Text 4"/>
          <p:cNvSpPr txBox="1"/>
          <p:nvPr/>
        </p:nvSpPr>
        <p:spPr>
          <a:xfrm>
            <a:off x="2057400" y="14630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Xalqarolashuv va eksport faoliyatining mohiyati</a:t>
            </a:r>
            <a:endParaRPr lang="en-US" sz="1600" dirty="0"/>
          </a:p>
        </p:txBody>
      </p:sp>
      <p:sp>
        <p:nvSpPr>
          <p:cNvPr id="8" name="Shape 5"/>
          <p:cNvSpPr/>
          <p:nvPr/>
        </p:nvSpPr>
        <p:spPr>
          <a:xfrm>
            <a:off x="548640" y="23774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Text 6"/>
          <p:cNvSpPr txBox="1"/>
          <p:nvPr/>
        </p:nvSpPr>
        <p:spPr>
          <a:xfrm>
            <a:off x="731520" y="23774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02</a:t>
            </a:r>
            <a:endParaRPr lang="en-US" sz="2400" dirty="0"/>
          </a:p>
        </p:txBody>
      </p:sp>
      <p:sp>
        <p:nvSpPr>
          <p:cNvPr id="10" name="Shape 7"/>
          <p:cNvSpPr/>
          <p:nvPr/>
        </p:nvSpPr>
        <p:spPr>
          <a:xfrm>
            <a:off x="1371600" y="2487168"/>
            <a:ext cx="512064" cy="512064"/>
          </a:xfrm>
          <a:prstGeom prst="ellipse">
            <a:avLst/>
          </a:prstGeom>
          <a:solidFill>
            <a:srgbClr val="0D2F4F"/>
          </a:solidFill>
          <a:ln w="12700">
            <a:solidFill>
              <a:srgbClr val="0D2F4F"/>
            </a:solidFill>
            <a:prstDash val="solid"/>
          </a:ln>
        </p:spPr>
      </p:sp>
      <p:pic>
        <p:nvPicPr>
          <p:cNvPr id="11" name="Image 1" descr="preencoded.png">    </p:cNvPr>
          <p:cNvPicPr>
            <a:picLocks noChangeAspect="1"/>
          </p:cNvPicPr>
          <p:nvPr/>
        </p:nvPicPr>
        <p:blipFill>
          <a:blip r:embed="rId2"/>
          <a:stretch>
            <a:fillRect/>
          </a:stretch>
        </p:blipFill>
        <p:spPr>
          <a:xfrm>
            <a:off x="1504737" y="2620305"/>
            <a:ext cx="245791" cy="245791"/>
          </a:xfrm>
          <a:prstGeom prst="rect">
            <a:avLst/>
          </a:prstGeom>
        </p:spPr>
      </p:pic>
      <p:sp>
        <p:nvSpPr>
          <p:cNvPr id="12" name="Text 8"/>
          <p:cNvSpPr txBox="1"/>
          <p:nvPr/>
        </p:nvSpPr>
        <p:spPr>
          <a:xfrm>
            <a:off x="2057400" y="23774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Xalqaro bozorni tanlash va tahlil qilish</a:t>
            </a:r>
            <a:endParaRPr lang="en-US" sz="1600" dirty="0"/>
          </a:p>
        </p:txBody>
      </p:sp>
      <p:sp>
        <p:nvSpPr>
          <p:cNvPr id="13" name="Shape 9"/>
          <p:cNvSpPr/>
          <p:nvPr/>
        </p:nvSpPr>
        <p:spPr>
          <a:xfrm>
            <a:off x="548640" y="32918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Text 10"/>
          <p:cNvSpPr txBox="1"/>
          <p:nvPr/>
        </p:nvSpPr>
        <p:spPr>
          <a:xfrm>
            <a:off x="731520" y="32918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03</a:t>
            </a:r>
            <a:endParaRPr lang="en-US" sz="2400" dirty="0"/>
          </a:p>
        </p:txBody>
      </p:sp>
      <p:sp>
        <p:nvSpPr>
          <p:cNvPr id="15" name="Shape 11"/>
          <p:cNvSpPr/>
          <p:nvPr/>
        </p:nvSpPr>
        <p:spPr>
          <a:xfrm>
            <a:off x="1371600" y="3401568"/>
            <a:ext cx="512064" cy="512064"/>
          </a:xfrm>
          <a:prstGeom prst="ellipse">
            <a:avLst/>
          </a:prstGeom>
          <a:solidFill>
            <a:srgbClr val="0E9F9A"/>
          </a:solidFill>
          <a:ln w="12700">
            <a:solidFill>
              <a:srgbClr val="0E9F9A"/>
            </a:solidFill>
            <a:prstDash val="solid"/>
          </a:ln>
        </p:spPr>
      </p:sp>
      <p:pic>
        <p:nvPicPr>
          <p:cNvPr id="16" name="Image 2" descr="preencoded.png">    </p:cNvPr>
          <p:cNvPicPr>
            <a:picLocks noChangeAspect="1"/>
          </p:cNvPicPr>
          <p:nvPr/>
        </p:nvPicPr>
        <p:blipFill>
          <a:blip r:embed="rId3"/>
          <a:stretch>
            <a:fillRect/>
          </a:stretch>
        </p:blipFill>
        <p:spPr>
          <a:xfrm>
            <a:off x="1504737" y="3534705"/>
            <a:ext cx="245791" cy="245791"/>
          </a:xfrm>
          <a:prstGeom prst="rect">
            <a:avLst/>
          </a:prstGeom>
        </p:spPr>
      </p:pic>
      <p:sp>
        <p:nvSpPr>
          <p:cNvPr id="17" name="Text 12"/>
          <p:cNvSpPr txBox="1"/>
          <p:nvPr/>
        </p:nvSpPr>
        <p:spPr>
          <a:xfrm>
            <a:off x="2057400" y="32918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Xalqaro bozorlarga kirish strategiyalari</a:t>
            </a:r>
            <a:endParaRPr lang="en-US" sz="1600" dirty="0"/>
          </a:p>
        </p:txBody>
      </p:sp>
      <p:sp>
        <p:nvSpPr>
          <p:cNvPr id="18" name="Shape 13"/>
          <p:cNvSpPr/>
          <p:nvPr/>
        </p:nvSpPr>
        <p:spPr>
          <a:xfrm>
            <a:off x="548640" y="42062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Text 14"/>
          <p:cNvSpPr txBox="1"/>
          <p:nvPr/>
        </p:nvSpPr>
        <p:spPr>
          <a:xfrm>
            <a:off x="731520" y="42062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04</a:t>
            </a:r>
            <a:endParaRPr lang="en-US" sz="2400" dirty="0"/>
          </a:p>
        </p:txBody>
      </p:sp>
      <p:sp>
        <p:nvSpPr>
          <p:cNvPr id="20" name="Shape 15"/>
          <p:cNvSpPr/>
          <p:nvPr/>
        </p:nvSpPr>
        <p:spPr>
          <a:xfrm>
            <a:off x="1371600" y="4315968"/>
            <a:ext cx="512064" cy="512064"/>
          </a:xfrm>
          <a:prstGeom prst="ellipse">
            <a:avLst/>
          </a:prstGeom>
          <a:solidFill>
            <a:srgbClr val="0D2F4F"/>
          </a:solidFill>
          <a:ln w="12700">
            <a:solidFill>
              <a:srgbClr val="0D2F4F"/>
            </a:solidFill>
            <a:prstDash val="solid"/>
          </a:ln>
        </p:spPr>
      </p:sp>
      <p:pic>
        <p:nvPicPr>
          <p:cNvPr id="21" name="Image 3" descr="preencoded.png">    </p:cNvPr>
          <p:cNvPicPr>
            <a:picLocks noChangeAspect="1"/>
          </p:cNvPicPr>
          <p:nvPr/>
        </p:nvPicPr>
        <p:blipFill>
          <a:blip r:embed="rId4"/>
          <a:stretch>
            <a:fillRect/>
          </a:stretch>
        </p:blipFill>
        <p:spPr>
          <a:xfrm>
            <a:off x="1504737" y="4449105"/>
            <a:ext cx="245791" cy="245791"/>
          </a:xfrm>
          <a:prstGeom prst="rect">
            <a:avLst/>
          </a:prstGeom>
        </p:spPr>
      </p:pic>
      <p:sp>
        <p:nvSpPr>
          <p:cNvPr id="22" name="Text 16"/>
          <p:cNvSpPr txBox="1"/>
          <p:nvPr/>
        </p:nvSpPr>
        <p:spPr>
          <a:xfrm>
            <a:off x="2057400" y="42062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Eksport faoliyatini tashkil etish va rivojlantirish</a:t>
            </a:r>
            <a:endParaRPr lang="en-US" sz="1600" dirty="0"/>
          </a:p>
        </p:txBody>
      </p:sp>
      <p:sp>
        <p:nvSpPr>
          <p:cNvPr id="23" name="Shape 17"/>
          <p:cNvSpPr/>
          <p:nvPr/>
        </p:nvSpPr>
        <p:spPr>
          <a:xfrm>
            <a:off x="548640" y="51206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Text 18"/>
          <p:cNvSpPr txBox="1"/>
          <p:nvPr/>
        </p:nvSpPr>
        <p:spPr>
          <a:xfrm>
            <a:off x="731520" y="51206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05</a:t>
            </a:r>
            <a:endParaRPr lang="en-US" sz="2400" dirty="0"/>
          </a:p>
        </p:txBody>
      </p:sp>
      <p:sp>
        <p:nvSpPr>
          <p:cNvPr id="25" name="Shape 19"/>
          <p:cNvSpPr/>
          <p:nvPr/>
        </p:nvSpPr>
        <p:spPr>
          <a:xfrm>
            <a:off x="1371600" y="5230368"/>
            <a:ext cx="512064" cy="512064"/>
          </a:xfrm>
          <a:prstGeom prst="ellipse">
            <a:avLst/>
          </a:prstGeom>
          <a:solidFill>
            <a:srgbClr val="0E9F9A"/>
          </a:solidFill>
          <a:ln w="12700">
            <a:solidFill>
              <a:srgbClr val="0E9F9A"/>
            </a:solidFill>
            <a:prstDash val="solid"/>
          </a:ln>
        </p:spPr>
      </p:sp>
      <p:pic>
        <p:nvPicPr>
          <p:cNvPr id="26" name="Image 4" descr="preencoded.png">    </p:cNvPr>
          <p:cNvPicPr>
            <a:picLocks noChangeAspect="1"/>
          </p:cNvPicPr>
          <p:nvPr/>
        </p:nvPicPr>
        <p:blipFill>
          <a:blip r:embed="rId5"/>
          <a:stretch>
            <a:fillRect/>
          </a:stretch>
        </p:blipFill>
        <p:spPr>
          <a:xfrm>
            <a:off x="1504737" y="5363505"/>
            <a:ext cx="245791" cy="245791"/>
          </a:xfrm>
          <a:prstGeom prst="rect">
            <a:avLst/>
          </a:prstGeom>
        </p:spPr>
      </p:pic>
      <p:sp>
        <p:nvSpPr>
          <p:cNvPr id="27" name="Text 20"/>
          <p:cNvSpPr txBox="1"/>
          <p:nvPr/>
        </p:nvSpPr>
        <p:spPr>
          <a:xfrm>
            <a:off x="2057400" y="51206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Eksportni qo‘llab-quvvatlash va xatarlarni boshqarish</a:t>
            </a:r>
            <a:endParaRPr lang="en-US" sz="1600" dirty="0"/>
          </a:p>
        </p:txBody>
      </p:sp>
      <p:pic>
        <p:nvPicPr>
          <p:cNvPr id="28" name="Image 5" descr="img14/plan.png">    </p:cNvPr>
          <p:cNvPicPr>
            <a:picLocks noChangeAspect="1"/>
          </p:cNvPicPr>
          <p:nvPr/>
        </p:nvPicPr>
        <p:blipFill>
          <a:blip r:embed="rId6"/>
          <a:stretch>
            <a:fillRect/>
          </a:stretch>
        </p:blipFill>
        <p:spPr>
          <a:xfrm>
            <a:off x="7680960" y="1463040"/>
            <a:ext cx="3931920" cy="3054096"/>
          </a:xfrm>
          <a:prstGeom prst="rect">
            <a:avLst/>
          </a:prstGeom>
        </p:spPr>
      </p:pic>
      <p:sp>
        <p:nvSpPr>
          <p:cNvPr id="29" name="Text 21"/>
          <p:cNvSpPr txBox="1"/>
          <p:nvPr/>
        </p:nvSpPr>
        <p:spPr>
          <a:xfrm>
            <a:off x="7680960" y="4663440"/>
            <a:ext cx="3931920" cy="731520"/>
          </a:xfrm>
          <a:prstGeom prst="rect">
            <a:avLst/>
          </a:prstGeom>
          <a:noFill/>
          <a:ln/>
        </p:spPr>
        <p:txBody>
          <a:bodyPr wrap="square" lIns="0" tIns="0" rIns="0" bIns="0" rtlCol="0" anchor="ctr"/>
          <a:lstStyle/>
          <a:p>
            <a:pPr indent="0" marL="0">
              <a:buNone/>
            </a:pPr>
            <a:r>
              <a:rPr lang="en-US" sz="1400" i="1" dirty="0">
                <a:solidFill>
                  <a:srgbClr val="4A5B6C"/>
                </a:solidFill>
              </a:rPr>
              <a:t>Xulosa va asosiy xulosalar taqdimot so‘ngida beriladi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Xalqarolashuv va eksportning mohiyati</a:t>
            </a:r>
            <a:endParaRPr lang="en-US" sz="3000" dirty="0"/>
          </a:p>
        </p:txBody>
      </p:sp>
      <p:pic>
        <p:nvPicPr>
          <p:cNvPr id="3" name="Image 0" descr="img14/essence.png">    </p:cNvPr>
          <p:cNvPicPr>
            <a:picLocks noChangeAspect="1"/>
          </p:cNvPicPr>
          <p:nvPr/>
        </p:nvPicPr>
        <p:blipFill>
          <a:blip r:embed="rId1"/>
          <a:stretch>
            <a:fillRect/>
          </a:stretch>
        </p:blipFill>
        <p:spPr>
          <a:xfrm>
            <a:off x="548640" y="1371600"/>
            <a:ext cx="4206240" cy="3273552"/>
          </a:xfrm>
          <a:prstGeom prst="rect">
            <a:avLst/>
          </a:prstGeom>
        </p:spPr>
      </p:pic>
      <p:sp>
        <p:nvSpPr>
          <p:cNvPr id="4" name="Text 1"/>
          <p:cNvSpPr txBox="1"/>
          <p:nvPr/>
        </p:nvSpPr>
        <p:spPr>
          <a:xfrm>
            <a:off x="548640" y="4800600"/>
            <a:ext cx="4206240" cy="146304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Xalqarolashuv</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korxona faoliyatining milliy chegaralardan chiqib, xorijiy bozorlarda ishlab chiqarish, sotish va hamkorlik qilishi jarayoni. </a:t>
            </a:r>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Eksport</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mahsulot va xizmatlarni chet elga sotish bo‘lib, xalqarolashuvning eng keng tarqalgan va kam xatarli shaklidir.</a:t>
            </a:r>
            <a:endParaRPr lang="en-US" sz="1400" dirty="0"/>
          </a:p>
        </p:txBody>
      </p:sp>
      <p:sp>
        <p:nvSpPr>
          <p:cNvPr id="5" name="Text 2"/>
          <p:cNvSpPr txBox="1"/>
          <p:nvPr/>
        </p:nvSpPr>
        <p:spPr>
          <a:xfrm>
            <a:off x="5120640" y="1371600"/>
            <a:ext cx="6492240" cy="365760"/>
          </a:xfrm>
          <a:prstGeom prst="rect">
            <a:avLst/>
          </a:prstGeom>
          <a:noFill/>
          <a:ln/>
        </p:spPr>
        <p:txBody>
          <a:bodyPr wrap="square" lIns="0" tIns="0" rIns="0" bIns="0" rtlCol="0" anchor="ctr"/>
          <a:lstStyle/>
          <a:p>
            <a:pPr indent="0" marL="0">
              <a:buNone/>
            </a:pPr>
            <a:r>
              <a:rPr lang="en-US" sz="1600" b="1" dirty="0">
                <a:solidFill>
                  <a:srgbClr val="0D2F4F"/>
                </a:solidFill>
              </a:rPr>
              <a:t>Korxonani xalqaro bozorga undovchi sabablar:</a:t>
            </a:r>
            <a:endParaRPr lang="en-US" sz="1600" dirty="0"/>
          </a:p>
        </p:txBody>
      </p:sp>
      <p:sp>
        <p:nvSpPr>
          <p:cNvPr id="6" name="Shape 3"/>
          <p:cNvSpPr/>
          <p:nvPr/>
        </p:nvSpPr>
        <p:spPr>
          <a:xfrm>
            <a:off x="5120640" y="1920240"/>
            <a:ext cx="566928" cy="566928"/>
          </a:xfrm>
          <a:prstGeom prst="ellipse">
            <a:avLst/>
          </a:prstGeom>
          <a:solidFill>
            <a:srgbClr val="0E9F9A"/>
          </a:solidFill>
          <a:ln w="12700">
            <a:solidFill>
              <a:srgbClr val="0E9F9A"/>
            </a:solidFill>
            <a:prstDash val="solid"/>
          </a:ln>
        </p:spPr>
      </p:sp>
      <p:pic>
        <p:nvPicPr>
          <p:cNvPr id="7" name="Image 1" descr="preencoded.png">    </p:cNvPr>
          <p:cNvPicPr>
            <a:picLocks noChangeAspect="1"/>
          </p:cNvPicPr>
          <p:nvPr/>
        </p:nvPicPr>
        <p:blipFill>
          <a:blip r:embed="rId2"/>
          <a:stretch>
            <a:fillRect/>
          </a:stretch>
        </p:blipFill>
        <p:spPr>
          <a:xfrm>
            <a:off x="5268041" y="2067641"/>
            <a:ext cx="272125" cy="272125"/>
          </a:xfrm>
          <a:prstGeom prst="rect">
            <a:avLst/>
          </a:prstGeom>
        </p:spPr>
      </p:pic>
      <p:sp>
        <p:nvSpPr>
          <p:cNvPr id="8" name="Text 4"/>
          <p:cNvSpPr txBox="1"/>
          <p:nvPr/>
        </p:nvSpPr>
        <p:spPr>
          <a:xfrm>
            <a:off x="5852160" y="187452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Yangi bozorlar</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ichki bozor to‘yinganda sotuv hajmini oshirish imkoniyati.</a:t>
            </a:r>
            <a:endParaRPr lang="en-US" sz="1400" dirty="0"/>
          </a:p>
        </p:txBody>
      </p:sp>
      <p:sp>
        <p:nvSpPr>
          <p:cNvPr id="9" name="Shape 5"/>
          <p:cNvSpPr/>
          <p:nvPr/>
        </p:nvSpPr>
        <p:spPr>
          <a:xfrm>
            <a:off x="5120640" y="2788920"/>
            <a:ext cx="566928" cy="566928"/>
          </a:xfrm>
          <a:prstGeom prst="ellipse">
            <a:avLst/>
          </a:prstGeom>
          <a:solidFill>
            <a:srgbClr val="0D2F4F"/>
          </a:solidFill>
          <a:ln w="12700">
            <a:solidFill>
              <a:srgbClr val="0D2F4F"/>
            </a:solidFill>
            <a:prstDash val="solid"/>
          </a:ln>
        </p:spPr>
      </p:sp>
      <p:pic>
        <p:nvPicPr>
          <p:cNvPr id="10" name="Image 2" descr="preencoded.png">    </p:cNvPr>
          <p:cNvPicPr>
            <a:picLocks noChangeAspect="1"/>
          </p:cNvPicPr>
          <p:nvPr/>
        </p:nvPicPr>
        <p:blipFill>
          <a:blip r:embed="rId3"/>
          <a:stretch>
            <a:fillRect/>
          </a:stretch>
        </p:blipFill>
        <p:spPr>
          <a:xfrm>
            <a:off x="5268041" y="2936321"/>
            <a:ext cx="272125" cy="272125"/>
          </a:xfrm>
          <a:prstGeom prst="rect">
            <a:avLst/>
          </a:prstGeom>
        </p:spPr>
      </p:pic>
      <p:sp>
        <p:nvSpPr>
          <p:cNvPr id="11" name="Text 6"/>
          <p:cNvSpPr txBox="1"/>
          <p:nvPr/>
        </p:nvSpPr>
        <p:spPr>
          <a:xfrm>
            <a:off x="5852160" y="274320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Masshtab samarasi</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ishlab chiqarish hajmi ortishi bilan tannarxning pasayishi.</a:t>
            </a:r>
            <a:endParaRPr lang="en-US" sz="1400" dirty="0"/>
          </a:p>
        </p:txBody>
      </p:sp>
      <p:sp>
        <p:nvSpPr>
          <p:cNvPr id="12" name="Shape 7"/>
          <p:cNvSpPr/>
          <p:nvPr/>
        </p:nvSpPr>
        <p:spPr>
          <a:xfrm>
            <a:off x="5120640" y="3657600"/>
            <a:ext cx="566928" cy="566928"/>
          </a:xfrm>
          <a:prstGeom prst="ellipse">
            <a:avLst/>
          </a:prstGeom>
          <a:solidFill>
            <a:srgbClr val="0E9F9A"/>
          </a:solidFill>
          <a:ln w="12700">
            <a:solidFill>
              <a:srgbClr val="0E9F9A"/>
            </a:solidFill>
            <a:prstDash val="solid"/>
          </a:ln>
        </p:spPr>
      </p:sp>
      <p:pic>
        <p:nvPicPr>
          <p:cNvPr id="13" name="Image 3" descr="preencoded.png">    </p:cNvPr>
          <p:cNvPicPr>
            <a:picLocks noChangeAspect="1"/>
          </p:cNvPicPr>
          <p:nvPr/>
        </p:nvPicPr>
        <p:blipFill>
          <a:blip r:embed="rId4"/>
          <a:stretch>
            <a:fillRect/>
          </a:stretch>
        </p:blipFill>
        <p:spPr>
          <a:xfrm>
            <a:off x="5268041" y="3805001"/>
            <a:ext cx="272125" cy="272125"/>
          </a:xfrm>
          <a:prstGeom prst="rect">
            <a:avLst/>
          </a:prstGeom>
        </p:spPr>
      </p:pic>
      <p:sp>
        <p:nvSpPr>
          <p:cNvPr id="14" name="Text 8"/>
          <p:cNvSpPr txBox="1"/>
          <p:nvPr/>
        </p:nvSpPr>
        <p:spPr>
          <a:xfrm>
            <a:off x="5852160" y="361188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Xatarni diversifikatsiya qilish</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bir bozordagi tanazzulni boshqa bozor daromadi bilan qoplash.</a:t>
            </a:r>
            <a:endParaRPr lang="en-US" sz="1400" dirty="0"/>
          </a:p>
        </p:txBody>
      </p:sp>
      <p:sp>
        <p:nvSpPr>
          <p:cNvPr id="15" name="Shape 9"/>
          <p:cNvSpPr/>
          <p:nvPr/>
        </p:nvSpPr>
        <p:spPr>
          <a:xfrm>
            <a:off x="5120640" y="4526280"/>
            <a:ext cx="566928" cy="566928"/>
          </a:xfrm>
          <a:prstGeom prst="ellipse">
            <a:avLst/>
          </a:prstGeom>
          <a:solidFill>
            <a:srgbClr val="0D2F4F"/>
          </a:solidFill>
          <a:ln w="12700">
            <a:solidFill>
              <a:srgbClr val="0D2F4F"/>
            </a:solidFill>
            <a:prstDash val="solid"/>
          </a:ln>
        </p:spPr>
      </p:sp>
      <p:pic>
        <p:nvPicPr>
          <p:cNvPr id="16" name="Image 4" descr="preencoded.png">    </p:cNvPr>
          <p:cNvPicPr>
            <a:picLocks noChangeAspect="1"/>
          </p:cNvPicPr>
          <p:nvPr/>
        </p:nvPicPr>
        <p:blipFill>
          <a:blip r:embed="rId5"/>
          <a:stretch>
            <a:fillRect/>
          </a:stretch>
        </p:blipFill>
        <p:spPr>
          <a:xfrm>
            <a:off x="5268041" y="4673681"/>
            <a:ext cx="272125" cy="272125"/>
          </a:xfrm>
          <a:prstGeom prst="rect">
            <a:avLst/>
          </a:prstGeom>
        </p:spPr>
      </p:pic>
      <p:sp>
        <p:nvSpPr>
          <p:cNvPr id="17" name="Text 10"/>
          <p:cNvSpPr txBox="1"/>
          <p:nvPr/>
        </p:nvSpPr>
        <p:spPr>
          <a:xfrm>
            <a:off x="5852160" y="448056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Valyuta tushumi</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xorijiy valyutada daromad olish va import xarajatlarini qoplash.</a:t>
            </a:r>
            <a:endParaRPr lang="en-US" sz="1400" dirty="0"/>
          </a:p>
        </p:txBody>
      </p:sp>
      <p:sp>
        <p:nvSpPr>
          <p:cNvPr id="18" name="Shape 11"/>
          <p:cNvSpPr/>
          <p:nvPr/>
        </p:nvSpPr>
        <p:spPr>
          <a:xfrm>
            <a:off x="5120640" y="5394960"/>
            <a:ext cx="566928" cy="566928"/>
          </a:xfrm>
          <a:prstGeom prst="ellipse">
            <a:avLst/>
          </a:prstGeom>
          <a:solidFill>
            <a:srgbClr val="0E9F9A"/>
          </a:solidFill>
          <a:ln w="12700">
            <a:solidFill>
              <a:srgbClr val="0E9F9A"/>
            </a:solidFill>
            <a:prstDash val="solid"/>
          </a:ln>
        </p:spPr>
      </p:sp>
      <p:pic>
        <p:nvPicPr>
          <p:cNvPr id="19" name="Image 5" descr="preencoded.png">    </p:cNvPr>
          <p:cNvPicPr>
            <a:picLocks noChangeAspect="1"/>
          </p:cNvPicPr>
          <p:nvPr/>
        </p:nvPicPr>
        <p:blipFill>
          <a:blip r:embed="rId6"/>
          <a:stretch>
            <a:fillRect/>
          </a:stretch>
        </p:blipFill>
        <p:spPr>
          <a:xfrm>
            <a:off x="5268041" y="5542361"/>
            <a:ext cx="272125" cy="272125"/>
          </a:xfrm>
          <a:prstGeom prst="rect">
            <a:avLst/>
          </a:prstGeom>
        </p:spPr>
      </p:pic>
      <p:sp>
        <p:nvSpPr>
          <p:cNvPr id="20" name="Text 12"/>
          <p:cNvSpPr txBox="1"/>
          <p:nvPr/>
        </p:nvSpPr>
        <p:spPr>
          <a:xfrm>
            <a:off x="5852160" y="534924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Raqobatbardoshlikni oshirish</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xalqaro standartlar va kuchli raqobat korxonani takomillashtiradi.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Xalqaro savdo va xalqarolashuv nazariyalari</a:t>
            </a:r>
            <a:endParaRPr lang="en-US" sz="3000" dirty="0"/>
          </a:p>
        </p:txBody>
      </p:sp>
      <p:sp>
        <p:nvSpPr>
          <p:cNvPr id="3" name="Text 1"/>
          <p:cNvSpPr txBox="1"/>
          <p:nvPr/>
        </p:nvSpPr>
        <p:spPr>
          <a:xfrm>
            <a:off x="548640" y="1371600"/>
            <a:ext cx="6766560" cy="178308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Xalqaro savdo nazariyalari mamlakatlar va korxonalar nima uchun va qanday mahsulotlarni eksport qilishini tushuntiradi. Zamonaviy korxonalar uchun bu nazariyalar qaysi mahsulot bilan qaysi bozorga chiqish kerakligini aniqlashda yo‘l-yo‘riq beradi.</a:t>
            </a:r>
            <a:endParaRPr lang="en-US" sz="1400" dirty="0"/>
          </a:p>
        </p:txBody>
      </p:sp>
      <p:sp>
        <p:nvSpPr>
          <p:cNvPr id="4" name="Shape 2"/>
          <p:cNvSpPr/>
          <p:nvPr/>
        </p:nvSpPr>
        <p:spPr>
          <a:xfrm>
            <a:off x="548640" y="3246120"/>
            <a:ext cx="1143000" cy="548640"/>
          </a:xfrm>
          <a:prstGeom prst="roundRect">
            <a:avLst>
              <a:gd name="adj" fmla="val 16667"/>
            </a:avLst>
          </a:prstGeom>
          <a:solidFill>
            <a:srgbClr val="0E9F9A"/>
          </a:solidFill>
          <a:ln w="12700">
            <a:solidFill>
              <a:srgbClr val="0E9F9A"/>
            </a:solidFill>
            <a:prstDash val="solid"/>
          </a:ln>
        </p:spPr>
      </p:sp>
      <p:sp>
        <p:nvSpPr>
          <p:cNvPr id="5" name="Text 3"/>
          <p:cNvSpPr txBox="1"/>
          <p:nvPr/>
        </p:nvSpPr>
        <p:spPr>
          <a:xfrm>
            <a:off x="548640" y="324612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1776</a:t>
            </a:r>
            <a:endParaRPr lang="en-US" sz="1500" dirty="0"/>
          </a:p>
        </p:txBody>
      </p:sp>
      <p:sp>
        <p:nvSpPr>
          <p:cNvPr id="6" name="Text 4"/>
          <p:cNvSpPr txBox="1"/>
          <p:nvPr/>
        </p:nvSpPr>
        <p:spPr>
          <a:xfrm>
            <a:off x="1874520" y="320954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A. Smit – </a:t>
            </a:r>
            <a:pPr indent="0" marL="0">
              <a:buNone/>
            </a:pPr>
            <a:r>
              <a:rPr lang="en-US" sz="1400" dirty="0">
                <a:solidFill>
                  <a:srgbClr val="1B2A3A"/>
                </a:solidFill>
                <a:latin typeface="Calibri" pitchFamily="34" charset="0"/>
                <a:ea typeface="Calibri" pitchFamily="34" charset="-122"/>
                <a:cs typeface="Calibri" pitchFamily="34" charset="-120"/>
              </a:rPr>
              <a:t>absolyut ustunlik: har bir mamlakat eng arzon ishlab chiqaradigan mahsulotiga ixtisoslashadi</a:t>
            </a:r>
            <a:endParaRPr lang="en-US" sz="1400" dirty="0"/>
          </a:p>
        </p:txBody>
      </p:sp>
      <p:sp>
        <p:nvSpPr>
          <p:cNvPr id="7" name="Shape 5"/>
          <p:cNvSpPr/>
          <p:nvPr/>
        </p:nvSpPr>
        <p:spPr>
          <a:xfrm>
            <a:off x="548640" y="3977640"/>
            <a:ext cx="1143000" cy="548640"/>
          </a:xfrm>
          <a:prstGeom prst="roundRect">
            <a:avLst>
              <a:gd name="adj" fmla="val 16667"/>
            </a:avLst>
          </a:prstGeom>
          <a:solidFill>
            <a:srgbClr val="0D2F4F"/>
          </a:solidFill>
          <a:ln w="12700">
            <a:solidFill>
              <a:srgbClr val="0D2F4F"/>
            </a:solidFill>
            <a:prstDash val="solid"/>
          </a:ln>
        </p:spPr>
      </p:sp>
      <p:sp>
        <p:nvSpPr>
          <p:cNvPr id="8" name="Text 6"/>
          <p:cNvSpPr txBox="1"/>
          <p:nvPr/>
        </p:nvSpPr>
        <p:spPr>
          <a:xfrm>
            <a:off x="548640" y="397764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1817</a:t>
            </a:r>
            <a:endParaRPr lang="en-US" sz="1500" dirty="0"/>
          </a:p>
        </p:txBody>
      </p:sp>
      <p:sp>
        <p:nvSpPr>
          <p:cNvPr id="9" name="Text 7"/>
          <p:cNvSpPr txBox="1"/>
          <p:nvPr/>
        </p:nvSpPr>
        <p:spPr>
          <a:xfrm>
            <a:off x="1874520" y="394106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D. Rikardo – </a:t>
            </a:r>
            <a:pPr indent="0" marL="0">
              <a:buNone/>
            </a:pPr>
            <a:r>
              <a:rPr lang="en-US" sz="1400" dirty="0">
                <a:solidFill>
                  <a:srgbClr val="1B2A3A"/>
                </a:solidFill>
                <a:latin typeface="Calibri" pitchFamily="34" charset="0"/>
                <a:ea typeface="Calibri" pitchFamily="34" charset="-122"/>
                <a:cs typeface="Calibri" pitchFamily="34" charset="-120"/>
              </a:rPr>
              <a:t>nisbiy ustunlik: savdo hatto mutlaq ustunlik bo‘lmaganda ham foydali</a:t>
            </a:r>
            <a:endParaRPr lang="en-US" sz="1400" dirty="0"/>
          </a:p>
        </p:txBody>
      </p:sp>
      <p:sp>
        <p:nvSpPr>
          <p:cNvPr id="10" name="Shape 8"/>
          <p:cNvSpPr/>
          <p:nvPr/>
        </p:nvSpPr>
        <p:spPr>
          <a:xfrm>
            <a:off x="548640" y="4709160"/>
            <a:ext cx="1143000" cy="548640"/>
          </a:xfrm>
          <a:prstGeom prst="roundRect">
            <a:avLst>
              <a:gd name="adj" fmla="val 16667"/>
            </a:avLst>
          </a:prstGeom>
          <a:solidFill>
            <a:srgbClr val="0E9F9A"/>
          </a:solidFill>
          <a:ln w="12700">
            <a:solidFill>
              <a:srgbClr val="0E9F9A"/>
            </a:solidFill>
            <a:prstDash val="solid"/>
          </a:ln>
        </p:spPr>
      </p:sp>
      <p:sp>
        <p:nvSpPr>
          <p:cNvPr id="11" name="Text 9"/>
          <p:cNvSpPr txBox="1"/>
          <p:nvPr/>
        </p:nvSpPr>
        <p:spPr>
          <a:xfrm>
            <a:off x="548640" y="470916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1977</a:t>
            </a:r>
            <a:endParaRPr lang="en-US" sz="1500" dirty="0"/>
          </a:p>
        </p:txBody>
      </p:sp>
      <p:sp>
        <p:nvSpPr>
          <p:cNvPr id="12" name="Text 10"/>
          <p:cNvSpPr txBox="1"/>
          <p:nvPr/>
        </p:nvSpPr>
        <p:spPr>
          <a:xfrm>
            <a:off x="1874520" y="467258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Uppsala modeli – </a:t>
            </a:r>
            <a:pPr indent="0" marL="0">
              <a:buNone/>
            </a:pPr>
            <a:r>
              <a:rPr lang="en-US" sz="1400" dirty="0">
                <a:solidFill>
                  <a:srgbClr val="1B2A3A"/>
                </a:solidFill>
                <a:latin typeface="Calibri" pitchFamily="34" charset="0"/>
                <a:ea typeface="Calibri" pitchFamily="34" charset="-122"/>
                <a:cs typeface="Calibri" pitchFamily="34" charset="-120"/>
              </a:rPr>
              <a:t>korxona xalqaro bozorga bosqichma-bosqich, yaqin bozorlardan boshlab chiqadi</a:t>
            </a:r>
            <a:endParaRPr lang="en-US" sz="1400" dirty="0"/>
          </a:p>
        </p:txBody>
      </p:sp>
      <p:sp>
        <p:nvSpPr>
          <p:cNvPr id="13" name="Shape 11"/>
          <p:cNvSpPr/>
          <p:nvPr/>
        </p:nvSpPr>
        <p:spPr>
          <a:xfrm>
            <a:off x="548640" y="5440680"/>
            <a:ext cx="1143000" cy="548640"/>
          </a:xfrm>
          <a:prstGeom prst="roundRect">
            <a:avLst>
              <a:gd name="adj" fmla="val 16667"/>
            </a:avLst>
          </a:prstGeom>
          <a:solidFill>
            <a:srgbClr val="0D2F4F"/>
          </a:solidFill>
          <a:ln w="12700">
            <a:solidFill>
              <a:srgbClr val="0D2F4F"/>
            </a:solidFill>
            <a:prstDash val="solid"/>
          </a:ln>
        </p:spPr>
      </p:sp>
      <p:sp>
        <p:nvSpPr>
          <p:cNvPr id="14" name="Text 12"/>
          <p:cNvSpPr txBox="1"/>
          <p:nvPr/>
        </p:nvSpPr>
        <p:spPr>
          <a:xfrm>
            <a:off x="548640" y="544068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1990</a:t>
            </a:r>
            <a:endParaRPr lang="en-US" sz="1500" dirty="0"/>
          </a:p>
        </p:txBody>
      </p:sp>
      <p:sp>
        <p:nvSpPr>
          <p:cNvPr id="15" name="Text 13"/>
          <p:cNvSpPr txBox="1"/>
          <p:nvPr/>
        </p:nvSpPr>
        <p:spPr>
          <a:xfrm>
            <a:off x="1874520" y="540410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M. Porter – </a:t>
            </a:r>
            <a:pPr indent="0" marL="0">
              <a:buNone/>
            </a:pPr>
            <a:r>
              <a:rPr lang="en-US" sz="1400" dirty="0">
                <a:solidFill>
                  <a:srgbClr val="1B2A3A"/>
                </a:solidFill>
                <a:latin typeface="Calibri" pitchFamily="34" charset="0"/>
                <a:ea typeface="Calibri" pitchFamily="34" charset="-122"/>
                <a:cs typeface="Calibri" pitchFamily="34" charset="-120"/>
              </a:rPr>
              <a:t>“raqobat olmosi” – milliy raqobat ustunligini belgilovchi 4 omil</a:t>
            </a:r>
            <a:endParaRPr lang="en-US" sz="1400" dirty="0"/>
          </a:p>
        </p:txBody>
      </p:sp>
      <p:pic>
        <p:nvPicPr>
          <p:cNvPr id="16" name="Image 0" descr="img14/history.png">    </p:cNvPr>
          <p:cNvPicPr>
            <a:picLocks noChangeAspect="1"/>
          </p:cNvPicPr>
          <p:nvPr/>
        </p:nvPicPr>
        <p:blipFill>
          <a:blip r:embed="rId1"/>
          <a:stretch>
            <a:fillRect/>
          </a:stretch>
        </p:blipFill>
        <p:spPr>
          <a:xfrm>
            <a:off x="7680960" y="1371600"/>
            <a:ext cx="3931920" cy="3054096"/>
          </a:xfrm>
          <a:prstGeom prst="rect">
            <a:avLst/>
          </a:prstGeom>
        </p:spPr>
      </p:pic>
      <p:sp>
        <p:nvSpPr>
          <p:cNvPr id="17" name="Shape 14"/>
          <p:cNvSpPr/>
          <p:nvPr/>
        </p:nvSpPr>
        <p:spPr>
          <a:xfrm>
            <a:off x="7680960" y="4617720"/>
            <a:ext cx="3931920" cy="1554480"/>
          </a:xfrm>
          <a:prstGeom prst="roundRect">
            <a:avLst>
              <a:gd name="adj" fmla="val 7059"/>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8" name="Text 15"/>
          <p:cNvSpPr txBox="1"/>
          <p:nvPr/>
        </p:nvSpPr>
        <p:spPr>
          <a:xfrm>
            <a:off x="7863840" y="4663440"/>
            <a:ext cx="3566160" cy="146304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Uppsala modeli</a:t>
            </a:r>
            <a:pPr indent="0" marL="0">
              <a:buNone/>
            </a:pPr>
            <a:r>
              <a:rPr lang="en-US" sz="1400" dirty="0">
                <a:solidFill>
                  <a:srgbClr val="1B2A3A"/>
                </a:solidFill>
                <a:latin typeface="Calibri" pitchFamily="34" charset="0"/>
                <a:ea typeface="Calibri" pitchFamily="34" charset="-122"/>
                <a:cs typeface="Calibri" pitchFamily="34" charset="-120"/>
              </a:rPr>
              <a:t> (Yu. Yuxanson va Ya.-E. Valne): tajriba orttirilgan sari korxona xorijga ko‘proq resurs ajratadi.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Xalqaro bozorni tanlash va tahlil qilish bosqichlari</a:t>
            </a:r>
            <a:endParaRPr lang="en-US" sz="3000" dirty="0"/>
          </a:p>
        </p:txBody>
      </p:sp>
      <p:sp>
        <p:nvSpPr>
          <p:cNvPr id="3" name="Shape 1"/>
          <p:cNvSpPr/>
          <p:nvPr/>
        </p:nvSpPr>
        <p:spPr>
          <a:xfrm>
            <a:off x="548640" y="1371600"/>
            <a:ext cx="2212848" cy="685800"/>
          </a:xfrm>
          <a:prstGeom prst="homePlate">
            <a:avLst/>
          </a:prstGeom>
          <a:solidFill>
            <a:srgbClr val="0E9F9A"/>
          </a:solidFill>
          <a:ln w="12700">
            <a:solidFill>
              <a:srgbClr val="FFFFFF"/>
            </a:solidFill>
            <a:prstDash val="solid"/>
          </a:ln>
        </p:spPr>
      </p:sp>
      <p:sp>
        <p:nvSpPr>
          <p:cNvPr id="4" name="Text 2"/>
          <p:cNvSpPr txBox="1"/>
          <p:nvPr/>
        </p:nvSpPr>
        <p:spPr>
          <a:xfrm>
            <a:off x="731520"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1-bosqich</a:t>
            </a:r>
            <a:endParaRPr lang="en-US" sz="1400" dirty="0"/>
          </a:p>
        </p:txBody>
      </p:sp>
      <p:sp>
        <p:nvSpPr>
          <p:cNvPr id="5" name="Shape 3"/>
          <p:cNvSpPr/>
          <p:nvPr/>
        </p:nvSpPr>
        <p:spPr>
          <a:xfrm>
            <a:off x="594360"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6" name="Shape 4"/>
          <p:cNvSpPr/>
          <p:nvPr/>
        </p:nvSpPr>
        <p:spPr>
          <a:xfrm>
            <a:off x="731520" y="2377440"/>
            <a:ext cx="457200" cy="45720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850392" y="2496312"/>
            <a:ext cx="219456" cy="219456"/>
          </a:xfrm>
          <a:prstGeom prst="rect">
            <a:avLst/>
          </a:prstGeom>
        </p:spPr>
      </p:pic>
      <p:sp>
        <p:nvSpPr>
          <p:cNvPr id="8" name="Text 5"/>
          <p:cNvSpPr txBox="1"/>
          <p:nvPr/>
        </p:nvSpPr>
        <p:spPr>
          <a:xfrm>
            <a:off x="1280160"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Dastlabki saralash</a:t>
            </a:r>
            <a:endParaRPr lang="en-US" sz="1350" dirty="0"/>
          </a:p>
        </p:txBody>
      </p:sp>
      <p:sp>
        <p:nvSpPr>
          <p:cNvPr id="9" name="Text 6"/>
          <p:cNvSpPr txBox="1"/>
          <p:nvPr/>
        </p:nvSpPr>
        <p:spPr>
          <a:xfrm>
            <a:off x="731520"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aholi soni, YaIM, import hajmi, siyosiy barqarorlik bo‘yicha</a:t>
            </a:r>
            <a:endParaRPr lang="en-US" sz="1300" dirty="0"/>
          </a:p>
        </p:txBody>
      </p:sp>
      <p:sp>
        <p:nvSpPr>
          <p:cNvPr id="10" name="Shape 7"/>
          <p:cNvSpPr/>
          <p:nvPr/>
        </p:nvSpPr>
        <p:spPr>
          <a:xfrm>
            <a:off x="2761488" y="1371600"/>
            <a:ext cx="2212848" cy="685800"/>
          </a:xfrm>
          <a:prstGeom prst="chevron">
            <a:avLst/>
          </a:prstGeom>
          <a:solidFill>
            <a:srgbClr val="0D2F4F"/>
          </a:solidFill>
          <a:ln w="12700">
            <a:solidFill>
              <a:srgbClr val="FFFFFF"/>
            </a:solidFill>
            <a:prstDash val="solid"/>
          </a:ln>
        </p:spPr>
      </p:sp>
      <p:sp>
        <p:nvSpPr>
          <p:cNvPr id="11" name="Text 8"/>
          <p:cNvSpPr txBox="1"/>
          <p:nvPr/>
        </p:nvSpPr>
        <p:spPr>
          <a:xfrm>
            <a:off x="3218688"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2-bosqich</a:t>
            </a:r>
            <a:endParaRPr lang="en-US" sz="1400" dirty="0"/>
          </a:p>
        </p:txBody>
      </p:sp>
      <p:sp>
        <p:nvSpPr>
          <p:cNvPr id="12" name="Shape 9"/>
          <p:cNvSpPr/>
          <p:nvPr/>
        </p:nvSpPr>
        <p:spPr>
          <a:xfrm>
            <a:off x="2807208"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0"/>
          <p:cNvSpPr/>
          <p:nvPr/>
        </p:nvSpPr>
        <p:spPr>
          <a:xfrm>
            <a:off x="2944368" y="2377440"/>
            <a:ext cx="457200" cy="457200"/>
          </a:xfrm>
          <a:prstGeom prst="ellipse">
            <a:avLst/>
          </a:prstGeom>
          <a:solidFill>
            <a:srgbClr val="F2A541"/>
          </a:solidFill>
          <a:ln w="12700">
            <a:solidFill>
              <a:srgbClr val="F2A541"/>
            </a:solidFill>
            <a:prstDash val="solid"/>
          </a:ln>
        </p:spPr>
      </p:sp>
      <p:pic>
        <p:nvPicPr>
          <p:cNvPr id="14" name="Image 1" descr="preencoded.png">    </p:cNvPr>
          <p:cNvPicPr>
            <a:picLocks noChangeAspect="1"/>
          </p:cNvPicPr>
          <p:nvPr/>
        </p:nvPicPr>
        <p:blipFill>
          <a:blip r:embed="rId2"/>
          <a:stretch>
            <a:fillRect/>
          </a:stretch>
        </p:blipFill>
        <p:spPr>
          <a:xfrm>
            <a:off x="3063240" y="2496312"/>
            <a:ext cx="219456" cy="219456"/>
          </a:xfrm>
          <a:prstGeom prst="rect">
            <a:avLst/>
          </a:prstGeom>
        </p:spPr>
      </p:pic>
      <p:sp>
        <p:nvSpPr>
          <p:cNvPr id="15" name="Text 11"/>
          <p:cNvSpPr txBox="1"/>
          <p:nvPr/>
        </p:nvSpPr>
        <p:spPr>
          <a:xfrm>
            <a:off x="3493008"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Chuqur tahlil</a:t>
            </a:r>
            <a:endParaRPr lang="en-US" sz="1350" dirty="0"/>
          </a:p>
        </p:txBody>
      </p:sp>
      <p:sp>
        <p:nvSpPr>
          <p:cNvPr id="16" name="Text 12"/>
          <p:cNvSpPr txBox="1"/>
          <p:nvPr/>
        </p:nvSpPr>
        <p:spPr>
          <a:xfrm>
            <a:off x="2944368"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PESTEL, talab, iste’mol odatlari, narxlar darajasi</a:t>
            </a:r>
            <a:endParaRPr lang="en-US" sz="1300" dirty="0"/>
          </a:p>
        </p:txBody>
      </p:sp>
      <p:sp>
        <p:nvSpPr>
          <p:cNvPr id="17" name="Shape 13"/>
          <p:cNvSpPr/>
          <p:nvPr/>
        </p:nvSpPr>
        <p:spPr>
          <a:xfrm>
            <a:off x="4974336" y="1371600"/>
            <a:ext cx="2212848" cy="685800"/>
          </a:xfrm>
          <a:prstGeom prst="chevron">
            <a:avLst/>
          </a:prstGeom>
          <a:solidFill>
            <a:srgbClr val="0E9F9A"/>
          </a:solidFill>
          <a:ln w="12700">
            <a:solidFill>
              <a:srgbClr val="FFFFFF"/>
            </a:solidFill>
            <a:prstDash val="solid"/>
          </a:ln>
        </p:spPr>
      </p:sp>
      <p:sp>
        <p:nvSpPr>
          <p:cNvPr id="18" name="Text 14"/>
          <p:cNvSpPr txBox="1"/>
          <p:nvPr/>
        </p:nvSpPr>
        <p:spPr>
          <a:xfrm>
            <a:off x="5431536"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3-bosqich</a:t>
            </a:r>
            <a:endParaRPr lang="en-US" sz="1400" dirty="0"/>
          </a:p>
        </p:txBody>
      </p:sp>
      <p:sp>
        <p:nvSpPr>
          <p:cNvPr id="19" name="Shape 15"/>
          <p:cNvSpPr/>
          <p:nvPr/>
        </p:nvSpPr>
        <p:spPr>
          <a:xfrm>
            <a:off x="5020056"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0" name="Shape 16"/>
          <p:cNvSpPr/>
          <p:nvPr/>
        </p:nvSpPr>
        <p:spPr>
          <a:xfrm>
            <a:off x="5157216" y="2377440"/>
            <a:ext cx="457200" cy="457200"/>
          </a:xfrm>
          <a:prstGeom prst="ellipse">
            <a:avLst/>
          </a:prstGeom>
          <a:solidFill>
            <a:srgbClr val="F2A541"/>
          </a:solidFill>
          <a:ln w="12700">
            <a:solidFill>
              <a:srgbClr val="F2A541"/>
            </a:solidFill>
            <a:prstDash val="solid"/>
          </a:ln>
        </p:spPr>
      </p:sp>
      <p:pic>
        <p:nvPicPr>
          <p:cNvPr id="21" name="Image 2" descr="preencoded.png">    </p:cNvPr>
          <p:cNvPicPr>
            <a:picLocks noChangeAspect="1"/>
          </p:cNvPicPr>
          <p:nvPr/>
        </p:nvPicPr>
        <p:blipFill>
          <a:blip r:embed="rId3"/>
          <a:stretch>
            <a:fillRect/>
          </a:stretch>
        </p:blipFill>
        <p:spPr>
          <a:xfrm>
            <a:off x="5276088" y="2496312"/>
            <a:ext cx="219456" cy="219456"/>
          </a:xfrm>
          <a:prstGeom prst="rect">
            <a:avLst/>
          </a:prstGeom>
        </p:spPr>
      </p:pic>
      <p:sp>
        <p:nvSpPr>
          <p:cNvPr id="22" name="Text 17"/>
          <p:cNvSpPr txBox="1"/>
          <p:nvPr/>
        </p:nvSpPr>
        <p:spPr>
          <a:xfrm>
            <a:off x="5705856"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Raqobat va to‘siqlar</a:t>
            </a:r>
            <a:endParaRPr lang="en-US" sz="1350" dirty="0"/>
          </a:p>
        </p:txBody>
      </p:sp>
      <p:sp>
        <p:nvSpPr>
          <p:cNvPr id="23" name="Text 18"/>
          <p:cNvSpPr txBox="1"/>
          <p:nvPr/>
        </p:nvSpPr>
        <p:spPr>
          <a:xfrm>
            <a:off x="5157216"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raqobatchilar, bojxona tariflari, sertifikat talablari</a:t>
            </a:r>
            <a:endParaRPr lang="en-US" sz="1300" dirty="0"/>
          </a:p>
        </p:txBody>
      </p:sp>
      <p:sp>
        <p:nvSpPr>
          <p:cNvPr id="24" name="Shape 19"/>
          <p:cNvSpPr/>
          <p:nvPr/>
        </p:nvSpPr>
        <p:spPr>
          <a:xfrm>
            <a:off x="7187184" y="1371600"/>
            <a:ext cx="2212848" cy="685800"/>
          </a:xfrm>
          <a:prstGeom prst="chevron">
            <a:avLst/>
          </a:prstGeom>
          <a:solidFill>
            <a:srgbClr val="0D2F4F"/>
          </a:solidFill>
          <a:ln w="12700">
            <a:solidFill>
              <a:srgbClr val="FFFFFF"/>
            </a:solidFill>
            <a:prstDash val="solid"/>
          </a:ln>
        </p:spPr>
      </p:sp>
      <p:sp>
        <p:nvSpPr>
          <p:cNvPr id="25" name="Text 20"/>
          <p:cNvSpPr txBox="1"/>
          <p:nvPr/>
        </p:nvSpPr>
        <p:spPr>
          <a:xfrm>
            <a:off x="7644384"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4-bosqich</a:t>
            </a:r>
            <a:endParaRPr lang="en-US" sz="1400" dirty="0"/>
          </a:p>
        </p:txBody>
      </p:sp>
      <p:sp>
        <p:nvSpPr>
          <p:cNvPr id="26" name="Shape 21"/>
          <p:cNvSpPr/>
          <p:nvPr/>
        </p:nvSpPr>
        <p:spPr>
          <a:xfrm>
            <a:off x="7232904"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7" name="Shape 22"/>
          <p:cNvSpPr/>
          <p:nvPr/>
        </p:nvSpPr>
        <p:spPr>
          <a:xfrm>
            <a:off x="7370064" y="2377440"/>
            <a:ext cx="457200" cy="457200"/>
          </a:xfrm>
          <a:prstGeom prst="ellipse">
            <a:avLst/>
          </a:prstGeom>
          <a:solidFill>
            <a:srgbClr val="F2A541"/>
          </a:solidFill>
          <a:ln w="12700">
            <a:solidFill>
              <a:srgbClr val="F2A541"/>
            </a:solidFill>
            <a:prstDash val="solid"/>
          </a:ln>
        </p:spPr>
      </p:sp>
      <p:pic>
        <p:nvPicPr>
          <p:cNvPr id="28" name="Image 3" descr="preencoded.png">    </p:cNvPr>
          <p:cNvPicPr>
            <a:picLocks noChangeAspect="1"/>
          </p:cNvPicPr>
          <p:nvPr/>
        </p:nvPicPr>
        <p:blipFill>
          <a:blip r:embed="rId4"/>
          <a:stretch>
            <a:fillRect/>
          </a:stretch>
        </p:blipFill>
        <p:spPr>
          <a:xfrm>
            <a:off x="7488936" y="2496312"/>
            <a:ext cx="219456" cy="219456"/>
          </a:xfrm>
          <a:prstGeom prst="rect">
            <a:avLst/>
          </a:prstGeom>
        </p:spPr>
      </p:pic>
      <p:sp>
        <p:nvSpPr>
          <p:cNvPr id="29" name="Text 23"/>
          <p:cNvSpPr txBox="1"/>
          <p:nvPr/>
        </p:nvSpPr>
        <p:spPr>
          <a:xfrm>
            <a:off x="7918704"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Baholash va tanlash</a:t>
            </a:r>
            <a:endParaRPr lang="en-US" sz="1350" dirty="0"/>
          </a:p>
        </p:txBody>
      </p:sp>
      <p:sp>
        <p:nvSpPr>
          <p:cNvPr id="30" name="Text 24"/>
          <p:cNvSpPr txBox="1"/>
          <p:nvPr/>
        </p:nvSpPr>
        <p:spPr>
          <a:xfrm>
            <a:off x="7370064"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bozorlarni ball usulida taqqoslab, ustuvorlarini aniqlash</a:t>
            </a:r>
            <a:endParaRPr lang="en-US" sz="1300" dirty="0"/>
          </a:p>
        </p:txBody>
      </p:sp>
      <p:sp>
        <p:nvSpPr>
          <p:cNvPr id="31" name="Shape 25"/>
          <p:cNvSpPr/>
          <p:nvPr/>
        </p:nvSpPr>
        <p:spPr>
          <a:xfrm>
            <a:off x="9400032" y="1371600"/>
            <a:ext cx="2212848" cy="685800"/>
          </a:xfrm>
          <a:prstGeom prst="chevron">
            <a:avLst/>
          </a:prstGeom>
          <a:solidFill>
            <a:srgbClr val="0E9F9A"/>
          </a:solidFill>
          <a:ln w="12700">
            <a:solidFill>
              <a:srgbClr val="FFFFFF"/>
            </a:solidFill>
            <a:prstDash val="solid"/>
          </a:ln>
        </p:spPr>
      </p:sp>
      <p:sp>
        <p:nvSpPr>
          <p:cNvPr id="32" name="Text 26"/>
          <p:cNvSpPr txBox="1"/>
          <p:nvPr/>
        </p:nvSpPr>
        <p:spPr>
          <a:xfrm>
            <a:off x="9857232"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5-bosqich</a:t>
            </a:r>
            <a:endParaRPr lang="en-US" sz="1400" dirty="0"/>
          </a:p>
        </p:txBody>
      </p:sp>
      <p:sp>
        <p:nvSpPr>
          <p:cNvPr id="33" name="Shape 27"/>
          <p:cNvSpPr/>
          <p:nvPr/>
        </p:nvSpPr>
        <p:spPr>
          <a:xfrm>
            <a:off x="9445752"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4" name="Shape 28"/>
          <p:cNvSpPr/>
          <p:nvPr/>
        </p:nvSpPr>
        <p:spPr>
          <a:xfrm>
            <a:off x="9582912" y="2377440"/>
            <a:ext cx="457200" cy="457200"/>
          </a:xfrm>
          <a:prstGeom prst="ellipse">
            <a:avLst/>
          </a:prstGeom>
          <a:solidFill>
            <a:srgbClr val="F2A541"/>
          </a:solidFill>
          <a:ln w="12700">
            <a:solidFill>
              <a:srgbClr val="F2A541"/>
            </a:solidFill>
            <a:prstDash val="solid"/>
          </a:ln>
        </p:spPr>
      </p:sp>
      <p:pic>
        <p:nvPicPr>
          <p:cNvPr id="35" name="Image 4" descr="preencoded.png">    </p:cNvPr>
          <p:cNvPicPr>
            <a:picLocks noChangeAspect="1"/>
          </p:cNvPicPr>
          <p:nvPr/>
        </p:nvPicPr>
        <p:blipFill>
          <a:blip r:embed="rId5"/>
          <a:stretch>
            <a:fillRect/>
          </a:stretch>
        </p:blipFill>
        <p:spPr>
          <a:xfrm>
            <a:off x="9701784" y="2496312"/>
            <a:ext cx="219456" cy="219456"/>
          </a:xfrm>
          <a:prstGeom prst="rect">
            <a:avLst/>
          </a:prstGeom>
        </p:spPr>
      </p:pic>
      <p:sp>
        <p:nvSpPr>
          <p:cNvPr id="36" name="Text 29"/>
          <p:cNvSpPr txBox="1"/>
          <p:nvPr/>
        </p:nvSpPr>
        <p:spPr>
          <a:xfrm>
            <a:off x="10131552"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Kirish rejasi</a:t>
            </a:r>
            <a:endParaRPr lang="en-US" sz="1350" dirty="0"/>
          </a:p>
        </p:txBody>
      </p:sp>
      <p:sp>
        <p:nvSpPr>
          <p:cNvPr id="37" name="Text 30"/>
          <p:cNvSpPr txBox="1"/>
          <p:nvPr/>
        </p:nvSpPr>
        <p:spPr>
          <a:xfrm>
            <a:off x="9582912"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kirish usuli, narx, hamkorlar, byudjet va muddatlar</a:t>
            </a:r>
            <a:endParaRPr lang="en-US" sz="1300" dirty="0"/>
          </a:p>
        </p:txBody>
      </p:sp>
      <p:pic>
        <p:nvPicPr>
          <p:cNvPr id="38" name="Image 5" descr="img14/steps.png">    </p:cNvPr>
          <p:cNvPicPr>
            <a:picLocks noChangeAspect="1"/>
          </p:cNvPicPr>
          <p:nvPr/>
        </p:nvPicPr>
        <p:blipFill>
          <a:blip r:embed="rId6"/>
          <a:stretch>
            <a:fillRect/>
          </a:stretch>
        </p:blipFill>
        <p:spPr>
          <a:xfrm>
            <a:off x="548640" y="4526280"/>
            <a:ext cx="2194560" cy="1709928"/>
          </a:xfrm>
          <a:prstGeom prst="rect">
            <a:avLst/>
          </a:prstGeom>
        </p:spPr>
      </p:pic>
      <p:sp>
        <p:nvSpPr>
          <p:cNvPr id="39" name="Text 31"/>
          <p:cNvSpPr txBox="1"/>
          <p:nvPr/>
        </p:nvSpPr>
        <p:spPr>
          <a:xfrm>
            <a:off x="3017520" y="4526280"/>
            <a:ext cx="8595360" cy="17373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Bozorlarni taqqoslashda P. Gemavatning (2001) </a:t>
            </a:r>
            <a:pPr indent="0" marL="0">
              <a:buNone/>
            </a:pPr>
            <a:r>
              <a:rPr lang="en-US" sz="1400" b="1" dirty="0">
                <a:solidFill>
                  <a:srgbClr val="0E9F9A"/>
                </a:solidFill>
                <a:latin typeface="Calibri" pitchFamily="34" charset="0"/>
                <a:ea typeface="Calibri" pitchFamily="34" charset="-122"/>
                <a:cs typeface="Calibri" pitchFamily="34" charset="-120"/>
              </a:rPr>
              <a:t>CAGE modeli</a:t>
            </a:r>
            <a:pPr indent="0" marL="0">
              <a:buNone/>
            </a:pPr>
            <a:r>
              <a:rPr lang="en-US" sz="1400" dirty="0">
                <a:solidFill>
                  <a:srgbClr val="1B2A3A"/>
                </a:solidFill>
                <a:latin typeface="Calibri" pitchFamily="34" charset="0"/>
                <a:ea typeface="Calibri" pitchFamily="34" charset="-122"/>
                <a:cs typeface="Calibri" pitchFamily="34" charset="-120"/>
              </a:rPr>
              <a:t> qo‘llaniladi: mamlakatlar orasidagi </a:t>
            </a:r>
            <a:pPr indent="0" marL="0">
              <a:buNone/>
            </a:pPr>
            <a:r>
              <a:rPr lang="en-US" sz="1400" b="1" dirty="0">
                <a:solidFill>
                  <a:srgbClr val="0E9F9A"/>
                </a:solidFill>
                <a:latin typeface="Calibri" pitchFamily="34" charset="0"/>
                <a:ea typeface="Calibri" pitchFamily="34" charset="-122"/>
                <a:cs typeface="Calibri" pitchFamily="34" charset="-120"/>
              </a:rPr>
              <a:t>madaniy</a:t>
            </a:r>
            <a:pPr indent="0" marL="0">
              <a:buNone/>
            </a:pPr>
            <a:r>
              <a:rPr lang="en-US" sz="1400" dirty="0">
                <a:solidFill>
                  <a:srgbClr val="1B2A3A"/>
                </a:solidFill>
                <a:latin typeface="Calibri" pitchFamily="34" charset="0"/>
                <a:ea typeface="Calibri" pitchFamily="34" charset="-122"/>
                <a:cs typeface="Calibri" pitchFamily="34" charset="-120"/>
              </a:rPr>
              <a:t> (til, din, qadriyatlar), </a:t>
            </a:r>
            <a:pPr indent="0" marL="0">
              <a:buNone/>
            </a:pPr>
            <a:r>
              <a:rPr lang="en-US" sz="1400" b="1" dirty="0">
                <a:solidFill>
                  <a:srgbClr val="0E9F9A"/>
                </a:solidFill>
                <a:latin typeface="Calibri" pitchFamily="34" charset="0"/>
                <a:ea typeface="Calibri" pitchFamily="34" charset="-122"/>
                <a:cs typeface="Calibri" pitchFamily="34" charset="-120"/>
              </a:rPr>
              <a:t>ma’muriy</a:t>
            </a:r>
            <a:pPr indent="0" marL="0">
              <a:buNone/>
            </a:pPr>
            <a:r>
              <a:rPr lang="en-US" sz="1400" dirty="0">
                <a:solidFill>
                  <a:srgbClr val="1B2A3A"/>
                </a:solidFill>
                <a:latin typeface="Calibri" pitchFamily="34" charset="0"/>
                <a:ea typeface="Calibri" pitchFamily="34" charset="-122"/>
                <a:cs typeface="Calibri" pitchFamily="34" charset="-120"/>
              </a:rPr>
              <a:t> (savdo bitimlari, valyuta), </a:t>
            </a:r>
            <a:pPr indent="0" marL="0">
              <a:buNone/>
            </a:pPr>
            <a:r>
              <a:rPr lang="en-US" sz="1400" b="1" dirty="0">
                <a:solidFill>
                  <a:srgbClr val="0E9F9A"/>
                </a:solidFill>
                <a:latin typeface="Calibri" pitchFamily="34" charset="0"/>
                <a:ea typeface="Calibri" pitchFamily="34" charset="-122"/>
                <a:cs typeface="Calibri" pitchFamily="34" charset="-120"/>
              </a:rPr>
              <a:t>geografik</a:t>
            </a:r>
            <a:pPr indent="0" marL="0">
              <a:buNone/>
            </a:pPr>
            <a:r>
              <a:rPr lang="en-US" sz="1400" dirty="0">
                <a:solidFill>
                  <a:srgbClr val="1B2A3A"/>
                </a:solidFill>
                <a:latin typeface="Calibri" pitchFamily="34" charset="0"/>
                <a:ea typeface="Calibri" pitchFamily="34" charset="-122"/>
                <a:cs typeface="Calibri" pitchFamily="34" charset="-120"/>
              </a:rPr>
              <a:t> (masofa, transport) va </a:t>
            </a:r>
            <a:pPr indent="0" marL="0">
              <a:buNone/>
            </a:pPr>
            <a:r>
              <a:rPr lang="en-US" sz="1400" b="1" dirty="0">
                <a:solidFill>
                  <a:srgbClr val="0E9F9A"/>
                </a:solidFill>
                <a:latin typeface="Calibri" pitchFamily="34" charset="0"/>
                <a:ea typeface="Calibri" pitchFamily="34" charset="-122"/>
                <a:cs typeface="Calibri" pitchFamily="34" charset="-120"/>
              </a:rPr>
              <a:t>iqtisodiy</a:t>
            </a:r>
            <a:pPr indent="0" marL="0">
              <a:buNone/>
            </a:pPr>
            <a:r>
              <a:rPr lang="en-US" sz="1400" dirty="0">
                <a:solidFill>
                  <a:srgbClr val="1B2A3A"/>
                </a:solidFill>
                <a:latin typeface="Calibri" pitchFamily="34" charset="0"/>
                <a:ea typeface="Calibri" pitchFamily="34" charset="-122"/>
                <a:cs typeface="Calibri" pitchFamily="34" charset="-120"/>
              </a:rPr>
              <a:t> (daromad, xarajatlar) “masofa” qanchalik kichik bo‘lsa, bozorga kirish shunchalik oson. Shu sababli ko‘plab O‘zbekiston korxonalari eksportni qo‘shni va MDH bozorlaridan boshlaydi.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Xalqaro bozorga kirish strategiyalari</a:t>
            </a:r>
            <a:endParaRPr lang="en-US" sz="3000" dirty="0"/>
          </a:p>
        </p:txBody>
      </p:sp>
      <p:pic>
        <p:nvPicPr>
          <p:cNvPr id="3" name="Image 0" descr="img14/modes.png">    </p:cNvPr>
          <p:cNvPicPr>
            <a:picLocks noChangeAspect="1"/>
          </p:cNvPicPr>
          <p:nvPr/>
        </p:nvPicPr>
        <p:blipFill>
          <a:blip r:embed="rId1"/>
          <a:stretch>
            <a:fillRect/>
          </a:stretch>
        </p:blipFill>
        <p:spPr>
          <a:xfrm>
            <a:off x="548640" y="1371600"/>
            <a:ext cx="3200400" cy="4114800"/>
          </a:xfrm>
          <a:prstGeom prst="rect">
            <a:avLst/>
          </a:prstGeom>
        </p:spPr>
      </p:pic>
      <p:sp>
        <p:nvSpPr>
          <p:cNvPr id="4" name="Text 1"/>
          <p:cNvSpPr txBox="1"/>
          <p:nvPr/>
        </p:nvSpPr>
        <p:spPr>
          <a:xfrm>
            <a:off x="548640" y="5577840"/>
            <a:ext cx="3200400" cy="594360"/>
          </a:xfrm>
          <a:prstGeom prst="rect">
            <a:avLst/>
          </a:prstGeom>
          <a:noFill/>
          <a:ln/>
        </p:spPr>
        <p:txBody>
          <a:bodyPr wrap="square" lIns="0" tIns="0" rIns="0" bIns="0" rtlCol="0" anchor="ctr"/>
          <a:lstStyle/>
          <a:p>
            <a:pPr indent="0" marL="0">
              <a:buNone/>
            </a:pPr>
            <a:r>
              <a:rPr lang="en-US" sz="1200" i="1" dirty="0">
                <a:solidFill>
                  <a:srgbClr val="4A5B6C"/>
                </a:solidFill>
              </a:rPr>
              <a:t>Nazorat darajasi oshgan sari xatar va investitsiya hajmi ham ortadi</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0" y="1371600"/>
          <a:ext cx="7498080" cy="914400"/>
        </p:xfrm>
        <a:graphic>
          <a:graphicData uri="http://schemas.openxmlformats.org/drawingml/2006/table">
            <a:tbl>
              <a:tblPr/>
              <a:tblGrid>
                <a:gridCol w="1783080"/>
                <a:gridCol w="3337560"/>
                <a:gridCol w="1097280"/>
                <a:gridCol w="1280160"/>
              </a:tblGrid>
              <a:tr h="548640">
                <a:tc>
                  <a:txBody>
                    <a:bodyPr/>
                    <a:lstStyle/>
                    <a:p>
                      <a:pPr algn="l" indent="0" marL="0">
                        <a:buNone/>
                      </a:pPr>
                      <a:r>
                        <a:rPr lang="en-US" sz="1300" b="1" dirty="0">
                          <a:solidFill>
                            <a:srgbClr val="FFFFFF"/>
                          </a:solidFill>
                        </a:rPr>
                        <a:t>Kirish usuli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Mohiyati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Nazorat</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Xatar va xarajat</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r>
              <a:tr h="548640">
                <a:tc>
                  <a:txBody>
                    <a:bodyPr/>
                    <a:lstStyle/>
                    <a:p>
                      <a:pPr algn="l" indent="0" marL="0">
                        <a:buNone/>
                      </a:pPr>
                      <a:r>
                        <a:rPr lang="en-US" sz="1250" b="1" dirty="0">
                          <a:solidFill>
                            <a:srgbClr val="0D2F4F"/>
                          </a:solidFill>
                        </a:rPr>
                        <a:t>Bilvosita eksport</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mahalliy vositachi yoki savdo uyi orqali sotish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past</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past</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To‘g‘ridan-to‘g‘ri eksport</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xorijiy xaridor yoki distributor bilan bevosita ishlash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o‘rta</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past–o‘rta</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0D2F4F"/>
                          </a:solidFill>
                        </a:rPr>
                        <a:t>Litsenziyalash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texnologiya yoki brendga huquqni haq evaziga berish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past</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past</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Franchayzing</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biznes modelini to‘liq paket sifatida berish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o‘rta</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past–o‘rta</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0D2F4F"/>
                          </a:solidFill>
                        </a:rPr>
                        <a:t>Qo‘shma korxona</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xorijiy hamkor bilan birgalikda korxona tashkil etish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o‘rta–yuqori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o‘rta–yuqori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To‘g‘ridan-to‘g‘ri investitsiya</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xorijda o‘z filiali yoki zavodini qurish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yuqori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yuqori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bl>
          </a:graphicData>
        </a:graphic>
      </p:graphicFrame>
      <p:sp>
        <p:nvSpPr>
          <p:cNvPr id="6" name="Shape 2"/>
          <p:cNvSpPr/>
          <p:nvPr/>
        </p:nvSpPr>
        <p:spPr>
          <a:xfrm>
            <a:off x="4114800" y="5486400"/>
            <a:ext cx="7498080" cy="731520"/>
          </a:xfrm>
          <a:prstGeom prst="roundRect">
            <a:avLst>
              <a:gd name="adj" fmla="val 15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7" name="Text 3"/>
          <p:cNvSpPr txBox="1"/>
          <p:nvPr/>
        </p:nvSpPr>
        <p:spPr>
          <a:xfrm>
            <a:off x="4297680" y="5532120"/>
            <a:ext cx="7132320" cy="640080"/>
          </a:xfrm>
          <a:prstGeom prst="rect">
            <a:avLst/>
          </a:prstGeom>
          <a:noFill/>
          <a:ln/>
        </p:spPr>
        <p:txBody>
          <a:bodyPr wrap="square" lIns="0" tIns="0" rIns="0" bIns="0" rtlCol="0" anchor="ctr"/>
          <a:lstStyle/>
          <a:p>
            <a:pPr indent="0" marL="0">
              <a:buNone/>
            </a:pPr>
            <a:r>
              <a:rPr lang="en-US" sz="1400" dirty="0">
                <a:solidFill>
                  <a:srgbClr val="1B2A3A"/>
                </a:solidFill>
                <a:latin typeface="Calibri" pitchFamily="34" charset="0"/>
                <a:ea typeface="Calibri" pitchFamily="34" charset="-122"/>
                <a:cs typeface="Calibri" pitchFamily="34" charset="-120"/>
              </a:rPr>
              <a:t>Ko‘pchilik korxonalar </a:t>
            </a:r>
            <a:pPr indent="0" marL="0">
              <a:buNone/>
            </a:pPr>
            <a:r>
              <a:rPr lang="en-US" sz="1400" b="1" dirty="0">
                <a:solidFill>
                  <a:srgbClr val="0D2F4F"/>
                </a:solidFill>
                <a:latin typeface="Calibri" pitchFamily="34" charset="0"/>
                <a:ea typeface="Calibri" pitchFamily="34" charset="-122"/>
                <a:cs typeface="Calibri" pitchFamily="34" charset="-120"/>
              </a:rPr>
              <a:t>eksportdan boshlab</a:t>
            </a:r>
            <a:pPr indent="0" marL="0">
              <a:buNone/>
            </a:pPr>
            <a:r>
              <a:rPr lang="en-US" sz="1400" dirty="0">
                <a:solidFill>
                  <a:srgbClr val="1B2A3A"/>
                </a:solidFill>
                <a:latin typeface="Calibri" pitchFamily="34" charset="0"/>
                <a:ea typeface="Calibri" pitchFamily="34" charset="-122"/>
                <a:cs typeface="Calibri" pitchFamily="34" charset="-120"/>
              </a:rPr>
              <a:t>, tajriba ortgan sari yuqori nazoratli shakllarga o‘tadi.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Xalqaro marketing strategiyasi</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Xorijiy bozorda muvaffaqiyat qozonish uchun korxona mahsulot va marketingni qanchalik moslashtirishni hal qilishi kerak:</a:t>
            </a:r>
            <a:endParaRPr lang="en-US" sz="1400" dirty="0"/>
          </a:p>
        </p:txBody>
      </p:sp>
      <p:sp>
        <p:nvSpPr>
          <p:cNvPr id="4" name="Shape 2"/>
          <p:cNvSpPr/>
          <p:nvPr/>
        </p:nvSpPr>
        <p:spPr>
          <a:xfrm>
            <a:off x="548640" y="5532120"/>
            <a:ext cx="11064240" cy="685800"/>
          </a:xfrm>
          <a:prstGeom prst="roundRect">
            <a:avLst>
              <a:gd name="adj" fmla="val 16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731520" y="5577840"/>
            <a:ext cx="10698480" cy="5943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Misol:</a:t>
            </a:r>
            <a:pPr indent="0" marL="0">
              <a:buNone/>
            </a:pPr>
            <a:r>
              <a:rPr lang="en-US" sz="1400" dirty="0">
                <a:solidFill>
                  <a:srgbClr val="1B2A3A"/>
                </a:solidFill>
                <a:latin typeface="Calibri" pitchFamily="34" charset="0"/>
                <a:ea typeface="Calibri" pitchFamily="34" charset="-122"/>
                <a:cs typeface="Calibri" pitchFamily="34" charset="-120"/>
              </a:rPr>
              <a:t> xalqaro fast-fud tarmoqlari menyusini har bir mamlakat ta’miga moslashtiradi, lekin brend va standartlar yagona qoladi.</a:t>
            </a:r>
            <a:endParaRPr lang="en-US" sz="1400" dirty="0"/>
          </a:p>
        </p:txBody>
      </p:sp>
      <p:sp>
        <p:nvSpPr>
          <p:cNvPr id="6" name="Shape 4"/>
          <p:cNvSpPr/>
          <p:nvPr/>
        </p:nvSpPr>
        <p:spPr>
          <a:xfrm>
            <a:off x="54864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7" name="Shape 5"/>
          <p:cNvSpPr/>
          <p:nvPr/>
        </p:nvSpPr>
        <p:spPr>
          <a:xfrm>
            <a:off x="822960" y="2468880"/>
            <a:ext cx="731520" cy="731520"/>
          </a:xfrm>
          <a:prstGeom prst="ellipse">
            <a:avLst/>
          </a:prstGeom>
          <a:solidFill>
            <a:srgbClr val="0D2F4F"/>
          </a:solidFill>
          <a:ln w="12700">
            <a:solidFill>
              <a:srgbClr val="0D2F4F"/>
            </a:solidFill>
            <a:prstDash val="solid"/>
          </a:ln>
        </p:spPr>
      </p:sp>
      <p:pic>
        <p:nvPicPr>
          <p:cNvPr id="8" name="Image 0" descr="preencoded.png">    </p:cNvPr>
          <p:cNvPicPr>
            <a:picLocks noChangeAspect="1"/>
          </p:cNvPicPr>
          <p:nvPr/>
        </p:nvPicPr>
        <p:blipFill>
          <a:blip r:embed="rId1"/>
          <a:stretch>
            <a:fillRect/>
          </a:stretch>
        </p:blipFill>
        <p:spPr>
          <a:xfrm>
            <a:off x="1013155" y="2659075"/>
            <a:ext cx="351130" cy="351130"/>
          </a:xfrm>
          <a:prstGeom prst="rect">
            <a:avLst/>
          </a:prstGeom>
        </p:spPr>
      </p:pic>
      <p:sp>
        <p:nvSpPr>
          <p:cNvPr id="9" name="Text 6"/>
          <p:cNvSpPr txBox="1"/>
          <p:nvPr/>
        </p:nvSpPr>
        <p:spPr>
          <a:xfrm>
            <a:off x="169164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Standartlashtirish</a:t>
            </a:r>
            <a:endParaRPr lang="en-US" sz="1700" dirty="0"/>
          </a:p>
        </p:txBody>
      </p:sp>
      <p:sp>
        <p:nvSpPr>
          <p:cNvPr id="10" name="Text 7"/>
          <p:cNvSpPr txBox="1"/>
          <p:nvPr/>
        </p:nvSpPr>
        <p:spPr>
          <a:xfrm>
            <a:off x="169164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hamma bozorda bir xil mahsulot</a:t>
            </a:r>
            <a:endParaRPr lang="en-US" sz="1200" dirty="0"/>
          </a:p>
        </p:txBody>
      </p:sp>
      <p:sp>
        <p:nvSpPr>
          <p:cNvPr id="11" name="Text 8"/>
          <p:cNvSpPr txBox="1"/>
          <p:nvPr/>
        </p:nvSpPr>
        <p:spPr>
          <a:xfrm>
            <a:off x="82296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masshtab samarasi, past xarajat</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yagona global brend</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texnik va sanoat mahsulotlari uchun mos</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mahalliy talabni yo‘qotish xavfi</a:t>
            </a:r>
            <a:endParaRPr lang="en-US" sz="1400" dirty="0"/>
          </a:p>
        </p:txBody>
      </p:sp>
      <p:sp>
        <p:nvSpPr>
          <p:cNvPr id="12" name="Shape 9"/>
          <p:cNvSpPr/>
          <p:nvPr/>
        </p:nvSpPr>
        <p:spPr>
          <a:xfrm>
            <a:off x="434340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0"/>
          <p:cNvSpPr/>
          <p:nvPr/>
        </p:nvSpPr>
        <p:spPr>
          <a:xfrm>
            <a:off x="4617720" y="2468880"/>
            <a:ext cx="731520" cy="731520"/>
          </a:xfrm>
          <a:prstGeom prst="ellipse">
            <a:avLst/>
          </a:prstGeom>
          <a:solidFill>
            <a:srgbClr val="0E9F9A"/>
          </a:solidFill>
          <a:ln w="12700">
            <a:solidFill>
              <a:srgbClr val="0E9F9A"/>
            </a:solidFill>
            <a:prstDash val="solid"/>
          </a:ln>
        </p:spPr>
      </p:sp>
      <p:pic>
        <p:nvPicPr>
          <p:cNvPr id="14" name="Image 1" descr="preencoded.png">    </p:cNvPr>
          <p:cNvPicPr>
            <a:picLocks noChangeAspect="1"/>
          </p:cNvPicPr>
          <p:nvPr/>
        </p:nvPicPr>
        <p:blipFill>
          <a:blip r:embed="rId2"/>
          <a:stretch>
            <a:fillRect/>
          </a:stretch>
        </p:blipFill>
        <p:spPr>
          <a:xfrm>
            <a:off x="4807915" y="2659075"/>
            <a:ext cx="351130" cy="351130"/>
          </a:xfrm>
          <a:prstGeom prst="rect">
            <a:avLst/>
          </a:prstGeom>
        </p:spPr>
      </p:pic>
      <p:sp>
        <p:nvSpPr>
          <p:cNvPr id="15" name="Text 11"/>
          <p:cNvSpPr txBox="1"/>
          <p:nvPr/>
        </p:nvSpPr>
        <p:spPr>
          <a:xfrm>
            <a:off x="548640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Moslashtirish</a:t>
            </a:r>
            <a:endParaRPr lang="en-US" sz="1700" dirty="0"/>
          </a:p>
        </p:txBody>
      </p:sp>
      <p:sp>
        <p:nvSpPr>
          <p:cNvPr id="16" name="Text 12"/>
          <p:cNvSpPr txBox="1"/>
          <p:nvPr/>
        </p:nvSpPr>
        <p:spPr>
          <a:xfrm>
            <a:off x="548640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har bir bozorga alohida yondashuv</a:t>
            </a:r>
            <a:endParaRPr lang="en-US" sz="1200" dirty="0"/>
          </a:p>
        </p:txBody>
      </p:sp>
      <p:sp>
        <p:nvSpPr>
          <p:cNvPr id="17" name="Text 13"/>
          <p:cNvSpPr txBox="1"/>
          <p:nvPr/>
        </p:nvSpPr>
        <p:spPr>
          <a:xfrm>
            <a:off x="461772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mahalliy did va odatlarga mos</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til, qadoq, standartlarga moslash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oziq-ovqat, kiyim uchun muhim</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xarajatlar yuqoriroq</a:t>
            </a:r>
            <a:endParaRPr lang="en-US" sz="1400" dirty="0"/>
          </a:p>
        </p:txBody>
      </p:sp>
      <p:sp>
        <p:nvSpPr>
          <p:cNvPr id="18" name="Shape 14"/>
          <p:cNvSpPr/>
          <p:nvPr/>
        </p:nvSpPr>
        <p:spPr>
          <a:xfrm>
            <a:off x="813816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Shape 15"/>
          <p:cNvSpPr/>
          <p:nvPr/>
        </p:nvSpPr>
        <p:spPr>
          <a:xfrm>
            <a:off x="8412480" y="2468880"/>
            <a:ext cx="731520" cy="731520"/>
          </a:xfrm>
          <a:prstGeom prst="ellipse">
            <a:avLst/>
          </a:prstGeom>
          <a:solidFill>
            <a:srgbClr val="3B6EA5"/>
          </a:solidFill>
          <a:ln w="12700">
            <a:solidFill>
              <a:srgbClr val="3B6EA5"/>
            </a:solidFill>
            <a:prstDash val="solid"/>
          </a:ln>
        </p:spPr>
      </p:sp>
      <p:pic>
        <p:nvPicPr>
          <p:cNvPr id="20" name="Image 2" descr="preencoded.png">    </p:cNvPr>
          <p:cNvPicPr>
            <a:picLocks noChangeAspect="1"/>
          </p:cNvPicPr>
          <p:nvPr/>
        </p:nvPicPr>
        <p:blipFill>
          <a:blip r:embed="rId3"/>
          <a:stretch>
            <a:fillRect/>
          </a:stretch>
        </p:blipFill>
        <p:spPr>
          <a:xfrm>
            <a:off x="8602675" y="2659075"/>
            <a:ext cx="351130" cy="351130"/>
          </a:xfrm>
          <a:prstGeom prst="rect">
            <a:avLst/>
          </a:prstGeom>
        </p:spPr>
      </p:pic>
      <p:sp>
        <p:nvSpPr>
          <p:cNvPr id="21" name="Text 16"/>
          <p:cNvSpPr txBox="1"/>
          <p:nvPr/>
        </p:nvSpPr>
        <p:spPr>
          <a:xfrm>
            <a:off x="928116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Glokalizatsiya</a:t>
            </a:r>
            <a:endParaRPr lang="en-US" sz="1700" dirty="0"/>
          </a:p>
        </p:txBody>
      </p:sp>
      <p:sp>
        <p:nvSpPr>
          <p:cNvPr id="22" name="Text 17"/>
          <p:cNvSpPr txBox="1"/>
          <p:nvPr/>
        </p:nvSpPr>
        <p:spPr>
          <a:xfrm>
            <a:off x="928116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“global o‘yla, mahalliy harakat qil”</a:t>
            </a:r>
            <a:endParaRPr lang="en-US" sz="1200" dirty="0"/>
          </a:p>
        </p:txBody>
      </p:sp>
      <p:sp>
        <p:nvSpPr>
          <p:cNvPr id="23" name="Text 18"/>
          <p:cNvSpPr txBox="1"/>
          <p:nvPr/>
        </p:nvSpPr>
        <p:spPr>
          <a:xfrm>
            <a:off x="841248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global brend + mahalliy moslashuv</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asosiy mahsulot bir xil</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marketing va assortiment mahalliy</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eng ko‘p qo‘llaniladigan yondashuv</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Eksport faoliyatini tashkil etish</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Eksportni muvaffaqiyatli yo‘lga qo‘yish uchun korxona quyidagi tashkiliy va texnik masalalarni hal qilishi kerak:</a:t>
            </a:r>
            <a:endParaRPr lang="en-US" sz="1400" dirty="0"/>
          </a:p>
        </p:txBody>
      </p:sp>
      <p:sp>
        <p:nvSpPr>
          <p:cNvPr id="4" name="Shape 2"/>
          <p:cNvSpPr/>
          <p:nvPr/>
        </p:nvSpPr>
        <p:spPr>
          <a:xfrm>
            <a:off x="548640" y="210312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Shape 3"/>
          <p:cNvSpPr/>
          <p:nvPr/>
        </p:nvSpPr>
        <p:spPr>
          <a:xfrm>
            <a:off x="731520" y="2286000"/>
            <a:ext cx="594360" cy="594360"/>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886054" y="2440534"/>
            <a:ext cx="285293" cy="285293"/>
          </a:xfrm>
          <a:prstGeom prst="rect">
            <a:avLst/>
          </a:prstGeom>
        </p:spPr>
      </p:pic>
      <p:sp>
        <p:nvSpPr>
          <p:cNvPr id="7" name="Text 4"/>
          <p:cNvSpPr txBox="1"/>
          <p:nvPr/>
        </p:nvSpPr>
        <p:spPr>
          <a:xfrm>
            <a:off x="3337560" y="224028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01</a:t>
            </a:r>
            <a:endParaRPr lang="en-US" sz="2000" dirty="0"/>
          </a:p>
        </p:txBody>
      </p:sp>
      <p:sp>
        <p:nvSpPr>
          <p:cNvPr id="8" name="Text 5"/>
          <p:cNvSpPr txBox="1"/>
          <p:nvPr/>
        </p:nvSpPr>
        <p:spPr>
          <a:xfrm>
            <a:off x="1463040" y="228600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Eksport bo‘limi</a:t>
            </a:r>
            <a:endParaRPr lang="en-US" sz="1550" dirty="0"/>
          </a:p>
        </p:txBody>
      </p:sp>
      <p:sp>
        <p:nvSpPr>
          <p:cNvPr id="9" name="Text 6"/>
          <p:cNvSpPr txBox="1"/>
          <p:nvPr/>
        </p:nvSpPr>
        <p:spPr>
          <a:xfrm>
            <a:off x="731520" y="297180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tashqi savdo mutaxassislari, xorijiy til va xalqaro huquqni biluvchi xodimlar.</a:t>
            </a:r>
            <a:endParaRPr lang="en-US" sz="1350" dirty="0"/>
          </a:p>
        </p:txBody>
      </p:sp>
      <p:sp>
        <p:nvSpPr>
          <p:cNvPr id="10" name="Shape 7"/>
          <p:cNvSpPr/>
          <p:nvPr/>
        </p:nvSpPr>
        <p:spPr>
          <a:xfrm>
            <a:off x="4343400" y="210312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1" name="Shape 8"/>
          <p:cNvSpPr/>
          <p:nvPr/>
        </p:nvSpPr>
        <p:spPr>
          <a:xfrm>
            <a:off x="4526280" y="2286000"/>
            <a:ext cx="594360" cy="594360"/>
          </a:xfrm>
          <a:prstGeom prst="ellipse">
            <a:avLst/>
          </a:prstGeom>
          <a:solidFill>
            <a:srgbClr val="0D2F4F"/>
          </a:solidFill>
          <a:ln w="12700">
            <a:solidFill>
              <a:srgbClr val="0D2F4F"/>
            </a:solidFill>
            <a:prstDash val="solid"/>
          </a:ln>
        </p:spPr>
      </p:sp>
      <p:pic>
        <p:nvPicPr>
          <p:cNvPr id="12" name="Image 1" descr="preencoded.png">    </p:cNvPr>
          <p:cNvPicPr>
            <a:picLocks noChangeAspect="1"/>
          </p:cNvPicPr>
          <p:nvPr/>
        </p:nvPicPr>
        <p:blipFill>
          <a:blip r:embed="rId2"/>
          <a:stretch>
            <a:fillRect/>
          </a:stretch>
        </p:blipFill>
        <p:spPr>
          <a:xfrm>
            <a:off x="4680814" y="2440534"/>
            <a:ext cx="285293" cy="285293"/>
          </a:xfrm>
          <a:prstGeom prst="rect">
            <a:avLst/>
          </a:prstGeom>
        </p:spPr>
      </p:pic>
      <p:sp>
        <p:nvSpPr>
          <p:cNvPr id="13" name="Text 9"/>
          <p:cNvSpPr txBox="1"/>
          <p:nvPr/>
        </p:nvSpPr>
        <p:spPr>
          <a:xfrm>
            <a:off x="7132320" y="224028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02</a:t>
            </a:r>
            <a:endParaRPr lang="en-US" sz="2000" dirty="0"/>
          </a:p>
        </p:txBody>
      </p:sp>
      <p:sp>
        <p:nvSpPr>
          <p:cNvPr id="14" name="Text 10"/>
          <p:cNvSpPr txBox="1"/>
          <p:nvPr/>
        </p:nvSpPr>
        <p:spPr>
          <a:xfrm>
            <a:off x="5257800" y="228600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Sertifikatlash</a:t>
            </a:r>
            <a:endParaRPr lang="en-US" sz="1550" dirty="0"/>
          </a:p>
        </p:txBody>
      </p:sp>
      <p:sp>
        <p:nvSpPr>
          <p:cNvPr id="15" name="Text 11"/>
          <p:cNvSpPr txBox="1"/>
          <p:nvPr/>
        </p:nvSpPr>
        <p:spPr>
          <a:xfrm>
            <a:off x="4526280" y="297180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import qiluvchi mamlakat standartlari (masalan, CE, ISO, halol) bo‘yicha sertifikat olish.</a:t>
            </a:r>
            <a:endParaRPr lang="en-US" sz="1350" dirty="0"/>
          </a:p>
        </p:txBody>
      </p:sp>
      <p:sp>
        <p:nvSpPr>
          <p:cNvPr id="16" name="Shape 12"/>
          <p:cNvSpPr/>
          <p:nvPr/>
        </p:nvSpPr>
        <p:spPr>
          <a:xfrm>
            <a:off x="8138160" y="210312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7" name="Shape 13"/>
          <p:cNvSpPr/>
          <p:nvPr/>
        </p:nvSpPr>
        <p:spPr>
          <a:xfrm>
            <a:off x="8321040" y="2286000"/>
            <a:ext cx="594360" cy="594360"/>
          </a:xfrm>
          <a:prstGeom prst="ellipse">
            <a:avLst/>
          </a:prstGeom>
          <a:solidFill>
            <a:srgbClr val="0E9F9A"/>
          </a:solidFill>
          <a:ln w="12700">
            <a:solidFill>
              <a:srgbClr val="0E9F9A"/>
            </a:solidFill>
            <a:prstDash val="solid"/>
          </a:ln>
        </p:spPr>
      </p:sp>
      <p:pic>
        <p:nvPicPr>
          <p:cNvPr id="18" name="Image 2" descr="preencoded.png">    </p:cNvPr>
          <p:cNvPicPr>
            <a:picLocks noChangeAspect="1"/>
          </p:cNvPicPr>
          <p:nvPr/>
        </p:nvPicPr>
        <p:blipFill>
          <a:blip r:embed="rId3"/>
          <a:stretch>
            <a:fillRect/>
          </a:stretch>
        </p:blipFill>
        <p:spPr>
          <a:xfrm>
            <a:off x="8475574" y="2440534"/>
            <a:ext cx="285293" cy="285293"/>
          </a:xfrm>
          <a:prstGeom prst="rect">
            <a:avLst/>
          </a:prstGeom>
        </p:spPr>
      </p:pic>
      <p:sp>
        <p:nvSpPr>
          <p:cNvPr id="19" name="Text 14"/>
          <p:cNvSpPr txBox="1"/>
          <p:nvPr/>
        </p:nvSpPr>
        <p:spPr>
          <a:xfrm>
            <a:off x="10927080" y="224028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03</a:t>
            </a:r>
            <a:endParaRPr lang="en-US" sz="2000" dirty="0"/>
          </a:p>
        </p:txBody>
      </p:sp>
      <p:sp>
        <p:nvSpPr>
          <p:cNvPr id="20" name="Text 15"/>
          <p:cNvSpPr txBox="1"/>
          <p:nvPr/>
        </p:nvSpPr>
        <p:spPr>
          <a:xfrm>
            <a:off x="9052560" y="228600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Tashqi savdo shartnomasi</a:t>
            </a:r>
            <a:endParaRPr lang="en-US" sz="1550" dirty="0"/>
          </a:p>
        </p:txBody>
      </p:sp>
      <p:sp>
        <p:nvSpPr>
          <p:cNvPr id="21" name="Text 16"/>
          <p:cNvSpPr txBox="1"/>
          <p:nvPr/>
        </p:nvSpPr>
        <p:spPr>
          <a:xfrm>
            <a:off x="8321040" y="297180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Incoterms 2020 qoidalari asosida yetkazib berish shartlarini belgilash.</a:t>
            </a:r>
            <a:endParaRPr lang="en-US" sz="1350" dirty="0"/>
          </a:p>
        </p:txBody>
      </p:sp>
      <p:sp>
        <p:nvSpPr>
          <p:cNvPr id="22" name="Shape 17"/>
          <p:cNvSpPr/>
          <p:nvPr/>
        </p:nvSpPr>
        <p:spPr>
          <a:xfrm>
            <a:off x="548640" y="384048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3" name="Shape 18"/>
          <p:cNvSpPr/>
          <p:nvPr/>
        </p:nvSpPr>
        <p:spPr>
          <a:xfrm>
            <a:off x="731520" y="4023360"/>
            <a:ext cx="594360" cy="594360"/>
          </a:xfrm>
          <a:prstGeom prst="ellipse">
            <a:avLst/>
          </a:prstGeom>
          <a:solidFill>
            <a:srgbClr val="0D2F4F"/>
          </a:solidFill>
          <a:ln w="12700">
            <a:solidFill>
              <a:srgbClr val="0D2F4F"/>
            </a:solidFill>
            <a:prstDash val="solid"/>
          </a:ln>
        </p:spPr>
      </p:sp>
      <p:pic>
        <p:nvPicPr>
          <p:cNvPr id="24" name="Image 3" descr="preencoded.png">    </p:cNvPr>
          <p:cNvPicPr>
            <a:picLocks noChangeAspect="1"/>
          </p:cNvPicPr>
          <p:nvPr/>
        </p:nvPicPr>
        <p:blipFill>
          <a:blip r:embed="rId4"/>
          <a:stretch>
            <a:fillRect/>
          </a:stretch>
        </p:blipFill>
        <p:spPr>
          <a:xfrm>
            <a:off x="886054" y="4177894"/>
            <a:ext cx="285293" cy="285293"/>
          </a:xfrm>
          <a:prstGeom prst="rect">
            <a:avLst/>
          </a:prstGeom>
        </p:spPr>
      </p:pic>
      <p:sp>
        <p:nvSpPr>
          <p:cNvPr id="25" name="Text 19"/>
          <p:cNvSpPr txBox="1"/>
          <p:nvPr/>
        </p:nvSpPr>
        <p:spPr>
          <a:xfrm>
            <a:off x="3337560" y="397764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04</a:t>
            </a:r>
            <a:endParaRPr lang="en-US" sz="2000" dirty="0"/>
          </a:p>
        </p:txBody>
      </p:sp>
      <p:sp>
        <p:nvSpPr>
          <p:cNvPr id="26" name="Text 20"/>
          <p:cNvSpPr txBox="1"/>
          <p:nvPr/>
        </p:nvSpPr>
        <p:spPr>
          <a:xfrm>
            <a:off x="1463040" y="402336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To‘lov shakllari</a:t>
            </a:r>
            <a:endParaRPr lang="en-US" sz="1550" dirty="0"/>
          </a:p>
        </p:txBody>
      </p:sp>
      <p:sp>
        <p:nvSpPr>
          <p:cNvPr id="27" name="Text 21"/>
          <p:cNvSpPr txBox="1"/>
          <p:nvPr/>
        </p:nvSpPr>
        <p:spPr>
          <a:xfrm>
            <a:off x="731520" y="470916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oldindan to‘lov, akkreditiv, inkasso – xavfsizlik darajasiga qarab tanlash.</a:t>
            </a:r>
            <a:endParaRPr lang="en-US" sz="1350" dirty="0"/>
          </a:p>
        </p:txBody>
      </p:sp>
      <p:sp>
        <p:nvSpPr>
          <p:cNvPr id="28" name="Shape 22"/>
          <p:cNvSpPr/>
          <p:nvPr/>
        </p:nvSpPr>
        <p:spPr>
          <a:xfrm>
            <a:off x="4343400" y="384048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9" name="Shape 23"/>
          <p:cNvSpPr/>
          <p:nvPr/>
        </p:nvSpPr>
        <p:spPr>
          <a:xfrm>
            <a:off x="4526280" y="4023360"/>
            <a:ext cx="594360" cy="594360"/>
          </a:xfrm>
          <a:prstGeom prst="ellipse">
            <a:avLst/>
          </a:prstGeom>
          <a:solidFill>
            <a:srgbClr val="0E9F9A"/>
          </a:solidFill>
          <a:ln w="12700">
            <a:solidFill>
              <a:srgbClr val="0E9F9A"/>
            </a:solidFill>
            <a:prstDash val="solid"/>
          </a:ln>
        </p:spPr>
      </p:sp>
      <p:pic>
        <p:nvPicPr>
          <p:cNvPr id="30" name="Image 4" descr="preencoded.png">    </p:cNvPr>
          <p:cNvPicPr>
            <a:picLocks noChangeAspect="1"/>
          </p:cNvPicPr>
          <p:nvPr/>
        </p:nvPicPr>
        <p:blipFill>
          <a:blip r:embed="rId5"/>
          <a:stretch>
            <a:fillRect/>
          </a:stretch>
        </p:blipFill>
        <p:spPr>
          <a:xfrm>
            <a:off x="4680814" y="4177894"/>
            <a:ext cx="285293" cy="285293"/>
          </a:xfrm>
          <a:prstGeom prst="rect">
            <a:avLst/>
          </a:prstGeom>
        </p:spPr>
      </p:pic>
      <p:sp>
        <p:nvSpPr>
          <p:cNvPr id="31" name="Text 24"/>
          <p:cNvSpPr txBox="1"/>
          <p:nvPr/>
        </p:nvSpPr>
        <p:spPr>
          <a:xfrm>
            <a:off x="7132320" y="397764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05</a:t>
            </a:r>
            <a:endParaRPr lang="en-US" sz="2000" dirty="0"/>
          </a:p>
        </p:txBody>
      </p:sp>
      <p:sp>
        <p:nvSpPr>
          <p:cNvPr id="32" name="Text 25"/>
          <p:cNvSpPr txBox="1"/>
          <p:nvPr/>
        </p:nvSpPr>
        <p:spPr>
          <a:xfrm>
            <a:off x="5257800" y="402336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Bojxona rasmiylashtiruvi</a:t>
            </a:r>
            <a:endParaRPr lang="en-US" sz="1550" dirty="0"/>
          </a:p>
        </p:txBody>
      </p:sp>
      <p:sp>
        <p:nvSpPr>
          <p:cNvPr id="33" name="Text 26"/>
          <p:cNvSpPr txBox="1"/>
          <p:nvPr/>
        </p:nvSpPr>
        <p:spPr>
          <a:xfrm>
            <a:off x="4526280" y="470916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eksport deklaratsiyasi, kelib chiqish sertifikati, zarur hujjatlar.</a:t>
            </a:r>
            <a:endParaRPr lang="en-US" sz="1350" dirty="0"/>
          </a:p>
        </p:txBody>
      </p:sp>
      <p:sp>
        <p:nvSpPr>
          <p:cNvPr id="34" name="Shape 27"/>
          <p:cNvSpPr/>
          <p:nvPr/>
        </p:nvSpPr>
        <p:spPr>
          <a:xfrm>
            <a:off x="8138160" y="384048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5" name="Shape 28"/>
          <p:cNvSpPr/>
          <p:nvPr/>
        </p:nvSpPr>
        <p:spPr>
          <a:xfrm>
            <a:off x="8321040" y="4023360"/>
            <a:ext cx="594360" cy="594360"/>
          </a:xfrm>
          <a:prstGeom prst="ellipse">
            <a:avLst/>
          </a:prstGeom>
          <a:solidFill>
            <a:srgbClr val="0D2F4F"/>
          </a:solidFill>
          <a:ln w="12700">
            <a:solidFill>
              <a:srgbClr val="0D2F4F"/>
            </a:solidFill>
            <a:prstDash val="solid"/>
          </a:ln>
        </p:spPr>
      </p:sp>
      <p:pic>
        <p:nvPicPr>
          <p:cNvPr id="36" name="Image 5" descr="preencoded.png">    </p:cNvPr>
          <p:cNvPicPr>
            <a:picLocks noChangeAspect="1"/>
          </p:cNvPicPr>
          <p:nvPr/>
        </p:nvPicPr>
        <p:blipFill>
          <a:blip r:embed="rId6"/>
          <a:stretch>
            <a:fillRect/>
          </a:stretch>
        </p:blipFill>
        <p:spPr>
          <a:xfrm>
            <a:off x="8475574" y="4177894"/>
            <a:ext cx="285293" cy="285293"/>
          </a:xfrm>
          <a:prstGeom prst="rect">
            <a:avLst/>
          </a:prstGeom>
        </p:spPr>
      </p:pic>
      <p:sp>
        <p:nvSpPr>
          <p:cNvPr id="37" name="Text 29"/>
          <p:cNvSpPr txBox="1"/>
          <p:nvPr/>
        </p:nvSpPr>
        <p:spPr>
          <a:xfrm>
            <a:off x="10927080" y="397764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06</a:t>
            </a:r>
            <a:endParaRPr lang="en-US" sz="2000" dirty="0"/>
          </a:p>
        </p:txBody>
      </p:sp>
      <p:sp>
        <p:nvSpPr>
          <p:cNvPr id="38" name="Text 30"/>
          <p:cNvSpPr txBox="1"/>
          <p:nvPr/>
        </p:nvSpPr>
        <p:spPr>
          <a:xfrm>
            <a:off x="9052560" y="402336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Xaridor topish</a:t>
            </a:r>
            <a:endParaRPr lang="en-US" sz="1550" dirty="0"/>
          </a:p>
        </p:txBody>
      </p:sp>
      <p:sp>
        <p:nvSpPr>
          <p:cNvPr id="39" name="Text 31"/>
          <p:cNvSpPr txBox="1"/>
          <p:nvPr/>
        </p:nvSpPr>
        <p:spPr>
          <a:xfrm>
            <a:off x="8321040" y="470916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xalqaro ko‘rgazmalar, B2B platformalar, savdo missiyalari, elchixonalar.</a:t>
            </a:r>
            <a:endParaRPr lang="en-US" sz="1350" dirty="0"/>
          </a:p>
        </p:txBody>
      </p:sp>
      <p:sp>
        <p:nvSpPr>
          <p:cNvPr id="40" name="Shape 32"/>
          <p:cNvSpPr/>
          <p:nvPr/>
        </p:nvSpPr>
        <p:spPr>
          <a:xfrm>
            <a:off x="548640" y="5623560"/>
            <a:ext cx="11064240" cy="594360"/>
          </a:xfrm>
          <a:prstGeom prst="roundRect">
            <a:avLst>
              <a:gd name="adj" fmla="val 18462"/>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1" name="Text 33"/>
          <p:cNvSpPr txBox="1"/>
          <p:nvPr/>
        </p:nvSpPr>
        <p:spPr>
          <a:xfrm>
            <a:off x="731520" y="5669280"/>
            <a:ext cx="10698480" cy="502920"/>
          </a:xfrm>
          <a:prstGeom prst="rect">
            <a:avLst/>
          </a:prstGeom>
          <a:noFill/>
          <a:ln/>
        </p:spPr>
        <p:txBody>
          <a:bodyPr wrap="square" lIns="0" tIns="0" rIns="0" bIns="0" rtlCol="0" anchor="ctr"/>
          <a:lstStyle/>
          <a:p>
            <a:pPr indent="0" marL="0">
              <a:buNone/>
            </a:pPr>
            <a:r>
              <a:rPr lang="en-US" sz="1350" b="1" dirty="0">
                <a:solidFill>
                  <a:srgbClr val="0D2F4F"/>
                </a:solidFill>
                <a:latin typeface="Calibri" pitchFamily="34" charset="0"/>
                <a:ea typeface="Calibri" pitchFamily="34" charset="-122"/>
                <a:cs typeface="Calibri" pitchFamily="34" charset="-120"/>
              </a:rPr>
              <a:t>Incoterms 2020</a:t>
            </a:r>
            <a:pPr indent="0" marL="0">
              <a:buNone/>
            </a:pPr>
            <a:r>
              <a:rPr lang="en-US" sz="1350" dirty="0">
                <a:solidFill>
                  <a:srgbClr val="1B2A3A"/>
                </a:solidFill>
                <a:latin typeface="Calibri" pitchFamily="34" charset="0"/>
                <a:ea typeface="Calibri" pitchFamily="34" charset="-122"/>
                <a:cs typeface="Calibri" pitchFamily="34" charset="-120"/>
              </a:rPr>
              <a:t> – tovar xavfi va xarajatlari sotuvchidan xaridorga qaysi nuqtada o‘tishini belgilovchi xalqaro qoidalar (EXW, FCA, CIP, DAP va boshq.).</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Eksport faoliyatini rivojlantirish va baholash</a:t>
            </a:r>
            <a:endParaRPr lang="en-US" sz="3000" dirty="0"/>
          </a:p>
        </p:txBody>
      </p:sp>
      <p:sp>
        <p:nvSpPr>
          <p:cNvPr id="3" name="Text 1"/>
          <p:cNvSpPr txBox="1"/>
          <p:nvPr/>
        </p:nvSpPr>
        <p:spPr>
          <a:xfrm>
            <a:off x="548640" y="1371600"/>
            <a:ext cx="5120640" cy="3200400"/>
          </a:xfrm>
          <a:prstGeom prst="rect">
            <a:avLst/>
          </a:prstGeom>
          <a:noFill/>
          <a:ln/>
        </p:spPr>
        <p:txBody>
          <a:bodyPr wrap="square" lIns="0" tIns="0" rIns="0" bIns="0" rtlCol="0" anchor="t"/>
          <a:lstStyle/>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Eksport hajmi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yillik eksport tushumi (mln AQSh dollari).</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Eksport kvotasi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eksportning umumiy sotuvdagi ulushi (%).</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Eksport geografiyasi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mahsulot sotilayotgan mamlakatlar soni.</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Eksport rentabelligi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eksport foydasining eksport xarajatlariga nisbati.</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Mahsulot diversifikatsiyasi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eksport qilinayotgan mahsulot turlari soni.</a:t>
            </a:r>
            <a:endParaRPr lang="en-US" sz="1400" dirty="0"/>
          </a:p>
        </p:txBody>
      </p:sp>
      <p:sp>
        <p:nvSpPr>
          <p:cNvPr id="4" name="Shape 2"/>
          <p:cNvSpPr/>
          <p:nvPr/>
        </p:nvSpPr>
        <p:spPr>
          <a:xfrm>
            <a:off x="548640" y="4297680"/>
            <a:ext cx="5120640" cy="1371600"/>
          </a:xfrm>
          <a:prstGeom prst="roundRect">
            <a:avLst>
              <a:gd name="adj" fmla="val 8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731520" y="4343400"/>
            <a:ext cx="4754880" cy="12801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Shartli misol:</a:t>
            </a:r>
            <a:pPr indent="0" marL="0">
              <a:buNone/>
            </a:pPr>
            <a:r>
              <a:rPr lang="en-US" sz="1400" dirty="0">
                <a:solidFill>
                  <a:srgbClr val="1B2A3A"/>
                </a:solidFill>
                <a:latin typeface="Calibri" pitchFamily="34" charset="0"/>
                <a:ea typeface="Calibri" pitchFamily="34" charset="-122"/>
                <a:cs typeface="Calibri" pitchFamily="34" charset="-120"/>
              </a:rPr>
              <a:t> korxona MDH bozoridan boshlab, 3 yilda eksport hajmini 1,2 dan 2,6 mln dollarga yetkazgan va 4-yilda 3,5 mln dollarni rejalashtirgan.</a:t>
            </a:r>
            <a:endParaRPr lang="en-US" sz="1400" dirty="0"/>
          </a:p>
        </p:txBody>
      </p:sp>
      <p:sp>
        <p:nvSpPr>
          <p:cNvPr id="6" name="Text 4"/>
          <p:cNvSpPr txBox="1"/>
          <p:nvPr/>
        </p:nvSpPr>
        <p:spPr>
          <a:xfrm>
            <a:off x="6035040" y="1325880"/>
            <a:ext cx="5577840" cy="365760"/>
          </a:xfrm>
          <a:prstGeom prst="rect">
            <a:avLst/>
          </a:prstGeom>
          <a:noFill/>
          <a:ln/>
        </p:spPr>
        <p:txBody>
          <a:bodyPr wrap="square" lIns="0" tIns="0" rIns="0" bIns="0" rtlCol="0" anchor="ctr"/>
          <a:lstStyle/>
          <a:p>
            <a:pPr indent="0" marL="0">
              <a:buNone/>
            </a:pPr>
            <a:r>
              <a:rPr lang="en-US" sz="1500" b="1" dirty="0">
                <a:solidFill>
                  <a:srgbClr val="0D2F4F"/>
                </a:solidFill>
              </a:rPr>
              <a:t>Eksport hajmi, mln AQSh dollari (shartli misol)</a:t>
            </a:r>
            <a:endParaRPr lang="en-US" sz="1500" dirty="0"/>
          </a:p>
        </p:txBody>
      </p:sp>
      <p:graphicFrame>
        <p:nvGraphicFramePr>
          <p:cNvPr id="7" name="Chart 0" descr=""/>
          <p:cNvGraphicFramePr/>
          <p:nvPr/>
        </p:nvGraphicFramePr>
        <p:xfrm>
          <a:off x="6035040" y="1737360"/>
          <a:ext cx="5577840" cy="4434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Eksportni qo‘llab-quvvatlash va xatarlarni boshqarish</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Eksport korxona uchun katta imkoniyat bo‘lishi bilan birga qo‘shimcha xatarlarni ham keltirib chiqaradi. Davlat esa eksportchilarni turli vositalar orqali qo‘llab-quvvatlaydi:</a:t>
            </a:r>
            <a:endParaRPr lang="en-US" sz="1400" dirty="0"/>
          </a:p>
        </p:txBody>
      </p:sp>
      <p:sp>
        <p:nvSpPr>
          <p:cNvPr id="4" name="Shape 2"/>
          <p:cNvSpPr/>
          <p:nvPr/>
        </p:nvSpPr>
        <p:spPr>
          <a:xfrm>
            <a:off x="548640" y="2148840"/>
            <a:ext cx="3611880" cy="4023360"/>
          </a:xfrm>
          <a:prstGeom prst="roundRect">
            <a:avLst>
              <a:gd name="adj" fmla="val 303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Shape 3"/>
          <p:cNvSpPr/>
          <p:nvPr/>
        </p:nvSpPr>
        <p:spPr>
          <a:xfrm>
            <a:off x="548640" y="2148840"/>
            <a:ext cx="3611880" cy="731520"/>
          </a:xfrm>
          <a:prstGeom prst="roundRect">
            <a:avLst>
              <a:gd name="adj" fmla="val 15000"/>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731520" y="2304288"/>
            <a:ext cx="411480" cy="411480"/>
          </a:xfrm>
          <a:prstGeom prst="rect">
            <a:avLst/>
          </a:prstGeom>
        </p:spPr>
      </p:pic>
      <p:sp>
        <p:nvSpPr>
          <p:cNvPr id="7" name="Text 4"/>
          <p:cNvSpPr txBox="1"/>
          <p:nvPr/>
        </p:nvSpPr>
        <p:spPr>
          <a:xfrm>
            <a:off x="1280160" y="2148840"/>
            <a:ext cx="2743200" cy="731520"/>
          </a:xfrm>
          <a:prstGeom prst="rect">
            <a:avLst/>
          </a:prstGeom>
          <a:noFill/>
          <a:ln/>
        </p:spPr>
        <p:txBody>
          <a:bodyPr wrap="square" lIns="0" tIns="0" rIns="0" bIns="0" rtlCol="0" anchor="ctr"/>
          <a:lstStyle/>
          <a:p>
            <a:pPr indent="0" marL="0">
              <a:buNone/>
            </a:pPr>
            <a:r>
              <a:rPr lang="en-US" sz="1600" b="1" dirty="0">
                <a:solidFill>
                  <a:srgbClr val="FFFFFF"/>
                </a:solidFill>
              </a:rPr>
              <a:t>Davlat ko‘magi vositalari</a:t>
            </a:r>
            <a:endParaRPr lang="en-US" sz="1600" dirty="0"/>
          </a:p>
        </p:txBody>
      </p:sp>
      <p:sp>
        <p:nvSpPr>
          <p:cNvPr id="8" name="Text 5"/>
          <p:cNvSpPr txBox="1"/>
          <p:nvPr/>
        </p:nvSpPr>
        <p:spPr>
          <a:xfrm>
            <a:off x="777240" y="3017520"/>
            <a:ext cx="3200400" cy="3063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eksportni rag‘batlantirish agentliklari</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eksport kreditlari va kafolatlari</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eksport xatarlarini sug‘urtalash</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transport xarajatlarini qisman qoplash</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ko‘rgazmalarda ishtirokni moliyalashtirish</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savdo missiyalari va B2B uchrashuvlar</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imtiyozli savdo bitimlari</a:t>
            </a:r>
            <a:endParaRPr lang="en-US" sz="1400" dirty="0"/>
          </a:p>
        </p:txBody>
      </p:sp>
      <p:sp>
        <p:nvSpPr>
          <p:cNvPr id="9" name="Shape 6"/>
          <p:cNvSpPr/>
          <p:nvPr/>
        </p:nvSpPr>
        <p:spPr>
          <a:xfrm>
            <a:off x="4297680" y="2148840"/>
            <a:ext cx="3611880" cy="4023360"/>
          </a:xfrm>
          <a:prstGeom prst="roundRect">
            <a:avLst>
              <a:gd name="adj" fmla="val 303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0" name="Shape 7"/>
          <p:cNvSpPr/>
          <p:nvPr/>
        </p:nvSpPr>
        <p:spPr>
          <a:xfrm>
            <a:off x="4297680" y="2148840"/>
            <a:ext cx="3611880" cy="731520"/>
          </a:xfrm>
          <a:prstGeom prst="roundRect">
            <a:avLst>
              <a:gd name="adj" fmla="val 15000"/>
            </a:avLst>
          </a:prstGeom>
          <a:solidFill>
            <a:srgbClr val="0D2F4F"/>
          </a:solidFill>
          <a:ln w="12700">
            <a:solidFill>
              <a:srgbClr val="0D2F4F"/>
            </a:solidFill>
            <a:prstDash val="solid"/>
          </a:ln>
        </p:spPr>
      </p:sp>
      <p:pic>
        <p:nvPicPr>
          <p:cNvPr id="11" name="Image 1" descr="preencoded.png">    </p:cNvPr>
          <p:cNvPicPr>
            <a:picLocks noChangeAspect="1"/>
          </p:cNvPicPr>
          <p:nvPr/>
        </p:nvPicPr>
        <p:blipFill>
          <a:blip r:embed="rId2"/>
          <a:stretch>
            <a:fillRect/>
          </a:stretch>
        </p:blipFill>
        <p:spPr>
          <a:xfrm>
            <a:off x="4480560" y="2304288"/>
            <a:ext cx="411480" cy="411480"/>
          </a:xfrm>
          <a:prstGeom prst="rect">
            <a:avLst/>
          </a:prstGeom>
        </p:spPr>
      </p:pic>
      <p:sp>
        <p:nvSpPr>
          <p:cNvPr id="12" name="Text 8"/>
          <p:cNvSpPr txBox="1"/>
          <p:nvPr/>
        </p:nvSpPr>
        <p:spPr>
          <a:xfrm>
            <a:off x="5029200" y="2148840"/>
            <a:ext cx="2743200" cy="731520"/>
          </a:xfrm>
          <a:prstGeom prst="rect">
            <a:avLst/>
          </a:prstGeom>
          <a:noFill/>
          <a:ln/>
        </p:spPr>
        <p:txBody>
          <a:bodyPr wrap="square" lIns="0" tIns="0" rIns="0" bIns="0" rtlCol="0" anchor="ctr"/>
          <a:lstStyle/>
          <a:p>
            <a:pPr indent="0" marL="0">
              <a:buNone/>
            </a:pPr>
            <a:r>
              <a:rPr lang="en-US" sz="1600" b="1" dirty="0">
                <a:solidFill>
                  <a:srgbClr val="FFFFFF"/>
                </a:solidFill>
              </a:rPr>
              <a:t>Asosiy eksport xatarlari</a:t>
            </a:r>
            <a:endParaRPr lang="en-US" sz="1600" dirty="0"/>
          </a:p>
        </p:txBody>
      </p:sp>
      <p:sp>
        <p:nvSpPr>
          <p:cNvPr id="13" name="Text 9"/>
          <p:cNvSpPr txBox="1"/>
          <p:nvPr/>
        </p:nvSpPr>
        <p:spPr>
          <a:xfrm>
            <a:off x="4526280" y="3017520"/>
            <a:ext cx="3200400" cy="3063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valyuta kursi o‘zgarishi</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xaridorning to‘lamasligi</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siyosiy va iqtisodiy beqarorlik</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logistika kechikishlari va yo‘qotishlar</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huquqiy farqlar va nizolar</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bojxona va texnik to‘siqlar</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madaniy tafovutlar</a:t>
            </a:r>
            <a:endParaRPr lang="en-US" sz="1400" dirty="0"/>
          </a:p>
        </p:txBody>
      </p:sp>
      <p:sp>
        <p:nvSpPr>
          <p:cNvPr id="14" name="Shape 10"/>
          <p:cNvSpPr/>
          <p:nvPr/>
        </p:nvSpPr>
        <p:spPr>
          <a:xfrm>
            <a:off x="8046720" y="2148840"/>
            <a:ext cx="3566160" cy="4023360"/>
          </a:xfrm>
          <a:prstGeom prst="roundRect">
            <a:avLst>
              <a:gd name="adj" fmla="val 3077"/>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5" name="Text 11"/>
          <p:cNvSpPr txBox="1"/>
          <p:nvPr/>
        </p:nvSpPr>
        <p:spPr>
          <a:xfrm>
            <a:off x="8229600" y="2286000"/>
            <a:ext cx="3200400" cy="411480"/>
          </a:xfrm>
          <a:prstGeom prst="rect">
            <a:avLst/>
          </a:prstGeom>
          <a:noFill/>
          <a:ln/>
        </p:spPr>
        <p:txBody>
          <a:bodyPr wrap="square" lIns="0" tIns="0" rIns="0" bIns="0" rtlCol="0" anchor="ctr"/>
          <a:lstStyle/>
          <a:p>
            <a:pPr indent="0" marL="0">
              <a:buNone/>
            </a:pPr>
            <a:r>
              <a:rPr lang="en-US" sz="1600" b="1" dirty="0">
                <a:solidFill>
                  <a:srgbClr val="0D2F4F"/>
                </a:solidFill>
              </a:rPr>
              <a:t>Xatarlarni kamaytirish</a:t>
            </a:r>
            <a:endParaRPr lang="en-US" sz="1600" dirty="0"/>
          </a:p>
        </p:txBody>
      </p:sp>
      <p:sp>
        <p:nvSpPr>
          <p:cNvPr id="16" name="Shape 12"/>
          <p:cNvSpPr/>
          <p:nvPr/>
        </p:nvSpPr>
        <p:spPr>
          <a:xfrm>
            <a:off x="8229600" y="2880360"/>
            <a:ext cx="548640" cy="548640"/>
          </a:xfrm>
          <a:prstGeom prst="ellipse">
            <a:avLst/>
          </a:prstGeom>
          <a:solidFill>
            <a:srgbClr val="0E9F9A"/>
          </a:solidFill>
          <a:ln w="12700">
            <a:solidFill>
              <a:srgbClr val="0E9F9A"/>
            </a:solidFill>
            <a:prstDash val="solid"/>
          </a:ln>
        </p:spPr>
      </p:sp>
      <p:pic>
        <p:nvPicPr>
          <p:cNvPr id="17" name="Image 2" descr="preencoded.png">    </p:cNvPr>
          <p:cNvPicPr>
            <a:picLocks noChangeAspect="1"/>
          </p:cNvPicPr>
          <p:nvPr/>
        </p:nvPicPr>
        <p:blipFill>
          <a:blip r:embed="rId3"/>
          <a:stretch>
            <a:fillRect/>
          </a:stretch>
        </p:blipFill>
        <p:spPr>
          <a:xfrm>
            <a:off x="8372246" y="3023006"/>
            <a:ext cx="263347" cy="263347"/>
          </a:xfrm>
          <a:prstGeom prst="rect">
            <a:avLst/>
          </a:prstGeom>
        </p:spPr>
      </p:pic>
      <p:sp>
        <p:nvSpPr>
          <p:cNvPr id="18" name="Text 13"/>
          <p:cNvSpPr txBox="1"/>
          <p:nvPr/>
        </p:nvSpPr>
        <p:spPr>
          <a:xfrm>
            <a:off x="8915400" y="2834640"/>
            <a:ext cx="2606040" cy="10515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Akkreditiv</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bank to‘lov kafolati – to‘lamaslik xatarini kamaytiradi</a:t>
            </a:r>
            <a:endParaRPr lang="en-US" sz="1400" dirty="0"/>
          </a:p>
        </p:txBody>
      </p:sp>
      <p:sp>
        <p:nvSpPr>
          <p:cNvPr id="19" name="Shape 14"/>
          <p:cNvSpPr/>
          <p:nvPr/>
        </p:nvSpPr>
        <p:spPr>
          <a:xfrm>
            <a:off x="8229600" y="4023360"/>
            <a:ext cx="548640" cy="548640"/>
          </a:xfrm>
          <a:prstGeom prst="ellipse">
            <a:avLst/>
          </a:prstGeom>
          <a:solidFill>
            <a:srgbClr val="0D2F4F"/>
          </a:solidFill>
          <a:ln w="12700">
            <a:solidFill>
              <a:srgbClr val="0D2F4F"/>
            </a:solidFill>
            <a:prstDash val="solid"/>
          </a:ln>
        </p:spPr>
      </p:sp>
      <p:pic>
        <p:nvPicPr>
          <p:cNvPr id="20" name="Image 3" descr="preencoded.png">    </p:cNvPr>
          <p:cNvPicPr>
            <a:picLocks noChangeAspect="1"/>
          </p:cNvPicPr>
          <p:nvPr/>
        </p:nvPicPr>
        <p:blipFill>
          <a:blip r:embed="rId4"/>
          <a:stretch>
            <a:fillRect/>
          </a:stretch>
        </p:blipFill>
        <p:spPr>
          <a:xfrm>
            <a:off x="8372246" y="4166006"/>
            <a:ext cx="263347" cy="263347"/>
          </a:xfrm>
          <a:prstGeom prst="rect">
            <a:avLst/>
          </a:prstGeom>
        </p:spPr>
      </p:pic>
      <p:sp>
        <p:nvSpPr>
          <p:cNvPr id="21" name="Text 15"/>
          <p:cNvSpPr txBox="1"/>
          <p:nvPr/>
        </p:nvSpPr>
        <p:spPr>
          <a:xfrm>
            <a:off x="8915400" y="3977640"/>
            <a:ext cx="2606040" cy="10515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Eksport sug‘urtasi</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tijorat va siyosiy xatarlardan himoya</a:t>
            </a:r>
            <a:endParaRPr lang="en-US" sz="1400" dirty="0"/>
          </a:p>
        </p:txBody>
      </p:sp>
      <p:sp>
        <p:nvSpPr>
          <p:cNvPr id="22" name="Shape 16"/>
          <p:cNvSpPr/>
          <p:nvPr/>
        </p:nvSpPr>
        <p:spPr>
          <a:xfrm>
            <a:off x="8229600" y="5166360"/>
            <a:ext cx="548640" cy="548640"/>
          </a:xfrm>
          <a:prstGeom prst="ellipse">
            <a:avLst/>
          </a:prstGeom>
          <a:solidFill>
            <a:srgbClr val="0E9F9A"/>
          </a:solidFill>
          <a:ln w="12700">
            <a:solidFill>
              <a:srgbClr val="0E9F9A"/>
            </a:solidFill>
            <a:prstDash val="solid"/>
          </a:ln>
        </p:spPr>
      </p:sp>
      <p:pic>
        <p:nvPicPr>
          <p:cNvPr id="23" name="Image 4" descr="preencoded.png">    </p:cNvPr>
          <p:cNvPicPr>
            <a:picLocks noChangeAspect="1"/>
          </p:cNvPicPr>
          <p:nvPr/>
        </p:nvPicPr>
        <p:blipFill>
          <a:blip r:embed="rId5"/>
          <a:stretch>
            <a:fillRect/>
          </a:stretch>
        </p:blipFill>
        <p:spPr>
          <a:xfrm>
            <a:off x="8372246" y="5309006"/>
            <a:ext cx="263347" cy="263347"/>
          </a:xfrm>
          <a:prstGeom prst="rect">
            <a:avLst/>
          </a:prstGeom>
        </p:spPr>
      </p:pic>
      <p:sp>
        <p:nvSpPr>
          <p:cNvPr id="24" name="Text 17"/>
          <p:cNvSpPr txBox="1"/>
          <p:nvPr/>
        </p:nvSpPr>
        <p:spPr>
          <a:xfrm>
            <a:off x="8915400" y="5120640"/>
            <a:ext cx="2606040" cy="10515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Valyuta xedjlash</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forvard shartnomalar orqali kursni qotirish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Xulosa</a:t>
            </a:r>
            <a:endParaRPr lang="en-US" sz="3400" dirty="0"/>
          </a:p>
        </p:txBody>
      </p:sp>
      <p:sp>
        <p:nvSpPr>
          <p:cNvPr id="3" name="Text 1"/>
          <p:cNvSpPr txBox="1"/>
          <p:nvPr/>
        </p:nvSpPr>
        <p:spPr>
          <a:xfrm>
            <a:off x="548640" y="1280160"/>
            <a:ext cx="6858000" cy="1965960"/>
          </a:xfrm>
          <a:prstGeom prst="rect">
            <a:avLst/>
          </a:prstGeom>
          <a:noFill/>
          <a:ln/>
        </p:spPr>
        <p:txBody>
          <a:bodyPr wrap="square" lIns="0" tIns="0" rIns="0" bIns="0" rtlCol="0" anchor="t"/>
          <a:lstStyle/>
          <a:p>
            <a:pPr indent="0" marL="0">
              <a:spcAft>
                <a:spcPts val="600"/>
              </a:spcAft>
              <a:buNone/>
            </a:pPr>
            <a:r>
              <a:rPr lang="en-US" sz="1400" dirty="0">
                <a:solidFill>
                  <a:srgbClr val="E6F2F4"/>
                </a:solidFill>
                <a:latin typeface="Calibri" pitchFamily="34" charset="0"/>
                <a:ea typeface="Calibri" pitchFamily="34" charset="-122"/>
                <a:cs typeface="Calibri" pitchFamily="34" charset="-120"/>
              </a:rPr>
              <a:t>Xalqaro bozorlarga chiqish korxonaga yangi o‘sish imkoniyatlari, masshtab samarasi va xatarlarni diversifikatsiya qilish imkonini beradi. Muvaffaqiyat bozorni to‘g‘ri tanlash (CAGE, PESTEL), mos kirish usulini belgilash, mahsulot va marketingni moslashtirish, eksportni sifatli tashkil etish (sertifikat, Incoterms, to‘lov shakllari) hamda davlat ko‘magidan foydalanib, xatarlarni oqilona boshqarishga bog‘liq.</a:t>
            </a:r>
            <a:endParaRPr lang="en-US" sz="1400" dirty="0"/>
          </a:p>
        </p:txBody>
      </p:sp>
      <p:sp>
        <p:nvSpPr>
          <p:cNvPr id="4" name="Shape 2"/>
          <p:cNvSpPr/>
          <p:nvPr/>
        </p:nvSpPr>
        <p:spPr>
          <a:xfrm>
            <a:off x="548640" y="3383280"/>
            <a:ext cx="3291840" cy="1298448"/>
          </a:xfrm>
          <a:prstGeom prst="roundRect">
            <a:avLst>
              <a:gd name="adj" fmla="val 8451"/>
            </a:avLst>
          </a:prstGeom>
          <a:solidFill>
            <a:srgbClr val="FFFFFF">
              <a:alpha val="12000"/>
            </a:srgbClr>
          </a:solidFill>
          <a:ln w="9525">
            <a:solidFill>
              <a:srgbClr val="5FD3C9"/>
            </a:solidFill>
            <a:prstDash val="solid"/>
          </a:ln>
        </p:spPr>
      </p:sp>
      <p:pic>
        <p:nvPicPr>
          <p:cNvPr id="5" name="Image 0" descr="preencoded.png">    </p:cNvPr>
          <p:cNvPicPr>
            <a:picLocks noChangeAspect="1"/>
          </p:cNvPicPr>
          <p:nvPr/>
        </p:nvPicPr>
        <p:blipFill>
          <a:blip r:embed="rId1"/>
          <a:stretch>
            <a:fillRect/>
          </a:stretch>
        </p:blipFill>
        <p:spPr>
          <a:xfrm>
            <a:off x="713232" y="3566160"/>
            <a:ext cx="365760" cy="365760"/>
          </a:xfrm>
          <a:prstGeom prst="rect">
            <a:avLst/>
          </a:prstGeom>
        </p:spPr>
      </p:pic>
      <p:sp>
        <p:nvSpPr>
          <p:cNvPr id="6" name="Text 3"/>
          <p:cNvSpPr txBox="1"/>
          <p:nvPr/>
        </p:nvSpPr>
        <p:spPr>
          <a:xfrm>
            <a:off x="1188720" y="349300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Mohiyat</a:t>
            </a:r>
            <a:endParaRPr lang="en-US" sz="1500" dirty="0"/>
          </a:p>
          <a:p>
            <a:pPr indent="0" marL="0">
              <a:spcAft>
                <a:spcPts val="200"/>
              </a:spcAft>
              <a:buNone/>
            </a:pPr>
            <a:r>
              <a:rPr lang="en-US" sz="1300" dirty="0">
                <a:solidFill>
                  <a:srgbClr val="FFFFFF"/>
                </a:solidFill>
              </a:rPr>
              <a:t>yangi bozorlar, masshtab samarasi, valyuta tushumi</a:t>
            </a:r>
            <a:endParaRPr lang="en-US" sz="1500" dirty="0"/>
          </a:p>
        </p:txBody>
      </p:sp>
      <p:sp>
        <p:nvSpPr>
          <p:cNvPr id="7" name="Shape 4"/>
          <p:cNvSpPr/>
          <p:nvPr/>
        </p:nvSpPr>
        <p:spPr>
          <a:xfrm>
            <a:off x="4023360" y="3383280"/>
            <a:ext cx="3291840" cy="1298448"/>
          </a:xfrm>
          <a:prstGeom prst="roundRect">
            <a:avLst>
              <a:gd name="adj" fmla="val 8451"/>
            </a:avLst>
          </a:prstGeom>
          <a:solidFill>
            <a:srgbClr val="FFFFFF">
              <a:alpha val="12000"/>
            </a:srgbClr>
          </a:solidFill>
          <a:ln w="9525">
            <a:solidFill>
              <a:srgbClr val="5FD3C9"/>
            </a:solidFill>
            <a:prstDash val="solid"/>
          </a:ln>
        </p:spPr>
      </p:sp>
      <p:pic>
        <p:nvPicPr>
          <p:cNvPr id="8" name="Image 1" descr="preencoded.png">    </p:cNvPr>
          <p:cNvPicPr>
            <a:picLocks noChangeAspect="1"/>
          </p:cNvPicPr>
          <p:nvPr/>
        </p:nvPicPr>
        <p:blipFill>
          <a:blip r:embed="rId2"/>
          <a:stretch>
            <a:fillRect/>
          </a:stretch>
        </p:blipFill>
        <p:spPr>
          <a:xfrm>
            <a:off x="4187952" y="3566160"/>
            <a:ext cx="365760" cy="365760"/>
          </a:xfrm>
          <a:prstGeom prst="rect">
            <a:avLst/>
          </a:prstGeom>
        </p:spPr>
      </p:pic>
      <p:sp>
        <p:nvSpPr>
          <p:cNvPr id="9" name="Text 5"/>
          <p:cNvSpPr txBox="1"/>
          <p:nvPr/>
        </p:nvSpPr>
        <p:spPr>
          <a:xfrm>
            <a:off x="4663440" y="349300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Tanlov</a:t>
            </a:r>
            <a:endParaRPr lang="en-US" sz="1500" dirty="0"/>
          </a:p>
          <a:p>
            <a:pPr indent="0" marL="0">
              <a:spcAft>
                <a:spcPts val="200"/>
              </a:spcAft>
              <a:buNone/>
            </a:pPr>
            <a:r>
              <a:rPr lang="en-US" sz="1300" dirty="0">
                <a:solidFill>
                  <a:srgbClr val="FFFFFF"/>
                </a:solidFill>
              </a:rPr>
              <a:t>saralash → tahlil → baholash → kirish rejasi (CAGE)</a:t>
            </a:r>
            <a:endParaRPr lang="en-US" sz="1500" dirty="0"/>
          </a:p>
        </p:txBody>
      </p:sp>
      <p:sp>
        <p:nvSpPr>
          <p:cNvPr id="10" name="Shape 6"/>
          <p:cNvSpPr/>
          <p:nvPr/>
        </p:nvSpPr>
        <p:spPr>
          <a:xfrm>
            <a:off x="548640" y="484632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1" name="Image 2" descr="preencoded.png">    </p:cNvPr>
          <p:cNvPicPr>
            <a:picLocks noChangeAspect="1"/>
          </p:cNvPicPr>
          <p:nvPr/>
        </p:nvPicPr>
        <p:blipFill>
          <a:blip r:embed="rId3"/>
          <a:stretch>
            <a:fillRect/>
          </a:stretch>
        </p:blipFill>
        <p:spPr>
          <a:xfrm>
            <a:off x="713232" y="5029200"/>
            <a:ext cx="365760" cy="365760"/>
          </a:xfrm>
          <a:prstGeom prst="rect">
            <a:avLst/>
          </a:prstGeom>
        </p:spPr>
      </p:pic>
      <p:sp>
        <p:nvSpPr>
          <p:cNvPr id="12" name="Text 7"/>
          <p:cNvSpPr txBox="1"/>
          <p:nvPr/>
        </p:nvSpPr>
        <p:spPr>
          <a:xfrm>
            <a:off x="1188720" y="495604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Kirish usuli</a:t>
            </a:r>
            <a:endParaRPr lang="en-US" sz="1500" dirty="0"/>
          </a:p>
          <a:p>
            <a:pPr indent="0" marL="0">
              <a:spcAft>
                <a:spcPts val="200"/>
              </a:spcAft>
              <a:buNone/>
            </a:pPr>
            <a:r>
              <a:rPr lang="en-US" sz="1300" dirty="0">
                <a:solidFill>
                  <a:srgbClr val="FFFFFF"/>
                </a:solidFill>
              </a:rPr>
              <a:t>eksportdan to‘g‘ridan-to‘g‘ri investitsiyagacha – nazorat va xatar o‘sadi</a:t>
            </a:r>
            <a:endParaRPr lang="en-US" sz="1500" dirty="0"/>
          </a:p>
        </p:txBody>
      </p:sp>
      <p:sp>
        <p:nvSpPr>
          <p:cNvPr id="13" name="Shape 8"/>
          <p:cNvSpPr/>
          <p:nvPr/>
        </p:nvSpPr>
        <p:spPr>
          <a:xfrm>
            <a:off x="4023360" y="484632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4" name="Image 3" descr="preencoded.png">    </p:cNvPr>
          <p:cNvPicPr>
            <a:picLocks noChangeAspect="1"/>
          </p:cNvPicPr>
          <p:nvPr/>
        </p:nvPicPr>
        <p:blipFill>
          <a:blip r:embed="rId4"/>
          <a:stretch>
            <a:fillRect/>
          </a:stretch>
        </p:blipFill>
        <p:spPr>
          <a:xfrm>
            <a:off x="4187952" y="5029200"/>
            <a:ext cx="365760" cy="365760"/>
          </a:xfrm>
          <a:prstGeom prst="rect">
            <a:avLst/>
          </a:prstGeom>
        </p:spPr>
      </p:pic>
      <p:sp>
        <p:nvSpPr>
          <p:cNvPr id="15" name="Text 9"/>
          <p:cNvSpPr txBox="1"/>
          <p:nvPr/>
        </p:nvSpPr>
        <p:spPr>
          <a:xfrm>
            <a:off x="4663440" y="495604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Tashkil etish</a:t>
            </a:r>
            <a:endParaRPr lang="en-US" sz="1500" dirty="0"/>
          </a:p>
          <a:p>
            <a:pPr indent="0" marL="0">
              <a:spcAft>
                <a:spcPts val="200"/>
              </a:spcAft>
              <a:buNone/>
            </a:pPr>
            <a:r>
              <a:rPr lang="en-US" sz="1300" dirty="0">
                <a:solidFill>
                  <a:srgbClr val="FFFFFF"/>
                </a:solidFill>
              </a:rPr>
              <a:t>sertifikat, Incoterms, akkreditiv, sug‘urta, davlat ko‘magi</a:t>
            </a:r>
            <a:endParaRPr lang="en-US" sz="1500" dirty="0"/>
          </a:p>
        </p:txBody>
      </p:sp>
      <p:pic>
        <p:nvPicPr>
          <p:cNvPr id="16" name="Image 4" descr="img14/conclusion.png">    </p:cNvPr>
          <p:cNvPicPr>
            <a:picLocks noChangeAspect="1"/>
          </p:cNvPicPr>
          <p:nvPr/>
        </p:nvPicPr>
        <p:blipFill>
          <a:blip r:embed="rId5"/>
          <a:stretch>
            <a:fillRect/>
          </a:stretch>
        </p:blipFill>
        <p:spPr>
          <a:xfrm>
            <a:off x="7772400" y="1325880"/>
            <a:ext cx="3840480" cy="2990088"/>
          </a:xfrm>
          <a:prstGeom prst="rect">
            <a:avLst/>
          </a:prstGeom>
        </p:spPr>
      </p:pic>
      <p:sp>
        <p:nvSpPr>
          <p:cNvPr id="17" name="Text 10"/>
          <p:cNvSpPr txBox="1"/>
          <p:nvPr/>
        </p:nvSpPr>
        <p:spPr>
          <a:xfrm>
            <a:off x="7772400" y="4526280"/>
            <a:ext cx="3840480" cy="1463040"/>
          </a:xfrm>
          <a:prstGeom prst="rect">
            <a:avLst/>
          </a:prstGeom>
          <a:noFill/>
          <a:ln/>
        </p:spPr>
        <p:txBody>
          <a:bodyPr wrap="square" lIns="0" tIns="0" rIns="0" bIns="0" rtlCol="0" anchor="t"/>
          <a:lstStyle/>
          <a:p>
            <a:pPr indent="0" marL="0">
              <a:buNone/>
            </a:pPr>
            <a:r>
              <a:rPr lang="en-US" sz="1700" i="1" dirty="0">
                <a:solidFill>
                  <a:srgbClr val="F2A541"/>
                </a:solidFill>
                <a:latin typeface="Cambria" pitchFamily="34" charset="0"/>
                <a:ea typeface="Cambria" pitchFamily="34" charset="-122"/>
                <a:cs typeface="Cambria" pitchFamily="34" charset="-120"/>
              </a:rPr>
              <a:t>Ichki bozor – korxonaning maktabi, jahon bozori – uning imtihoni.</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img14/thanks.png">    </p:cNvPr>
          <p:cNvPicPr>
            <a:picLocks noChangeAspect="1"/>
          </p:cNvPicPr>
          <p:nvPr/>
        </p:nvPicPr>
        <p:blipFill>
          <a:blip r:embed="rId1"/>
          <a:stretch>
            <a:fillRect/>
          </a:stretch>
        </p:blipFill>
        <p:spPr>
          <a:xfrm>
            <a:off x="6766560" y="1280160"/>
            <a:ext cx="4846320" cy="3767328"/>
          </a:xfrm>
          <a:prstGeom prst="rect">
            <a:avLst/>
          </a:prstGeom>
        </p:spPr>
      </p:pic>
      <p:sp>
        <p:nvSpPr>
          <p:cNvPr id="3" name="Text 0"/>
          <p:cNvSpPr txBox="1"/>
          <p:nvPr/>
        </p:nvSpPr>
        <p:spPr>
          <a:xfrm>
            <a:off x="548640" y="2011680"/>
            <a:ext cx="5943600" cy="1828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E’TIBORINGIZ UCHUN RAHMAT!</a:t>
            </a:r>
            <a:endParaRPr lang="en-US" sz="4000" dirty="0"/>
          </a:p>
        </p:txBody>
      </p:sp>
      <p:sp>
        <p:nvSpPr>
          <p:cNvPr id="4" name="Text 1"/>
          <p:cNvSpPr txBox="1"/>
          <p:nvPr/>
        </p:nvSpPr>
        <p:spPr>
          <a:xfrm>
            <a:off x="548640" y="3931920"/>
            <a:ext cx="5943600" cy="457200"/>
          </a:xfrm>
          <a:prstGeom prst="rect">
            <a:avLst/>
          </a:prstGeom>
          <a:noFill/>
          <a:ln/>
        </p:spPr>
        <p:txBody>
          <a:bodyPr wrap="square" lIns="0" tIns="0" rIns="0" bIns="0" rtlCol="0" anchor="ctr"/>
          <a:lstStyle/>
          <a:p>
            <a:pPr indent="0" marL="0">
              <a:buNone/>
            </a:pPr>
            <a:r>
              <a:rPr lang="en-US" sz="1800" i="1" dirty="0">
                <a:solidFill>
                  <a:srgbClr val="F2A541"/>
                </a:solidFill>
              </a:rPr>
              <a:t>Savollaringiz bo‘lsa, marhamat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trategiya">
  <a:themeElements>
    <a:clrScheme name="Strategiya">
      <a:dk1>
        <a:srgbClr val="1B2A3A"/>
      </a:dk1>
      <a:lt1>
        <a:srgbClr val="FFFFFF"/>
      </a:lt1>
      <a:dk2>
        <a:srgbClr val="0D2F4F"/>
      </a:dk2>
      <a:lt2>
        <a:srgbClr val="E8F3F6"/>
      </a:lt2>
      <a:accent1>
        <a:srgbClr val="0E9F9A"/>
      </a:accent1>
      <a:accent2>
        <a:srgbClr val="F2A541"/>
      </a:accent2>
      <a:accent3>
        <a:srgbClr val="0D2F4F"/>
      </a:accent3>
      <a:accent4>
        <a:srgbClr val="3B6EA5"/>
      </a:accent4>
      <a:accent5>
        <a:srgbClr val="5FD3C9"/>
      </a:accent5>
      <a:accent6>
        <a:srgbClr val="B5651D"/>
      </a:accent6>
      <a:hlink>
        <a:srgbClr val="0E9F9A"/>
      </a:hlink>
      <a:folHlink>
        <a:srgbClr val="3B6EA5"/>
      </a:folHlink>
    </a:clrScheme>
    <a:fontScheme name="Strategiy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Xalqaro bozorlarga chiqish va eksport strategiyasi</dc:title>
  <dc:subject>PptxGenJS Presentation</dc:subject>
  <dc:creator>PptxGenJS</dc:creator>
  <cp:lastModifiedBy>PptxGenJS</cp:lastModifiedBy>
  <cp:revision>1</cp:revision>
  <dcterms:created xsi:type="dcterms:W3CDTF">2026-10-12T12:36:18Z</dcterms:created>
  <dcterms:modified xsi:type="dcterms:W3CDTF">2026-10-12T12:36:18Z</dcterms:modified>
</cp:coreProperties>
</file>